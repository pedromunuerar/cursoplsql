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65" r:id="rId3"/>
    <p:sldId id="258" r:id="rId4"/>
    <p:sldId id="306" r:id="rId5"/>
    <p:sldId id="307" r:id="rId6"/>
    <p:sldId id="308" r:id="rId7"/>
    <p:sldId id="263" r:id="rId8"/>
    <p:sldId id="309" r:id="rId9"/>
    <p:sldId id="310" r:id="rId10"/>
    <p:sldId id="311" r:id="rId11"/>
    <p:sldId id="312" r:id="rId12"/>
    <p:sldId id="313" r:id="rId13"/>
    <p:sldId id="314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322" r:id="rId22"/>
    <p:sldId id="323" r:id="rId23"/>
    <p:sldId id="324" r:id="rId24"/>
    <p:sldId id="325" r:id="rId25"/>
    <p:sldId id="326" r:id="rId26"/>
    <p:sldId id="259" r:id="rId27"/>
  </p:sldIdLst>
  <p:sldSz cx="9144000" cy="5143500" type="screen16x9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B00"/>
    <a:srgbClr val="FF6A00"/>
    <a:srgbClr val="F26D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519" autoAdjust="0"/>
  </p:normalViewPr>
  <p:slideViewPr>
    <p:cSldViewPr>
      <p:cViewPr varScale="1">
        <p:scale>
          <a:sx n="117" d="100"/>
          <a:sy n="117" d="100"/>
        </p:scale>
        <p:origin x="1434" y="10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413A81-F6F4-48F1-9240-6625495FC0FC}" type="datetimeFigureOut">
              <a:rPr lang="es-ES" smtClean="0"/>
              <a:pPr/>
              <a:t>19/11/2025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0AE22-138E-4CE0-8F43-3DD4BBCBCB7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0AE22-138E-4CE0-8F43-3DD4BBCBCB7D}" type="slidenum">
              <a:rPr lang="es-ES" smtClean="0"/>
              <a:pPr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8780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ortada - 1 senc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 userDrawn="1"/>
        </p:nvSpPr>
        <p:spPr>
          <a:xfrm>
            <a:off x="0" y="1995686"/>
            <a:ext cx="9144000" cy="3147814"/>
          </a:xfrm>
          <a:prstGeom prst="rect">
            <a:avLst/>
          </a:prstGeom>
          <a:solidFill>
            <a:srgbClr val="FF6B00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ctrTitle" hasCustomPrompt="1"/>
          </p:nvPr>
        </p:nvSpPr>
        <p:spPr>
          <a:xfrm>
            <a:off x="251520" y="411511"/>
            <a:ext cx="7772400" cy="720080"/>
          </a:xfrm>
        </p:spPr>
        <p:txBody>
          <a:bodyPr>
            <a:noAutofit/>
          </a:bodyPr>
          <a:lstStyle>
            <a:lvl1pPr algn="l">
              <a:defRPr sz="4000">
                <a:solidFill>
                  <a:srgbClr val="FF6B00"/>
                </a:solidFill>
              </a:defRPr>
            </a:lvl1pPr>
          </a:lstStyle>
          <a:p>
            <a:r>
              <a:rPr lang="es-ES" dirty="0"/>
              <a:t>Título de la presentación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51520" y="1131590"/>
            <a:ext cx="7776864" cy="576064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ES" dirty="0"/>
          </a:p>
        </p:txBody>
      </p:sp>
      <p:pic>
        <p:nvPicPr>
          <p:cNvPr id="6" name="5 Imagen" descr="TICARUM_larga-abajo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732240" y="3939902"/>
            <a:ext cx="2123728" cy="9229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ortada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Resultado de imagen de network background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8 Rectángulo"/>
          <p:cNvSpPr/>
          <p:nvPr userDrawn="1"/>
        </p:nvSpPr>
        <p:spPr>
          <a:xfrm>
            <a:off x="0" y="0"/>
            <a:ext cx="9144000" cy="1995686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6 Rectángulo"/>
          <p:cNvSpPr/>
          <p:nvPr userDrawn="1"/>
        </p:nvSpPr>
        <p:spPr>
          <a:xfrm>
            <a:off x="0" y="1995686"/>
            <a:ext cx="9144000" cy="3147814"/>
          </a:xfrm>
          <a:prstGeom prst="rect">
            <a:avLst/>
          </a:prstGeom>
          <a:solidFill>
            <a:srgbClr val="FF6B00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ctrTitle" hasCustomPrompt="1"/>
          </p:nvPr>
        </p:nvSpPr>
        <p:spPr>
          <a:xfrm>
            <a:off x="251520" y="411511"/>
            <a:ext cx="7772400" cy="720080"/>
          </a:xfrm>
        </p:spPr>
        <p:txBody>
          <a:bodyPr>
            <a:noAutofit/>
          </a:bodyPr>
          <a:lstStyle>
            <a:lvl1pPr algn="l">
              <a:defRPr sz="4000">
                <a:solidFill>
                  <a:srgbClr val="FF6B00"/>
                </a:solidFill>
              </a:defRPr>
            </a:lvl1pPr>
          </a:lstStyle>
          <a:p>
            <a:r>
              <a:rPr lang="es-ES" dirty="0"/>
              <a:t>Título de la presentación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51520" y="1131590"/>
            <a:ext cx="7776864" cy="576064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ES" dirty="0"/>
          </a:p>
        </p:txBody>
      </p:sp>
      <p:pic>
        <p:nvPicPr>
          <p:cNvPr id="6" name="5 Imagen" descr="TICARUM_larga-abajo_blanco-naranja_web_72dpi_transparente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6732240" y="3939902"/>
            <a:ext cx="2123728" cy="9229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 userDrawn="1"/>
        </p:nvSpPr>
        <p:spPr>
          <a:xfrm>
            <a:off x="0" y="4227934"/>
            <a:ext cx="9144000" cy="91556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11 Marcador de posición de imagen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227934"/>
          </a:xfrm>
        </p:spPr>
        <p:txBody>
          <a:bodyPr anchor="ctr">
            <a:normAutofit/>
          </a:bodyPr>
          <a:lstStyle>
            <a:lvl1pPr algn="ctr">
              <a:buFontTx/>
              <a:buNone/>
              <a:defRPr sz="1600" i="1">
                <a:solidFill>
                  <a:srgbClr val="F26D28"/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2" name="1 Título"/>
          <p:cNvSpPr>
            <a:spLocks noGrp="1"/>
          </p:cNvSpPr>
          <p:nvPr>
            <p:ph type="ctrTitle" hasCustomPrompt="1"/>
          </p:nvPr>
        </p:nvSpPr>
        <p:spPr>
          <a:xfrm>
            <a:off x="251520" y="411510"/>
            <a:ext cx="5760640" cy="1440159"/>
          </a:xfrm>
          <a:solidFill>
            <a:srgbClr val="FF6B00"/>
          </a:solidFill>
        </p:spPr>
        <p:txBody>
          <a:bodyPr>
            <a:no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presentación con imagen de fondo</a:t>
            </a:r>
          </a:p>
        </p:txBody>
      </p:sp>
      <p:pic>
        <p:nvPicPr>
          <p:cNvPr id="6" name="5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4421182"/>
            <a:ext cx="1503909" cy="454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bg>
      <p:bgPr>
        <a:solidFill>
          <a:srgbClr val="FF6B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1187624" y="1347614"/>
            <a:ext cx="6048672" cy="1872208"/>
          </a:xfrm>
        </p:spPr>
        <p:txBody>
          <a:bodyPr anchor="t">
            <a:noAutofit/>
          </a:bodyPr>
          <a:lstStyle>
            <a:lvl1pPr algn="l">
              <a:defRPr sz="3600" b="1" cap="none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Subtítulo de la Presentación</a:t>
            </a:r>
          </a:p>
        </p:txBody>
      </p:sp>
      <p:sp>
        <p:nvSpPr>
          <p:cNvPr id="13" name="12 Marcador de texto"/>
          <p:cNvSpPr>
            <a:spLocks noGrp="1"/>
          </p:cNvSpPr>
          <p:nvPr>
            <p:ph type="body" sz="quarter" idx="10" hasCustomPrompt="1"/>
          </p:nvPr>
        </p:nvSpPr>
        <p:spPr>
          <a:xfrm>
            <a:off x="1043608" y="195486"/>
            <a:ext cx="1296764" cy="1512515"/>
          </a:xfrm>
        </p:spPr>
        <p:txBody>
          <a:bodyPr>
            <a:noAutofit/>
          </a:bodyPr>
          <a:lstStyle>
            <a:lvl1pPr>
              <a:buNone/>
              <a:defRPr sz="8000">
                <a:solidFill>
                  <a:schemeClr val="bg1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s-ES" dirty="0"/>
              <a:t>1</a:t>
            </a:r>
          </a:p>
        </p:txBody>
      </p:sp>
      <p:pic>
        <p:nvPicPr>
          <p:cNvPr id="5" name="4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4421182"/>
            <a:ext cx="1503909" cy="454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 sz="2400">
                <a:solidFill>
                  <a:srgbClr val="FF6B00"/>
                </a:solidFill>
              </a:defRPr>
            </a:lvl1pPr>
            <a:lvl2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534988" indent="-2667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808038" indent="-268288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1341438" indent="-26035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49D68-D688-459C-87BB-C604575B0110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3" name="12 Rectángulo"/>
          <p:cNvSpPr/>
          <p:nvPr userDrawn="1"/>
        </p:nvSpPr>
        <p:spPr>
          <a:xfrm>
            <a:off x="0" y="0"/>
            <a:ext cx="9144000" cy="91556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1 Título"/>
          <p:cNvSpPr>
            <a:spLocks noGrp="1"/>
          </p:cNvSpPr>
          <p:nvPr>
            <p:ph type="title" hasCustomPrompt="1"/>
          </p:nvPr>
        </p:nvSpPr>
        <p:spPr>
          <a:xfrm>
            <a:off x="457200" y="195486"/>
            <a:ext cx="6923112" cy="216024"/>
          </a:xfrm>
        </p:spPr>
        <p:txBody>
          <a:bodyPr>
            <a:noAutofit/>
          </a:bodyPr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PRESENTACIÓN</a:t>
            </a:r>
          </a:p>
        </p:txBody>
      </p:sp>
      <p:pic>
        <p:nvPicPr>
          <p:cNvPr id="15" name="14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339502"/>
            <a:ext cx="1503909" cy="454824"/>
          </a:xfrm>
          <a:prstGeom prst="rect">
            <a:avLst/>
          </a:prstGeom>
        </p:spPr>
      </p:pic>
      <p:sp>
        <p:nvSpPr>
          <p:cNvPr id="16" name="1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468313" y="411510"/>
            <a:ext cx="6911975" cy="288032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s-ES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SUBTÍTULO DE LA PRESENTACIÓN</a:t>
            </a:r>
          </a:p>
          <a:p>
            <a:pPr lvl="0"/>
            <a:endParaRPr lang="es-E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/>
          <a:lstStyle/>
          <a:p>
            <a:fld id="{14749D68-D688-459C-87BB-C604575B0110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5" name="2 Marcador de contenido"/>
          <p:cNvSpPr>
            <a:spLocks noGrp="1"/>
          </p:cNvSpPr>
          <p:nvPr>
            <p:ph idx="10"/>
          </p:nvPr>
        </p:nvSpPr>
        <p:spPr>
          <a:xfrm>
            <a:off x="457200" y="1196950"/>
            <a:ext cx="4042792" cy="3391024"/>
          </a:xfrm>
        </p:spPr>
        <p:txBody>
          <a:bodyPr/>
          <a:lstStyle>
            <a:lvl1pPr marL="0" indent="0">
              <a:buNone/>
              <a:defRPr sz="2400">
                <a:solidFill>
                  <a:srgbClr val="FF6B00"/>
                </a:solidFill>
              </a:defRPr>
            </a:lvl1pPr>
            <a:lvl2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355600" indent="-177800">
              <a:buClr>
                <a:srgbClr val="FF6A00"/>
              </a:buClr>
              <a:tabLst>
                <a:tab pos="355600" algn="l"/>
              </a:tabLst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712788" indent="-1778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1163638" indent="-26035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16" name="2 Marcador de contenido"/>
          <p:cNvSpPr>
            <a:spLocks noGrp="1"/>
          </p:cNvSpPr>
          <p:nvPr>
            <p:ph idx="14"/>
          </p:nvPr>
        </p:nvSpPr>
        <p:spPr>
          <a:xfrm>
            <a:off x="4644008" y="1193000"/>
            <a:ext cx="4032448" cy="3394974"/>
          </a:xfrm>
        </p:spPr>
        <p:txBody>
          <a:bodyPr/>
          <a:lstStyle>
            <a:lvl1pPr marL="0" indent="0">
              <a:buNone/>
              <a:defRPr sz="2400">
                <a:solidFill>
                  <a:srgbClr val="FF6B00"/>
                </a:solidFill>
              </a:defRPr>
            </a:lvl1pPr>
            <a:lvl2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355600" indent="-1778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712788" indent="-1778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1163638" indent="-26035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19" name="18 Rectángulo"/>
          <p:cNvSpPr/>
          <p:nvPr userDrawn="1"/>
        </p:nvSpPr>
        <p:spPr>
          <a:xfrm>
            <a:off x="0" y="0"/>
            <a:ext cx="9144000" cy="91556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1 Título"/>
          <p:cNvSpPr>
            <a:spLocks noGrp="1"/>
          </p:cNvSpPr>
          <p:nvPr>
            <p:ph type="title" hasCustomPrompt="1"/>
          </p:nvPr>
        </p:nvSpPr>
        <p:spPr>
          <a:xfrm>
            <a:off x="457200" y="195486"/>
            <a:ext cx="6923112" cy="216024"/>
          </a:xfrm>
        </p:spPr>
        <p:txBody>
          <a:bodyPr>
            <a:noAutofit/>
          </a:bodyPr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PRESENTACIÓN</a:t>
            </a:r>
          </a:p>
        </p:txBody>
      </p:sp>
      <p:pic>
        <p:nvPicPr>
          <p:cNvPr id="21" name="20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339502"/>
            <a:ext cx="1503909" cy="454824"/>
          </a:xfrm>
          <a:prstGeom prst="rect">
            <a:avLst/>
          </a:prstGeom>
        </p:spPr>
      </p:pic>
      <p:sp>
        <p:nvSpPr>
          <p:cNvPr id="22" name="11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468313" y="411510"/>
            <a:ext cx="6911975" cy="288032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s-ES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SUBTÍTULO DE LA PRESENTACIÓN</a:t>
            </a:r>
          </a:p>
          <a:p>
            <a:pPr lvl="0"/>
            <a:endParaRPr lang="es-E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 hasCustomPrompt="1"/>
          </p:nvPr>
        </p:nvSpPr>
        <p:spPr>
          <a:xfrm>
            <a:off x="457200" y="1151335"/>
            <a:ext cx="4040188" cy="47982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rgbClr val="FF6B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Cabecera 1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6" y="1151335"/>
            <a:ext cx="4041775" cy="47982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rgbClr val="FF6B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Cabecera 2</a:t>
            </a:r>
          </a:p>
        </p:txBody>
      </p:sp>
      <p:sp>
        <p:nvSpPr>
          <p:cNvPr id="13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/>
          <a:lstStyle/>
          <a:p>
            <a:fld id="{14749D68-D688-459C-87BB-C604575B0110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7" name="16 Rectángulo"/>
          <p:cNvSpPr/>
          <p:nvPr userDrawn="1"/>
        </p:nvSpPr>
        <p:spPr>
          <a:xfrm>
            <a:off x="0" y="0"/>
            <a:ext cx="9144000" cy="91556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1 Título"/>
          <p:cNvSpPr>
            <a:spLocks noGrp="1"/>
          </p:cNvSpPr>
          <p:nvPr>
            <p:ph type="title" hasCustomPrompt="1"/>
          </p:nvPr>
        </p:nvSpPr>
        <p:spPr>
          <a:xfrm>
            <a:off x="457200" y="195486"/>
            <a:ext cx="6923112" cy="216024"/>
          </a:xfrm>
        </p:spPr>
        <p:txBody>
          <a:bodyPr>
            <a:noAutofit/>
          </a:bodyPr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PRESENTACIÓN</a:t>
            </a:r>
          </a:p>
        </p:txBody>
      </p:sp>
      <p:pic>
        <p:nvPicPr>
          <p:cNvPr id="19" name="18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339502"/>
            <a:ext cx="1503909" cy="454824"/>
          </a:xfrm>
          <a:prstGeom prst="rect">
            <a:avLst/>
          </a:prstGeom>
        </p:spPr>
      </p:pic>
      <p:sp>
        <p:nvSpPr>
          <p:cNvPr id="20" name="1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468313" y="411510"/>
            <a:ext cx="6911975" cy="288032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s-ES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SUBTÍTULO DE LA PRESENTACIÓN</a:t>
            </a:r>
          </a:p>
          <a:p>
            <a:pPr lvl="0"/>
            <a:endParaRPr lang="es-ES" dirty="0"/>
          </a:p>
        </p:txBody>
      </p:sp>
      <p:sp>
        <p:nvSpPr>
          <p:cNvPr id="21" name="2 Marcador de contenido"/>
          <p:cNvSpPr>
            <a:spLocks noGrp="1"/>
          </p:cNvSpPr>
          <p:nvPr>
            <p:ph idx="10"/>
          </p:nvPr>
        </p:nvSpPr>
        <p:spPr>
          <a:xfrm>
            <a:off x="457200" y="1635646"/>
            <a:ext cx="4042792" cy="2952328"/>
          </a:xfrm>
        </p:spPr>
        <p:txBody>
          <a:bodyPr/>
          <a:lstStyle>
            <a:lvl1pPr marL="0" indent="0">
              <a:buNone/>
              <a:defRPr sz="2400">
                <a:solidFill>
                  <a:srgbClr val="FF6B00"/>
                </a:solidFill>
              </a:defRPr>
            </a:lvl1pPr>
            <a:lvl2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355600" indent="-177800">
              <a:buClr>
                <a:srgbClr val="FF6A00"/>
              </a:buClr>
              <a:tabLst>
                <a:tab pos="355600" algn="l"/>
              </a:tabLst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712788" indent="-1778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1163638" indent="-26035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22" name="2 Marcador de contenido"/>
          <p:cNvSpPr>
            <a:spLocks noGrp="1"/>
          </p:cNvSpPr>
          <p:nvPr>
            <p:ph idx="15"/>
          </p:nvPr>
        </p:nvSpPr>
        <p:spPr>
          <a:xfrm>
            <a:off x="4644008" y="1632206"/>
            <a:ext cx="4032448" cy="2955767"/>
          </a:xfrm>
        </p:spPr>
        <p:txBody>
          <a:bodyPr/>
          <a:lstStyle>
            <a:lvl1pPr marL="0" indent="0">
              <a:buNone/>
              <a:defRPr sz="2400">
                <a:solidFill>
                  <a:srgbClr val="FF6B00"/>
                </a:solidFill>
              </a:defRPr>
            </a:lvl1pPr>
            <a:lvl2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355600" indent="-1778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712788" indent="-1778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1163638" indent="-26035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 userDrawn="1"/>
        </p:nvSpPr>
        <p:spPr>
          <a:xfrm>
            <a:off x="0" y="0"/>
            <a:ext cx="3059832" cy="51435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04787"/>
            <a:ext cx="2386607" cy="871538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2386607" cy="3518297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49D68-D688-459C-87BB-C604575B0110}" type="slidenum">
              <a:rPr lang="es-ES" smtClean="0"/>
              <a:pPr/>
              <a:t>‹Nº›</a:t>
            </a:fld>
            <a:endParaRPr lang="es-ES"/>
          </a:p>
        </p:txBody>
      </p:sp>
      <p:pic>
        <p:nvPicPr>
          <p:cNvPr id="9" name="8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27584" y="4421182"/>
            <a:ext cx="1503909" cy="454824"/>
          </a:xfrm>
          <a:prstGeom prst="rect">
            <a:avLst/>
          </a:prstGeom>
        </p:spPr>
      </p:pic>
      <p:sp>
        <p:nvSpPr>
          <p:cNvPr id="10" name="2 Marcador de contenido"/>
          <p:cNvSpPr>
            <a:spLocks noGrp="1"/>
          </p:cNvSpPr>
          <p:nvPr>
            <p:ph idx="1"/>
          </p:nvPr>
        </p:nvSpPr>
        <p:spPr>
          <a:xfrm>
            <a:off x="3275856" y="195486"/>
            <a:ext cx="5410944" cy="4399137"/>
          </a:xfrm>
        </p:spPr>
        <p:txBody>
          <a:bodyPr/>
          <a:lstStyle>
            <a:lvl1pPr marL="0" indent="0">
              <a:buNone/>
              <a:defRPr sz="2400">
                <a:solidFill>
                  <a:srgbClr val="FF6B00"/>
                </a:solidFill>
              </a:defRPr>
            </a:lvl1pPr>
            <a:lvl2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534988" indent="-2667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808038" indent="-268288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1341438" indent="-26035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solidFill>
          <a:srgbClr val="FF6B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400" b="1" baseline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sección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 hasCustomPrompt="1"/>
          </p:nvPr>
        </p:nvSpPr>
        <p:spPr>
          <a:xfrm>
            <a:off x="1792288" y="459581"/>
            <a:ext cx="5486400" cy="30861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Imagen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dirty="0"/>
              <a:t>Subtítulo sección</a:t>
            </a:r>
          </a:p>
        </p:txBody>
      </p:sp>
      <p:pic>
        <p:nvPicPr>
          <p:cNvPr id="6" name="5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4421182"/>
            <a:ext cx="1503909" cy="454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portada">
    <p:bg>
      <p:bgPr>
        <a:solidFill>
          <a:srgbClr val="FF6B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1835696" y="627534"/>
            <a:ext cx="5486400" cy="1381746"/>
          </a:xfrm>
        </p:spPr>
        <p:txBody>
          <a:bodyPr anchor="b"/>
          <a:lstStyle>
            <a:lvl1pPr algn="l"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Despedida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 hasCustomPrompt="1"/>
          </p:nvPr>
        </p:nvSpPr>
        <p:spPr>
          <a:xfrm>
            <a:off x="1835696" y="1995686"/>
            <a:ext cx="5486400" cy="603647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dirty="0"/>
              <a:t>Subtítulo despedida</a:t>
            </a:r>
          </a:p>
        </p:txBody>
      </p:sp>
      <p:sp>
        <p:nvSpPr>
          <p:cNvPr id="6" name="2 Marcador de posición de imagen"/>
          <p:cNvSpPr>
            <a:spLocks noGrp="1"/>
          </p:cNvSpPr>
          <p:nvPr>
            <p:ph type="pic" idx="1" hasCustomPrompt="1"/>
          </p:nvPr>
        </p:nvSpPr>
        <p:spPr>
          <a:xfrm>
            <a:off x="1835696" y="2859782"/>
            <a:ext cx="1152128" cy="1152128"/>
          </a:xfrm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Autor</a:t>
            </a:r>
          </a:p>
        </p:txBody>
      </p:sp>
      <p:sp>
        <p:nvSpPr>
          <p:cNvPr id="10" name="9 Marcador de texto"/>
          <p:cNvSpPr>
            <a:spLocks noGrp="1"/>
          </p:cNvSpPr>
          <p:nvPr>
            <p:ph type="body" sz="quarter" idx="10" hasCustomPrompt="1"/>
          </p:nvPr>
        </p:nvSpPr>
        <p:spPr>
          <a:xfrm>
            <a:off x="2987675" y="2859088"/>
            <a:ext cx="4321175" cy="1152525"/>
          </a:xfr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anchor="ctr">
            <a:normAutofit/>
          </a:bodyPr>
          <a:lstStyle>
            <a:lvl1pPr>
              <a:buNone/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&lt;Nombre y apellidos&gt;</a:t>
            </a:r>
          </a:p>
          <a:p>
            <a:pPr lvl="0"/>
            <a:r>
              <a:rPr lang="es-ES" dirty="0"/>
              <a:t>&lt;Email&gt;</a:t>
            </a:r>
          </a:p>
          <a:p>
            <a:pPr lvl="0"/>
            <a:r>
              <a:rPr lang="es-ES" dirty="0"/>
              <a:t>&lt;Teléfono&gt;</a:t>
            </a:r>
          </a:p>
        </p:txBody>
      </p:sp>
      <p:pic>
        <p:nvPicPr>
          <p:cNvPr id="8" name="7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4421182"/>
            <a:ext cx="1503909" cy="45482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3015D-F054-4B71-BB12-316A6A9541BC}" type="datetimeFigureOut">
              <a:rPr lang="es-ES" smtClean="0"/>
              <a:pPr/>
              <a:t>19/11/2025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749D68-D688-459C-87BB-C604575B0110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60" r:id="rId3"/>
    <p:sldLayoutId id="2147483651" r:id="rId4"/>
    <p:sldLayoutId id="2147483650" r:id="rId5"/>
    <p:sldLayoutId id="2147483652" r:id="rId6"/>
    <p:sldLayoutId id="2147483653" r:id="rId7"/>
    <p:sldLayoutId id="2147483656" r:id="rId8"/>
    <p:sldLayoutId id="2147483657" r:id="rId9"/>
    <p:sldLayoutId id="2147483661" r:id="rId10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51520" y="411510"/>
            <a:ext cx="7772400" cy="1152128"/>
          </a:xfrm>
        </p:spPr>
        <p:txBody>
          <a:bodyPr/>
          <a:lstStyle/>
          <a:p>
            <a:r>
              <a:rPr lang="es-ES" b="1" dirty="0"/>
              <a:t>Análisis y optimización de consultas en Oracle SQL y PL/SQL </a:t>
            </a:r>
            <a:endParaRPr lang="es-ES" dirty="0"/>
          </a:p>
        </p:txBody>
      </p:sp>
      <p:sp>
        <p:nvSpPr>
          <p:cNvPr id="4" name="4 Título">
            <a:extLst>
              <a:ext uri="{FF2B5EF4-FFF2-40B4-BE49-F238E27FC236}">
                <a16:creationId xmlns:a16="http://schemas.microsoft.com/office/drawing/2014/main" id="{CEA2CD2E-B90F-5078-3BEF-98753350D0D8}"/>
              </a:ext>
            </a:extLst>
          </p:cNvPr>
          <p:cNvSpPr txBox="1">
            <a:spLocks/>
          </p:cNvSpPr>
          <p:nvPr/>
        </p:nvSpPr>
        <p:spPr>
          <a:xfrm>
            <a:off x="252028" y="2067694"/>
            <a:ext cx="2880320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FF6B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solidFill>
                  <a:schemeClr val="bg1"/>
                </a:solidFill>
              </a:rPr>
              <a:t>Sesión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F90AA-A36D-0698-1CFD-B91FCF9FF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CD4D17EB-BB9C-75A1-58BF-CB459A47A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Sesiones</a:t>
            </a:r>
          </a:p>
          <a:p>
            <a:pPr lvl="2"/>
            <a:r>
              <a:rPr lang="es-ES" dirty="0"/>
              <a:t>Sesión 1 – Conexión y diseño de tablas (2h)</a:t>
            </a:r>
          </a:p>
          <a:p>
            <a:pPr lvl="2"/>
            <a:r>
              <a:rPr lang="es-ES" dirty="0"/>
              <a:t>Sesión 2 – Insertar y consultar datos (2h)</a:t>
            </a:r>
          </a:p>
          <a:p>
            <a:pPr lvl="2"/>
            <a:r>
              <a:rPr lang="es-ES" dirty="0"/>
              <a:t>Sesión 3 – Fundamentos de PL/SQL (2h)</a:t>
            </a:r>
          </a:p>
          <a:p>
            <a:pPr lvl="2"/>
            <a:r>
              <a:rPr lang="es-ES" dirty="0"/>
              <a:t>Sesión 4 – Procedimientos, funciones y paquetes (2h)</a:t>
            </a:r>
          </a:p>
          <a:p>
            <a:pPr lvl="2"/>
            <a:r>
              <a:rPr lang="es-ES" dirty="0"/>
              <a:t>Sesión 5 – Cursores y operaciones en bloque (2h)</a:t>
            </a:r>
          </a:p>
          <a:p>
            <a:pPr lvl="2"/>
            <a:r>
              <a:rPr lang="es-ES" b="1" dirty="0"/>
              <a:t>Sesión 6 – Optimización de consultas (3h)</a:t>
            </a:r>
          </a:p>
          <a:p>
            <a:pPr lvl="2"/>
            <a:r>
              <a:rPr lang="es-ES" dirty="0"/>
              <a:t>Sesión 7 – </a:t>
            </a:r>
            <a:r>
              <a:rPr lang="es-ES" dirty="0" err="1"/>
              <a:t>Triggers</a:t>
            </a:r>
            <a:r>
              <a:rPr lang="es-ES" dirty="0"/>
              <a:t> (1h)</a:t>
            </a:r>
          </a:p>
          <a:p>
            <a:pPr lvl="2"/>
            <a:endParaRPr lang="es-ES" dirty="0"/>
          </a:p>
          <a:p>
            <a:pPr lvl="2"/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E1DB2940-3159-AA88-2A46-762F55B41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9EC34DE5-E61C-8A31-4D73-BAFA907511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 err="1"/>
              <a:t>Indice</a:t>
            </a:r>
            <a:r>
              <a:rPr lang="es-ES" dirty="0"/>
              <a:t> Curso</a:t>
            </a:r>
          </a:p>
        </p:txBody>
      </p:sp>
    </p:spTree>
    <p:extLst>
      <p:ext uri="{BB962C8B-B14F-4D97-AF65-F5344CB8AC3E}">
        <p14:creationId xmlns:p14="http://schemas.microsoft.com/office/powerpoint/2010/main" val="4206735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Optimización de consultas</a:t>
            </a:r>
          </a:p>
        </p:txBody>
      </p:sp>
      <p:sp>
        <p:nvSpPr>
          <p:cNvPr id="6" name="5 Marcador de texto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C6369-A869-8C14-CE09-AF72CB39F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3D9DF16D-AB8C-FD2F-2276-0DCFB055AFAF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62E0B999-5ED7-25CD-644E-0E9B731CF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¿Por qué Optimizar Consultas?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9EF7F341-61EF-63D2-1F98-D2C4C67B2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73F5462A-B82F-7038-0F62-46058931CD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Optimización de consultas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F95D7AB-DB55-2E7D-CBB1-93F675AF390F}"/>
              </a:ext>
            </a:extLst>
          </p:cNvPr>
          <p:cNvSpPr txBox="1"/>
          <p:nvPr/>
        </p:nvSpPr>
        <p:spPr>
          <a:xfrm>
            <a:off x="270855" y="1707654"/>
            <a:ext cx="3545633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SELECT * FROM </a:t>
            </a:r>
            <a:r>
              <a:rPr lang="en-US" sz="1300" dirty="0" err="1"/>
              <a:t>empleados</a:t>
            </a:r>
            <a:r>
              <a:rPr lang="en-US" sz="1300" dirty="0"/>
              <a:t> WHERE UPPER(</a:t>
            </a:r>
            <a:r>
              <a:rPr lang="en-US" sz="1300" dirty="0" err="1"/>
              <a:t>nombre</a:t>
            </a:r>
            <a:r>
              <a:rPr lang="en-US" sz="1300" dirty="0"/>
              <a:t>) = 'JUAN';</a:t>
            </a:r>
          </a:p>
          <a:p>
            <a:r>
              <a:rPr lang="en-US" sz="1300" dirty="0"/>
              <a:t>SELECT * FROM </a:t>
            </a:r>
            <a:r>
              <a:rPr lang="en-US" sz="1300" dirty="0" err="1"/>
              <a:t>empleados</a:t>
            </a:r>
            <a:r>
              <a:rPr lang="en-US" sz="1300" dirty="0"/>
              <a:t> WHERE </a:t>
            </a:r>
            <a:r>
              <a:rPr lang="en-US" sz="1300" dirty="0" err="1"/>
              <a:t>nombre</a:t>
            </a:r>
            <a:r>
              <a:rPr lang="en-US" sz="1300" dirty="0"/>
              <a:t> = 'JUAN';</a:t>
            </a:r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3B7E47E6-1705-5955-A41B-4574EB96617F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La optimización mejora el rendimiento reduciendo tiempos de ejecución y consumo de recursos. Busca el plan de ejecución más eficiente.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47059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1239F-924B-B53D-DFF8-8DFAEB633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A1B4D27D-3AC5-78C0-4AD6-0257D3CF7B3E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A295AD1B-73E3-E00E-FB33-7A8F95A86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EXPLAIN PLAN - El Plan de Ejecución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6CA9030B-576D-B284-2F77-BC961A685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942191EA-8C37-9A3B-B965-93DD9937F3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Optimización de consultas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E21C21F-2C04-32FB-87D2-4C3FEF5E25E4}"/>
              </a:ext>
            </a:extLst>
          </p:cNvPr>
          <p:cNvSpPr txBox="1"/>
          <p:nvPr/>
        </p:nvSpPr>
        <p:spPr>
          <a:xfrm>
            <a:off x="270855" y="1707654"/>
            <a:ext cx="3545633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/>
              <a:t>EXPLAIN PLAN FOR</a:t>
            </a:r>
          </a:p>
          <a:p>
            <a:r>
              <a:rPr lang="es-ES" sz="1300" dirty="0"/>
              <a:t>SELECT </a:t>
            </a:r>
            <a:r>
              <a:rPr lang="es-ES" sz="1300" dirty="0" err="1"/>
              <a:t>e.nombre</a:t>
            </a:r>
            <a:r>
              <a:rPr lang="es-ES" sz="1300" dirty="0"/>
              <a:t>, </a:t>
            </a:r>
            <a:r>
              <a:rPr lang="es-ES" sz="1300" dirty="0" err="1"/>
              <a:t>d.nombre_depto</a:t>
            </a:r>
            <a:r>
              <a:rPr lang="es-ES" sz="1300" dirty="0"/>
              <a:t> </a:t>
            </a:r>
          </a:p>
          <a:p>
            <a:r>
              <a:rPr lang="es-ES" sz="1300" dirty="0"/>
              <a:t>FROM empleados e </a:t>
            </a:r>
          </a:p>
          <a:p>
            <a:r>
              <a:rPr lang="es-ES" sz="1300" dirty="0"/>
              <a:t>JOIN departamentos d ON </a:t>
            </a:r>
            <a:r>
              <a:rPr lang="es-ES" sz="1300" dirty="0" err="1"/>
              <a:t>e.depto_id</a:t>
            </a:r>
            <a:r>
              <a:rPr lang="es-ES" sz="1300" dirty="0"/>
              <a:t> = </a:t>
            </a:r>
            <a:r>
              <a:rPr lang="es-ES" sz="1300" dirty="0" err="1"/>
              <a:t>d.id</a:t>
            </a:r>
            <a:r>
              <a:rPr lang="es-ES" sz="1300" dirty="0"/>
              <a:t>;</a:t>
            </a:r>
          </a:p>
          <a:p>
            <a:endParaRPr lang="es-ES" sz="1300" dirty="0"/>
          </a:p>
          <a:p>
            <a:r>
              <a:rPr lang="en-US" sz="1400" dirty="0"/>
              <a:t>SELECT * FROM TABLE(DBMS_XPLAN.DISPLAY);</a:t>
            </a:r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0618F54E-2A4F-97D5-E3A9-8C787E898F1F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Muestra cómo Oracle ejecutará una consulta: orden de operaciones, métodos de acceso y coste estimado. Esencial para identificar cuellos de botella.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41866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5A4A3-7EB5-076F-86A0-D3AB09BC7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42EC8313-1999-8ACA-2E42-D719FA3C3F21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02629396-ED29-A17D-9FD9-D710214D4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EXPLAIN PLAN - El Plan de Ejecución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B21B08E9-18EC-82FB-177F-EE2BAD02E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4BBA95B4-3DD7-1BE2-1660-240A7AA714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Optimización de consultas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89EEF5D-7228-6D6D-CE85-563919728D63}"/>
              </a:ext>
            </a:extLst>
          </p:cNvPr>
          <p:cNvSpPr txBox="1"/>
          <p:nvPr/>
        </p:nvSpPr>
        <p:spPr>
          <a:xfrm>
            <a:off x="270855" y="1707654"/>
            <a:ext cx="3545633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/>
              <a:t>EXPLAIN PLAN FOR</a:t>
            </a:r>
          </a:p>
          <a:p>
            <a:r>
              <a:rPr lang="es-ES" sz="1300" dirty="0"/>
              <a:t>SELECT </a:t>
            </a:r>
            <a:r>
              <a:rPr lang="es-ES" sz="1300" dirty="0" err="1"/>
              <a:t>e.nombre</a:t>
            </a:r>
            <a:r>
              <a:rPr lang="es-ES" sz="1300" dirty="0"/>
              <a:t>, </a:t>
            </a:r>
            <a:r>
              <a:rPr lang="es-ES" sz="1300" dirty="0" err="1"/>
              <a:t>d.nombre_depto</a:t>
            </a:r>
            <a:r>
              <a:rPr lang="es-ES" sz="1300" dirty="0"/>
              <a:t> </a:t>
            </a:r>
          </a:p>
          <a:p>
            <a:r>
              <a:rPr lang="es-ES" sz="1300" dirty="0"/>
              <a:t>FROM empleados e </a:t>
            </a:r>
          </a:p>
          <a:p>
            <a:r>
              <a:rPr lang="es-ES" sz="1300" dirty="0"/>
              <a:t>JOIN departamentos d ON </a:t>
            </a:r>
            <a:r>
              <a:rPr lang="es-ES" sz="1300" dirty="0" err="1"/>
              <a:t>e.depto_id</a:t>
            </a:r>
            <a:r>
              <a:rPr lang="es-ES" sz="1300" dirty="0"/>
              <a:t> = </a:t>
            </a:r>
            <a:r>
              <a:rPr lang="es-ES" sz="1300" dirty="0" err="1"/>
              <a:t>d.id</a:t>
            </a:r>
            <a:r>
              <a:rPr lang="es-ES" sz="1300" dirty="0"/>
              <a:t>;</a:t>
            </a:r>
          </a:p>
          <a:p>
            <a:endParaRPr lang="es-ES" sz="1300" dirty="0"/>
          </a:p>
          <a:p>
            <a:r>
              <a:rPr lang="en-US" sz="1400" dirty="0"/>
              <a:t>SELECT * FROM TABLE(DBMS_XPLAN.DISPLAY);</a:t>
            </a:r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4BA77A11-8E73-54CA-ECF3-F8EDE1975AC5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Muestra cómo Oracle ejecutará una consulta: orden de operaciones, métodos de acceso y coste estimado. Esencial para identificar cuellos de botella.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5511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40E7A-4878-C245-DB0B-EE247F0D8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916F86DC-1442-640D-0BF1-32AC10520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229600" cy="2073716"/>
          </a:xfrm>
        </p:spPr>
        <p:txBody>
          <a:bodyPr>
            <a:normAutofit/>
          </a:bodyPr>
          <a:lstStyle/>
          <a:p>
            <a:r>
              <a:rPr lang="es-ES" dirty="0"/>
              <a:t>Lectura del Plan de Ejecución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92F88460-32FD-ABB0-5F03-576BB368F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FEED6F9B-CAA9-639B-6FEB-986F79A5DD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Inserción de datos con INSERT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5A76FE5-B5A7-4304-9FA4-D7F29B83608D}"/>
              </a:ext>
            </a:extLst>
          </p:cNvPr>
          <p:cNvSpPr txBox="1"/>
          <p:nvPr/>
        </p:nvSpPr>
        <p:spPr>
          <a:xfrm>
            <a:off x="323528" y="1419622"/>
            <a:ext cx="85689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-----------------------------------------------------------------------------------</a:t>
            </a:r>
          </a:p>
          <a:p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| Id  |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Operation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|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Rows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| Bytes |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Cost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(%CPU)| Time     |</a:t>
            </a:r>
          </a:p>
          <a:p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-----------------------------------------------------------------------------------</a:t>
            </a:r>
          </a:p>
          <a:p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|   0 | SELECT STATEMENT   |             |   100 |  5300 |    10   (0)| 00:00:01 |</a:t>
            </a:r>
          </a:p>
          <a:p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|*  1 |  HASH JOIN         |             |   100 |  5300 |    10   (0)| 00:00:01 |</a:t>
            </a:r>
          </a:p>
          <a:p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|   2 |   TABLE ACCESS FULL| EMPLEADOS   |  1000 | 36000 |     5   (0)| 00:00:01 |</a:t>
            </a:r>
          </a:p>
          <a:p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|   3 |   TABLE ACCESS FULL| DEPARTAMENTOS|   10 |   130 |     5   (0)| 00:00:01 |</a:t>
            </a:r>
          </a:p>
          <a:p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-----------------------------------------------------------------------------------</a:t>
            </a:r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92316653-0F45-85C4-A108-03A60F06D810}"/>
              </a:ext>
            </a:extLst>
          </p:cNvPr>
          <p:cNvSpPr txBox="1">
            <a:spLocks/>
          </p:cNvSpPr>
          <p:nvPr/>
        </p:nvSpPr>
        <p:spPr>
          <a:xfrm>
            <a:off x="457200" y="3075806"/>
            <a:ext cx="8363272" cy="1800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 err="1"/>
              <a:t>Operation</a:t>
            </a:r>
            <a:r>
              <a:rPr lang="es-ES" sz="1600" dirty="0"/>
              <a:t>: Tipo de operación (FULL SCAN, INDEX, JOIN)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 err="1"/>
              <a:t>Name</a:t>
            </a:r>
            <a:r>
              <a:rPr lang="es-ES" sz="1600" dirty="0"/>
              <a:t>: Tabla/índice usado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 err="1"/>
              <a:t>Rows</a:t>
            </a:r>
            <a:r>
              <a:rPr lang="es-ES" sz="1600" dirty="0"/>
              <a:t>: Filas estimadas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600" dirty="0" err="1"/>
              <a:t>Cost</a:t>
            </a:r>
            <a:r>
              <a:rPr lang="es-ES" sz="1600" dirty="0"/>
              <a:t>: Coste relativo (menor = mejor)</a:t>
            </a:r>
          </a:p>
        </p:txBody>
      </p:sp>
    </p:spTree>
    <p:extLst>
      <p:ext uri="{BB962C8B-B14F-4D97-AF65-F5344CB8AC3E}">
        <p14:creationId xmlns:p14="http://schemas.microsoft.com/office/powerpoint/2010/main" val="2734281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701CD-4815-2AC7-7944-291A7A8DC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A539E332-3EFF-2E27-1AF8-DAF41D7BBAE9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B632B28B-7448-AD71-486A-8D5DA2EFF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AUTOTRACE - Estadísticas en Tiempo Real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A6966B16-5D00-EE63-CBDD-53EE5D4A0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6816F2CB-05B9-33D7-9F17-D6F1A301D4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Optimización de consultas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1B667A-D951-BA92-F362-410E275634D3}"/>
              </a:ext>
            </a:extLst>
          </p:cNvPr>
          <p:cNvSpPr txBox="1"/>
          <p:nvPr/>
        </p:nvSpPr>
        <p:spPr>
          <a:xfrm>
            <a:off x="270855" y="1707654"/>
            <a:ext cx="3545633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/>
              <a:t>SET AUTOTRACE ON</a:t>
            </a:r>
          </a:p>
          <a:p>
            <a:r>
              <a:rPr lang="es-ES" sz="1300" dirty="0"/>
              <a:t>SELECT </a:t>
            </a:r>
            <a:r>
              <a:rPr lang="es-ES" sz="1300" dirty="0" err="1"/>
              <a:t>e.nombre</a:t>
            </a:r>
            <a:r>
              <a:rPr lang="es-ES" sz="1300" dirty="0"/>
              <a:t>, </a:t>
            </a:r>
            <a:r>
              <a:rPr lang="es-ES" sz="1300" dirty="0" err="1"/>
              <a:t>d.nombre_depto</a:t>
            </a:r>
            <a:r>
              <a:rPr lang="es-ES" sz="1300" dirty="0"/>
              <a:t> </a:t>
            </a:r>
          </a:p>
          <a:p>
            <a:r>
              <a:rPr lang="es-ES" sz="1300" dirty="0"/>
              <a:t>FROM empleados e </a:t>
            </a:r>
          </a:p>
          <a:p>
            <a:r>
              <a:rPr lang="es-ES" sz="1300" dirty="0"/>
              <a:t>JOIN departamentos d ON </a:t>
            </a:r>
            <a:r>
              <a:rPr lang="es-ES" sz="1300" dirty="0" err="1"/>
              <a:t>e.depto_id</a:t>
            </a:r>
            <a:r>
              <a:rPr lang="es-ES" sz="1300" dirty="0"/>
              <a:t> = </a:t>
            </a:r>
            <a:r>
              <a:rPr lang="es-ES" sz="1300" dirty="0" err="1"/>
              <a:t>d.id</a:t>
            </a:r>
            <a:r>
              <a:rPr lang="es-ES" sz="1300" dirty="0"/>
              <a:t> </a:t>
            </a:r>
          </a:p>
          <a:p>
            <a:r>
              <a:rPr lang="es-ES" sz="1300" dirty="0"/>
              <a:t>WHERE </a:t>
            </a:r>
            <a:r>
              <a:rPr lang="es-ES" sz="1300" dirty="0" err="1"/>
              <a:t>e.salario</a:t>
            </a:r>
            <a:r>
              <a:rPr lang="es-ES" sz="1300" dirty="0"/>
              <a:t> &gt; 5000;</a:t>
            </a:r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E1B82600-90D3-C533-18AA-47B2C78E2D27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Proporciona estadísticas reales de ejecución: consumo de CPU, E/S, filas procesadas. Muestra tanto el plan como las métricas reales.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7511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161CA-D0DD-01EE-3F53-9016CE050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0B477E41-DAFE-1468-B255-DF4830567C77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81630F7F-FC35-13BA-FAB8-65CCC3690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Configurando AUTOTRACE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9868D226-3BD7-38B6-0042-78EAA2140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0CF625E6-FB81-8AF7-CF1D-752B95AF37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Optimización de consultas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D50AC41-E17E-50AD-8FC7-124FFA085C18}"/>
              </a:ext>
            </a:extLst>
          </p:cNvPr>
          <p:cNvSpPr txBox="1"/>
          <p:nvPr/>
        </p:nvSpPr>
        <p:spPr>
          <a:xfrm>
            <a:off x="270855" y="1707654"/>
            <a:ext cx="3545633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/>
              <a:t>SET AUTOTRACE TRACEONLY STATISTICS  </a:t>
            </a:r>
          </a:p>
          <a:p>
            <a:r>
              <a:rPr lang="es-ES" sz="1300" dirty="0"/>
              <a:t>-- Solo estadísticas</a:t>
            </a:r>
          </a:p>
          <a:p>
            <a:endParaRPr lang="es-ES" sz="1300" dirty="0"/>
          </a:p>
          <a:p>
            <a:r>
              <a:rPr lang="es-ES" sz="1300" dirty="0"/>
              <a:t>SET AUTOTRACE TRACEONLY EXPLAIN     </a:t>
            </a:r>
          </a:p>
          <a:p>
            <a:r>
              <a:rPr lang="es-ES" sz="1300" dirty="0"/>
              <a:t>-- Solo plan de ejecución</a:t>
            </a:r>
          </a:p>
          <a:p>
            <a:endParaRPr lang="es-ES" sz="1300" dirty="0"/>
          </a:p>
          <a:p>
            <a:r>
              <a:rPr lang="es-ES" sz="1300" dirty="0"/>
              <a:t>SET AUTOTRACE TRACEONLY             </a:t>
            </a:r>
          </a:p>
          <a:p>
            <a:r>
              <a:rPr lang="es-ES" sz="1300" dirty="0"/>
              <a:t>-- Plan + estadísticas</a:t>
            </a:r>
          </a:p>
          <a:p>
            <a:endParaRPr lang="es-ES" sz="1300" dirty="0"/>
          </a:p>
          <a:p>
            <a:r>
              <a:rPr lang="es-ES" sz="1300" dirty="0"/>
              <a:t>SET AUTOTRACE OFF                  </a:t>
            </a:r>
          </a:p>
          <a:p>
            <a:r>
              <a:rPr lang="es-ES" sz="1300" dirty="0"/>
              <a:t> -- Desactivar</a:t>
            </a:r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E1915C04-C2AC-A4CD-9DC4-EE6EDEE5A0D5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Diferentes modos para analizar específicamente plan de ejecución, estadísticas o ambos. TRACEONLY evita mostrar los datos.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95998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EDA4B-CDA8-5D91-A335-97C790E67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460BB1D7-201E-7A93-C369-E4CAF5F8977C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625C5FCD-054E-F0B4-5D73-C6F02F8FE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¿Qué es el Coste de Ejecución?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02E3A1B6-0879-3BE5-6C77-62394F08B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F086ADBD-D89B-87B0-8979-4B24F861D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Optimización de consultas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2E8DCF7-D8D8-0D95-4C58-6012C270A84E}"/>
              </a:ext>
            </a:extLst>
          </p:cNvPr>
          <p:cNvSpPr txBox="1"/>
          <p:nvPr/>
        </p:nvSpPr>
        <p:spPr>
          <a:xfrm>
            <a:off x="270855" y="1707654"/>
            <a:ext cx="3545633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/>
              <a:t>-- Coste alto: 150</a:t>
            </a:r>
          </a:p>
          <a:p>
            <a:r>
              <a:rPr lang="es-ES" sz="1300" dirty="0"/>
              <a:t>SELECT * FROM ventas WHERE TO_CHAR(fecha, 'YYYY') = '2024';</a:t>
            </a:r>
          </a:p>
          <a:p>
            <a:endParaRPr lang="es-ES" sz="1300" dirty="0"/>
          </a:p>
          <a:p>
            <a:r>
              <a:rPr lang="es-ES" sz="1300" dirty="0"/>
              <a:t>-- Coste bajo: 8  </a:t>
            </a:r>
          </a:p>
          <a:p>
            <a:r>
              <a:rPr lang="es-ES" sz="1300" dirty="0"/>
              <a:t>SELECT * FROM ventas WHERE fecha &gt;= DATE '2024-01-01';</a:t>
            </a:r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DE48AEA7-72A7-294E-FE9F-E78E50401176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El coste representa el esfuerzo estimado (CPU, E/S, memoria). No es tiempo real pero es buen indicador de eficiencia. Buscar reducir el coste.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70731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87FE7-9335-6F08-FF57-A118E82B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0941558E-097A-6AD2-FD2A-CBE4A79A6CBD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6BE04891-7DFA-4877-B5A4-D23A80816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Factores que Influyen en el Coste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4E1AFE65-7DA6-97AE-7CD7-F3459B7C8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76687BBC-54A7-7406-89FF-B596901B53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Optimización de consultas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86B2DEA-21B4-19CC-A46E-53329103796C}"/>
              </a:ext>
            </a:extLst>
          </p:cNvPr>
          <p:cNvSpPr txBox="1"/>
          <p:nvPr/>
        </p:nvSpPr>
        <p:spPr>
          <a:xfrm>
            <a:off x="270855" y="1707654"/>
            <a:ext cx="3545633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/>
              <a:t>-- Factores clave:</a:t>
            </a:r>
          </a:p>
          <a:p>
            <a:endParaRPr lang="es-ES" sz="1300" dirty="0"/>
          </a:p>
          <a:p>
            <a:r>
              <a:rPr lang="es-ES" sz="1300" dirty="0"/>
              <a:t>- Full Table </a:t>
            </a:r>
            <a:r>
              <a:rPr lang="es-ES" sz="1300" dirty="0" err="1"/>
              <a:t>Scan</a:t>
            </a:r>
            <a:r>
              <a:rPr lang="es-ES" sz="1300" dirty="0"/>
              <a:t> vs </a:t>
            </a:r>
            <a:r>
              <a:rPr lang="es-ES" sz="1300" dirty="0" err="1"/>
              <a:t>Index</a:t>
            </a:r>
            <a:r>
              <a:rPr lang="es-ES" sz="1300" dirty="0"/>
              <a:t> </a:t>
            </a:r>
            <a:r>
              <a:rPr lang="es-ES" sz="1300" dirty="0" err="1"/>
              <a:t>Scan</a:t>
            </a:r>
            <a:endParaRPr lang="es-ES" sz="1300" dirty="0"/>
          </a:p>
          <a:p>
            <a:r>
              <a:rPr lang="es-ES" sz="1300" dirty="0"/>
              <a:t>- </a:t>
            </a:r>
            <a:r>
              <a:rPr lang="es-ES" sz="1300" dirty="0" err="1"/>
              <a:t>Join</a:t>
            </a:r>
            <a:r>
              <a:rPr lang="es-ES" sz="1300" dirty="0"/>
              <a:t> </a:t>
            </a:r>
            <a:r>
              <a:rPr lang="es-ES" sz="1300" dirty="0" err="1"/>
              <a:t>Methods</a:t>
            </a:r>
            <a:r>
              <a:rPr lang="es-ES" sz="1300" dirty="0"/>
              <a:t> (</a:t>
            </a:r>
            <a:r>
              <a:rPr lang="es-ES" sz="1300" dirty="0" err="1"/>
              <a:t>Nested</a:t>
            </a:r>
            <a:r>
              <a:rPr lang="es-ES" sz="1300" dirty="0"/>
              <a:t> </a:t>
            </a:r>
            <a:r>
              <a:rPr lang="es-ES" sz="1300" dirty="0" err="1"/>
              <a:t>Loops</a:t>
            </a:r>
            <a:r>
              <a:rPr lang="es-ES" sz="1300" dirty="0"/>
              <a:t> vs Hash </a:t>
            </a:r>
            <a:r>
              <a:rPr lang="es-ES" sz="1300" dirty="0" err="1"/>
              <a:t>Join</a:t>
            </a:r>
            <a:r>
              <a:rPr lang="es-ES" sz="1300" dirty="0"/>
              <a:t>)</a:t>
            </a:r>
          </a:p>
          <a:p>
            <a:r>
              <a:rPr lang="es-ES" sz="1300" dirty="0"/>
              <a:t>- </a:t>
            </a:r>
            <a:r>
              <a:rPr lang="es-ES" sz="1300" dirty="0" err="1"/>
              <a:t>Sort</a:t>
            </a:r>
            <a:r>
              <a:rPr lang="es-ES" sz="1300" dirty="0"/>
              <a:t> </a:t>
            </a:r>
            <a:r>
              <a:rPr lang="es-ES" sz="1300" dirty="0" err="1"/>
              <a:t>Operations</a:t>
            </a:r>
            <a:endParaRPr lang="es-ES" sz="1300" dirty="0"/>
          </a:p>
          <a:p>
            <a:r>
              <a:rPr lang="es-ES" sz="1300" dirty="0"/>
              <a:t>- </a:t>
            </a:r>
            <a:r>
              <a:rPr lang="es-ES" sz="1300" dirty="0" err="1"/>
              <a:t>Estimated</a:t>
            </a:r>
            <a:r>
              <a:rPr lang="es-ES" sz="1300" dirty="0"/>
              <a:t> </a:t>
            </a:r>
            <a:r>
              <a:rPr lang="es-ES" sz="1300" dirty="0" err="1"/>
              <a:t>Rows</a:t>
            </a:r>
            <a:r>
              <a:rPr lang="es-ES" sz="1300" dirty="0"/>
              <a:t> vs Actual </a:t>
            </a:r>
            <a:r>
              <a:rPr lang="es-ES" sz="1300" dirty="0" err="1"/>
              <a:t>Rows</a:t>
            </a:r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4C8AE0C3-FB45-32F6-FC19-683E2FEB03D9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Operaciones costosas: FULL SCAN en tablas grandes, SORT sin índices, JOIN ineficientes, funciones en predicados WHERE.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24455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C2FC9-D923-56E5-6A75-5A8D04BA7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A9C373E9-16A0-8C97-850C-7539C7733EE2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FBC70B2B-879F-5AF5-9C10-1E392F4CB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Índices - Concepto Básico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CEBF26DA-4DC0-8F43-F367-7111C554D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DB4FF46F-0FA5-103E-7015-005A5E8B94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Optimización de consultas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2203E49-5A96-F290-6902-C05BCF09534F}"/>
              </a:ext>
            </a:extLst>
          </p:cNvPr>
          <p:cNvSpPr txBox="1"/>
          <p:nvPr/>
        </p:nvSpPr>
        <p:spPr>
          <a:xfrm>
            <a:off x="270855" y="1707654"/>
            <a:ext cx="3545633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/>
              <a:t>CREATE INDEX </a:t>
            </a:r>
            <a:r>
              <a:rPr lang="es-ES" sz="1300" dirty="0" err="1"/>
              <a:t>idx_emp_depto</a:t>
            </a:r>
            <a:r>
              <a:rPr lang="es-ES" sz="1300" dirty="0"/>
              <a:t> ON empleados(</a:t>
            </a:r>
            <a:r>
              <a:rPr lang="es-ES" sz="1300" dirty="0" err="1"/>
              <a:t>depto_id</a:t>
            </a:r>
            <a:r>
              <a:rPr lang="es-ES" sz="1300" dirty="0"/>
              <a:t>);</a:t>
            </a:r>
          </a:p>
          <a:p>
            <a:endParaRPr lang="es-ES" sz="1300" dirty="0"/>
          </a:p>
          <a:p>
            <a:r>
              <a:rPr lang="es-ES" sz="1300" dirty="0"/>
              <a:t>CREATE INDEX </a:t>
            </a:r>
            <a:r>
              <a:rPr lang="es-ES" sz="1300" dirty="0" err="1"/>
              <a:t>idx_emp_nombre</a:t>
            </a:r>
            <a:r>
              <a:rPr lang="es-ES" sz="1300" dirty="0"/>
              <a:t> ON empleados(nombre);</a:t>
            </a:r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953ADD16-9E75-BAD9-AF9F-9524D3E7F327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Estructuras que permiten acceso rápido a filas específicas, como el índice de un libro. Reducen necesidad de FULL TABLE SCAN.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36581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CF53E-F654-2382-B1EB-213DC6517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2159C859-5BFA-7101-E885-51B6787DAC96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1BE6173E-9EE9-9C11-F210-CA747A865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Tipos de Índices en Oracle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F983D7E5-E384-C48F-9F59-473E05C63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5FB06BB4-1A7E-08F0-E9B9-3DC22FD560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Optimización de consultas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32E75E1-C9B5-C083-A241-7A0498CEEE9D}"/>
              </a:ext>
            </a:extLst>
          </p:cNvPr>
          <p:cNvSpPr txBox="1"/>
          <p:nvPr/>
        </p:nvSpPr>
        <p:spPr>
          <a:xfrm>
            <a:off x="270855" y="1707654"/>
            <a:ext cx="3545633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/>
              <a:t>CREATE INDEX </a:t>
            </a:r>
            <a:r>
              <a:rPr lang="es-ES" sz="1300" dirty="0" err="1"/>
              <a:t>idx_normal</a:t>
            </a:r>
            <a:r>
              <a:rPr lang="es-ES" sz="1300" dirty="0"/>
              <a:t> ON empleados(salario);</a:t>
            </a:r>
          </a:p>
          <a:p>
            <a:endParaRPr lang="es-ES" sz="1300" dirty="0"/>
          </a:p>
          <a:p>
            <a:r>
              <a:rPr lang="es-ES" sz="1300" dirty="0"/>
              <a:t>CREATE UNIQUE INDEX </a:t>
            </a:r>
            <a:r>
              <a:rPr lang="es-ES" sz="1300" dirty="0" err="1"/>
              <a:t>idx_unique</a:t>
            </a:r>
            <a:r>
              <a:rPr lang="es-ES" sz="1300" dirty="0"/>
              <a:t> ON empleados(email);</a:t>
            </a:r>
          </a:p>
          <a:p>
            <a:endParaRPr lang="es-ES" sz="1300" dirty="0"/>
          </a:p>
          <a:p>
            <a:r>
              <a:rPr lang="es-ES" sz="1300" dirty="0"/>
              <a:t>CREATE BITMAP INDEX </a:t>
            </a:r>
            <a:r>
              <a:rPr lang="es-ES" sz="1300" dirty="0" err="1"/>
              <a:t>idx_bitmap</a:t>
            </a:r>
            <a:r>
              <a:rPr lang="es-ES" sz="1300" dirty="0"/>
              <a:t> ON empleados(</a:t>
            </a:r>
            <a:r>
              <a:rPr lang="es-ES" sz="1300" dirty="0" err="1"/>
              <a:t>depto_id</a:t>
            </a:r>
            <a:r>
              <a:rPr lang="es-ES" sz="1300" dirty="0"/>
              <a:t>);</a:t>
            </a:r>
          </a:p>
          <a:p>
            <a:endParaRPr lang="es-ES" sz="1300" dirty="0"/>
          </a:p>
          <a:p>
            <a:r>
              <a:rPr lang="es-ES" sz="1300" dirty="0"/>
              <a:t>CREATE INDEX </a:t>
            </a:r>
            <a:r>
              <a:rPr lang="es-ES" sz="1300" dirty="0" err="1"/>
              <a:t>idx_compuesto</a:t>
            </a:r>
            <a:r>
              <a:rPr lang="es-ES" sz="1300" dirty="0"/>
              <a:t> ON empleados(</a:t>
            </a:r>
            <a:r>
              <a:rPr lang="es-ES" sz="1300" dirty="0" err="1"/>
              <a:t>depto_id</a:t>
            </a:r>
            <a:r>
              <a:rPr lang="es-ES" sz="1300" dirty="0"/>
              <a:t>, salario);</a:t>
            </a:r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A7C03CDC-64A0-ED0A-078D-1CA11DF82CE2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B-</a:t>
            </a:r>
            <a:r>
              <a:rPr lang="es-ES" sz="1800" dirty="0" err="1"/>
              <a:t>tree</a:t>
            </a:r>
            <a:r>
              <a:rPr lang="es-ES" sz="1800" dirty="0"/>
              <a:t>: Para alta cardinalidad (valores únicos)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Bitmap: Para baja cardinalidad (pocos valores distintos)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Compuestos: Múltiples columnas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Únicos: Garantizan unicidad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82780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55879-0A62-C3EB-A304-2D971D67D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F7C4880D-5AC5-7867-68A6-911E90B2F065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3C920E21-48E8-5706-42D1-431C9C009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¿Cuándo Crear Índices?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78D587E8-C580-EF97-E3DB-62E06E0C8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70002F32-3BD8-A358-A967-20E20674A4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Optimización de consultas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019C48A-92E1-B138-B1F8-9B49ED9E1751}"/>
              </a:ext>
            </a:extLst>
          </p:cNvPr>
          <p:cNvSpPr txBox="1"/>
          <p:nvPr/>
        </p:nvSpPr>
        <p:spPr>
          <a:xfrm>
            <a:off x="270855" y="1707654"/>
            <a:ext cx="3545633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-- Buen </a:t>
            </a:r>
            <a:r>
              <a:rPr lang="en-US" sz="1300" dirty="0" err="1"/>
              <a:t>candidato</a:t>
            </a:r>
            <a:r>
              <a:rPr lang="en-US" sz="1300" dirty="0"/>
              <a:t> para </a:t>
            </a:r>
            <a:r>
              <a:rPr lang="en-US" sz="1300" dirty="0" err="1"/>
              <a:t>índice</a:t>
            </a:r>
            <a:r>
              <a:rPr lang="en-US" sz="1300" dirty="0"/>
              <a:t>:</a:t>
            </a:r>
          </a:p>
          <a:p>
            <a:r>
              <a:rPr lang="en-US" sz="1300" dirty="0"/>
              <a:t>SELECT * FROM </a:t>
            </a:r>
            <a:r>
              <a:rPr lang="en-US" sz="1300" dirty="0" err="1"/>
              <a:t>empleados</a:t>
            </a:r>
            <a:r>
              <a:rPr lang="en-US" sz="1300" dirty="0"/>
              <a:t> WHERE </a:t>
            </a:r>
            <a:r>
              <a:rPr lang="en-US" sz="1300" dirty="0" err="1"/>
              <a:t>depto_id</a:t>
            </a:r>
            <a:r>
              <a:rPr lang="en-US" sz="1300" dirty="0"/>
              <a:t> = 10;</a:t>
            </a:r>
          </a:p>
          <a:p>
            <a:endParaRPr lang="en-US" sz="1300" dirty="0"/>
          </a:p>
          <a:p>
            <a:r>
              <a:rPr lang="en-US" sz="1300" dirty="0"/>
              <a:t>SELECT * FROM </a:t>
            </a:r>
            <a:r>
              <a:rPr lang="en-US" sz="1300" dirty="0" err="1"/>
              <a:t>clientes</a:t>
            </a:r>
            <a:r>
              <a:rPr lang="en-US" sz="1300" dirty="0"/>
              <a:t> WHERE email = 'cliente@email.com’; </a:t>
            </a:r>
          </a:p>
          <a:p>
            <a:endParaRPr lang="en-US" sz="1300" dirty="0"/>
          </a:p>
          <a:p>
            <a:r>
              <a:rPr lang="en-US" sz="1300" dirty="0"/>
              <a:t>-- Mal </a:t>
            </a:r>
            <a:r>
              <a:rPr lang="en-US" sz="1300" dirty="0" err="1"/>
              <a:t>candidato</a:t>
            </a:r>
            <a:r>
              <a:rPr lang="en-US" sz="1300" dirty="0"/>
              <a:t>:</a:t>
            </a:r>
          </a:p>
          <a:p>
            <a:r>
              <a:rPr lang="en-US" sz="1300" dirty="0"/>
              <a:t>SELECT * FROM </a:t>
            </a:r>
            <a:r>
              <a:rPr lang="en-US" sz="1300" dirty="0" err="1"/>
              <a:t>empleados</a:t>
            </a:r>
            <a:r>
              <a:rPr lang="en-US" sz="1300" dirty="0"/>
              <a:t> WHERE </a:t>
            </a:r>
            <a:r>
              <a:rPr lang="en-US" sz="1300" dirty="0" err="1"/>
              <a:t>activo</a:t>
            </a:r>
            <a:r>
              <a:rPr lang="en-US" sz="1300" dirty="0"/>
              <a:t> = 'S'; -- 95% de </a:t>
            </a:r>
            <a:r>
              <a:rPr lang="en-US" sz="1300" dirty="0" err="1"/>
              <a:t>filas</a:t>
            </a:r>
            <a:endParaRPr lang="en-US" sz="13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E9FFBF24-C8AC-8BA5-D91A-B2ED0E5426DE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Crear índices cuando:</a:t>
            </a:r>
          </a:p>
          <a:p>
            <a:pPr marL="877888" lvl="2" indent="-342900"/>
            <a:r>
              <a:rPr lang="es-ES" sz="1600" dirty="0"/>
              <a:t>Consultas filtran por columnas específicas</a:t>
            </a:r>
          </a:p>
          <a:p>
            <a:pPr marL="877888" lvl="2" indent="-342900"/>
            <a:r>
              <a:rPr lang="es-ES" sz="1600" dirty="0"/>
              <a:t>Columnas con alta selectividad</a:t>
            </a:r>
          </a:p>
          <a:p>
            <a:pPr marL="877888" lvl="2" indent="-342900"/>
            <a:r>
              <a:rPr lang="es-ES" sz="1600" dirty="0"/>
              <a:t>Tablas grandes con consultas frecuentes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44314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E72D2-D699-87B7-7FFB-F3DF6C052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203E865D-FE6A-1E61-81DF-50DEB7709D60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F6C72B6D-F20E-FE55-9550-C41AC7B19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Casos donde los Índices NO Ayudan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5ED11D95-B332-6BB5-DA05-43FDCAA86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9FBA201F-3195-ED54-9E23-53756333D9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Optimización de consultas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57E85B9-F9AF-1A8B-06AD-E8562467E5A8}"/>
              </a:ext>
            </a:extLst>
          </p:cNvPr>
          <p:cNvSpPr txBox="1"/>
          <p:nvPr/>
        </p:nvSpPr>
        <p:spPr>
          <a:xfrm>
            <a:off x="270855" y="1707654"/>
            <a:ext cx="3545633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SELECT * FROM </a:t>
            </a:r>
            <a:r>
              <a:rPr lang="en-US" sz="1300" dirty="0" err="1"/>
              <a:t>empleados</a:t>
            </a:r>
            <a:r>
              <a:rPr lang="en-US" sz="1300" dirty="0"/>
              <a:t> WHERE UPPER(</a:t>
            </a:r>
            <a:r>
              <a:rPr lang="en-US" sz="1300" dirty="0" err="1"/>
              <a:t>nombre</a:t>
            </a:r>
            <a:r>
              <a:rPr lang="en-US" sz="1300" dirty="0"/>
              <a:t>) = 'JUAN’;</a:t>
            </a:r>
          </a:p>
          <a:p>
            <a:endParaRPr lang="en-US" sz="1300" dirty="0"/>
          </a:p>
          <a:p>
            <a:r>
              <a:rPr lang="en-US" sz="1300" dirty="0"/>
              <a:t>SELECT * FROM </a:t>
            </a:r>
            <a:r>
              <a:rPr lang="en-US" sz="1300" dirty="0" err="1"/>
              <a:t>ventas</a:t>
            </a:r>
            <a:r>
              <a:rPr lang="en-US" sz="1300" dirty="0"/>
              <a:t> WHERE TO_CHAR(</a:t>
            </a:r>
            <a:r>
              <a:rPr lang="en-US" sz="1300" dirty="0" err="1"/>
              <a:t>fecha</a:t>
            </a:r>
            <a:r>
              <a:rPr lang="en-US" sz="1300" dirty="0"/>
              <a:t>, 'MM') = '01’;</a:t>
            </a:r>
          </a:p>
          <a:p>
            <a:endParaRPr lang="en-US" sz="1300" dirty="0"/>
          </a:p>
          <a:p>
            <a:r>
              <a:rPr lang="es-ES" sz="1300" dirty="0"/>
              <a:t>-- Tabla pequeña:</a:t>
            </a:r>
          </a:p>
          <a:p>
            <a:r>
              <a:rPr lang="es-ES" sz="1300" dirty="0"/>
              <a:t>SELECT * FROM departamentos; -- Solo 10 filas</a:t>
            </a:r>
            <a:endParaRPr lang="en-US" sz="13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FAC45B5B-A1BE-BAAB-BA03-7BB9A017579F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Evitar índices cuando:</a:t>
            </a:r>
          </a:p>
          <a:p>
            <a:pPr marL="877888" lvl="2" indent="-342900"/>
            <a:r>
              <a:rPr lang="es-ES" sz="1600" dirty="0"/>
              <a:t>Funciones en predicados WHERE</a:t>
            </a:r>
          </a:p>
          <a:p>
            <a:pPr marL="877888" lvl="2" indent="-342900"/>
            <a:r>
              <a:rPr lang="es-ES" sz="1600" dirty="0"/>
              <a:t>Tablas muy pequeñas</a:t>
            </a:r>
          </a:p>
          <a:p>
            <a:pPr marL="877888" lvl="2" indent="-342900"/>
            <a:r>
              <a:rPr lang="es-ES" sz="1600" dirty="0"/>
              <a:t>Columnas con baja selectividad</a:t>
            </a:r>
          </a:p>
          <a:p>
            <a:pPr marL="877888" lvl="2" indent="-342900"/>
            <a:r>
              <a:rPr lang="es-ES" sz="1600" dirty="0"/>
              <a:t>Operaciones LIKE con comodín inicial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00494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207E4-32E4-AFCB-3441-6D01FABBC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3B26317D-9017-35CF-6045-2B8CEDAA96A5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375D021C-FCCD-BE5C-A6DF-2107989F7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Índices Compuestos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948940A4-6818-36D3-A516-5F22DE73F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ED1229DA-27CF-2A46-4857-33E0002262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Optimización de consultas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9AFF229-ECA2-8B55-804D-A548633812B9}"/>
              </a:ext>
            </a:extLst>
          </p:cNvPr>
          <p:cNvSpPr txBox="1"/>
          <p:nvPr/>
        </p:nvSpPr>
        <p:spPr>
          <a:xfrm>
            <a:off x="257579" y="1316165"/>
            <a:ext cx="3545633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CREATE INDEX </a:t>
            </a:r>
            <a:r>
              <a:rPr lang="en-US" sz="1300" dirty="0" err="1"/>
              <a:t>idx_emp_depto_salario</a:t>
            </a:r>
            <a:r>
              <a:rPr lang="en-US" sz="1300" dirty="0"/>
              <a:t> ON </a:t>
            </a:r>
            <a:r>
              <a:rPr lang="en-US" sz="1300" dirty="0" err="1"/>
              <a:t>empleados</a:t>
            </a:r>
            <a:r>
              <a:rPr lang="en-US" sz="1300" dirty="0"/>
              <a:t>(</a:t>
            </a:r>
            <a:r>
              <a:rPr lang="en-US" sz="1300" dirty="0" err="1"/>
              <a:t>depto_id</a:t>
            </a:r>
            <a:r>
              <a:rPr lang="en-US" sz="1300" dirty="0"/>
              <a:t>, </a:t>
            </a:r>
            <a:r>
              <a:rPr lang="en-US" sz="1300" dirty="0" err="1"/>
              <a:t>salario</a:t>
            </a:r>
            <a:r>
              <a:rPr lang="en-US" sz="1300" dirty="0"/>
              <a:t>);</a:t>
            </a:r>
          </a:p>
          <a:p>
            <a:endParaRPr lang="en-US" sz="1300" dirty="0"/>
          </a:p>
          <a:p>
            <a:r>
              <a:rPr lang="en-US" sz="1300" dirty="0"/>
              <a:t>-- Beneficia </a:t>
            </a:r>
            <a:r>
              <a:rPr lang="en-US" sz="1300" dirty="0" err="1"/>
              <a:t>estas</a:t>
            </a:r>
            <a:r>
              <a:rPr lang="en-US" sz="1300" dirty="0"/>
              <a:t> </a:t>
            </a:r>
            <a:r>
              <a:rPr lang="en-US" sz="1300" dirty="0" err="1"/>
              <a:t>consultas</a:t>
            </a:r>
            <a:r>
              <a:rPr lang="en-US" sz="1300" dirty="0"/>
              <a:t>:</a:t>
            </a:r>
          </a:p>
          <a:p>
            <a:r>
              <a:rPr lang="en-US" sz="1300" dirty="0"/>
              <a:t>SELECT * FROM </a:t>
            </a:r>
            <a:r>
              <a:rPr lang="en-US" sz="1300" dirty="0" err="1"/>
              <a:t>empleados</a:t>
            </a:r>
            <a:r>
              <a:rPr lang="en-US" sz="1300" dirty="0"/>
              <a:t> WHERE </a:t>
            </a:r>
            <a:r>
              <a:rPr lang="en-US" sz="1300" dirty="0" err="1"/>
              <a:t>depto_id</a:t>
            </a:r>
            <a:r>
              <a:rPr lang="en-US" sz="1300" dirty="0"/>
              <a:t> = 10;</a:t>
            </a:r>
          </a:p>
          <a:p>
            <a:r>
              <a:rPr lang="en-US" sz="1300" dirty="0"/>
              <a:t>SELECT * FROM </a:t>
            </a:r>
            <a:r>
              <a:rPr lang="en-US" sz="1300" dirty="0" err="1"/>
              <a:t>empleados</a:t>
            </a:r>
            <a:r>
              <a:rPr lang="en-US" sz="1300" dirty="0"/>
              <a:t> WHERE </a:t>
            </a:r>
            <a:r>
              <a:rPr lang="en-US" sz="1300" dirty="0" err="1"/>
              <a:t>depto_id</a:t>
            </a:r>
            <a:r>
              <a:rPr lang="en-US" sz="1300" dirty="0"/>
              <a:t> = 10 AND </a:t>
            </a:r>
            <a:r>
              <a:rPr lang="en-US" sz="1300" dirty="0" err="1"/>
              <a:t>salario</a:t>
            </a:r>
            <a:r>
              <a:rPr lang="en-US" sz="1300" dirty="0"/>
              <a:t> &gt; 5000;</a:t>
            </a:r>
          </a:p>
          <a:p>
            <a:r>
              <a:rPr lang="en-US" sz="1300" dirty="0"/>
              <a:t>SELECT * FROM </a:t>
            </a:r>
            <a:r>
              <a:rPr lang="en-US" sz="1300" dirty="0" err="1"/>
              <a:t>empleados</a:t>
            </a:r>
            <a:r>
              <a:rPr lang="en-US" sz="1300" dirty="0"/>
              <a:t> WHERE </a:t>
            </a:r>
            <a:r>
              <a:rPr lang="en-US" sz="1300" dirty="0" err="1"/>
              <a:t>depto_id</a:t>
            </a:r>
            <a:r>
              <a:rPr lang="en-US" sz="1300" dirty="0"/>
              <a:t> = 10 ORDER BY </a:t>
            </a:r>
            <a:r>
              <a:rPr lang="en-US" sz="1300" dirty="0" err="1"/>
              <a:t>salario</a:t>
            </a:r>
            <a:r>
              <a:rPr lang="en-US" sz="1300" dirty="0"/>
              <a:t>;</a:t>
            </a:r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89D13ABA-3724-B2A2-F1F5-6E663E498DD6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Índices en múltiples columnas. El orden importa: la primera columna es más importante. Útiles para filtros múltiples y ordenaciones.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89418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3E5C9-AF35-2B91-6C57-162FDF53D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6B151C5E-93CF-497B-E296-AFF522359738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9E456614-A480-A0FF-202A-44FF13DB3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Optimizando Consultas con </a:t>
            </a:r>
            <a:r>
              <a:rPr lang="es-ES" sz="4200" dirty="0" err="1"/>
              <a:t>JOINs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622105F1-5906-26D4-2B2D-6A26621F4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381649B0-624A-510F-A70C-162D6E7976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Optimización de consultas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296B701-F72A-88A5-D469-FAEB35A5F7E3}"/>
              </a:ext>
            </a:extLst>
          </p:cNvPr>
          <p:cNvSpPr txBox="1"/>
          <p:nvPr/>
        </p:nvSpPr>
        <p:spPr>
          <a:xfrm>
            <a:off x="257579" y="1316165"/>
            <a:ext cx="3545633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-- JOIN </a:t>
            </a:r>
            <a:r>
              <a:rPr lang="en-US" sz="1300" dirty="0" err="1"/>
              <a:t>ineficiente</a:t>
            </a:r>
            <a:r>
              <a:rPr lang="en-US" sz="1300" dirty="0"/>
              <a:t>:</a:t>
            </a:r>
          </a:p>
          <a:p>
            <a:r>
              <a:rPr lang="en-US" sz="1300" dirty="0"/>
              <a:t>SELECT * FROM </a:t>
            </a:r>
            <a:r>
              <a:rPr lang="en-US" sz="1300" dirty="0" err="1"/>
              <a:t>empleados</a:t>
            </a:r>
            <a:r>
              <a:rPr lang="en-US" sz="1300" dirty="0"/>
              <a:t> e, </a:t>
            </a:r>
            <a:r>
              <a:rPr lang="en-US" sz="1300" dirty="0" err="1"/>
              <a:t>departamentos</a:t>
            </a:r>
            <a:r>
              <a:rPr lang="en-US" sz="1300" dirty="0"/>
              <a:t> d </a:t>
            </a:r>
          </a:p>
          <a:p>
            <a:r>
              <a:rPr lang="en-US" sz="1300" dirty="0"/>
              <a:t>WHERE </a:t>
            </a:r>
            <a:r>
              <a:rPr lang="en-US" sz="1300" dirty="0" err="1"/>
              <a:t>e.depto_id</a:t>
            </a:r>
            <a:r>
              <a:rPr lang="en-US" sz="1300" dirty="0"/>
              <a:t> = d.id;</a:t>
            </a:r>
          </a:p>
          <a:p>
            <a:endParaRPr lang="en-US" sz="1300" dirty="0"/>
          </a:p>
          <a:p>
            <a:r>
              <a:rPr lang="en-US" sz="1300" dirty="0"/>
              <a:t>-- JOIN </a:t>
            </a:r>
            <a:r>
              <a:rPr lang="en-US" sz="1300" dirty="0" err="1"/>
              <a:t>optimizado</a:t>
            </a:r>
            <a:r>
              <a:rPr lang="en-US" sz="1300" dirty="0"/>
              <a:t>:</a:t>
            </a:r>
          </a:p>
          <a:p>
            <a:r>
              <a:rPr lang="en-US" sz="1300" dirty="0"/>
              <a:t>SELECT /*+ USE_NL(e d) */ </a:t>
            </a:r>
            <a:r>
              <a:rPr lang="en-US" sz="1300" dirty="0" err="1"/>
              <a:t>e.nombre</a:t>
            </a:r>
            <a:r>
              <a:rPr lang="en-US" sz="1300" dirty="0"/>
              <a:t>, </a:t>
            </a:r>
            <a:r>
              <a:rPr lang="en-US" sz="1300" dirty="0" err="1"/>
              <a:t>d.nombre_depto</a:t>
            </a:r>
            <a:endParaRPr lang="en-US" sz="1300" dirty="0"/>
          </a:p>
          <a:p>
            <a:r>
              <a:rPr lang="en-US" sz="1300" dirty="0"/>
              <a:t>FROM </a:t>
            </a:r>
            <a:r>
              <a:rPr lang="en-US" sz="1300" dirty="0" err="1"/>
              <a:t>empleados</a:t>
            </a:r>
            <a:r>
              <a:rPr lang="en-US" sz="1300" dirty="0"/>
              <a:t> e JOIN </a:t>
            </a:r>
            <a:r>
              <a:rPr lang="en-US" sz="1300" dirty="0" err="1"/>
              <a:t>departamentos</a:t>
            </a:r>
            <a:r>
              <a:rPr lang="en-US" sz="1300" dirty="0"/>
              <a:t> d ON </a:t>
            </a:r>
            <a:r>
              <a:rPr lang="en-US" sz="1300" dirty="0" err="1"/>
              <a:t>e.depto_id</a:t>
            </a:r>
            <a:r>
              <a:rPr lang="en-US" sz="1300" dirty="0"/>
              <a:t> = d.id</a:t>
            </a:r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C56D02D0-079A-A2B0-2F23-A52A8E881A26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Tipos de JOIN:</a:t>
            </a:r>
          </a:p>
          <a:p>
            <a:pPr marL="877888" lvl="2" indent="-342900"/>
            <a:r>
              <a:rPr lang="es-ES" sz="1600" dirty="0" err="1"/>
              <a:t>Nested</a:t>
            </a:r>
            <a:r>
              <a:rPr lang="es-ES" sz="1600" dirty="0"/>
              <a:t> </a:t>
            </a:r>
            <a:r>
              <a:rPr lang="es-ES" sz="1600" dirty="0" err="1"/>
              <a:t>Loops</a:t>
            </a:r>
            <a:r>
              <a:rPr lang="es-ES" sz="1600" dirty="0"/>
              <a:t>: Para tablas pequeñas o con índices</a:t>
            </a:r>
          </a:p>
          <a:p>
            <a:pPr marL="877888" lvl="2" indent="-342900"/>
            <a:r>
              <a:rPr lang="es-ES" sz="1600" dirty="0"/>
              <a:t>Hash </a:t>
            </a:r>
            <a:r>
              <a:rPr lang="es-ES" sz="1600" dirty="0" err="1"/>
              <a:t>Join</a:t>
            </a:r>
            <a:r>
              <a:rPr lang="es-ES" sz="1600" dirty="0"/>
              <a:t>: Para tablas grandes sin índices</a:t>
            </a:r>
          </a:p>
          <a:p>
            <a:pPr marL="877888" lvl="2" indent="-342900"/>
            <a:r>
              <a:rPr lang="es-ES" sz="1600" dirty="0" err="1"/>
              <a:t>Sort</a:t>
            </a:r>
            <a:r>
              <a:rPr lang="es-ES" sz="1600" dirty="0"/>
              <a:t> </a:t>
            </a:r>
            <a:r>
              <a:rPr lang="es-ES" sz="1600" dirty="0" err="1"/>
              <a:t>Merge</a:t>
            </a:r>
            <a:r>
              <a:rPr lang="es-ES" sz="1600" dirty="0"/>
              <a:t> </a:t>
            </a:r>
            <a:r>
              <a:rPr lang="es-ES" sz="1600" dirty="0" err="1"/>
              <a:t>Join</a:t>
            </a:r>
            <a:r>
              <a:rPr lang="es-ES" sz="1600" dirty="0"/>
              <a:t>: Para datos ya ordenados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30228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C797A-7B06-2642-86F2-EE0EA09C1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5F1DD3F6-00D3-1DC3-A28F-E2C00798EEEE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F5C87AE6-D30C-2796-1820-6DA274F08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Usando </a:t>
            </a:r>
            <a:r>
              <a:rPr lang="es-ES" sz="4200" dirty="0" err="1"/>
              <a:t>Hints</a:t>
            </a:r>
            <a:r>
              <a:rPr lang="es-ES" sz="4200" dirty="0"/>
              <a:t> para Forzar Comportamiento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8A102192-3140-22C0-7023-D0D582B10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0E995A4E-5D60-232E-B860-B610F35F8B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Optimización de consultas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09B919C-4A76-F733-E99D-1BC93E179B62}"/>
              </a:ext>
            </a:extLst>
          </p:cNvPr>
          <p:cNvSpPr txBox="1"/>
          <p:nvPr/>
        </p:nvSpPr>
        <p:spPr>
          <a:xfrm>
            <a:off x="257579" y="1316165"/>
            <a:ext cx="3545633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SELECT /*+ INDEX(e </a:t>
            </a:r>
            <a:r>
              <a:rPr lang="en-US" sz="1300" dirty="0" err="1"/>
              <a:t>idx_emp_depto</a:t>
            </a:r>
            <a:r>
              <a:rPr lang="en-US" sz="1300" dirty="0"/>
              <a:t>) */ * </a:t>
            </a:r>
          </a:p>
          <a:p>
            <a:r>
              <a:rPr lang="en-US" sz="1300" dirty="0"/>
              <a:t>FROM </a:t>
            </a:r>
            <a:r>
              <a:rPr lang="en-US" sz="1300" dirty="0" err="1"/>
              <a:t>empleados</a:t>
            </a:r>
            <a:r>
              <a:rPr lang="en-US" sz="1300" dirty="0"/>
              <a:t> e </a:t>
            </a:r>
          </a:p>
          <a:p>
            <a:r>
              <a:rPr lang="en-US" sz="1300" dirty="0"/>
              <a:t>WHERE </a:t>
            </a:r>
            <a:r>
              <a:rPr lang="en-US" sz="1300" dirty="0" err="1"/>
              <a:t>depto_id</a:t>
            </a:r>
            <a:r>
              <a:rPr lang="en-US" sz="1300" dirty="0"/>
              <a:t> = 10;</a:t>
            </a:r>
          </a:p>
          <a:p>
            <a:endParaRPr lang="en-US" sz="1300" dirty="0"/>
          </a:p>
          <a:p>
            <a:r>
              <a:rPr lang="en-US" sz="1300" dirty="0"/>
              <a:t>SELECT /*+ FULL(e) */ COUNT(*) </a:t>
            </a:r>
          </a:p>
          <a:p>
            <a:r>
              <a:rPr lang="en-US" sz="1300" dirty="0"/>
              <a:t>FROM </a:t>
            </a:r>
            <a:r>
              <a:rPr lang="en-US" sz="1300" dirty="0" err="1"/>
              <a:t>empleados</a:t>
            </a:r>
            <a:r>
              <a:rPr lang="en-US" sz="1300" dirty="0"/>
              <a:t> e;</a:t>
            </a:r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E1122D0C-1CC8-DAEC-ED46-48E0509FE51C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Instrucciones que guían al optimizador:</a:t>
            </a:r>
          </a:p>
          <a:p>
            <a:pPr marL="877888" lvl="2" indent="-342900"/>
            <a:r>
              <a:rPr lang="es-ES" sz="1600" dirty="0"/>
              <a:t>INDEX: Forzar uso de índice específico</a:t>
            </a:r>
          </a:p>
          <a:p>
            <a:pPr marL="877888" lvl="2" indent="-342900"/>
            <a:r>
              <a:rPr lang="es-ES" sz="1600" dirty="0"/>
              <a:t>FULL: Forzar full table </a:t>
            </a:r>
            <a:r>
              <a:rPr lang="es-ES" sz="1600" dirty="0" err="1"/>
              <a:t>scan</a:t>
            </a:r>
            <a:endParaRPr lang="es-ES" sz="1600" dirty="0"/>
          </a:p>
          <a:p>
            <a:pPr marL="877888" lvl="2" indent="-342900"/>
            <a:r>
              <a:rPr lang="es-ES" sz="1600" dirty="0"/>
              <a:t>USE_NL: Forzar </a:t>
            </a:r>
            <a:r>
              <a:rPr lang="es-ES" sz="1600" dirty="0" err="1"/>
              <a:t>nested</a:t>
            </a:r>
            <a:r>
              <a:rPr lang="es-ES" sz="1600" dirty="0"/>
              <a:t> </a:t>
            </a:r>
            <a:r>
              <a:rPr lang="es-ES" sz="1600" dirty="0" err="1"/>
              <a:t>loops</a:t>
            </a:r>
            <a:r>
              <a:rPr lang="es-ES" sz="1600" dirty="0"/>
              <a:t> </a:t>
            </a:r>
            <a:r>
              <a:rPr lang="es-ES" sz="1600" dirty="0" err="1"/>
              <a:t>join</a:t>
            </a:r>
            <a:endParaRPr lang="es-ES" sz="1600" dirty="0"/>
          </a:p>
          <a:p>
            <a:pPr marL="877888" lvl="2" indent="-342900"/>
            <a:r>
              <a:rPr lang="es-ES" sz="1600" dirty="0"/>
              <a:t>LEADING: Especificar orden de tablas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42194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F2275-9E09-9E63-10B6-95D110ECB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AE890FD5-C1E5-A74A-2EED-46EFC435F488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AE774BD3-C564-4D36-4276-C23508ED0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Caso 1 - Eliminar Funciones en WHERE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AA261CB8-43A9-2948-78A5-7B7D1789C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2A0A968E-ABA1-BE13-FC94-49A42BCB50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Optimización de consultas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DDDD9B9-65C2-5F40-07D6-E0DD1A9BF075}"/>
              </a:ext>
            </a:extLst>
          </p:cNvPr>
          <p:cNvSpPr txBox="1"/>
          <p:nvPr/>
        </p:nvSpPr>
        <p:spPr>
          <a:xfrm>
            <a:off x="257579" y="1316165"/>
            <a:ext cx="3545633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-- ANTES (</a:t>
            </a:r>
            <a:r>
              <a:rPr lang="en-US" sz="1300" dirty="0" err="1"/>
              <a:t>Ineficiente</a:t>
            </a:r>
            <a:r>
              <a:rPr lang="en-US" sz="1300" dirty="0"/>
              <a:t>):</a:t>
            </a:r>
          </a:p>
          <a:p>
            <a:r>
              <a:rPr lang="en-US" sz="1300" dirty="0"/>
              <a:t>SELECT * FROM </a:t>
            </a:r>
            <a:r>
              <a:rPr lang="en-US" sz="1300" dirty="0" err="1"/>
              <a:t>empleados</a:t>
            </a:r>
            <a:r>
              <a:rPr lang="en-US" sz="1300" dirty="0"/>
              <a:t> WHERE UPPER(</a:t>
            </a:r>
            <a:r>
              <a:rPr lang="en-US" sz="1300" dirty="0" err="1"/>
              <a:t>nombre</a:t>
            </a:r>
            <a:r>
              <a:rPr lang="en-US" sz="1300" dirty="0"/>
              <a:t>) = 'JUAN';</a:t>
            </a:r>
          </a:p>
          <a:p>
            <a:endParaRPr lang="en-US" sz="1300" dirty="0"/>
          </a:p>
          <a:p>
            <a:r>
              <a:rPr lang="en-US" sz="1300" dirty="0"/>
              <a:t>-- DESPUÉS (</a:t>
            </a:r>
            <a:r>
              <a:rPr lang="en-US" sz="1300" dirty="0" err="1"/>
              <a:t>Optimizado</a:t>
            </a:r>
            <a:r>
              <a:rPr lang="en-US" sz="1300" dirty="0"/>
              <a:t>):</a:t>
            </a:r>
          </a:p>
          <a:p>
            <a:r>
              <a:rPr lang="en-US" sz="1300" dirty="0"/>
              <a:t>SELECT * FROM </a:t>
            </a:r>
            <a:r>
              <a:rPr lang="en-US" sz="1300" dirty="0" err="1"/>
              <a:t>empleados</a:t>
            </a:r>
            <a:r>
              <a:rPr lang="en-US" sz="1300" dirty="0"/>
              <a:t> WHERE </a:t>
            </a:r>
            <a:r>
              <a:rPr lang="en-US" sz="1300" dirty="0" err="1"/>
              <a:t>nombre</a:t>
            </a:r>
            <a:r>
              <a:rPr lang="en-US" sz="1300" dirty="0"/>
              <a:t> = 'Juan';</a:t>
            </a:r>
          </a:p>
          <a:p>
            <a:r>
              <a:rPr lang="en-US" sz="1300" dirty="0"/>
              <a:t>-- O </a:t>
            </a:r>
            <a:r>
              <a:rPr lang="en-US" sz="1300" dirty="0" err="1"/>
              <a:t>crear</a:t>
            </a:r>
            <a:r>
              <a:rPr lang="en-US" sz="1300" dirty="0"/>
              <a:t> </a:t>
            </a:r>
            <a:r>
              <a:rPr lang="en-US" sz="1300" dirty="0" err="1"/>
              <a:t>índice</a:t>
            </a:r>
            <a:r>
              <a:rPr lang="en-US" sz="1300" dirty="0"/>
              <a:t> function-based:</a:t>
            </a:r>
          </a:p>
          <a:p>
            <a:r>
              <a:rPr lang="en-US" sz="1300" dirty="0"/>
              <a:t>CREATE INDEX </a:t>
            </a:r>
            <a:r>
              <a:rPr lang="en-US" sz="1300" dirty="0" err="1"/>
              <a:t>idx_emp_nombre_upper</a:t>
            </a:r>
            <a:r>
              <a:rPr lang="en-US" sz="1300" dirty="0"/>
              <a:t> ON </a:t>
            </a:r>
            <a:r>
              <a:rPr lang="en-US" sz="1300" dirty="0" err="1"/>
              <a:t>empleados</a:t>
            </a:r>
            <a:r>
              <a:rPr lang="en-US" sz="1300" dirty="0"/>
              <a:t>(UPPER(</a:t>
            </a:r>
            <a:r>
              <a:rPr lang="en-US" sz="1300" dirty="0" err="1"/>
              <a:t>nombre</a:t>
            </a:r>
            <a:r>
              <a:rPr lang="en-US" sz="1300" dirty="0"/>
              <a:t>));</a:t>
            </a:r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87CA58FD-4DC6-BF41-0FC9-042DC820438F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Las funciones en WHERE evitan uso de índices. Soluciones: almacenar datos normalizados o usar índices </a:t>
            </a:r>
            <a:r>
              <a:rPr lang="es-ES" sz="1800" dirty="0" err="1"/>
              <a:t>function-based</a:t>
            </a:r>
            <a:r>
              <a:rPr lang="es-ES" sz="1800" dirty="0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329509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D6905-8656-32A1-2B30-DA4221840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929E362E-DB95-824C-BB88-FF7B20B2B6BE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8BF63A14-E071-4D2D-E314-F0DFA996C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Caso 2 - Evitar SELECT *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0BAA9B1C-F7BF-C7EF-A2A7-4D1CBBFBA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38848018-23A0-C78B-402B-995FD5447D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Optimización de consultas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3F5BBA1-A587-4C04-A091-E88FAA194EDF}"/>
              </a:ext>
            </a:extLst>
          </p:cNvPr>
          <p:cNvSpPr txBox="1"/>
          <p:nvPr/>
        </p:nvSpPr>
        <p:spPr>
          <a:xfrm>
            <a:off x="257579" y="1316165"/>
            <a:ext cx="3545633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-- ANTES:</a:t>
            </a:r>
          </a:p>
          <a:p>
            <a:r>
              <a:rPr lang="en-US" sz="1300" dirty="0"/>
              <a:t>SELECT * FROM </a:t>
            </a:r>
            <a:r>
              <a:rPr lang="en-US" sz="1300" dirty="0" err="1"/>
              <a:t>empleados</a:t>
            </a:r>
            <a:r>
              <a:rPr lang="en-US" sz="1300" dirty="0"/>
              <a:t> WHERE </a:t>
            </a:r>
            <a:r>
              <a:rPr lang="en-US" sz="1300" dirty="0" err="1"/>
              <a:t>depto_id</a:t>
            </a:r>
            <a:r>
              <a:rPr lang="en-US" sz="1300" dirty="0"/>
              <a:t> = 10;</a:t>
            </a:r>
          </a:p>
          <a:p>
            <a:endParaRPr lang="en-US" sz="1300" dirty="0"/>
          </a:p>
          <a:p>
            <a:r>
              <a:rPr lang="en-US" sz="1300" dirty="0"/>
              <a:t>-- DESPUÉS:</a:t>
            </a:r>
          </a:p>
          <a:p>
            <a:r>
              <a:rPr lang="en-US" sz="1300" dirty="0"/>
              <a:t>SELECT id, </a:t>
            </a:r>
            <a:r>
              <a:rPr lang="en-US" sz="1300" dirty="0" err="1"/>
              <a:t>nombre</a:t>
            </a:r>
            <a:r>
              <a:rPr lang="en-US" sz="1300" dirty="0"/>
              <a:t>, email FROM </a:t>
            </a:r>
            <a:r>
              <a:rPr lang="en-US" sz="1300" dirty="0" err="1"/>
              <a:t>empleados</a:t>
            </a:r>
            <a:r>
              <a:rPr lang="en-US" sz="1300" dirty="0"/>
              <a:t> WHERE </a:t>
            </a:r>
            <a:r>
              <a:rPr lang="en-US" sz="1300" dirty="0" err="1"/>
              <a:t>depto_id</a:t>
            </a:r>
            <a:r>
              <a:rPr lang="en-US" sz="1300" dirty="0"/>
              <a:t> = 10;</a:t>
            </a:r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89207B32-B405-FCF0-BF5C-094D02C690E3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SELECT * trae columnas innecesarias, aumentando E/S y memoria. Especificar solo columnas necesarias.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97945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9E2E4-5F3B-5D59-9188-F01A3D418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94C61395-D0DE-CAA0-043A-282EC6A5C3A4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C4D0B3BE-CF0E-95C4-D080-5A02079B1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Caso 3 - Uso Correcto de LIKE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6A7E08B8-6BC8-FE70-A7C5-6FB1B56B6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30188974-6892-3F60-1681-BCF4BC0768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Optimización de consultas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0E05006-4668-A35E-F736-E8BCCB9398B5}"/>
              </a:ext>
            </a:extLst>
          </p:cNvPr>
          <p:cNvSpPr txBox="1"/>
          <p:nvPr/>
        </p:nvSpPr>
        <p:spPr>
          <a:xfrm>
            <a:off x="257579" y="1316165"/>
            <a:ext cx="3545633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-- </a:t>
            </a:r>
            <a:r>
              <a:rPr lang="en-US" sz="1300" dirty="0" err="1"/>
              <a:t>Índice</a:t>
            </a:r>
            <a:r>
              <a:rPr lang="en-US" sz="1300" dirty="0"/>
              <a:t> NO </a:t>
            </a:r>
            <a:r>
              <a:rPr lang="en-US" sz="1300" dirty="0" err="1"/>
              <a:t>usado</a:t>
            </a:r>
            <a:r>
              <a:rPr lang="en-US" sz="1300" dirty="0"/>
              <a:t>:</a:t>
            </a:r>
          </a:p>
          <a:p>
            <a:r>
              <a:rPr lang="en-US" sz="1300" dirty="0"/>
              <a:t>SELECT * FROM </a:t>
            </a:r>
            <a:r>
              <a:rPr lang="en-US" sz="1300" dirty="0" err="1"/>
              <a:t>clientes</a:t>
            </a:r>
            <a:r>
              <a:rPr lang="en-US" sz="1300" dirty="0"/>
              <a:t> WHERE </a:t>
            </a:r>
            <a:r>
              <a:rPr lang="en-US" sz="1300" dirty="0" err="1"/>
              <a:t>nombre</a:t>
            </a:r>
            <a:r>
              <a:rPr lang="en-US" sz="1300" dirty="0"/>
              <a:t> LIKE '%GARCIA%';</a:t>
            </a:r>
          </a:p>
          <a:p>
            <a:endParaRPr lang="en-US" sz="1300" dirty="0"/>
          </a:p>
          <a:p>
            <a:r>
              <a:rPr lang="en-US" sz="1300" dirty="0"/>
              <a:t>-- </a:t>
            </a:r>
            <a:r>
              <a:rPr lang="en-US" sz="1300" dirty="0" err="1"/>
              <a:t>Índice</a:t>
            </a:r>
            <a:r>
              <a:rPr lang="en-US" sz="1300" dirty="0"/>
              <a:t> </a:t>
            </a:r>
            <a:r>
              <a:rPr lang="en-US" sz="1300" dirty="0" err="1"/>
              <a:t>usado</a:t>
            </a:r>
            <a:r>
              <a:rPr lang="en-US" sz="1300" dirty="0"/>
              <a:t>:</a:t>
            </a:r>
          </a:p>
          <a:p>
            <a:r>
              <a:rPr lang="en-US" sz="1300" dirty="0"/>
              <a:t>SELECT * FROM </a:t>
            </a:r>
            <a:r>
              <a:rPr lang="en-US" sz="1300" dirty="0" err="1"/>
              <a:t>clientes</a:t>
            </a:r>
            <a:r>
              <a:rPr lang="en-US" sz="1300" dirty="0"/>
              <a:t> WHERE </a:t>
            </a:r>
            <a:r>
              <a:rPr lang="en-US" sz="1300" dirty="0" err="1"/>
              <a:t>nombre</a:t>
            </a:r>
            <a:r>
              <a:rPr lang="en-US" sz="1300" dirty="0"/>
              <a:t> LIKE 'GARCIA%';</a:t>
            </a:r>
          </a:p>
          <a:p>
            <a:endParaRPr lang="en-US" sz="1300" dirty="0"/>
          </a:p>
          <a:p>
            <a:r>
              <a:rPr lang="en-US" sz="1300" dirty="0"/>
              <a:t>-- </a:t>
            </a:r>
            <a:r>
              <a:rPr lang="en-US" sz="1300" dirty="0" err="1"/>
              <a:t>Solución</a:t>
            </a:r>
            <a:r>
              <a:rPr lang="en-US" sz="1300" dirty="0"/>
              <a:t> </a:t>
            </a:r>
            <a:r>
              <a:rPr lang="en-US" sz="1300" dirty="0" err="1"/>
              <a:t>alternativa</a:t>
            </a:r>
            <a:r>
              <a:rPr lang="en-US" sz="1300" dirty="0"/>
              <a:t>:</a:t>
            </a:r>
          </a:p>
          <a:p>
            <a:r>
              <a:rPr lang="en-US" sz="1300" dirty="0"/>
              <a:t>CREATE INDEX </a:t>
            </a:r>
            <a:r>
              <a:rPr lang="en-US" sz="1300" dirty="0" err="1"/>
              <a:t>idx_clientes_nombre</a:t>
            </a:r>
            <a:r>
              <a:rPr lang="en-US" sz="1300" dirty="0"/>
              <a:t> ON </a:t>
            </a:r>
            <a:r>
              <a:rPr lang="en-US" sz="1300" dirty="0" err="1"/>
              <a:t>clientes</a:t>
            </a:r>
            <a:r>
              <a:rPr lang="en-US" sz="1300" dirty="0"/>
              <a:t>(</a:t>
            </a:r>
            <a:r>
              <a:rPr lang="en-US" sz="1300" dirty="0" err="1"/>
              <a:t>nombre</a:t>
            </a:r>
            <a:r>
              <a:rPr lang="en-US" sz="1300" dirty="0"/>
              <a:t>);</a:t>
            </a:r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2C469115-7258-DF70-9713-1B1D0F264482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LIKE con comodín inicial no usa índices. Considerar Full Text </a:t>
            </a:r>
            <a:r>
              <a:rPr lang="es-ES" sz="1800" dirty="0" err="1"/>
              <a:t>Search</a:t>
            </a:r>
            <a:r>
              <a:rPr lang="es-ES" sz="1800" dirty="0"/>
              <a:t> para búsquedas complejas.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76684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B35E5-702D-07C6-8E60-AADBFAF4F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98CD6C62-920E-F0A3-7EAE-FBF7DACAAAB9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E6DC2290-962A-002C-1730-03115A7CD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pt-BR" sz="4200" dirty="0"/>
              <a:t>Caso 4 - </a:t>
            </a:r>
            <a:r>
              <a:rPr lang="pt-BR" sz="4200" dirty="0" err="1"/>
              <a:t>Subconsultas</a:t>
            </a:r>
            <a:r>
              <a:rPr lang="pt-BR" sz="4200" dirty="0"/>
              <a:t> </a:t>
            </a:r>
            <a:r>
              <a:rPr lang="pt-BR" sz="4200" dirty="0" err="1"/>
              <a:t>vs</a:t>
            </a:r>
            <a:r>
              <a:rPr lang="pt-BR" sz="4200" dirty="0"/>
              <a:t> </a:t>
            </a:r>
            <a:r>
              <a:rPr lang="pt-BR" sz="4200" dirty="0" err="1"/>
              <a:t>JOINs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07C63FD4-4E09-F39F-61FD-6E141C078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648A1EC6-A707-5894-9E7A-1CC3ECC98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Optimización de consultas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8931E6B-0ED0-2514-1189-69264C89042C}"/>
              </a:ext>
            </a:extLst>
          </p:cNvPr>
          <p:cNvSpPr txBox="1"/>
          <p:nvPr/>
        </p:nvSpPr>
        <p:spPr>
          <a:xfrm>
            <a:off x="257579" y="1316165"/>
            <a:ext cx="3545633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-- </a:t>
            </a:r>
            <a:r>
              <a:rPr lang="en-US" sz="1300" dirty="0" err="1"/>
              <a:t>Subconsulta</a:t>
            </a:r>
            <a:r>
              <a:rPr lang="en-US" sz="1300" dirty="0"/>
              <a:t> </a:t>
            </a:r>
            <a:r>
              <a:rPr lang="en-US" sz="1300" dirty="0" err="1"/>
              <a:t>correlacionada</a:t>
            </a:r>
            <a:r>
              <a:rPr lang="en-US" sz="1300" dirty="0"/>
              <a:t> (</a:t>
            </a:r>
            <a:r>
              <a:rPr lang="en-US" sz="1300" dirty="0" err="1"/>
              <a:t>ineficiente</a:t>
            </a:r>
            <a:r>
              <a:rPr lang="en-US" sz="1300" dirty="0"/>
              <a:t>):</a:t>
            </a:r>
          </a:p>
          <a:p>
            <a:r>
              <a:rPr lang="en-US" sz="1300" dirty="0"/>
              <a:t>SELECT </a:t>
            </a:r>
            <a:r>
              <a:rPr lang="en-US" sz="1300" dirty="0" err="1"/>
              <a:t>nombre</a:t>
            </a:r>
            <a:r>
              <a:rPr lang="en-US" sz="1300" dirty="0"/>
              <a:t>, (SELECT </a:t>
            </a:r>
            <a:r>
              <a:rPr lang="en-US" sz="1300" dirty="0" err="1"/>
              <a:t>nombre_depto</a:t>
            </a:r>
            <a:r>
              <a:rPr lang="en-US" sz="1300" dirty="0"/>
              <a:t> FROM </a:t>
            </a:r>
            <a:r>
              <a:rPr lang="en-US" sz="1300" dirty="0" err="1"/>
              <a:t>departamentos</a:t>
            </a:r>
            <a:r>
              <a:rPr lang="en-US" sz="1300" dirty="0"/>
              <a:t> d </a:t>
            </a:r>
          </a:p>
          <a:p>
            <a:r>
              <a:rPr lang="en-US" sz="1300" dirty="0"/>
              <a:t>               WHERE d.id = </a:t>
            </a:r>
            <a:r>
              <a:rPr lang="en-US" sz="1300" dirty="0" err="1"/>
              <a:t>e.depto_id</a:t>
            </a:r>
            <a:r>
              <a:rPr lang="en-US" sz="1300" dirty="0"/>
              <a:t>) </a:t>
            </a:r>
            <a:r>
              <a:rPr lang="en-US" sz="1300" dirty="0" err="1"/>
              <a:t>depto</a:t>
            </a:r>
            <a:r>
              <a:rPr lang="en-US" sz="1300" dirty="0"/>
              <a:t> </a:t>
            </a:r>
          </a:p>
          <a:p>
            <a:r>
              <a:rPr lang="en-US" sz="1300" dirty="0"/>
              <a:t>FROM </a:t>
            </a:r>
            <a:r>
              <a:rPr lang="en-US" sz="1300" dirty="0" err="1"/>
              <a:t>empleados</a:t>
            </a:r>
            <a:r>
              <a:rPr lang="en-US" sz="1300" dirty="0"/>
              <a:t> e;</a:t>
            </a:r>
          </a:p>
          <a:p>
            <a:endParaRPr lang="en-US" sz="1300" dirty="0"/>
          </a:p>
          <a:p>
            <a:r>
              <a:rPr lang="en-US" sz="1300" dirty="0"/>
              <a:t>-- JOIN (</a:t>
            </a:r>
            <a:r>
              <a:rPr lang="en-US" sz="1300" dirty="0" err="1"/>
              <a:t>optimizado</a:t>
            </a:r>
            <a:r>
              <a:rPr lang="en-US" sz="1300" dirty="0"/>
              <a:t>):</a:t>
            </a:r>
          </a:p>
          <a:p>
            <a:r>
              <a:rPr lang="en-US" sz="1300" dirty="0"/>
              <a:t>SELECT </a:t>
            </a:r>
            <a:r>
              <a:rPr lang="en-US" sz="1300" dirty="0" err="1"/>
              <a:t>e.nombre</a:t>
            </a:r>
            <a:r>
              <a:rPr lang="en-US" sz="1300" dirty="0"/>
              <a:t>, </a:t>
            </a:r>
            <a:r>
              <a:rPr lang="en-US" sz="1300" dirty="0" err="1"/>
              <a:t>d.nombre_depto</a:t>
            </a:r>
            <a:r>
              <a:rPr lang="en-US" sz="1300" dirty="0"/>
              <a:t> </a:t>
            </a:r>
          </a:p>
          <a:p>
            <a:r>
              <a:rPr lang="en-US" sz="1300" dirty="0"/>
              <a:t>FROM </a:t>
            </a:r>
            <a:r>
              <a:rPr lang="en-US" sz="1300" dirty="0" err="1"/>
              <a:t>empleados</a:t>
            </a:r>
            <a:r>
              <a:rPr lang="en-US" sz="1300" dirty="0"/>
              <a:t> e JOIN </a:t>
            </a:r>
            <a:r>
              <a:rPr lang="en-US" sz="1300" dirty="0" err="1"/>
              <a:t>departamentos</a:t>
            </a:r>
            <a:r>
              <a:rPr lang="en-US" sz="1300" dirty="0"/>
              <a:t> d ON </a:t>
            </a:r>
            <a:r>
              <a:rPr lang="en-US" sz="1300" dirty="0" err="1"/>
              <a:t>e.depto_id</a:t>
            </a:r>
            <a:r>
              <a:rPr lang="en-US" sz="1300" dirty="0"/>
              <a:t> = d.id;</a:t>
            </a:r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20FAFE1F-5A62-ED02-0C43-16362DBBA997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 err="1"/>
              <a:t>JOINs</a:t>
            </a:r>
            <a:r>
              <a:rPr lang="es-ES" sz="1800" dirty="0"/>
              <a:t> suelen ser más eficientes que subconsultas correlacionadas. Evaluar con EXPLAIN PLAN.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384901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9E709-7E83-F1C4-F866-BBFDAFF33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10027C32-9C78-8DE2-CD52-0CB4F917EC57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BE6FABD0-C5A6-FC52-081C-99AE709C7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¿Están Usándose mis Índices?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2A07CFD9-E69D-7108-9ECE-466FC8704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CF4EC5FE-261D-F378-0A87-A186B6DFC0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Optimización de consultas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353441E-3555-2D54-69BC-D61EEC2737C5}"/>
              </a:ext>
            </a:extLst>
          </p:cNvPr>
          <p:cNvSpPr txBox="1"/>
          <p:nvPr/>
        </p:nvSpPr>
        <p:spPr>
          <a:xfrm>
            <a:off x="257579" y="1316165"/>
            <a:ext cx="3545633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-- </a:t>
            </a:r>
            <a:r>
              <a:rPr lang="en-US" sz="1300" dirty="0" err="1"/>
              <a:t>Consultar</a:t>
            </a:r>
            <a:r>
              <a:rPr lang="en-US" sz="1300" dirty="0"/>
              <a:t> </a:t>
            </a:r>
            <a:r>
              <a:rPr lang="en-US" sz="1300" dirty="0" err="1"/>
              <a:t>uso</a:t>
            </a:r>
            <a:r>
              <a:rPr lang="en-US" sz="1300" dirty="0"/>
              <a:t> de </a:t>
            </a:r>
            <a:r>
              <a:rPr lang="en-US" sz="1300" dirty="0" err="1"/>
              <a:t>índices</a:t>
            </a:r>
            <a:r>
              <a:rPr lang="en-US" sz="1300" dirty="0"/>
              <a:t>:</a:t>
            </a:r>
          </a:p>
          <a:p>
            <a:r>
              <a:rPr lang="en-US" sz="1300" dirty="0"/>
              <a:t>SELECT </a:t>
            </a:r>
            <a:r>
              <a:rPr lang="en-US" sz="1300" dirty="0" err="1"/>
              <a:t>index_name</a:t>
            </a:r>
            <a:r>
              <a:rPr lang="en-US" sz="1300" dirty="0"/>
              <a:t>, </a:t>
            </a:r>
            <a:r>
              <a:rPr lang="en-US" sz="1300" dirty="0" err="1"/>
              <a:t>table_name</a:t>
            </a:r>
            <a:r>
              <a:rPr lang="en-US" sz="1300" dirty="0"/>
              <a:t>, used </a:t>
            </a:r>
          </a:p>
          <a:p>
            <a:r>
              <a:rPr lang="en-US" sz="1300" dirty="0"/>
              <a:t>FROM </a:t>
            </a:r>
            <a:r>
              <a:rPr lang="en-US" sz="1300" dirty="0" err="1"/>
              <a:t>v$object_usage</a:t>
            </a:r>
            <a:r>
              <a:rPr lang="en-US" sz="1300" dirty="0"/>
              <a:t> </a:t>
            </a:r>
          </a:p>
          <a:p>
            <a:r>
              <a:rPr lang="en-US" sz="1300" dirty="0"/>
              <a:t>WHERE </a:t>
            </a:r>
            <a:r>
              <a:rPr lang="en-US" sz="1300" dirty="0" err="1"/>
              <a:t>table_name</a:t>
            </a:r>
            <a:r>
              <a:rPr lang="en-US" sz="1300" dirty="0"/>
              <a:t> = 'EMPLEADOS';</a:t>
            </a:r>
          </a:p>
          <a:p>
            <a:endParaRPr lang="en-US" sz="1300" dirty="0"/>
          </a:p>
          <a:p>
            <a:r>
              <a:rPr lang="en-US" sz="1300" dirty="0"/>
              <a:t>-- </a:t>
            </a:r>
            <a:r>
              <a:rPr lang="en-US" sz="1300" dirty="0" err="1"/>
              <a:t>Índices</a:t>
            </a:r>
            <a:r>
              <a:rPr lang="en-US" sz="1300" dirty="0"/>
              <a:t> no </a:t>
            </a:r>
            <a:r>
              <a:rPr lang="en-US" sz="1300" dirty="0" err="1"/>
              <a:t>usados</a:t>
            </a:r>
            <a:r>
              <a:rPr lang="en-US" sz="1300" dirty="0"/>
              <a:t>:</a:t>
            </a:r>
          </a:p>
          <a:p>
            <a:r>
              <a:rPr lang="en-US" sz="1300" dirty="0"/>
              <a:t>SELECT </a:t>
            </a:r>
            <a:r>
              <a:rPr lang="en-US" sz="1300" dirty="0" err="1"/>
              <a:t>index_name</a:t>
            </a:r>
            <a:r>
              <a:rPr lang="en-US" sz="1300" dirty="0"/>
              <a:t> FROM </a:t>
            </a:r>
            <a:r>
              <a:rPr lang="en-US" sz="1300" dirty="0" err="1"/>
              <a:t>dba_indexes</a:t>
            </a:r>
            <a:r>
              <a:rPr lang="en-US" sz="1300" dirty="0"/>
              <a:t> </a:t>
            </a:r>
          </a:p>
          <a:p>
            <a:r>
              <a:rPr lang="en-US" sz="1300" dirty="0"/>
              <a:t>WHERE </a:t>
            </a:r>
            <a:r>
              <a:rPr lang="en-US" sz="1300" dirty="0" err="1"/>
              <a:t>table_name</a:t>
            </a:r>
            <a:r>
              <a:rPr lang="en-US" sz="1300" dirty="0"/>
              <a:t> = 'EMPLEADOS' </a:t>
            </a:r>
          </a:p>
          <a:p>
            <a:r>
              <a:rPr lang="en-US" sz="1300" dirty="0"/>
              <a:t>AND </a:t>
            </a:r>
            <a:r>
              <a:rPr lang="en-US" sz="1300" dirty="0" err="1"/>
              <a:t>index_name</a:t>
            </a:r>
            <a:r>
              <a:rPr lang="en-US" sz="1300" dirty="0"/>
              <a:t> NOT IN (SELECT </a:t>
            </a:r>
            <a:r>
              <a:rPr lang="en-US" sz="1300" dirty="0" err="1"/>
              <a:t>index_name</a:t>
            </a:r>
            <a:r>
              <a:rPr lang="en-US" sz="1300" dirty="0"/>
              <a:t> FROM </a:t>
            </a:r>
            <a:r>
              <a:rPr lang="en-US" sz="1300" dirty="0" err="1"/>
              <a:t>v$object_usage</a:t>
            </a:r>
            <a:r>
              <a:rPr lang="en-US" sz="1300" dirty="0"/>
              <a:t>);</a:t>
            </a:r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5E5AC32A-A37A-A452-C342-1628F17BE53E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Monitorear índices para eliminar los no usados. Los índices innecesarios ralentizan INSERTS/UPDATES/DELETES.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844918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7CA43-B1F6-D468-2A03-2D0FD8D4C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C97F1DBA-004B-30CE-48C8-683908478FC5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1FA9C033-97C0-E2DA-C921-FC10DDB35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Resumen de Estrategias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E0487B3D-954E-F9E1-F007-C341CFD70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20EF57AC-9AA2-CAF7-E761-9450E21F77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Optimización de consultas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28C0119-85B1-488B-E3D8-F486B7BDF687}"/>
              </a:ext>
            </a:extLst>
          </p:cNvPr>
          <p:cNvSpPr txBox="1"/>
          <p:nvPr/>
        </p:nvSpPr>
        <p:spPr>
          <a:xfrm>
            <a:off x="257579" y="1316165"/>
            <a:ext cx="3545633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-- Checklist </a:t>
            </a:r>
            <a:r>
              <a:rPr lang="en-US" sz="1300" dirty="0" err="1"/>
              <a:t>optimización</a:t>
            </a:r>
            <a:r>
              <a:rPr lang="en-US" sz="1300" dirty="0"/>
              <a:t>:</a:t>
            </a:r>
          </a:p>
          <a:p>
            <a:r>
              <a:rPr lang="en-US" sz="1300" dirty="0"/>
              <a:t>☑ Usar EXPLAIN PLAN</a:t>
            </a:r>
          </a:p>
          <a:p>
            <a:r>
              <a:rPr lang="en-US" sz="1300" dirty="0"/>
              <a:t>☑ Crear </a:t>
            </a:r>
            <a:r>
              <a:rPr lang="en-US" sz="1300" dirty="0" err="1"/>
              <a:t>índices</a:t>
            </a:r>
            <a:r>
              <a:rPr lang="en-US" sz="1300" dirty="0"/>
              <a:t> </a:t>
            </a:r>
            <a:r>
              <a:rPr lang="en-US" sz="1300" dirty="0" err="1"/>
              <a:t>estratégicos</a:t>
            </a:r>
            <a:endParaRPr lang="en-US" sz="1300" dirty="0"/>
          </a:p>
          <a:p>
            <a:r>
              <a:rPr lang="en-US" sz="1300" dirty="0"/>
              <a:t>☑ </a:t>
            </a:r>
            <a:r>
              <a:rPr lang="en-US" sz="1300" dirty="0" err="1"/>
              <a:t>Eliminar</a:t>
            </a:r>
            <a:r>
              <a:rPr lang="en-US" sz="1300" dirty="0"/>
              <a:t> </a:t>
            </a:r>
            <a:r>
              <a:rPr lang="en-US" sz="1300" dirty="0" err="1"/>
              <a:t>funciones</a:t>
            </a:r>
            <a:r>
              <a:rPr lang="en-US" sz="1300" dirty="0"/>
              <a:t> </a:t>
            </a:r>
            <a:r>
              <a:rPr lang="en-US" sz="1300" dirty="0" err="1"/>
              <a:t>en</a:t>
            </a:r>
            <a:r>
              <a:rPr lang="en-US" sz="1300" dirty="0"/>
              <a:t> WHERE</a:t>
            </a:r>
          </a:p>
          <a:p>
            <a:r>
              <a:rPr lang="en-US" sz="1300" dirty="0"/>
              <a:t>☑ </a:t>
            </a:r>
            <a:r>
              <a:rPr lang="en-US" sz="1300" dirty="0" err="1"/>
              <a:t>Especificar</a:t>
            </a:r>
            <a:r>
              <a:rPr lang="en-US" sz="1300" dirty="0"/>
              <a:t> columnas </a:t>
            </a:r>
            <a:r>
              <a:rPr lang="en-US" sz="1300" dirty="0" err="1"/>
              <a:t>en</a:t>
            </a:r>
            <a:r>
              <a:rPr lang="en-US" sz="1300" dirty="0"/>
              <a:t> SELECT</a:t>
            </a:r>
          </a:p>
          <a:p>
            <a:r>
              <a:rPr lang="en-US" sz="1300" dirty="0"/>
              <a:t>☑ Usar JOINs </a:t>
            </a:r>
            <a:r>
              <a:rPr lang="en-US" sz="1300" dirty="0" err="1"/>
              <a:t>en</a:t>
            </a:r>
            <a:r>
              <a:rPr lang="en-US" sz="1300" dirty="0"/>
              <a:t> </a:t>
            </a:r>
            <a:r>
              <a:rPr lang="en-US" sz="1300" dirty="0" err="1"/>
              <a:t>lugar</a:t>
            </a:r>
            <a:r>
              <a:rPr lang="en-US" sz="1300" dirty="0"/>
              <a:t> de </a:t>
            </a:r>
            <a:r>
              <a:rPr lang="en-US" sz="1300" dirty="0" err="1"/>
              <a:t>subconsultas</a:t>
            </a:r>
            <a:endParaRPr lang="en-US" sz="13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F5D4C9B6-FB23-E62D-7880-FCD749FB381E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Enfoque sistemático: medir, identificar cuellos de botella, implementar solución, volver a medir. Priorizar consultas más frecuentes.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650604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A8484-CBDB-FA7A-DB46-83E0E89AE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5CE81606-3D84-85D6-D5E3-878BC0B4111B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F3500960-3A45-8C62-AE7B-C45C97CEB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Otras Herramientas de Optimización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084A30F3-68BB-C635-F9A2-F8BA2F0E8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B7195276-6F03-D65C-CFC6-99A02F33BF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Optimización de consultas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B661438-7534-2DD4-DB7A-B214E2CD13AE}"/>
              </a:ext>
            </a:extLst>
          </p:cNvPr>
          <p:cNvSpPr txBox="1"/>
          <p:nvPr/>
        </p:nvSpPr>
        <p:spPr>
          <a:xfrm>
            <a:off x="257579" y="1316165"/>
            <a:ext cx="3545633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-- SQL Monitoring:</a:t>
            </a:r>
          </a:p>
          <a:p>
            <a:r>
              <a:rPr lang="en-US" sz="1300" dirty="0"/>
              <a:t>SELECT </a:t>
            </a:r>
            <a:r>
              <a:rPr lang="en-US" sz="1300" dirty="0" err="1"/>
              <a:t>sql_id</a:t>
            </a:r>
            <a:r>
              <a:rPr lang="en-US" sz="1300" dirty="0"/>
              <a:t>, </a:t>
            </a:r>
            <a:r>
              <a:rPr lang="en-US" sz="1300" dirty="0" err="1"/>
              <a:t>sql_text</a:t>
            </a:r>
            <a:r>
              <a:rPr lang="en-US" sz="1300" dirty="0"/>
              <a:t> FROM </a:t>
            </a:r>
            <a:r>
              <a:rPr lang="en-US" sz="1300" dirty="0" err="1"/>
              <a:t>v$sql</a:t>
            </a:r>
            <a:r>
              <a:rPr lang="en-US" sz="1300" dirty="0"/>
              <a:t> </a:t>
            </a:r>
          </a:p>
          <a:p>
            <a:r>
              <a:rPr lang="en-US" sz="1300" dirty="0"/>
              <a:t>WHERE </a:t>
            </a:r>
            <a:r>
              <a:rPr lang="en-US" sz="1300" dirty="0" err="1"/>
              <a:t>sql_text</a:t>
            </a:r>
            <a:r>
              <a:rPr lang="en-US" sz="1300" dirty="0"/>
              <a:t> LIKE '%SELECT * FROM </a:t>
            </a:r>
            <a:r>
              <a:rPr lang="en-US" sz="1300" dirty="0" err="1"/>
              <a:t>empleados</a:t>
            </a:r>
            <a:r>
              <a:rPr lang="en-US" sz="1300" dirty="0"/>
              <a:t>%';</a:t>
            </a:r>
          </a:p>
          <a:p>
            <a:endParaRPr lang="en-US" sz="1300" dirty="0"/>
          </a:p>
          <a:p>
            <a:r>
              <a:rPr lang="en-US" sz="1300" dirty="0"/>
              <a:t>-- AWR Reports:</a:t>
            </a:r>
          </a:p>
          <a:p>
            <a:r>
              <a:rPr lang="en-US" sz="1300" dirty="0"/>
              <a:t>@?/rdbms/admin/awrrpt.sql</a:t>
            </a:r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77329174-E6E7-CCAA-7691-F7A3B40A6276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SQL </a:t>
            </a:r>
            <a:r>
              <a:rPr lang="es-ES" sz="1800" dirty="0" err="1"/>
              <a:t>Monitoring</a:t>
            </a:r>
            <a:r>
              <a:rPr lang="es-ES" sz="1800" dirty="0"/>
              <a:t>: Tiempo real de consultas ejecutándose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AWR </a:t>
            </a:r>
            <a:r>
              <a:rPr lang="es-ES" sz="1800" dirty="0" err="1"/>
              <a:t>Reports</a:t>
            </a:r>
            <a:r>
              <a:rPr lang="es-ES" sz="1800" dirty="0"/>
              <a:t>: Análisis histórico de rendimiento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SQL </a:t>
            </a:r>
            <a:r>
              <a:rPr lang="es-ES" sz="1800" dirty="0" err="1"/>
              <a:t>Tuning</a:t>
            </a:r>
            <a:r>
              <a:rPr lang="es-ES" sz="1800" dirty="0"/>
              <a:t> </a:t>
            </a:r>
            <a:r>
              <a:rPr lang="es-ES" sz="1800" dirty="0" err="1"/>
              <a:t>Advisor</a:t>
            </a:r>
            <a:r>
              <a:rPr lang="es-ES" sz="1800"/>
              <a:t>: Recomendaciones automáticas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747567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¡Muchas 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ntilla TICARUM 2017 v1.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 TICARUM 2017 v1.1</Template>
  <TotalTime>6331</TotalTime>
  <Words>2040</Words>
  <Application>Microsoft Office PowerPoint</Application>
  <PresentationFormat>Presentación en pantalla (16:9)</PresentationFormat>
  <Paragraphs>266</Paragraphs>
  <Slides>26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Courier New</vt:lpstr>
      <vt:lpstr>Plantilla TICARUM 2017 v1.0</vt:lpstr>
      <vt:lpstr>Análisis y optimización de consultas en Oracle SQL y PL/SQL </vt:lpstr>
      <vt:lpstr>Análisis y optimización de consultas en Oracle SQL y PL/SQL</vt:lpstr>
      <vt:lpstr>Optimización de consultas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¡Muchas Gracias!</vt:lpstr>
    </vt:vector>
  </TitlesOfParts>
  <Company>Universidad de Murcia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MUNUERA RUIZ</dc:creator>
  <cp:lastModifiedBy>PEDRO MUNUERA RUIZ</cp:lastModifiedBy>
  <cp:revision>65</cp:revision>
  <dcterms:created xsi:type="dcterms:W3CDTF">2025-10-27T20:26:45Z</dcterms:created>
  <dcterms:modified xsi:type="dcterms:W3CDTF">2025-11-19T15:01:20Z</dcterms:modified>
</cp:coreProperties>
</file>