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6" r:id="rId2"/>
    <p:sldId id="265" r:id="rId3"/>
    <p:sldId id="266" r:id="rId4"/>
    <p:sldId id="349" r:id="rId5"/>
    <p:sldId id="263" r:id="rId6"/>
    <p:sldId id="307" r:id="rId7"/>
    <p:sldId id="308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25" r:id="rId17"/>
    <p:sldId id="319" r:id="rId18"/>
    <p:sldId id="318" r:id="rId19"/>
    <p:sldId id="321" r:id="rId20"/>
    <p:sldId id="320" r:id="rId21"/>
    <p:sldId id="326" r:id="rId22"/>
    <p:sldId id="327" r:id="rId23"/>
    <p:sldId id="329" r:id="rId24"/>
    <p:sldId id="328" r:id="rId25"/>
    <p:sldId id="330" r:id="rId26"/>
    <p:sldId id="331" r:id="rId27"/>
    <p:sldId id="322" r:id="rId28"/>
    <p:sldId id="332" r:id="rId29"/>
    <p:sldId id="333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50" r:id="rId39"/>
    <p:sldId id="343" r:id="rId40"/>
    <p:sldId id="344" r:id="rId41"/>
    <p:sldId id="345" r:id="rId42"/>
    <p:sldId id="346" r:id="rId43"/>
    <p:sldId id="347" r:id="rId44"/>
    <p:sldId id="348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57"/>
    <p:sldId id="363" r:id="rId58"/>
    <p:sldId id="364" r:id="rId59"/>
    <p:sldId id="365" r:id="rId60"/>
    <p:sldId id="366" r:id="rId61"/>
    <p:sldId id="367" r:id="rId62"/>
    <p:sldId id="259" r:id="rId63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00"/>
    <a:srgbClr val="FF6A00"/>
    <a:srgbClr val="F26D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19" autoAdjust="0"/>
  </p:normalViewPr>
  <p:slideViewPr>
    <p:cSldViewPr>
      <p:cViewPr varScale="1">
        <p:scale>
          <a:sx n="117" d="100"/>
          <a:sy n="117" d="100"/>
        </p:scale>
        <p:origin x="1434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13A81-F6F4-48F1-9240-6625495FC0FC}" type="datetimeFigureOut">
              <a:rPr lang="es-ES" smtClean="0"/>
              <a:pPr/>
              <a:t>17/11/2025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0AE22-138E-4CE0-8F43-3DD4BBCBCB7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8780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60F19-9014-9728-5FBF-85683DC8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A8C0CF-20A7-EFCD-01EC-D18EC7D74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F688A1-3CD3-30B3-9A24-839A16D1B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C401CC-3112-E4CB-5774-22A4EA502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2977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796D-E5EC-E87D-B3CC-0DCCB2BE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F9CBA8-2150-333C-03F2-48634643A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2561B6-3D53-CBE6-BFF6-A4E5B65BE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0A04F3-3CFD-9601-785E-A988DE321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857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0AE22-138E-4CE0-8F43-3DD4BBCBCB7D}" type="slidenum">
              <a:rPr lang="es-ES" smtClean="0"/>
              <a:pPr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487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1 senc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de network background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8 Rectángulo"/>
          <p:cNvSpPr/>
          <p:nvPr userDrawn="1"/>
        </p:nvSpPr>
        <p:spPr>
          <a:xfrm>
            <a:off x="0" y="0"/>
            <a:ext cx="9144000" cy="1995686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227934"/>
          </a:xfrm>
        </p:spPr>
        <p:txBody>
          <a:bodyPr anchor="ctr">
            <a:normAutofit/>
          </a:bodyPr>
          <a:lstStyle>
            <a:lvl1pPr algn="ctr">
              <a:buFontTx/>
              <a:buNone/>
              <a:defRPr sz="1600" i="1">
                <a:solidFill>
                  <a:srgbClr val="F26D28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0"/>
            <a:ext cx="5760640" cy="1440159"/>
          </a:xfrm>
          <a:solidFill>
            <a:srgbClr val="FF6B00"/>
          </a:solidFill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 con imagen de fondo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187624" y="1347614"/>
            <a:ext cx="6048672" cy="1872208"/>
          </a:xfrm>
        </p:spPr>
        <p:txBody>
          <a:bodyPr anchor="t">
            <a:noAutofit/>
          </a:bodyPr>
          <a:lstStyle>
            <a:lvl1pPr algn="l">
              <a:defRPr sz="3600" b="1" cap="none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Subtítulo de la Presentación</a:t>
            </a:r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1043608" y="195486"/>
            <a:ext cx="1296764" cy="1512515"/>
          </a:xfrm>
        </p:spPr>
        <p:txBody>
          <a:bodyPr>
            <a:noAutofit/>
          </a:bodyPr>
          <a:lstStyle>
            <a:lvl1pPr>
              <a:buNone/>
              <a:defRPr sz="80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s-ES" dirty="0"/>
              <a:t>1</a:t>
            </a:r>
          </a:p>
        </p:txBody>
      </p:sp>
      <p:pic>
        <p:nvPicPr>
          <p:cNvPr id="5" name="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12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5" name="1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16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2 Marcador de contenido"/>
          <p:cNvSpPr>
            <a:spLocks noGrp="1"/>
          </p:cNvSpPr>
          <p:nvPr>
            <p:ph idx="10"/>
          </p:nvPr>
        </p:nvSpPr>
        <p:spPr>
          <a:xfrm>
            <a:off x="457200" y="1196950"/>
            <a:ext cx="4042792" cy="339102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6" name="2 Marcador de contenido"/>
          <p:cNvSpPr>
            <a:spLocks noGrp="1"/>
          </p:cNvSpPr>
          <p:nvPr>
            <p:ph idx="14"/>
          </p:nvPr>
        </p:nvSpPr>
        <p:spPr>
          <a:xfrm>
            <a:off x="4644008" y="1193000"/>
            <a:ext cx="4032448" cy="339497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9" name="18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21" name="20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2" name="11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1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2</a:t>
            </a:r>
          </a:p>
        </p:txBody>
      </p:sp>
      <p:sp>
        <p:nvSpPr>
          <p:cNvPr id="13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16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9" name="1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0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  <p:sp>
        <p:nvSpPr>
          <p:cNvPr id="21" name="2 Marcador de contenido"/>
          <p:cNvSpPr>
            <a:spLocks noGrp="1"/>
          </p:cNvSpPr>
          <p:nvPr>
            <p:ph idx="10"/>
          </p:nvPr>
        </p:nvSpPr>
        <p:spPr>
          <a:xfrm>
            <a:off x="457200" y="1635646"/>
            <a:ext cx="4042792" cy="2952328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2" name="2 Marcador de contenido"/>
          <p:cNvSpPr>
            <a:spLocks noGrp="1"/>
          </p:cNvSpPr>
          <p:nvPr>
            <p:ph idx="15"/>
          </p:nvPr>
        </p:nvSpPr>
        <p:spPr>
          <a:xfrm>
            <a:off x="4644008" y="1632206"/>
            <a:ext cx="4032448" cy="295576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0" y="0"/>
            <a:ext cx="3059832" cy="514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2386607" cy="8715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2386607" cy="351829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9" name="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7584" y="4421182"/>
            <a:ext cx="1503909" cy="454824"/>
          </a:xfrm>
          <a:prstGeom prst="rect">
            <a:avLst/>
          </a:prstGeom>
        </p:spPr>
      </p:pic>
      <p:sp>
        <p:nvSpPr>
          <p:cNvPr id="10" name="2 Marcador de contenido"/>
          <p:cNvSpPr>
            <a:spLocks noGrp="1"/>
          </p:cNvSpPr>
          <p:nvPr>
            <p:ph idx="1"/>
          </p:nvPr>
        </p:nvSpPr>
        <p:spPr>
          <a:xfrm>
            <a:off x="3275856" y="195486"/>
            <a:ext cx="5410944" cy="439913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sección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sección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835696" y="627534"/>
            <a:ext cx="5486400" cy="1381746"/>
          </a:xfrm>
        </p:spPr>
        <p:txBody>
          <a:bodyPr anchor="b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Despedida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835696" y="1995686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despedida</a:t>
            </a:r>
          </a:p>
        </p:txBody>
      </p:sp>
      <p:sp>
        <p:nvSpPr>
          <p:cNvPr id="6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835696" y="2859782"/>
            <a:ext cx="1152128" cy="1152128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Autor</a:t>
            </a:r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2987675" y="2859088"/>
            <a:ext cx="4321175" cy="1152525"/>
          </a:xfr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&lt;Nombre y apellidos&gt;</a:t>
            </a:r>
          </a:p>
          <a:p>
            <a:pPr lvl="0"/>
            <a:r>
              <a:rPr lang="es-ES" dirty="0"/>
              <a:t>&lt;Email&gt;</a:t>
            </a:r>
          </a:p>
          <a:p>
            <a:pPr lvl="0"/>
            <a:r>
              <a:rPr lang="es-ES" dirty="0"/>
              <a:t>&lt;Teléfono&gt;</a:t>
            </a:r>
          </a:p>
        </p:txBody>
      </p:sp>
      <p:pic>
        <p:nvPicPr>
          <p:cNvPr id="8" name="7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015D-F054-4B71-BB12-316A6A9541BC}" type="datetimeFigureOut">
              <a:rPr lang="es-ES" smtClean="0"/>
              <a:pPr/>
              <a:t>17/11/2025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51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61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51520" y="411510"/>
            <a:ext cx="7772400" cy="1152128"/>
          </a:xfrm>
        </p:spPr>
        <p:txBody>
          <a:bodyPr/>
          <a:lstStyle/>
          <a:p>
            <a:r>
              <a:rPr lang="es-ES" b="1" dirty="0"/>
              <a:t>Análisis y optimización de consultas en Oracle SQL y PL/SQL </a:t>
            </a:r>
            <a:endParaRPr lang="es-ES" dirty="0"/>
          </a:p>
        </p:txBody>
      </p:sp>
      <p:sp>
        <p:nvSpPr>
          <p:cNvPr id="4" name="4 Título">
            <a:extLst>
              <a:ext uri="{FF2B5EF4-FFF2-40B4-BE49-F238E27FC236}">
                <a16:creationId xmlns:a16="http://schemas.microsoft.com/office/drawing/2014/main" id="{CEA2CD2E-B90F-5078-3BEF-98753350D0D8}"/>
              </a:ext>
            </a:extLst>
          </p:cNvPr>
          <p:cNvSpPr txBox="1">
            <a:spLocks/>
          </p:cNvSpPr>
          <p:nvPr/>
        </p:nvSpPr>
        <p:spPr>
          <a:xfrm>
            <a:off x="252028" y="2067694"/>
            <a:ext cx="288032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FF6B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</a:rPr>
              <a:t>Sesión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90AA-A36D-0698-1CFD-B91FCF9F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D4D17EB-BB9C-75A1-58BF-CB459A47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Sesiones</a:t>
            </a:r>
          </a:p>
          <a:p>
            <a:pPr lvl="2"/>
            <a:r>
              <a:rPr lang="es-ES" dirty="0"/>
              <a:t>Sesión 1 – Conexión y diseño de tablas (2h)</a:t>
            </a:r>
          </a:p>
          <a:p>
            <a:pPr lvl="2"/>
            <a:r>
              <a:rPr lang="es-ES" dirty="0"/>
              <a:t>Sesión 2 – Insertar y consultar datos (2h)</a:t>
            </a:r>
          </a:p>
          <a:p>
            <a:pPr lvl="2"/>
            <a:r>
              <a:rPr lang="es-ES" b="1" dirty="0"/>
              <a:t>Sesión 3 – Fundamentos de PL/SQL (2h)</a:t>
            </a:r>
          </a:p>
          <a:p>
            <a:pPr lvl="2"/>
            <a:r>
              <a:rPr lang="es-ES" dirty="0"/>
              <a:t>Sesión 4 – Procedimientos, funciones y paquetes (2h)</a:t>
            </a:r>
          </a:p>
          <a:p>
            <a:pPr lvl="2"/>
            <a:r>
              <a:rPr lang="es-ES" dirty="0"/>
              <a:t>Sesión 5 – Cursores y operaciones en bloque (2h)</a:t>
            </a:r>
          </a:p>
          <a:p>
            <a:pPr lvl="2"/>
            <a:r>
              <a:rPr lang="es-ES" dirty="0"/>
              <a:t>Sesión 6 – Optimización de consultas (3h)</a:t>
            </a:r>
          </a:p>
          <a:p>
            <a:pPr lvl="2"/>
            <a:r>
              <a:rPr lang="es-ES" dirty="0"/>
              <a:t>Sesión 7 – </a:t>
            </a:r>
            <a:r>
              <a:rPr lang="es-ES" dirty="0" err="1"/>
              <a:t>Triggers</a:t>
            </a:r>
            <a:r>
              <a:rPr lang="es-ES" dirty="0"/>
              <a:t> (1h)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1DB2940-3159-AA88-2A46-762F55B4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EC34DE5-E61C-8A31-4D73-BAFA907511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Curso</a:t>
            </a:r>
          </a:p>
        </p:txBody>
      </p:sp>
    </p:spTree>
    <p:extLst>
      <p:ext uri="{BB962C8B-B14F-4D97-AF65-F5344CB8AC3E}">
        <p14:creationId xmlns:p14="http://schemas.microsoft.com/office/powerpoint/2010/main" val="420673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E6A2-AB82-D079-EEE9-CFE683B1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0695829-FF1C-F669-F93A-C5974D0C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Sesión 3</a:t>
            </a:r>
          </a:p>
          <a:p>
            <a:pPr lvl="2"/>
            <a:r>
              <a:rPr lang="es-ES" dirty="0"/>
              <a:t>Comprender los fundamentos internos y las mejores prácticas de PL/SQL para escribir código robusto, mantenible y optimizado, aprovechando el motor PL/SQL al máximo dentro de Oracle </a:t>
            </a:r>
            <a:r>
              <a:rPr lang="es-ES" dirty="0" err="1"/>
              <a:t>Database</a:t>
            </a:r>
            <a:r>
              <a:rPr lang="es-ES" dirty="0"/>
              <a:t>.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A9B2BE7-9B0C-4A6B-A3FA-1246DCF69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BE311FF-4CE5-2CFD-96D8-D9DCF7AA22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Sesión 1</a:t>
            </a:r>
          </a:p>
        </p:txBody>
      </p:sp>
    </p:spTree>
    <p:extLst>
      <p:ext uri="{BB962C8B-B14F-4D97-AF65-F5344CB8AC3E}">
        <p14:creationId xmlns:p14="http://schemas.microsoft.com/office/powerpoint/2010/main" val="427670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66A5C-3139-D86F-1878-036026427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>
            <a:extLst>
              <a:ext uri="{FF2B5EF4-FFF2-40B4-BE49-F238E27FC236}">
                <a16:creationId xmlns:a16="http://schemas.microsoft.com/office/drawing/2014/main" id="{6F76F10C-37C1-0C91-4B80-E9BD7638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DBB93FDE-7813-13FC-1428-08444BA06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69721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0E7A-4878-C245-DB0B-EE247F0D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16F86DC-1442-640D-0BF1-32AC10520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6"/>
            <a:ext cx="8229600" cy="3816425"/>
          </a:xfrm>
        </p:spPr>
        <p:txBody>
          <a:bodyPr>
            <a:normAutofit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sz="1600" dirty="0"/>
          </a:p>
          <a:p>
            <a:pPr lvl="1"/>
            <a:r>
              <a:rPr lang="es-ES" sz="1600" dirty="0"/>
              <a:t>PL/SQL no es solo un lenguaje embebido en Oracle: es un motor de ejecución dentro de la base de datos, que coopera con el motor SQL.</a:t>
            </a:r>
          </a:p>
          <a:p>
            <a:pPr lvl="1"/>
            <a:r>
              <a:rPr lang="es-ES" sz="1600" dirty="0"/>
              <a:t>Cada vez que el código PL/SQL ejecuta una sentencia SQL, hay un cambio de contexto (</a:t>
            </a:r>
            <a:r>
              <a:rPr lang="es-ES" sz="1600" dirty="0" err="1"/>
              <a:t>context</a:t>
            </a:r>
            <a:r>
              <a:rPr lang="es-ES" sz="1600" dirty="0"/>
              <a:t> switch) entre ambos motores. Este cambio implica copiar datos, validar cursores y sincronizar el estado, lo cual puede afectar el rendimiento en operaciones intensivas.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Conceptos clave: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Motor SQL: ejecuta consultas, DML, DDL, etc.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Motor PL/SQL: ejecuta lógica procedural, bucles, condiciones, estructuras de control.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 err="1"/>
              <a:t>Context</a:t>
            </a:r>
            <a:r>
              <a:rPr lang="es-ES" sz="1600" dirty="0"/>
              <a:t> </a:t>
            </a:r>
            <a:r>
              <a:rPr lang="es-ES" sz="1600" dirty="0" err="1"/>
              <a:t>Switching</a:t>
            </a:r>
            <a:r>
              <a:rPr lang="es-ES" sz="1600" dirty="0"/>
              <a:t>: ocurre al pasar datos entre ambos motores.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2F88460-32FD-ABB0-5F03-576BB368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EED6F9B-CAA9-639B-6FEB-986F79A5D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428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C8219-0511-2659-079D-48795EB3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DABC687-E1B5-35EC-83C8-E01C70595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6"/>
            <a:ext cx="8229600" cy="3816425"/>
          </a:xfrm>
        </p:spPr>
        <p:txBody>
          <a:bodyPr>
            <a:normAutofit/>
          </a:bodyPr>
          <a:lstStyle/>
          <a:p>
            <a:r>
              <a:rPr lang="es-ES" dirty="0"/>
              <a:t>Ejemplo: impacto del cambio de contexto</a:t>
            </a:r>
          </a:p>
          <a:p>
            <a:pPr lvl="1"/>
            <a:r>
              <a:rPr lang="es-ES" sz="1600" dirty="0"/>
              <a:t>Ejemplo ineficiente: muchos cambios de contexto</a:t>
            </a:r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600" dirty="0"/>
          </a:p>
          <a:p>
            <a:pPr lvl="1"/>
            <a:endParaRPr lang="es-ES" sz="1400" dirty="0"/>
          </a:p>
          <a:p>
            <a:pPr lvl="1"/>
            <a:endParaRPr lang="es-ES" sz="1400" dirty="0"/>
          </a:p>
          <a:p>
            <a:pPr lvl="1"/>
            <a:r>
              <a:rPr lang="es-ES" sz="1600" dirty="0"/>
              <a:t>Ejemplo optimizado con SQL puro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334AE0F-742F-0EE3-C5CB-E60CADB2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0428303-59C6-91F9-BDF2-004CADF898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8C7633-B193-DBC6-A921-B525930FA740}"/>
              </a:ext>
            </a:extLst>
          </p:cNvPr>
          <p:cNvSpPr txBox="1"/>
          <p:nvPr/>
        </p:nvSpPr>
        <p:spPr>
          <a:xfrm>
            <a:off x="755576" y="3635027"/>
            <a:ext cx="68388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DECLARE</a:t>
            </a:r>
          </a:p>
          <a:p>
            <a:r>
              <a:rPr lang="es-ES" sz="1400" dirty="0"/>
              <a:t>    </a:t>
            </a:r>
            <a:r>
              <a:rPr lang="es-ES" sz="1400" dirty="0" err="1"/>
              <a:t>v_total</a:t>
            </a:r>
            <a:r>
              <a:rPr lang="es-ES" sz="1400" dirty="0"/>
              <a:t> NUMBER;</a:t>
            </a:r>
          </a:p>
          <a:p>
            <a:r>
              <a:rPr lang="es-ES" sz="1400" dirty="0"/>
              <a:t>BEGIN</a:t>
            </a:r>
          </a:p>
          <a:p>
            <a:r>
              <a:rPr lang="es-ES" sz="1400" dirty="0"/>
              <a:t>    </a:t>
            </a:r>
            <a:r>
              <a:rPr lang="es-ES" sz="1400" dirty="0">
                <a:solidFill>
                  <a:srgbClr val="FF0000"/>
                </a:solidFill>
              </a:rPr>
              <a:t>SELECT SUM(</a:t>
            </a:r>
            <a:r>
              <a:rPr lang="es-ES" sz="1400" dirty="0" err="1">
                <a:solidFill>
                  <a:srgbClr val="FF0000"/>
                </a:solidFill>
              </a:rPr>
              <a:t>salary</a:t>
            </a:r>
            <a:r>
              <a:rPr lang="es-ES" sz="1400" dirty="0">
                <a:solidFill>
                  <a:srgbClr val="FF0000"/>
                </a:solidFill>
              </a:rPr>
              <a:t>) INTO </a:t>
            </a:r>
            <a:r>
              <a:rPr lang="es-ES" sz="1400" dirty="0" err="1">
                <a:solidFill>
                  <a:srgbClr val="FF0000"/>
                </a:solidFill>
              </a:rPr>
              <a:t>v_total</a:t>
            </a:r>
            <a:r>
              <a:rPr lang="es-ES" sz="1400" dirty="0">
                <a:solidFill>
                  <a:srgbClr val="FF0000"/>
                </a:solidFill>
              </a:rPr>
              <a:t> FROM </a:t>
            </a:r>
            <a:r>
              <a:rPr lang="es-ES" sz="1400" dirty="0" err="1">
                <a:solidFill>
                  <a:srgbClr val="FF0000"/>
                </a:solidFill>
              </a:rPr>
              <a:t>employees</a:t>
            </a:r>
            <a:r>
              <a:rPr lang="es-ES" sz="1400" dirty="0">
                <a:solidFill>
                  <a:srgbClr val="FF0000"/>
                </a:solidFill>
              </a:rPr>
              <a:t>;</a:t>
            </a:r>
          </a:p>
          <a:p>
            <a:r>
              <a:rPr lang="es-ES" sz="1400" dirty="0"/>
              <a:t>    DBMS_OUTPUT.PUT_LINE('Total salarios: ' || </a:t>
            </a:r>
            <a:r>
              <a:rPr lang="es-ES" sz="1400" dirty="0" err="1"/>
              <a:t>v_total</a:t>
            </a:r>
            <a:r>
              <a:rPr lang="es-ES" sz="1400" dirty="0"/>
              <a:t>);</a:t>
            </a:r>
          </a:p>
          <a:p>
            <a:r>
              <a:rPr lang="es-ES" sz="1400" dirty="0"/>
              <a:t>END;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1B5EE7-25AD-F924-BDDD-D10FC29EFC35}"/>
              </a:ext>
            </a:extLst>
          </p:cNvPr>
          <p:cNvSpPr txBox="1"/>
          <p:nvPr/>
        </p:nvSpPr>
        <p:spPr>
          <a:xfrm>
            <a:off x="646599" y="1601319"/>
            <a:ext cx="73448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DECLARE</a:t>
            </a:r>
          </a:p>
          <a:p>
            <a:r>
              <a:rPr lang="es-ES" sz="1200" b="1" dirty="0"/>
              <a:t>    </a:t>
            </a:r>
            <a:r>
              <a:rPr lang="es-ES" sz="1200" b="1" dirty="0" err="1"/>
              <a:t>v_total</a:t>
            </a:r>
            <a:r>
              <a:rPr lang="es-ES" sz="1200" b="1" dirty="0"/>
              <a:t> NUMBER := 0;</a:t>
            </a:r>
          </a:p>
          <a:p>
            <a:r>
              <a:rPr lang="es-ES" sz="1200" b="1" dirty="0"/>
              <a:t>BEGIN</a:t>
            </a:r>
          </a:p>
          <a:p>
            <a:r>
              <a:rPr lang="es-ES" sz="1200" b="1" dirty="0"/>
              <a:t>    FOR r IN (</a:t>
            </a:r>
            <a:r>
              <a:rPr lang="es-ES" sz="1200" b="1" dirty="0">
                <a:solidFill>
                  <a:srgbClr val="FF0000"/>
                </a:solidFill>
              </a:rPr>
              <a:t>SELECT </a:t>
            </a:r>
            <a:r>
              <a:rPr lang="es-ES" sz="1200" b="1" dirty="0" err="1">
                <a:solidFill>
                  <a:srgbClr val="FF0000"/>
                </a:solidFill>
              </a:rPr>
              <a:t>salary</a:t>
            </a:r>
            <a:r>
              <a:rPr lang="es-ES" sz="1200" b="1" dirty="0">
                <a:solidFill>
                  <a:srgbClr val="FF0000"/>
                </a:solidFill>
              </a:rPr>
              <a:t> FROM </a:t>
            </a:r>
            <a:r>
              <a:rPr lang="es-ES" sz="1200" b="1" dirty="0" err="1">
                <a:solidFill>
                  <a:srgbClr val="FF0000"/>
                </a:solidFill>
              </a:rPr>
              <a:t>employees</a:t>
            </a:r>
            <a:r>
              <a:rPr lang="es-ES" sz="1200" b="1" dirty="0"/>
              <a:t>) LOOP</a:t>
            </a:r>
          </a:p>
          <a:p>
            <a:r>
              <a:rPr lang="es-ES" sz="1200" b="1" dirty="0"/>
              <a:t>        </a:t>
            </a:r>
            <a:r>
              <a:rPr lang="es-ES" sz="1200" b="1" dirty="0" err="1"/>
              <a:t>v_total</a:t>
            </a:r>
            <a:r>
              <a:rPr lang="es-ES" sz="1200" b="1" dirty="0"/>
              <a:t> := </a:t>
            </a:r>
            <a:r>
              <a:rPr lang="es-ES" sz="1200" b="1" dirty="0" err="1"/>
              <a:t>v_total</a:t>
            </a:r>
            <a:r>
              <a:rPr lang="es-ES" sz="1200" b="1" dirty="0"/>
              <a:t> + </a:t>
            </a:r>
            <a:r>
              <a:rPr lang="es-ES" sz="1200" b="1" dirty="0" err="1">
                <a:solidFill>
                  <a:srgbClr val="FF0000"/>
                </a:solidFill>
              </a:rPr>
              <a:t>r.salary</a:t>
            </a:r>
            <a:r>
              <a:rPr lang="es-ES" sz="1200" b="1" dirty="0"/>
              <a:t>; -- cada FETCH implica un cambio de contexto</a:t>
            </a:r>
          </a:p>
          <a:p>
            <a:r>
              <a:rPr lang="es-ES" sz="1200" b="1" dirty="0"/>
              <a:t>    END LOOP;</a:t>
            </a:r>
          </a:p>
          <a:p>
            <a:r>
              <a:rPr lang="es-ES" sz="1200" b="1" dirty="0"/>
              <a:t>    DBMS_OUTPUT.PUT_LINE('Total salarios: ' || </a:t>
            </a:r>
            <a:r>
              <a:rPr lang="es-ES" sz="1200" b="1" dirty="0" err="1"/>
              <a:t>v_total</a:t>
            </a:r>
            <a:r>
              <a:rPr lang="es-ES" sz="1200" b="1" dirty="0"/>
              <a:t>);</a:t>
            </a:r>
          </a:p>
          <a:p>
            <a:r>
              <a:rPr lang="es-ES" sz="1200" b="1" dirty="0"/>
              <a:t>END;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200C300-301C-7747-CA37-5FDFFDF68366}"/>
              </a:ext>
            </a:extLst>
          </p:cNvPr>
          <p:cNvSpPr txBox="1"/>
          <p:nvPr/>
        </p:nvSpPr>
        <p:spPr>
          <a:xfrm>
            <a:off x="6372200" y="4731990"/>
            <a:ext cx="274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000" dirty="0">
                <a:solidFill>
                  <a:srgbClr val="FF6A00"/>
                </a:solidFill>
                <a:latin typeface="-apple-system"/>
              </a:rPr>
              <a:t>session3-cambios-contexto.sql</a:t>
            </a:r>
          </a:p>
          <a:p>
            <a:endParaRPr lang="es-ES" sz="1000" b="0" i="0" dirty="0">
              <a:solidFill>
                <a:srgbClr val="FF6A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76506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314C-A719-11C0-FCF0-650F574B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8375289-2247-4098-D916-61760A0EA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6"/>
            <a:ext cx="8229600" cy="3816425"/>
          </a:xfrm>
        </p:spPr>
        <p:txBody>
          <a:bodyPr>
            <a:normAutofit/>
          </a:bodyPr>
          <a:lstStyle/>
          <a:p>
            <a:r>
              <a:rPr lang="es-ES" dirty="0"/>
              <a:t>Optimización del rendimiento PL/SQL</a:t>
            </a:r>
          </a:p>
          <a:p>
            <a:pPr lvl="1"/>
            <a:r>
              <a:rPr lang="es-ES" sz="1600" dirty="0"/>
              <a:t>La eficiencia de PL/SQL depende de cómo tratamos los datos entre el SQL </a:t>
            </a:r>
            <a:r>
              <a:rPr lang="es-ES" sz="1600" dirty="0" err="1"/>
              <a:t>engine</a:t>
            </a:r>
            <a:r>
              <a:rPr lang="es-ES" sz="1600" dirty="0"/>
              <a:t> y el PL/SQL </a:t>
            </a:r>
            <a:r>
              <a:rPr lang="es-ES" sz="1600" dirty="0" err="1"/>
              <a:t>engine</a:t>
            </a:r>
            <a:r>
              <a:rPr lang="es-ES" sz="1600" dirty="0"/>
              <a:t>.</a:t>
            </a:r>
            <a:br>
              <a:rPr lang="es-ES" sz="1600" dirty="0"/>
            </a:br>
            <a:r>
              <a:rPr lang="es-ES" sz="1600" dirty="0"/>
              <a:t>Dos herramientas esenciales son </a:t>
            </a:r>
            <a:r>
              <a:rPr lang="es-ES" dirty="0"/>
              <a:t>BULK COLLECT</a:t>
            </a:r>
            <a:r>
              <a:rPr lang="es-ES" sz="1600" dirty="0"/>
              <a:t> y </a:t>
            </a:r>
            <a:r>
              <a:rPr lang="es-ES" dirty="0"/>
              <a:t>FORALL</a:t>
            </a:r>
            <a:r>
              <a:rPr lang="es-ES" sz="1600" dirty="0"/>
              <a:t>, que minimizan los cambios de contexto.</a:t>
            </a:r>
          </a:p>
          <a:p>
            <a:pPr lvl="1"/>
            <a:endParaRPr lang="es-ES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BULK COLLECT carga muchos registros en memoria de una sola vez.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FORALL ejecuta DML masivos sin bucles de alto costo.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54B124-7D28-D617-CE93-253314A47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F22BA78-8DE9-56EF-FA06-3FFA63A5DE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6658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1A0C8-A405-32E5-DD0A-EDF300BC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C6F56D1-A43E-8FCD-6CD0-7A6532C09F5A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AD603EF-B0F5-12C8-235B-044475CB7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BULK COLLECT y FORALL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AF2585B-B8A0-CA59-18B5-77245DAF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4D46299-1500-BC08-9FD7-F708F255B4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A78A52-EEC9-BEA3-0E7B-68B76A58937C}"/>
              </a:ext>
            </a:extLst>
          </p:cNvPr>
          <p:cNvSpPr txBox="1"/>
          <p:nvPr/>
        </p:nvSpPr>
        <p:spPr>
          <a:xfrm>
            <a:off x="261636" y="1306682"/>
            <a:ext cx="37098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t_emp</a:t>
            </a:r>
            <a:r>
              <a:rPr lang="en-US" sz="1300" dirty="0"/>
              <a:t> IS TABLE OF </a:t>
            </a:r>
            <a:r>
              <a:rPr lang="en-US" sz="1300" dirty="0" err="1"/>
              <a:t>employees%ROWTYPE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v_emps</a:t>
            </a:r>
            <a:r>
              <a:rPr lang="en-US" sz="1300" dirty="0"/>
              <a:t> </a:t>
            </a:r>
            <a:r>
              <a:rPr lang="en-US" sz="1300" dirty="0" err="1"/>
              <a:t>t_emp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SELECT * </a:t>
            </a:r>
            <a:r>
              <a:rPr lang="en-US" sz="1300" b="1" dirty="0"/>
              <a:t>BULK COLLECT </a:t>
            </a:r>
            <a:r>
              <a:rPr lang="en-US" sz="1300" dirty="0"/>
              <a:t>INTO </a:t>
            </a:r>
            <a:r>
              <a:rPr lang="en-US" sz="1300" dirty="0" err="1"/>
              <a:t>v_emps</a:t>
            </a:r>
            <a:endParaRPr lang="en-US" sz="1300" dirty="0"/>
          </a:p>
          <a:p>
            <a:r>
              <a:rPr lang="en-US" sz="1300" dirty="0"/>
              <a:t>    FROM employees</a:t>
            </a:r>
          </a:p>
          <a:p>
            <a:r>
              <a:rPr lang="en-US" sz="1300" dirty="0"/>
              <a:t>    WHERE </a:t>
            </a:r>
            <a:r>
              <a:rPr lang="en-US" sz="1300" dirty="0" err="1"/>
              <a:t>department_id</a:t>
            </a:r>
            <a:r>
              <a:rPr lang="en-US" sz="1300" dirty="0"/>
              <a:t> = 50;</a:t>
            </a:r>
          </a:p>
          <a:p>
            <a:endParaRPr lang="en-US" sz="1300" dirty="0"/>
          </a:p>
          <a:p>
            <a:r>
              <a:rPr lang="en-US" sz="1300" dirty="0"/>
              <a:t>    </a:t>
            </a:r>
            <a:r>
              <a:rPr lang="en-US" sz="1300" b="1" dirty="0"/>
              <a:t>FORALL</a:t>
            </a:r>
            <a:r>
              <a:rPr lang="en-US" sz="1300" dirty="0"/>
              <a:t> </a:t>
            </a:r>
            <a:r>
              <a:rPr lang="en-US" sz="1300" dirty="0" err="1"/>
              <a:t>i</a:t>
            </a:r>
            <a:r>
              <a:rPr lang="en-US" sz="1300" dirty="0"/>
              <a:t> IN </a:t>
            </a:r>
            <a:r>
              <a:rPr lang="en-US" sz="1300" dirty="0" err="1"/>
              <a:t>v_emps.FIRST</a:t>
            </a:r>
            <a:r>
              <a:rPr lang="en-US" sz="1300" dirty="0"/>
              <a:t> .. </a:t>
            </a:r>
            <a:r>
              <a:rPr lang="en-US" sz="1300" dirty="0" err="1"/>
              <a:t>v_emps.LAST</a:t>
            </a:r>
            <a:endParaRPr lang="en-US" sz="1300" dirty="0"/>
          </a:p>
          <a:p>
            <a:r>
              <a:rPr lang="en-US" sz="1300" dirty="0"/>
              <a:t>        UPDATE employees</a:t>
            </a:r>
          </a:p>
          <a:p>
            <a:r>
              <a:rPr lang="en-US" sz="1300" dirty="0"/>
              <a:t>        SET salary = salary * 1.05</a:t>
            </a:r>
          </a:p>
          <a:p>
            <a:r>
              <a:rPr lang="en-US" sz="1300" dirty="0"/>
              <a:t>        WHERE </a:t>
            </a:r>
            <a:r>
              <a:rPr lang="en-US" sz="1300" dirty="0" err="1"/>
              <a:t>employee_id</a:t>
            </a:r>
            <a:r>
              <a:rPr lang="en-US" sz="1300" dirty="0"/>
              <a:t> = </a:t>
            </a:r>
            <a:r>
              <a:rPr lang="en-US" sz="1300" dirty="0" err="1"/>
              <a:t>v_emps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).</a:t>
            </a:r>
            <a:r>
              <a:rPr lang="en-US" sz="1300" dirty="0" err="1"/>
              <a:t>employee_id</a:t>
            </a:r>
            <a:r>
              <a:rPr lang="en-US" sz="1300" dirty="0"/>
              <a:t>;</a:t>
            </a:r>
          </a:p>
          <a:p>
            <a:endParaRPr lang="en-US" sz="1300" dirty="0"/>
          </a:p>
          <a:p>
            <a:r>
              <a:rPr lang="en-US" sz="1300" dirty="0"/>
              <a:t>    COMMIT;</a:t>
            </a:r>
          </a:p>
          <a:p>
            <a:r>
              <a:rPr lang="en-US" sz="1300" dirty="0"/>
              <a:t>END;</a:t>
            </a:r>
          </a:p>
          <a:p>
            <a:r>
              <a:rPr lang="en-US" sz="1300" dirty="0"/>
              <a:t>/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B1DCC3B-4070-DF6C-EC19-BA1F26B037C6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BULK COLLECT carga muchos registros en memoria de una sola vez.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FORALL ejecuta DML masivos sin bucles de alto costo.</a:t>
            </a:r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502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D7663-5571-5A7B-7147-E16DB7AD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C908C01-7284-9C02-D8CB-3BB53783BDC5}"/>
              </a:ext>
            </a:extLst>
          </p:cNvPr>
          <p:cNvSpPr/>
          <p:nvPr/>
        </p:nvSpPr>
        <p:spPr>
          <a:xfrm>
            <a:off x="261636" y="1275606"/>
            <a:ext cx="4238356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595786E-F303-6F6D-346C-04C770131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Uso de LIMIT para controlar memoria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305E58B-9D06-9E43-90FB-284B80CF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9D6A30B-4259-2A68-58B6-6336B37ACB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7BE8744-F1C3-EB3E-0A52-49D226969FBB}"/>
              </a:ext>
            </a:extLst>
          </p:cNvPr>
          <p:cNvSpPr txBox="1"/>
          <p:nvPr/>
        </p:nvSpPr>
        <p:spPr>
          <a:xfrm>
            <a:off x="261636" y="1306682"/>
            <a:ext cx="416634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t_emp</a:t>
            </a:r>
            <a:r>
              <a:rPr lang="en-US" sz="1300" dirty="0"/>
              <a:t> IS TABLE OF </a:t>
            </a:r>
            <a:r>
              <a:rPr lang="en-US" sz="1300" dirty="0" err="1"/>
              <a:t>employees%ROWTYPE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v_emps</a:t>
            </a:r>
            <a:r>
              <a:rPr lang="en-US" sz="1300" dirty="0"/>
              <a:t> </a:t>
            </a:r>
            <a:r>
              <a:rPr lang="en-US" sz="1300" dirty="0" err="1"/>
              <a:t>t_emp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LOOP</a:t>
            </a:r>
          </a:p>
          <a:p>
            <a:r>
              <a:rPr lang="en-US" sz="1300" dirty="0"/>
              <a:t>        FETCH </a:t>
            </a:r>
            <a:r>
              <a:rPr lang="en-US" sz="1300" dirty="0" err="1"/>
              <a:t>c_emp</a:t>
            </a:r>
            <a:r>
              <a:rPr lang="en-US" sz="1300" dirty="0"/>
              <a:t> BULK COLLECT INTO </a:t>
            </a:r>
            <a:r>
              <a:rPr lang="en-US" sz="1300" dirty="0" err="1"/>
              <a:t>v_emps</a:t>
            </a:r>
            <a:r>
              <a:rPr lang="en-US" sz="1300" dirty="0"/>
              <a:t> </a:t>
            </a:r>
            <a:r>
              <a:rPr lang="en-US" sz="1300" b="1" dirty="0"/>
              <a:t>LIMIT 500</a:t>
            </a:r>
            <a:r>
              <a:rPr lang="en-US" sz="1300" dirty="0"/>
              <a:t>;</a:t>
            </a:r>
          </a:p>
          <a:p>
            <a:r>
              <a:rPr lang="en-US" sz="1300" dirty="0"/>
              <a:t>        EXIT WHEN </a:t>
            </a:r>
            <a:r>
              <a:rPr lang="en-US" sz="1300" dirty="0" err="1"/>
              <a:t>v_emps.COUNT</a:t>
            </a:r>
            <a:r>
              <a:rPr lang="en-US" sz="1300" dirty="0"/>
              <a:t> = 0;</a:t>
            </a:r>
          </a:p>
          <a:p>
            <a:endParaRPr lang="en-US" sz="1300" dirty="0"/>
          </a:p>
          <a:p>
            <a:r>
              <a:rPr lang="en-US" sz="1300" dirty="0"/>
              <a:t>        FORALL </a:t>
            </a:r>
            <a:r>
              <a:rPr lang="en-US" sz="1300" dirty="0" err="1"/>
              <a:t>i</a:t>
            </a:r>
            <a:r>
              <a:rPr lang="en-US" sz="1300" dirty="0"/>
              <a:t> IN 1..v_emps.COUNT</a:t>
            </a:r>
          </a:p>
          <a:p>
            <a:r>
              <a:rPr lang="en-US" sz="1300" dirty="0"/>
              <a:t>            UPDATE employees</a:t>
            </a:r>
          </a:p>
          <a:p>
            <a:r>
              <a:rPr lang="en-US" sz="1300" dirty="0"/>
              <a:t>            SET salary = salary * 1.05</a:t>
            </a:r>
          </a:p>
          <a:p>
            <a:r>
              <a:rPr lang="en-US" sz="1300" dirty="0"/>
              <a:t>            WHERE </a:t>
            </a:r>
            <a:r>
              <a:rPr lang="en-US" sz="1300" dirty="0" err="1"/>
              <a:t>employee_id</a:t>
            </a:r>
            <a:r>
              <a:rPr lang="en-US" sz="1300" dirty="0"/>
              <a:t> = </a:t>
            </a:r>
            <a:r>
              <a:rPr lang="en-US" sz="1300" dirty="0" err="1"/>
              <a:t>v_emps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).</a:t>
            </a:r>
            <a:r>
              <a:rPr lang="en-US" sz="1300" dirty="0" err="1"/>
              <a:t>employee_id</a:t>
            </a:r>
            <a:r>
              <a:rPr lang="en-US" sz="1300" dirty="0"/>
              <a:t>;</a:t>
            </a:r>
          </a:p>
          <a:p>
            <a:r>
              <a:rPr lang="en-US" sz="1300" dirty="0"/>
              <a:t>    END LOOP;</a:t>
            </a:r>
          </a:p>
          <a:p>
            <a:r>
              <a:rPr lang="en-US" sz="1300" dirty="0"/>
              <a:t>    COMMIT;</a:t>
            </a:r>
          </a:p>
          <a:p>
            <a:r>
              <a:rPr lang="en-US" sz="1300" dirty="0"/>
              <a:t>END;</a:t>
            </a:r>
          </a:p>
          <a:p>
            <a:r>
              <a:rPr lang="en-US" sz="1300" dirty="0"/>
              <a:t>/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16FA9814-0B59-E159-3F72-544E619775A5}"/>
              </a:ext>
            </a:extLst>
          </p:cNvPr>
          <p:cNvSpPr txBox="1">
            <a:spLocks/>
          </p:cNvSpPr>
          <p:nvPr/>
        </p:nvSpPr>
        <p:spPr>
          <a:xfrm>
            <a:off x="4716018" y="1306682"/>
            <a:ext cx="4427982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Evita sobrecargar la PGA cuando el conjunto de datos es grande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5755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469B-DA03-CAAD-D318-9D972C6C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64EF794-BDA2-B402-9593-98AD25BEE3E5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321AD07-2554-94CE-E170-E4653860B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Diseño modular y reutilizable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D912C25-A69B-018D-F85D-8AA1D2D8D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F7F372D-9FD2-4F1C-B462-F76A7F250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54AD025-62EC-AE32-F097-E03CD0BCED62}"/>
              </a:ext>
            </a:extLst>
          </p:cNvPr>
          <p:cNvSpPr txBox="1"/>
          <p:nvPr/>
        </p:nvSpPr>
        <p:spPr>
          <a:xfrm>
            <a:off x="261636" y="1306682"/>
            <a:ext cx="3709854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PACKAGE </a:t>
            </a:r>
            <a:r>
              <a:rPr lang="en-US" sz="1300" dirty="0" err="1"/>
              <a:t>payroll_pkg</a:t>
            </a:r>
            <a:r>
              <a:rPr lang="en-US" sz="1300" dirty="0"/>
              <a:t> AS</a:t>
            </a:r>
          </a:p>
          <a:p>
            <a:r>
              <a:rPr lang="en-US" sz="1300" dirty="0"/>
              <a:t>    PROCEDURE </a:t>
            </a:r>
            <a:r>
              <a:rPr lang="en-US" sz="1300" dirty="0" err="1"/>
              <a:t>adjust_salary</a:t>
            </a:r>
            <a:r>
              <a:rPr lang="en-US" sz="1300" dirty="0"/>
              <a:t>(</a:t>
            </a:r>
            <a:r>
              <a:rPr lang="en-US" sz="1300" dirty="0" err="1"/>
              <a:t>p_emp_id</a:t>
            </a:r>
            <a:r>
              <a:rPr lang="en-US" sz="1300" dirty="0"/>
              <a:t> NUMBER, </a:t>
            </a:r>
            <a:r>
              <a:rPr lang="en-US" sz="1300" dirty="0" err="1"/>
              <a:t>p_factor</a:t>
            </a:r>
            <a:r>
              <a:rPr lang="en-US" sz="1300" dirty="0"/>
              <a:t> NUMBER);</a:t>
            </a:r>
          </a:p>
          <a:p>
            <a:r>
              <a:rPr lang="en-US" sz="1300" dirty="0"/>
              <a:t>END </a:t>
            </a:r>
            <a:r>
              <a:rPr lang="en-US" sz="1300" dirty="0" err="1"/>
              <a:t>payroll_pkg</a:t>
            </a:r>
            <a:r>
              <a:rPr lang="en-US" sz="1300" dirty="0"/>
              <a:t>;</a:t>
            </a:r>
          </a:p>
          <a:p>
            <a:r>
              <a:rPr lang="en-US" sz="1300" dirty="0"/>
              <a:t>/</a:t>
            </a:r>
          </a:p>
          <a:p>
            <a:endParaRPr lang="en-US" sz="1300" dirty="0"/>
          </a:p>
          <a:p>
            <a:r>
              <a:rPr lang="en-US" sz="1300" dirty="0"/>
              <a:t>CREATE OR REPLACE PACKAGE BODY </a:t>
            </a:r>
            <a:r>
              <a:rPr lang="en-US" sz="1300" dirty="0" err="1"/>
              <a:t>payroll_pkg</a:t>
            </a:r>
            <a:r>
              <a:rPr lang="en-US" sz="1300" dirty="0"/>
              <a:t> AS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g_company_factor</a:t>
            </a:r>
            <a:r>
              <a:rPr lang="en-US" sz="1300" dirty="0"/>
              <a:t> CONSTANT NUMBER := 1.02; </a:t>
            </a:r>
          </a:p>
          <a:p>
            <a:endParaRPr lang="en-US" sz="1300" dirty="0"/>
          </a:p>
          <a:p>
            <a:r>
              <a:rPr lang="en-US" sz="1300" dirty="0"/>
              <a:t>    PROCEDURE </a:t>
            </a:r>
            <a:r>
              <a:rPr lang="en-US" sz="1300" dirty="0" err="1"/>
              <a:t>adjust_salary</a:t>
            </a:r>
            <a:r>
              <a:rPr lang="en-US" sz="1300" dirty="0"/>
              <a:t>(</a:t>
            </a:r>
            <a:r>
              <a:rPr lang="en-US" sz="1300" dirty="0" err="1"/>
              <a:t>p_emp_id</a:t>
            </a:r>
            <a:r>
              <a:rPr lang="en-US" sz="1300" dirty="0"/>
              <a:t> NUMBER, </a:t>
            </a:r>
            <a:r>
              <a:rPr lang="en-US" sz="1300" dirty="0" err="1"/>
              <a:t>p_factor</a:t>
            </a:r>
            <a:r>
              <a:rPr lang="en-US" sz="1300" dirty="0"/>
              <a:t> NUMBER) IS</a:t>
            </a:r>
          </a:p>
          <a:p>
            <a:r>
              <a:rPr lang="en-US" sz="1300" dirty="0"/>
              <a:t>    BEGIN</a:t>
            </a:r>
          </a:p>
          <a:p>
            <a:r>
              <a:rPr lang="en-US" sz="1300" dirty="0"/>
              <a:t>    &lt;</a:t>
            </a:r>
            <a:r>
              <a:rPr lang="en-US" sz="1300" dirty="0" err="1"/>
              <a:t>codigo</a:t>
            </a:r>
            <a:r>
              <a:rPr lang="en-US" sz="1300" dirty="0"/>
              <a:t>&gt;</a:t>
            </a:r>
          </a:p>
          <a:p>
            <a:r>
              <a:rPr lang="en-US" sz="1300" dirty="0"/>
              <a:t>    END;</a:t>
            </a:r>
          </a:p>
          <a:p>
            <a:r>
              <a:rPr lang="en-US" sz="1300" dirty="0"/>
              <a:t>END </a:t>
            </a:r>
            <a:r>
              <a:rPr lang="en-US" sz="1300" dirty="0" err="1"/>
              <a:t>payroll_pkg</a:t>
            </a:r>
            <a:r>
              <a:rPr lang="en-US" sz="1300" dirty="0"/>
              <a:t>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21C7694E-7F14-E885-EB80-4753E9809BC8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El diseño modular es clave en proyectos corporativos.</a:t>
            </a:r>
            <a:br>
              <a:rPr lang="es-ES" sz="1800" dirty="0"/>
            </a:br>
            <a:r>
              <a:rPr lang="es-ES" sz="1800" dirty="0"/>
              <a:t>Los </a:t>
            </a:r>
            <a:r>
              <a:rPr lang="es-ES" sz="1800" b="1" dirty="0"/>
              <a:t>paquetes</a:t>
            </a:r>
            <a:r>
              <a:rPr lang="es-ES" sz="1800" dirty="0"/>
              <a:t> permiten agrupar constantes, cursores, tipos y funciones relacionadas en una unidad lógica.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dirty="0"/>
              <a:t>Expón solo lo necesario en la especificación (PACKAGE), oculta los detalles en el cuerpo (PACKAGE BODY).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dirty="0"/>
              <a:t>Usa constantes para mantener la coherencia de configuración.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dirty="0"/>
              <a:t>Centraliza lógica de negocio en paquetes reutilizables.</a:t>
            </a:r>
          </a:p>
        </p:txBody>
      </p:sp>
    </p:spTree>
    <p:extLst>
      <p:ext uri="{BB962C8B-B14F-4D97-AF65-F5344CB8AC3E}">
        <p14:creationId xmlns:p14="http://schemas.microsoft.com/office/powerpoint/2010/main" val="3461701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523F-3C0A-3A9F-3B23-307E7643E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DD23A4E-8B1D-3D86-AA09-354491040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Diseño modular y reutilizable - BLOQUES</a:t>
            </a:r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C85E66B-FF2F-AEA7-46BD-60113285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FCE9130E-4440-8939-CCBD-8916F0C00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8546D692-EFF9-3FCD-3881-0664A1DCED03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600" dirty="0"/>
              <a:t>Bloque de Código: Unidad básica que contiene declaraciones, lógica y manejo de errores.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Ámbito (</a:t>
            </a:r>
            <a:r>
              <a:rPr lang="es-ES" sz="1600" dirty="0" err="1"/>
              <a:t>Scope</a:t>
            </a:r>
            <a:r>
              <a:rPr lang="es-ES" sz="1600" dirty="0"/>
              <a:t>):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Las variables existen solo en su bloque declarativo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Los bloques internos pueden acceder a variables de bloques externos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Los bloques externos NO pueden acceder a variables de bloques internos</a:t>
            </a:r>
          </a:p>
          <a:p>
            <a:pPr lvl="1"/>
            <a:endParaRPr lang="es-ES" sz="1600" dirty="0"/>
          </a:p>
          <a:p>
            <a:pPr lvl="1"/>
            <a:r>
              <a:rPr lang="es-ES" sz="1600" b="1" dirty="0"/>
              <a:t>Bloques Anidados: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Permiten organizar código complejo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Aíslan el manejo de errores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Controlan el ciclo de vida de variables temporales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Mejoran la legibilidad y mantenibilidad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lvl="1"/>
            <a:r>
              <a:rPr lang="es-ES" sz="1600" b="1" dirty="0"/>
              <a:t>Tipos de Bloques: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Anónimos: Se ejecutan una vez y no se almacenan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Nombrados: Procedimientos, funciones, paquetes (se almacenan en la BD)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Los bloques anidados son una herramienta poderosa para escribir código PL/SQL más organizado, mantenible y robusto.</a:t>
            </a:r>
          </a:p>
        </p:txBody>
      </p:sp>
    </p:spTree>
    <p:extLst>
      <p:ext uri="{BB962C8B-B14F-4D97-AF65-F5344CB8AC3E}">
        <p14:creationId xmlns:p14="http://schemas.microsoft.com/office/powerpoint/2010/main" val="1044522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65252-8D84-730A-1A19-4361BD24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1DE15C0-8C31-A8B4-0DC6-ACEFA7D8C579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B6809E0-F815-EE3D-5413-C41B1CFB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Diseño modular y reutilizable - BLOQUES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F4F9EA43-E565-67D4-EDCA-2E3954A8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3A9F3CE-F9A0-9F81-1373-4C74435D3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027DA4-F7BA-BE89-471B-AC5FC76CA390}"/>
              </a:ext>
            </a:extLst>
          </p:cNvPr>
          <p:cNvSpPr txBox="1"/>
          <p:nvPr/>
        </p:nvSpPr>
        <p:spPr>
          <a:xfrm>
            <a:off x="261636" y="1306682"/>
            <a:ext cx="370985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[DECLARE]</a:t>
            </a:r>
          </a:p>
          <a:p>
            <a:r>
              <a:rPr lang="es-ES" sz="1300" dirty="0"/>
              <a:t>    -- Declaraciones de variables, constantes, cursores, etc.</a:t>
            </a:r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-- Sentencias ejecutables (lógica principal)</a:t>
            </a:r>
          </a:p>
          <a:p>
            <a:r>
              <a:rPr lang="es-ES" sz="1300" dirty="0"/>
              <a:t>[EXCEPTION]</a:t>
            </a:r>
          </a:p>
          <a:p>
            <a:r>
              <a:rPr lang="es-ES" sz="1300" dirty="0"/>
              <a:t>    -- Manejo de excepciones</a:t>
            </a:r>
          </a:p>
          <a:p>
            <a:r>
              <a:rPr lang="es-E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4CEEFFAB-381E-9877-12F0-B33DEAAA4059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800" dirty="0"/>
              <a:t>Ámbito (</a:t>
            </a:r>
            <a:r>
              <a:rPr lang="es-ES" sz="1800" dirty="0" err="1"/>
              <a:t>Scope</a:t>
            </a:r>
            <a:r>
              <a:rPr lang="es-ES" sz="1800" dirty="0"/>
              <a:t>) en PL/SQL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El ámbito se refiere a la visibilidad y accesibilidad de variables, constantes y otros identificadores dentro de un bloque.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800" dirty="0"/>
          </a:p>
          <a:p>
            <a:pPr lvl="1"/>
            <a:r>
              <a:rPr lang="es-ES" sz="1800" dirty="0"/>
              <a:t>Reglas de Ámbito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Las variables declaradas en un bloque son locales a ese bloque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Pueden ser accedidas por bloques internos (anidados)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No pueden ser accedidas por bloques externos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Variables con el mismo nombre en diferentes bloques pueden coexistir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02033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6375-7E08-6B83-048D-0C027FAA1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56C45CB-52F4-F2E3-D0AA-E0F07F86BBAC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A6B468A-62C9-8D8E-DBB9-D62045703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Diseño modular y reutilizable - BLOQUES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EF79489-C2DE-62CB-FFFF-D4651AF0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B2F6CCB-6B31-F3F7-2EB1-7FA20B1F06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3AD0DB-08EB-9D9C-404C-29603174D125}"/>
              </a:ext>
            </a:extLst>
          </p:cNvPr>
          <p:cNvSpPr txBox="1"/>
          <p:nvPr/>
        </p:nvSpPr>
        <p:spPr>
          <a:xfrm>
            <a:off x="261636" y="1306682"/>
            <a:ext cx="37098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b="1" dirty="0">
                <a:solidFill>
                  <a:srgbClr val="FF0000"/>
                </a:solidFill>
              </a:rPr>
              <a:t>BEGIN</a:t>
            </a:r>
          </a:p>
          <a:p>
            <a:r>
              <a:rPr lang="es-ES" sz="1300" dirty="0"/>
              <a:t>  DBMS_OUTPUT.PUT_LINE('Bloque EXTERNO');</a:t>
            </a:r>
          </a:p>
          <a:p>
            <a:r>
              <a:rPr lang="es-ES" sz="1300" dirty="0"/>
              <a:t>  </a:t>
            </a:r>
            <a:r>
              <a:rPr lang="es-ES" sz="1300" b="1" dirty="0">
                <a:solidFill>
                  <a:schemeClr val="tx2"/>
                </a:solidFill>
              </a:rPr>
              <a:t>DECLARE</a:t>
            </a:r>
          </a:p>
          <a:p>
            <a:r>
              <a:rPr lang="es-ES" sz="1300" dirty="0"/>
              <a:t>    x NUMBER := 10;</a:t>
            </a:r>
          </a:p>
          <a:p>
            <a:r>
              <a:rPr lang="es-ES" sz="1300" dirty="0"/>
              <a:t>  </a:t>
            </a:r>
            <a:r>
              <a:rPr lang="es-ES" sz="1300" b="1" dirty="0">
                <a:solidFill>
                  <a:schemeClr val="tx2"/>
                </a:solidFill>
              </a:rPr>
              <a:t>BEGIN</a:t>
            </a:r>
          </a:p>
          <a:p>
            <a:r>
              <a:rPr lang="es-ES" sz="1300" dirty="0"/>
              <a:t>    DBMS_OUTPUT.PUT_LINE('Bloque INTERNO');</a:t>
            </a:r>
          </a:p>
          <a:p>
            <a:r>
              <a:rPr lang="es-ES" sz="1300" dirty="0"/>
              <a:t>    DBMS_OUTPUT.PUT_LINE('Valor de x: ' || x);</a:t>
            </a:r>
          </a:p>
          <a:p>
            <a:r>
              <a:rPr lang="es-ES" sz="1300" dirty="0"/>
              <a:t>  </a:t>
            </a:r>
            <a:r>
              <a:rPr lang="es-ES" sz="1300" b="1" dirty="0">
                <a:solidFill>
                  <a:schemeClr val="tx2"/>
                </a:solidFill>
              </a:rPr>
              <a:t>END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s-ES" sz="1300" b="1" dirty="0">
                <a:solidFill>
                  <a:schemeClr val="accent3">
                    <a:lumMod val="50000"/>
                  </a:schemeClr>
                </a:solidFill>
              </a:rPr>
              <a:t>  DECLARE</a:t>
            </a:r>
          </a:p>
          <a:p>
            <a:r>
              <a:rPr lang="es-ES" sz="1300" dirty="0"/>
              <a:t>    x VARCHAR2(4) := ’hola’;</a:t>
            </a:r>
          </a:p>
          <a:p>
            <a:r>
              <a:rPr lang="es-ES" sz="1300" dirty="0"/>
              <a:t>  </a:t>
            </a:r>
            <a:r>
              <a:rPr lang="es-ES" sz="1300" b="1" dirty="0">
                <a:solidFill>
                  <a:schemeClr val="accent3">
                    <a:lumMod val="50000"/>
                  </a:schemeClr>
                </a:solidFill>
              </a:rPr>
              <a:t>BEGIN</a:t>
            </a:r>
          </a:p>
          <a:p>
            <a:r>
              <a:rPr lang="es-ES" sz="1300" dirty="0"/>
              <a:t>    DBMS_OUTPUT.PUT_LINE('Bloque INTERNO 2');</a:t>
            </a:r>
          </a:p>
          <a:p>
            <a:r>
              <a:rPr lang="es-ES" sz="1300" dirty="0"/>
              <a:t>    DBMS_OUTPUT.PUT_LINE('Valor de x: ' || x);</a:t>
            </a:r>
          </a:p>
          <a:p>
            <a:r>
              <a:rPr lang="es-ES" sz="1300" dirty="0"/>
              <a:t>  </a:t>
            </a:r>
            <a:r>
              <a:rPr lang="es-ES" sz="1300" b="1" dirty="0">
                <a:solidFill>
                  <a:schemeClr val="accent3">
                    <a:lumMod val="50000"/>
                  </a:schemeClr>
                </a:solidFill>
              </a:rPr>
              <a:t>END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s-ES" sz="1300" b="1" dirty="0">
                <a:solidFill>
                  <a:srgbClr val="FF0000"/>
                </a:solidFill>
              </a:rPr>
              <a:t>END</a:t>
            </a:r>
            <a:r>
              <a:rPr lang="es-ES" sz="1300" dirty="0">
                <a:solidFill>
                  <a:srgbClr val="FF0000"/>
                </a:solidFill>
              </a:rPr>
              <a:t>;</a:t>
            </a:r>
          </a:p>
          <a:p>
            <a:r>
              <a:rPr lang="es-ES" sz="1300" dirty="0"/>
              <a:t>/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FD21240C-CB03-FBA4-D981-368EF225494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800" dirty="0"/>
              <a:t>Ámbito (</a:t>
            </a:r>
            <a:r>
              <a:rPr lang="es-ES" sz="1800" dirty="0" err="1"/>
              <a:t>Scope</a:t>
            </a:r>
            <a:r>
              <a:rPr lang="es-ES" sz="1800" dirty="0"/>
              <a:t>) en PL/SQL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La variable x </a:t>
            </a:r>
            <a:r>
              <a:rPr lang="es-ES" sz="1800" dirty="0" err="1"/>
              <a:t>Number</a:t>
            </a:r>
            <a:r>
              <a:rPr lang="es-ES" sz="1800" dirty="0"/>
              <a:t> no está accesible en el bloque externo.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Podemos anidar varios niveles o crear tantos bloques como necesitemos.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Esta característica se puede utilizar para optimizar el uso de memoria. ¿Como?</a:t>
            </a:r>
          </a:p>
        </p:txBody>
      </p:sp>
    </p:spTree>
    <p:extLst>
      <p:ext uri="{BB962C8B-B14F-4D97-AF65-F5344CB8AC3E}">
        <p14:creationId xmlns:p14="http://schemas.microsoft.com/office/powerpoint/2010/main" val="180277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2B82B-2B78-1451-E935-3C5DBB55B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1C02F46-63E9-6DF6-CA81-8EB5A98BABFB}"/>
              </a:ext>
            </a:extLst>
          </p:cNvPr>
          <p:cNvSpPr/>
          <p:nvPr/>
        </p:nvSpPr>
        <p:spPr>
          <a:xfrm>
            <a:off x="261636" y="1275606"/>
            <a:ext cx="474241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47C609E-92C7-730C-F69E-8FB22AD4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Diseño modular y reutilizable - BLOQUES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5FB8A19-CB6A-DE56-8AD7-101BC139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6E01B2A-BC3C-5D80-18A3-CCF545B26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F6F288-218B-D1B5-1C22-936B9AE59195}"/>
              </a:ext>
            </a:extLst>
          </p:cNvPr>
          <p:cNvSpPr txBox="1"/>
          <p:nvPr/>
        </p:nvSpPr>
        <p:spPr>
          <a:xfrm>
            <a:off x="261636" y="1306682"/>
            <a:ext cx="4742412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b="1" dirty="0">
                <a:solidFill>
                  <a:schemeClr val="tx2"/>
                </a:solidFill>
              </a:rPr>
              <a:t>BEGIN</a:t>
            </a:r>
            <a:r>
              <a:rPr lang="es-ES" sz="1300" dirty="0"/>
              <a:t> -- Bloque principal</a:t>
            </a:r>
          </a:p>
          <a:p>
            <a:r>
              <a:rPr lang="es-ES" sz="1300" dirty="0"/>
              <a:t>DBMS_OUTPUT.PUT_LINE('Iniciando procesamiento...’);</a:t>
            </a:r>
          </a:p>
          <a:p>
            <a:r>
              <a:rPr lang="es-ES" sz="1300" dirty="0"/>
              <a:t>    </a:t>
            </a:r>
            <a:r>
              <a:rPr lang="es-ES" sz="1300" b="1" dirty="0">
                <a:solidFill>
                  <a:schemeClr val="accent2"/>
                </a:solidFill>
              </a:rPr>
              <a:t>DECLARE</a:t>
            </a:r>
            <a:r>
              <a:rPr lang="es-ES" sz="1300" dirty="0"/>
              <a:t> -- Bloque para procesamiento intensivo</a:t>
            </a:r>
          </a:p>
          <a:p>
            <a:r>
              <a:rPr lang="es-ES" sz="1300" dirty="0"/>
              <a:t>        TYPE </a:t>
            </a:r>
            <a:r>
              <a:rPr lang="es-ES" sz="1300" dirty="0" err="1"/>
              <a:t>t_numeros</a:t>
            </a:r>
            <a:r>
              <a:rPr lang="es-ES" sz="1300" dirty="0"/>
              <a:t> IS TABLE OF NUMBER;</a:t>
            </a:r>
          </a:p>
          <a:p>
            <a:r>
              <a:rPr lang="es-ES" sz="1300" dirty="0"/>
              <a:t>        </a:t>
            </a:r>
            <a:r>
              <a:rPr lang="es-ES" sz="1300" dirty="0" err="1"/>
              <a:t>v_array</a:t>
            </a:r>
            <a:r>
              <a:rPr lang="es-ES" sz="1300" dirty="0"/>
              <a:t> </a:t>
            </a:r>
            <a:r>
              <a:rPr lang="es-ES" sz="1300" dirty="0" err="1"/>
              <a:t>t_numeros</a:t>
            </a:r>
            <a:r>
              <a:rPr lang="es-ES" sz="1300" dirty="0"/>
              <a:t> := </a:t>
            </a:r>
            <a:r>
              <a:rPr lang="es-ES" sz="1300" dirty="0" err="1"/>
              <a:t>t_numeros</a:t>
            </a:r>
            <a:r>
              <a:rPr lang="es-ES" sz="1300" dirty="0"/>
              <a:t>(1,2,3,4,5,6,7,8,9,10);</a:t>
            </a:r>
          </a:p>
          <a:p>
            <a:r>
              <a:rPr lang="es-ES" sz="1300" dirty="0"/>
              <a:t>        </a:t>
            </a:r>
            <a:r>
              <a:rPr lang="es-ES" sz="1300" dirty="0" err="1"/>
              <a:t>v_suma</a:t>
            </a:r>
            <a:r>
              <a:rPr lang="es-ES" sz="1300" dirty="0"/>
              <a:t> NUMBER := 0;</a:t>
            </a:r>
          </a:p>
          <a:p>
            <a:r>
              <a:rPr lang="es-ES" sz="1300" dirty="0"/>
              <a:t>    </a:t>
            </a:r>
            <a:r>
              <a:rPr lang="es-ES" sz="1300" b="1" dirty="0">
                <a:solidFill>
                  <a:schemeClr val="accent2"/>
                </a:solidFill>
              </a:rPr>
              <a:t>BEGIN</a:t>
            </a:r>
          </a:p>
          <a:p>
            <a:r>
              <a:rPr lang="es-ES" sz="1300" dirty="0"/>
              <a:t>        FOR i IN 1..v_array.COUNT LOOP</a:t>
            </a:r>
          </a:p>
          <a:p>
            <a:r>
              <a:rPr lang="es-ES" sz="1300" dirty="0"/>
              <a:t>            </a:t>
            </a:r>
            <a:r>
              <a:rPr lang="es-ES" sz="1300" dirty="0" err="1"/>
              <a:t>v_suma</a:t>
            </a:r>
            <a:r>
              <a:rPr lang="es-ES" sz="1300" dirty="0"/>
              <a:t> := </a:t>
            </a:r>
            <a:r>
              <a:rPr lang="es-ES" sz="1300" dirty="0" err="1"/>
              <a:t>v_suma</a:t>
            </a:r>
            <a:r>
              <a:rPr lang="es-ES" sz="1300" dirty="0"/>
              <a:t> + </a:t>
            </a:r>
            <a:r>
              <a:rPr lang="es-ES" sz="1300" dirty="0" err="1"/>
              <a:t>v_array</a:t>
            </a:r>
            <a:r>
              <a:rPr lang="es-ES" sz="1300" dirty="0"/>
              <a:t>(i);</a:t>
            </a:r>
          </a:p>
          <a:p>
            <a:r>
              <a:rPr lang="es-ES" sz="1300" dirty="0"/>
              <a:t>        END LOOP;</a:t>
            </a:r>
          </a:p>
          <a:p>
            <a:r>
              <a:rPr lang="es-ES" sz="1300" dirty="0"/>
              <a:t>        DBMS_OUTPUT.PUT_LINE('Suma del array: ' || </a:t>
            </a:r>
            <a:r>
              <a:rPr lang="es-ES" sz="1300" dirty="0" err="1"/>
              <a:t>v_suma</a:t>
            </a:r>
            <a:r>
              <a:rPr lang="es-ES" sz="1300" dirty="0"/>
              <a:t>);</a:t>
            </a:r>
          </a:p>
          <a:p>
            <a:r>
              <a:rPr lang="es-ES" sz="1300" b="1" dirty="0"/>
              <a:t>        -- El array se libera automáticamente al salir del bloque</a:t>
            </a:r>
          </a:p>
          <a:p>
            <a:r>
              <a:rPr lang="es-ES" sz="1300" dirty="0">
                <a:solidFill>
                  <a:schemeClr val="accent2"/>
                </a:solidFill>
              </a:rPr>
              <a:t>    </a:t>
            </a:r>
            <a:r>
              <a:rPr lang="es-ES" sz="1300" b="1" dirty="0">
                <a:solidFill>
                  <a:schemeClr val="accent2"/>
                </a:solidFill>
              </a:rPr>
              <a:t>END</a:t>
            </a:r>
            <a:r>
              <a:rPr lang="es-ES" sz="1300" dirty="0">
                <a:solidFill>
                  <a:schemeClr val="accent2"/>
                </a:solidFill>
              </a:rPr>
              <a:t>;</a:t>
            </a:r>
          </a:p>
          <a:p>
            <a:r>
              <a:rPr lang="es-ES" sz="1300" dirty="0"/>
              <a:t>   </a:t>
            </a:r>
          </a:p>
          <a:p>
            <a:r>
              <a:rPr lang="es-ES" sz="1300" dirty="0"/>
              <a:t>    -- Más procesamiento aquí...</a:t>
            </a:r>
          </a:p>
          <a:p>
            <a:r>
              <a:rPr lang="es-ES" sz="1300" dirty="0"/>
              <a:t>    DBMS_OUTPUT.PUT_LINE('Procesamiento completado');</a:t>
            </a:r>
          </a:p>
          <a:p>
            <a:r>
              <a:rPr lang="es-ES" sz="1300" b="1" dirty="0">
                <a:solidFill>
                  <a:schemeClr val="tx2"/>
                </a:solidFill>
              </a:rPr>
              <a:t>END;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CE4ACE14-17AE-198C-7804-D5969E4E97CC}"/>
              </a:ext>
            </a:extLst>
          </p:cNvPr>
          <p:cNvSpPr txBox="1">
            <a:spLocks/>
          </p:cNvSpPr>
          <p:nvPr/>
        </p:nvSpPr>
        <p:spPr>
          <a:xfrm>
            <a:off x="5148064" y="1306682"/>
            <a:ext cx="3995936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800" dirty="0"/>
              <a:t>El Ámbito es utilizado para la optimización</a:t>
            </a:r>
          </a:p>
          <a:p>
            <a:pPr lvl="1"/>
            <a:r>
              <a:rPr lang="es-ES" sz="1800" dirty="0"/>
              <a:t>La variable </a:t>
            </a:r>
            <a:r>
              <a:rPr lang="es-ES" sz="1800" dirty="0" err="1"/>
              <a:t>v_array</a:t>
            </a:r>
            <a:r>
              <a:rPr lang="es-ES" sz="1800" dirty="0"/>
              <a:t> no está accesible en el bloque externo. Y Oracle puede liberarla</a:t>
            </a:r>
          </a:p>
          <a:p>
            <a:pPr lvl="1"/>
            <a:r>
              <a:rPr lang="es-ES" sz="1800" dirty="0"/>
              <a:t>Al salir del bloque Rojo, las variables se liberan.</a:t>
            </a:r>
          </a:p>
          <a:p>
            <a:pPr lvl="1"/>
            <a:r>
              <a:rPr lang="es-ES" sz="1800" dirty="0"/>
              <a:t>¿Tenemos variables en nuestro código accesibles que no utilizamos?</a:t>
            </a:r>
          </a:p>
          <a:p>
            <a:pPr lvl="1"/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992756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CDEAB-E903-F2E7-2F08-E895B827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1B33200-E421-7846-B6BA-A39FC725F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Tipos de Excepciones en PL/SQL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D0C3F3B-A235-FEDB-7066-DABA9ECF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741EEAB-6F33-4A23-30C9-758E3984F8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D52CC3F-F20E-C05C-54AB-C927361A531F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600" dirty="0"/>
              <a:t>Las excepciones en PL/SQL son eventos anormales que ocurren durante la ejecución de un programa y que interrumpen el flujo normal de las operaciones. Cuando se produce una excepción, el control se transfiere inmediatamente a la sección de manejo de excepciones del bloque, donde se puede definir el comportamiento adecuado para recuperarse del error o notificarlo apropiadamente.</a:t>
            </a:r>
          </a:p>
          <a:p>
            <a:pPr lvl="1"/>
            <a:r>
              <a:rPr lang="es-ES" sz="1600" dirty="0"/>
              <a:t>Propósitos principales de las excepciones: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Mejorar la robustez y confiabilidad del código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b="1" dirty="0"/>
              <a:t>Separar la lógica de negocio del manejo de errores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Proporcionar información significativa sobre los errores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Permitir una recuperación controlada de situaciones excepcionales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lvl="1"/>
            <a:r>
              <a:rPr lang="es-ES" sz="1600" dirty="0"/>
              <a:t>No es recomendable usar excepciones para definir lógica de negocio. </a:t>
            </a:r>
          </a:p>
          <a:p>
            <a:pPr lvl="1"/>
            <a:r>
              <a:rPr lang="es-ES" sz="1600" dirty="0"/>
              <a:t>NO_DATA_FOUND y TOO_MANY_ROWS, No son para ver si no hay datos, o ver si ya teníamos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022377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39B4-603B-2114-A024-F3B55992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D35C731-2AC6-5E97-0D4D-3F6CA4104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Tipos de Excepciones en PL/SQL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5B59497-6F1C-AE47-CF3B-F6F0D4D5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5A6C2AA-3B7A-F22D-D849-88E4A8CA1E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C227F299-F413-C2E4-1674-818F64D000B5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b="1" dirty="0"/>
              <a:t>Excepciones Predefinidas por Oracle</a:t>
            </a:r>
            <a:r>
              <a:rPr lang="es-ES" dirty="0"/>
              <a:t>. Errores estándar de Oracle que ocurren frecuentemente en operaciones de base de datos.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b="1" dirty="0"/>
              <a:t>Excepciones No Predefinidas por Oracle</a:t>
            </a:r>
            <a:r>
              <a:rPr lang="es-ES" dirty="0"/>
              <a:t>. Errores estándar de Oracle que NO tienen nombres preasignados. PRAGMA EXCEPTION_INIT.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b="1" dirty="0"/>
              <a:t>Excepciones Definidas por el Usuario. A</a:t>
            </a:r>
            <a:r>
              <a:rPr lang="es-ES" dirty="0"/>
              <a:t>quellas que el programador crea para manejar situaciones de error específicas de la lógica de negocio. A diferencia de las anteriores, estas no están relacionadas con errores de la base de datos, sino con violaciones de reglas de negocio.</a:t>
            </a:r>
            <a:endParaRPr lang="es-ES" b="1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lvl="1"/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705310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F7CB-B91C-EC1E-F631-E62AA46B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6DB5B7C-6B97-76AF-3A14-15E0D2B8A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Excepciones predefinidas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22A8C90-1165-2954-8094-818AE9D1F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9B2D138-3E93-DB4C-A408-2E2D78929B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98E857D-56D8-574A-1AC9-46E66208019C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600" dirty="0"/>
              <a:t>Las excepciones predefinidas son errores estándar de Oracle que ocurren frecuentemente en operaciones de base de datos. Oracle ha asignado nombres específicos a estos errores comunes, lo que facilita su identificación y manejo.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Características principales: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Tienen nombres mnemotécnicos asignados por Oracle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Corresponden a errores comunes de la base de datos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necesitan ser declaradas explícitamente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Se manejan directamente en la sección EXCEPTION</a:t>
            </a:r>
          </a:p>
        </p:txBody>
      </p:sp>
    </p:spTree>
    <p:extLst>
      <p:ext uri="{BB962C8B-B14F-4D97-AF65-F5344CB8AC3E}">
        <p14:creationId xmlns:p14="http://schemas.microsoft.com/office/powerpoint/2010/main" val="2286585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1141-D577-ACF1-6D84-C09302DD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B003DDA-B3D8-3BDA-B541-2FAA6508A003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80D24AA-A208-7C61-2458-E4B6E92A1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Excepciones predefinidas - NO_DATA_FOUND 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FC210E2-912C-C508-AF93-490E2098E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32ED060-36E1-2F8D-2C93-5FB81760E4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6B1A75-3F80-5734-B9FC-7430EE67183D}"/>
              </a:ext>
            </a:extLst>
          </p:cNvPr>
          <p:cNvSpPr txBox="1"/>
          <p:nvPr/>
        </p:nvSpPr>
        <p:spPr>
          <a:xfrm>
            <a:off x="323528" y="1318881"/>
            <a:ext cx="424847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BEGIN</a:t>
            </a:r>
          </a:p>
          <a:p>
            <a:r>
              <a:rPr lang="es-ES" sz="1300" dirty="0"/>
              <a:t>        SELECT * INTO </a:t>
            </a:r>
            <a:r>
              <a:rPr lang="es-ES" sz="1300" dirty="0" err="1"/>
              <a:t>v_empleado</a:t>
            </a:r>
            <a:r>
              <a:rPr lang="es-ES" sz="1300" dirty="0"/>
              <a:t> </a:t>
            </a:r>
          </a:p>
          <a:p>
            <a:r>
              <a:rPr lang="es-ES" sz="1300" dirty="0"/>
              <a:t>        FROM </a:t>
            </a:r>
            <a:r>
              <a:rPr lang="es-ES" sz="1300" dirty="0" err="1"/>
              <a:t>employees</a:t>
            </a:r>
            <a:r>
              <a:rPr lang="es-ES" sz="1300" dirty="0"/>
              <a:t> </a:t>
            </a:r>
          </a:p>
          <a:p>
            <a:r>
              <a:rPr lang="es-ES" sz="1300" dirty="0"/>
              <a:t>        WHERE </a:t>
            </a:r>
            <a:r>
              <a:rPr lang="es-ES" sz="1300" dirty="0" err="1"/>
              <a:t>employee_id</a:t>
            </a:r>
            <a:r>
              <a:rPr lang="es-ES" sz="1300" dirty="0"/>
              <a:t> = -1; -- ID que no existe</a:t>
            </a:r>
          </a:p>
          <a:p>
            <a:r>
              <a:rPr lang="es-ES" sz="1300" dirty="0"/>
              <a:t>    EXCEPTION</a:t>
            </a:r>
          </a:p>
          <a:p>
            <a:r>
              <a:rPr lang="es-ES" sz="1300" dirty="0"/>
              <a:t>        WHEN NO_DATA_FOUND THEN</a:t>
            </a:r>
          </a:p>
          <a:p>
            <a:r>
              <a:rPr lang="es-ES" sz="1300" dirty="0"/>
              <a:t>            DBMS_OUTPUT.PUT_LINE('Error: No se encontró');</a:t>
            </a:r>
          </a:p>
          <a:p>
            <a:r>
              <a:rPr lang="es-ES" sz="1300" dirty="0"/>
              <a:t>            DBMS_OUTPUT.PUT_LINE('Código Oracle: ' || SQLCODE || ', Mensaje: ' || SQLERRM);</a:t>
            </a:r>
          </a:p>
          <a:p>
            <a:r>
              <a:rPr lang="es-ES" sz="1300" dirty="0"/>
              <a:t>   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00F7C4ED-7A43-6165-BA3F-5B75D619B684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Cuando una consulta no encuentra datos.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Un UPDATE nunca genera un NO_DATA_FOUND.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No utilizar para ver si un registro existe.</a:t>
            </a:r>
          </a:p>
          <a:p>
            <a:pPr lvl="1"/>
            <a:endParaRPr lang="es-ES" sz="1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B29C659-2A3D-CB73-597B-059CB7029164}"/>
              </a:ext>
            </a:extLst>
          </p:cNvPr>
          <p:cNvSpPr txBox="1"/>
          <p:nvPr/>
        </p:nvSpPr>
        <p:spPr>
          <a:xfrm>
            <a:off x="6948264" y="4731990"/>
            <a:ext cx="21689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FF6A00"/>
                </a:solidFill>
                <a:latin typeface="-apple-system"/>
              </a:rPr>
              <a:t>sesion3-excepciones-predefinidas</a:t>
            </a:r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.sql</a:t>
            </a:r>
          </a:p>
        </p:txBody>
      </p:sp>
    </p:spTree>
    <p:extLst>
      <p:ext uri="{BB962C8B-B14F-4D97-AF65-F5344CB8AC3E}">
        <p14:creationId xmlns:p14="http://schemas.microsoft.com/office/powerpoint/2010/main" val="2291944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1ADD-BEDC-D760-4DBA-E2219194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F2EB562-6535-D97E-FBEA-AF5C0EDB9872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92BF391-764E-4EE9-B2B8-D51CB98F9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Excepciones predefinidas - Combinar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B53336D-1ACF-995E-03C0-5A739893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63A6FAD-CD94-CFC9-F157-2C6FD6C54F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BAC2C1-5246-3C3F-1065-EB75167DBFD0}"/>
              </a:ext>
            </a:extLst>
          </p:cNvPr>
          <p:cNvSpPr txBox="1"/>
          <p:nvPr/>
        </p:nvSpPr>
        <p:spPr>
          <a:xfrm>
            <a:off x="323528" y="1318881"/>
            <a:ext cx="4248472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b="1" dirty="0"/>
              <a:t>BEGIN</a:t>
            </a:r>
          </a:p>
          <a:p>
            <a:r>
              <a:rPr lang="es-ES" sz="1300" dirty="0"/>
              <a:t>        SELECT * INTO </a:t>
            </a:r>
            <a:r>
              <a:rPr lang="es-ES" sz="1300" dirty="0" err="1"/>
              <a:t>v_empleado</a:t>
            </a:r>
            <a:r>
              <a:rPr lang="es-ES" sz="1300" dirty="0"/>
              <a:t> </a:t>
            </a:r>
          </a:p>
          <a:p>
            <a:r>
              <a:rPr lang="es-ES" sz="1300" dirty="0"/>
              <a:t>        FROM </a:t>
            </a:r>
            <a:r>
              <a:rPr lang="es-ES" sz="1300" dirty="0" err="1"/>
              <a:t>employees</a:t>
            </a:r>
            <a:r>
              <a:rPr lang="es-ES" sz="1300" dirty="0"/>
              <a:t> </a:t>
            </a:r>
          </a:p>
          <a:p>
            <a:r>
              <a:rPr lang="es-ES" sz="1300" dirty="0"/>
              <a:t>        WHERE </a:t>
            </a:r>
            <a:r>
              <a:rPr lang="es-ES" sz="1300" dirty="0" err="1"/>
              <a:t>employee_id</a:t>
            </a:r>
            <a:r>
              <a:rPr lang="es-ES" sz="1300" dirty="0"/>
              <a:t> = -1; -- ID que no existe</a:t>
            </a:r>
          </a:p>
          <a:p>
            <a:r>
              <a:rPr lang="es-ES" sz="1300" b="1" dirty="0"/>
              <a:t>EXCEPTION</a:t>
            </a:r>
          </a:p>
          <a:p>
            <a:r>
              <a:rPr lang="es-ES" sz="1300" b="1" dirty="0"/>
              <a:t>WHEN NO_DATA_FOUND THEN</a:t>
            </a:r>
          </a:p>
          <a:p>
            <a:r>
              <a:rPr lang="es-ES" sz="1300" dirty="0"/>
              <a:t>            DBMS_OUTPUT.PUT_LINE('Error: No se encontró');</a:t>
            </a:r>
          </a:p>
          <a:p>
            <a:r>
              <a:rPr lang="es-ES" sz="1300" dirty="0"/>
              <a:t>            DBMS_OUTPUT.PUT_LINE('Código Oracle: ' || SQLCODE || ', Mensaje: ' || SQLERRM);</a:t>
            </a:r>
          </a:p>
          <a:p>
            <a:endParaRPr lang="es-ES" sz="1300" dirty="0"/>
          </a:p>
          <a:p>
            <a:r>
              <a:rPr lang="es-ES" sz="1300" b="1" dirty="0"/>
              <a:t>    WHEN OTHERS THEN</a:t>
            </a:r>
          </a:p>
          <a:p>
            <a:r>
              <a:rPr lang="es-ES" sz="1300" dirty="0"/>
              <a:t>            DBMS_OUTPUT.PUT_LINE('Error: No definido’);</a:t>
            </a:r>
          </a:p>
          <a:p>
            <a:r>
              <a:rPr lang="es-ES" sz="1300" b="1" dirty="0"/>
              <a:t>END;</a:t>
            </a:r>
            <a:endParaRPr lang="en-US" sz="1400" b="1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F7FCE014-1460-1665-6E41-4B98B212DEC6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Cuando una consulta no encuentra datos.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Un UPDATE nunca genera un NO_DATA_FOUND.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No utilizar para ver si un registro existe.</a:t>
            </a:r>
          </a:p>
          <a:p>
            <a:pPr lvl="1"/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3132541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0F69-C46C-E6DE-4010-C87DD8F23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42B830F-3A91-8F15-1F9A-EA1AA981F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Excepciones predefinidas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BBA9EB7-E484-0F68-7A99-D719EF42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0D41509-0063-CA85-430E-6006815E83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114B86B4-5232-4EF0-773A-F66BFDDE09D1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s-ES" sz="160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32E33D0-07E6-E3B0-0EF5-3FAF37ABD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06423"/>
              </p:ext>
            </p:extLst>
          </p:nvPr>
        </p:nvGraphicFramePr>
        <p:xfrm>
          <a:off x="323528" y="1809757"/>
          <a:ext cx="8191500" cy="2305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921">
                  <a:extLst>
                    <a:ext uri="{9D8B030D-6E8A-4147-A177-3AD203B41FA5}">
                      <a16:colId xmlns:a16="http://schemas.microsoft.com/office/drawing/2014/main" val="2735669827"/>
                    </a:ext>
                  </a:extLst>
                </a:gridCol>
                <a:gridCol w="1421849">
                  <a:extLst>
                    <a:ext uri="{9D8B030D-6E8A-4147-A177-3AD203B41FA5}">
                      <a16:colId xmlns:a16="http://schemas.microsoft.com/office/drawing/2014/main" val="471485623"/>
                    </a:ext>
                  </a:extLst>
                </a:gridCol>
                <a:gridCol w="2437455">
                  <a:extLst>
                    <a:ext uri="{9D8B030D-6E8A-4147-A177-3AD203B41FA5}">
                      <a16:colId xmlns:a16="http://schemas.microsoft.com/office/drawing/2014/main" val="1241839960"/>
                    </a:ext>
                  </a:extLst>
                </a:gridCol>
                <a:gridCol w="2580275">
                  <a:extLst>
                    <a:ext uri="{9D8B030D-6E8A-4147-A177-3AD203B41FA5}">
                      <a16:colId xmlns:a16="http://schemas.microsoft.com/office/drawing/2014/main" val="161383234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u="none" strike="noStrike">
                          <a:effectLst/>
                        </a:rPr>
                        <a:t>Nombre Excepción</a:t>
                      </a:r>
                      <a:endParaRPr lang="es-ES" sz="11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u="none" strike="noStrike">
                          <a:effectLst/>
                        </a:rPr>
                        <a:t>Código Oracle</a:t>
                      </a:r>
                      <a:endParaRPr lang="es-ES" sz="11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u="none" strike="noStrike">
                          <a:effectLst/>
                        </a:rPr>
                        <a:t>Descripción</a:t>
                      </a:r>
                      <a:endParaRPr lang="es-ES" sz="1100" b="1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u="none" strike="noStrike" dirty="0">
                          <a:effectLst/>
                        </a:rPr>
                        <a:t>Causa Típica</a:t>
                      </a:r>
                      <a:endParaRPr lang="es-ES" sz="1100" b="1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1981942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NO_DATA_FOUND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ORA-01403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No se encontraron datos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SELECT INTO no retorna filas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42440928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TOO_MANY_ROWS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ORA-01422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Demasiadas filas retornadas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SELECT INTO retorna múltiples filas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10209073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DUP_VAL_ON_INDEX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ORA-00001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Valor duplicado en índice único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Violación de constraint único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57064180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INVALID_CURSOR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ORA-01001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Operación de cursor inválida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Cursor cerrado o no abierto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13358876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ZERO_DIVIDE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ORA-01476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División por cero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Intento de dividir un número por cero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5698793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INVALID_NUMBER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ORA-01722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Conversión numérica inválida</a:t>
                      </a:r>
                      <a:endParaRPr lang="es-ES" sz="1100" b="0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Fallo en conversión a número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7536716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VALUE_ERROR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ORA-06502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Error en valor o tamaño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Desbordamiento o tipo incorrecto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40638389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STORAGE_ERROR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ORA-06500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Error de memoria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Memoria insuficiente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0647577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TIMEOUT_ON_RESOURCE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ORA-00051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Timeout en recurso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Recurso de BD no disponible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8782284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000" u="none" strike="noStrike">
                          <a:effectLst/>
                        </a:rPr>
                        <a:t>LOGIN_DENIED</a:t>
                      </a:r>
                      <a:endParaRPr lang="es-ES" sz="1000" b="0" i="0" u="none" strike="noStrike">
                        <a:solidFill>
                          <a:srgbClr val="0F1115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ORA-01017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Login denegado</a:t>
                      </a:r>
                      <a:endParaRPr lang="es-ES" sz="1100" b="0" i="0" u="none" strike="noStrike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Credenciales inválidas</a:t>
                      </a:r>
                      <a:endParaRPr lang="es-ES" sz="1100" b="0" i="0" u="none" strike="noStrike" dirty="0">
                        <a:solidFill>
                          <a:srgbClr val="0F1115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34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73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77EE-DBEF-35EA-1F39-F50A1917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ABDDD51-F8CB-0033-A668-D58DCB19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Excepciones No Predefinidas </a:t>
            </a:r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BEB4E9F-286A-2A31-23DD-0A6A1FFE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BA4B9FD-EE8B-1DC6-920F-D6EEE33CCA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68BAAE85-A48F-DA58-A9DF-874C75573153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600" dirty="0"/>
              <a:t>Errores estándar de Oracle que NO tienen nombres preasignados. Estos son errores menos comunes o específicos de la aplicación que el programador quiere manejar con nombres significativos.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¿Por qué usar excepciones no predefinidas?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Proporcionar nombres descriptivos a errores específicos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Mejorar la legibilidad del código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Manejar errores de la base de datos de manera más controlada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Centralizar el manejo de errores específico</a:t>
            </a:r>
          </a:p>
        </p:txBody>
      </p:sp>
    </p:spTree>
    <p:extLst>
      <p:ext uri="{BB962C8B-B14F-4D97-AF65-F5344CB8AC3E}">
        <p14:creationId xmlns:p14="http://schemas.microsoft.com/office/powerpoint/2010/main" val="2076251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FDAAD-6820-E92F-D9C8-94D7E33C2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A09D43D-90CB-183B-C75B-BE47DCCA286D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600EFC5-6A36-A9F0-960D-88D181E21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Excepciones No Predefinidas 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F5C8C11-2D8C-8748-35E0-A3FA10974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57A15BE-84F9-AA7C-28B7-36BC8FCD7B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180FD2E-C9A2-F64B-CA3D-42520EB42FEE}"/>
              </a:ext>
            </a:extLst>
          </p:cNvPr>
          <p:cNvSpPr txBox="1"/>
          <p:nvPr/>
        </p:nvSpPr>
        <p:spPr>
          <a:xfrm>
            <a:off x="323528" y="1318881"/>
            <a:ext cx="445438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b="1" dirty="0"/>
              <a:t>   </a:t>
            </a:r>
            <a:r>
              <a:rPr lang="es-ES" sz="1300" b="1" dirty="0" err="1"/>
              <a:t>e_fk_violation</a:t>
            </a:r>
            <a:r>
              <a:rPr lang="es-ES" sz="1300" b="1" dirty="0"/>
              <a:t> EXCEPTION;</a:t>
            </a:r>
          </a:p>
          <a:p>
            <a:r>
              <a:rPr lang="es-ES" sz="1300" b="1" dirty="0"/>
              <a:t>   PRAGMA EXCEPTION_INIT(</a:t>
            </a:r>
            <a:r>
              <a:rPr lang="es-ES" sz="1300" b="1" dirty="0" err="1"/>
              <a:t>e_fk_violation</a:t>
            </a:r>
            <a:r>
              <a:rPr lang="es-ES" sz="1300" b="1" dirty="0"/>
              <a:t>, -2291);</a:t>
            </a:r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INSERT INTO empleados (</a:t>
            </a:r>
            <a:r>
              <a:rPr lang="es-ES" sz="1300" dirty="0" err="1"/>
              <a:t>empleado_id</a:t>
            </a:r>
            <a:r>
              <a:rPr lang="es-ES" sz="1300" dirty="0"/>
              <a:t>, nombre, </a:t>
            </a:r>
            <a:r>
              <a:rPr lang="es-ES" sz="1300" dirty="0" err="1"/>
              <a:t>departamento_id</a:t>
            </a:r>
            <a:r>
              <a:rPr lang="es-ES" sz="1300" dirty="0"/>
              <a:t>)</a:t>
            </a:r>
          </a:p>
          <a:p>
            <a:r>
              <a:rPr lang="es-ES" sz="1300" dirty="0"/>
              <a:t>        VALUES (1001, 'Test FK', </a:t>
            </a:r>
            <a:r>
              <a:rPr lang="es-ES" sz="1300" dirty="0" err="1"/>
              <a:t>v_departamento_id</a:t>
            </a:r>
            <a:r>
              <a:rPr lang="es-ES" sz="1300" dirty="0"/>
              <a:t>); </a:t>
            </a:r>
          </a:p>
          <a:p>
            <a:r>
              <a:rPr lang="es-ES" sz="1300" dirty="0"/>
              <a:t>    EXCEPTION</a:t>
            </a:r>
          </a:p>
          <a:p>
            <a:r>
              <a:rPr lang="es-ES" sz="1300" b="1" dirty="0"/>
              <a:t>        WHEN </a:t>
            </a:r>
            <a:r>
              <a:rPr lang="es-ES" sz="1300" b="1" dirty="0" err="1"/>
              <a:t>e_fk_violation</a:t>
            </a:r>
            <a:r>
              <a:rPr lang="es-ES" sz="1300" b="1" dirty="0"/>
              <a:t> THEN</a:t>
            </a:r>
          </a:p>
          <a:p>
            <a:r>
              <a:rPr lang="es-ES" sz="1300" dirty="0"/>
              <a:t>            DBMS_OUTPUT.PUT_LINE('Error FK: El departamento no existe');</a:t>
            </a:r>
          </a:p>
          <a:p>
            <a:r>
              <a:rPr lang="es-ES" sz="1300" dirty="0"/>
              <a:t>            DBMS_OUTPUT.PUT_LINE('</a:t>
            </a:r>
            <a:r>
              <a:rPr lang="es-ES" sz="1300" dirty="0" err="1"/>
              <a:t>Cód</a:t>
            </a:r>
            <a:r>
              <a:rPr lang="es-ES" sz="1300" dirty="0"/>
              <a:t>: -2291 ' || SQLERRM);</a:t>
            </a:r>
          </a:p>
          <a:p>
            <a:r>
              <a:rPr lang="es-ES" sz="1300" dirty="0"/>
              <a:t>END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7D435A0C-40BE-D80E-91D6-0DA3D1749A05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Declarar la excepción con un nombre significativo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Asociar la excepción con códigos de error Oracle usando PRAGMA EXCEPTION_INIT</a:t>
            </a:r>
          </a:p>
          <a:p>
            <a:pPr lvl="1"/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536899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59638-E1D3-0868-49AF-457EA61A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EA9AB49-D559-EBF0-A32B-CF901E52A420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7DBA608-7FC2-5837-BED1-8B5D03079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Excepciones No Predefinidas 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3F71B95-A7D8-0BDD-A93D-C05A6940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7408FE1-B3B9-7CB1-73A4-5607C5E119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9AFCA8E-45B7-6974-21C1-D806ED35C9CC}"/>
              </a:ext>
            </a:extLst>
          </p:cNvPr>
          <p:cNvSpPr txBox="1"/>
          <p:nvPr/>
        </p:nvSpPr>
        <p:spPr>
          <a:xfrm>
            <a:off x="323528" y="1318881"/>
            <a:ext cx="445438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s-ES" sz="1600" dirty="0"/>
              <a:t>PRAGMA EXCEPTION_INIT(</a:t>
            </a:r>
            <a:r>
              <a:rPr lang="es-ES" sz="1600" dirty="0" err="1"/>
              <a:t>nombre_excepcion</a:t>
            </a:r>
            <a:r>
              <a:rPr lang="es-ES" sz="1600" dirty="0"/>
              <a:t>, </a:t>
            </a:r>
            <a:r>
              <a:rPr lang="es-ES" sz="1600" dirty="0" err="1"/>
              <a:t>codigo_error</a:t>
            </a:r>
            <a:r>
              <a:rPr lang="es-ES" sz="1600" dirty="0"/>
              <a:t>);</a:t>
            </a:r>
          </a:p>
          <a:p>
            <a:endParaRPr lang="es-ES" sz="1300" b="1" dirty="0"/>
          </a:p>
          <a:p>
            <a:endParaRPr lang="es-ES" sz="1300" b="1" dirty="0"/>
          </a:p>
          <a:p>
            <a:r>
              <a:rPr lang="es-ES" sz="1400" b="1" dirty="0"/>
              <a:t>PRAGMA</a:t>
            </a:r>
            <a:r>
              <a:rPr lang="es-ES" sz="1400" dirty="0"/>
              <a:t>: Palabra clave que indica una directiva de compilador</a:t>
            </a:r>
          </a:p>
          <a:p>
            <a:r>
              <a:rPr lang="es-ES" sz="1400" b="1" dirty="0"/>
              <a:t>EXCEPTION_INIT</a:t>
            </a:r>
            <a:r>
              <a:rPr lang="es-ES" sz="1400" dirty="0"/>
              <a:t>: Especifica que es para inicialización de excepciones</a:t>
            </a:r>
          </a:p>
          <a:p>
            <a:r>
              <a:rPr lang="es-ES" sz="1400" b="1" dirty="0" err="1"/>
              <a:t>nombre_excepcion</a:t>
            </a:r>
            <a:r>
              <a:rPr lang="es-ES" sz="1400" dirty="0"/>
              <a:t>: Nombre de la excepción que declaraste</a:t>
            </a:r>
          </a:p>
          <a:p>
            <a:r>
              <a:rPr lang="es-ES" sz="1400" b="1" dirty="0" err="1"/>
              <a:t>codigo_error</a:t>
            </a:r>
            <a:r>
              <a:rPr lang="es-ES" sz="1400" dirty="0"/>
              <a:t>: Número de error de Oracle (normalmente negativo)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516E7361-7FA0-D9BD-EFA8-3FF0271111D9}"/>
              </a:ext>
            </a:extLst>
          </p:cNvPr>
          <p:cNvSpPr txBox="1">
            <a:spLocks/>
          </p:cNvSpPr>
          <p:nvPr/>
        </p:nvSpPr>
        <p:spPr>
          <a:xfrm>
            <a:off x="4860032" y="1059582"/>
            <a:ext cx="4283968" cy="3816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PRAGMA EXCEPTION_INIT es una directiva de compilador en PL/SQL que permite asociar un nombre de excepción definido por el usuario con un código de error específico de Oracle. Es una instrucción que le dice al compilador: "Cuando ocurra este código de error, quiero que lo interpretes como esta excepción con nombre".;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Debe Estar en la Misma Sección de Declaraciones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Una Excepción Puede Tener Solo un PRAGMA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A1CF3B-B7A2-057F-F688-882C1042D1B7}"/>
              </a:ext>
            </a:extLst>
          </p:cNvPr>
          <p:cNvSpPr txBox="1"/>
          <p:nvPr/>
        </p:nvSpPr>
        <p:spPr>
          <a:xfrm>
            <a:off x="6732240" y="4731990"/>
            <a:ext cx="23849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FF6A00"/>
                </a:solidFill>
                <a:latin typeface="-apple-system"/>
              </a:rPr>
              <a:t>session3-excepciones-no-predefinidas.sql</a:t>
            </a:r>
            <a:endParaRPr lang="es-ES" sz="1000" b="0" i="0" dirty="0">
              <a:solidFill>
                <a:srgbClr val="FF6A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39857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F58AF-9DFA-0F4D-1DD6-4411680C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DAD1D08-3365-EB95-D89C-6A7126315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Excepciones definidas por el usuario </a:t>
            </a:r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5B5AD9F-EFF6-D21B-3691-B0F27E1E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34EB3DE-76C4-9E45-B43D-1003B6C255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A246C064-F827-4DDC-AB14-E9CC4C919A30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600" dirty="0"/>
              <a:t>Las excepciones definidas por el usuario son aquellas que el programador crea para manejar situaciones de error específicas de la lógica de negocio. A diferencia de las anteriores, estas no están relacionadas con errores de la base de datos, sino con violaciones de reglas de negocio.</a:t>
            </a:r>
          </a:p>
          <a:p>
            <a:pPr lvl="1"/>
            <a:endParaRPr lang="es-ES" sz="1600" dirty="0"/>
          </a:p>
          <a:p>
            <a:pPr lvl="1"/>
            <a:r>
              <a:rPr lang="es-ES" sz="1600" dirty="0"/>
              <a:t>Casos de uso típicos: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Validación de reglas de negocio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Control de flujos de trabajo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Verificación de estados de aplicación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Validación de datos complejos</a:t>
            </a:r>
          </a:p>
        </p:txBody>
      </p:sp>
    </p:spTree>
    <p:extLst>
      <p:ext uri="{BB962C8B-B14F-4D97-AF65-F5344CB8AC3E}">
        <p14:creationId xmlns:p14="http://schemas.microsoft.com/office/powerpoint/2010/main" val="3617156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BB82-3825-E9BF-A42B-E4ACC8E8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84B30C5-E68F-7772-BD9A-153B9A022B4F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E433A5D-57D9-1C84-FC66-79838DF76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Excepciones definidas por el usuario 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2149EC7-56C5-0BB0-BDAF-7D86F337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E63430D-6DE3-2DD6-F8DE-1F17EC38CB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3BCA672-5E3B-DB5E-478D-2C7FD171504B}"/>
              </a:ext>
            </a:extLst>
          </p:cNvPr>
          <p:cNvSpPr txBox="1"/>
          <p:nvPr/>
        </p:nvSpPr>
        <p:spPr>
          <a:xfrm>
            <a:off x="323528" y="1318881"/>
            <a:ext cx="44543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e_salario_fuera_rango</a:t>
            </a:r>
            <a:r>
              <a:rPr lang="es-ES" sz="1300" dirty="0"/>
              <a:t> </a:t>
            </a:r>
            <a:r>
              <a:rPr lang="es-ES" sz="1300" b="1" dirty="0"/>
              <a:t>EXCEPTION</a:t>
            </a:r>
            <a:r>
              <a:rPr lang="es-ES" sz="1300" dirty="0"/>
              <a:t>;</a:t>
            </a:r>
          </a:p>
          <a:p>
            <a:r>
              <a:rPr lang="es-ES" sz="1300" dirty="0"/>
              <a:t>    </a:t>
            </a:r>
            <a:r>
              <a:rPr lang="es-ES" sz="1300" b="1" dirty="0"/>
              <a:t>PRAGMA EXCEPTION_INIT</a:t>
            </a:r>
            <a:r>
              <a:rPr lang="es-ES" sz="1300" dirty="0"/>
              <a:t>(</a:t>
            </a:r>
            <a:r>
              <a:rPr lang="es-ES" sz="1300" dirty="0" err="1"/>
              <a:t>e_salario_fuera_rango</a:t>
            </a:r>
            <a:r>
              <a:rPr lang="es-ES" sz="1300" dirty="0"/>
              <a:t>, -</a:t>
            </a:r>
            <a:r>
              <a:rPr lang="es-ES" sz="1300" b="1" dirty="0"/>
              <a:t>20001</a:t>
            </a:r>
            <a:r>
              <a:rPr lang="es-ES" sz="1300" dirty="0"/>
              <a:t>);</a:t>
            </a:r>
          </a:p>
          <a:p>
            <a:r>
              <a:rPr lang="es-ES" sz="1300" dirty="0"/>
              <a:t>    PROCEDURE </a:t>
            </a:r>
            <a:r>
              <a:rPr lang="es-ES" sz="1300" dirty="0" err="1"/>
              <a:t>validar_empleado</a:t>
            </a:r>
            <a:r>
              <a:rPr lang="es-ES" sz="1300" dirty="0"/>
              <a:t>(</a:t>
            </a:r>
            <a:r>
              <a:rPr lang="es-ES" sz="1300" dirty="0" err="1"/>
              <a:t>p_salario</a:t>
            </a:r>
            <a:r>
              <a:rPr lang="es-ES" sz="1300" dirty="0"/>
              <a:t> IN NUMBER) IS</a:t>
            </a:r>
          </a:p>
          <a:p>
            <a:r>
              <a:rPr lang="es-ES" sz="1300" dirty="0"/>
              <a:t>    BEGIN</a:t>
            </a:r>
          </a:p>
          <a:p>
            <a:r>
              <a:rPr lang="es-ES" sz="1300" dirty="0"/>
              <a:t>        IF </a:t>
            </a:r>
            <a:r>
              <a:rPr lang="es-ES" sz="1300" dirty="0" err="1"/>
              <a:t>p_salario</a:t>
            </a:r>
            <a:r>
              <a:rPr lang="es-ES" sz="1300" dirty="0"/>
              <a:t> &lt; 1000 OR </a:t>
            </a:r>
            <a:r>
              <a:rPr lang="es-ES" sz="1300" dirty="0" err="1"/>
              <a:t>p_salario</a:t>
            </a:r>
            <a:r>
              <a:rPr lang="es-ES" sz="1300" dirty="0"/>
              <a:t> &gt; 50000 THEN</a:t>
            </a:r>
          </a:p>
          <a:p>
            <a:r>
              <a:rPr lang="es-ES" sz="1300" b="1" dirty="0"/>
              <a:t>            RAISE </a:t>
            </a:r>
            <a:r>
              <a:rPr lang="es-ES" sz="1300" b="1" dirty="0" err="1"/>
              <a:t>e_salario_fuera_rango</a:t>
            </a:r>
            <a:r>
              <a:rPr lang="es-ES" sz="1300" b="1" dirty="0"/>
              <a:t>;</a:t>
            </a:r>
          </a:p>
          <a:p>
            <a:r>
              <a:rPr lang="es-ES" sz="1300" dirty="0"/>
              <a:t>        END IF;</a:t>
            </a:r>
          </a:p>
          <a:p>
            <a:r>
              <a:rPr lang="es-ES" sz="1300" dirty="0"/>
              <a:t>        DBMS_OUTPUT.PUT_LINE('Salario válido: ' || </a:t>
            </a:r>
            <a:r>
              <a:rPr lang="es-ES" sz="1300" dirty="0" err="1"/>
              <a:t>p_salario</a:t>
            </a:r>
            <a:r>
              <a:rPr lang="es-ES" sz="1300" dirty="0"/>
              <a:t>);</a:t>
            </a:r>
          </a:p>
          <a:p>
            <a:r>
              <a:rPr lang="es-ES" sz="1300" dirty="0"/>
              <a:t>    EXCEPTION</a:t>
            </a:r>
          </a:p>
          <a:p>
            <a:r>
              <a:rPr lang="es-ES" sz="1300" dirty="0"/>
              <a:t>        </a:t>
            </a:r>
            <a:r>
              <a:rPr lang="es-ES" sz="1300" b="1" dirty="0"/>
              <a:t>WHEN </a:t>
            </a:r>
            <a:r>
              <a:rPr lang="es-ES" sz="1300" b="1" dirty="0" err="1"/>
              <a:t>e_salario_fuera_rango</a:t>
            </a:r>
            <a:r>
              <a:rPr lang="es-ES" sz="1300" b="1" dirty="0"/>
              <a:t> THEN</a:t>
            </a:r>
          </a:p>
          <a:p>
            <a:r>
              <a:rPr lang="es-ES" sz="1300" dirty="0"/>
              <a:t>            DBMS_OUTPUT.PUT_LINE('Error: Salario');</a:t>
            </a:r>
          </a:p>
          <a:p>
            <a:r>
              <a:rPr lang="es-ES" sz="1300" dirty="0"/>
              <a:t>    END </a:t>
            </a:r>
            <a:r>
              <a:rPr lang="es-ES" sz="1300" dirty="0" err="1"/>
              <a:t>validar_empleado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-- Probar el procedimiento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validar_empleado</a:t>
            </a:r>
            <a:r>
              <a:rPr lang="es-ES" sz="1300" dirty="0"/>
              <a:t>(500);   -- Error</a:t>
            </a:r>
          </a:p>
          <a:p>
            <a:r>
              <a:rPr lang="es-E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02108893-E4F9-07C7-923C-9C7EDD3B70C7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 Asociación con códigos de error de usuario (entre -20000 y -20999)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3912641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48E9-F66E-90CA-7702-B9B0E13D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2D717B0-21CF-FCC3-ECF4-719F3FBC9E63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A194785-D47E-4FEC-A454-2CC545904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Excepciones definidas por el usuario  con RAISE_APPLICATION_ERROR 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0423A96-CF8B-1DBE-EEE2-27CFF7362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8847482-313B-25EF-E5AD-1FA11FADEA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BA25BD-F4A8-9A2A-4C92-53797573ED41}"/>
              </a:ext>
            </a:extLst>
          </p:cNvPr>
          <p:cNvSpPr txBox="1"/>
          <p:nvPr/>
        </p:nvSpPr>
        <p:spPr>
          <a:xfrm>
            <a:off x="261636" y="1311623"/>
            <a:ext cx="4958436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dirty="0"/>
              <a:t>PROCEDURE </a:t>
            </a:r>
            <a:r>
              <a:rPr lang="es-ES" sz="1300" dirty="0" err="1"/>
              <a:t>validar_empleado</a:t>
            </a:r>
            <a:r>
              <a:rPr lang="es-ES" sz="1300" dirty="0"/>
              <a:t>(</a:t>
            </a:r>
            <a:r>
              <a:rPr lang="es-ES" sz="1300" dirty="0" err="1"/>
              <a:t>p_salario</a:t>
            </a:r>
            <a:r>
              <a:rPr lang="es-ES" sz="1300" dirty="0"/>
              <a:t> IN NUMBER) IS</a:t>
            </a:r>
          </a:p>
          <a:p>
            <a:r>
              <a:rPr lang="es-ES" sz="1300" dirty="0"/>
              <a:t>    BEGIN</a:t>
            </a:r>
          </a:p>
          <a:p>
            <a:r>
              <a:rPr lang="es-ES" sz="1300" dirty="0"/>
              <a:t>        IF </a:t>
            </a:r>
            <a:r>
              <a:rPr lang="es-ES" sz="1300" dirty="0" err="1"/>
              <a:t>p_salario</a:t>
            </a:r>
            <a:r>
              <a:rPr lang="es-ES" sz="1300" dirty="0"/>
              <a:t> &lt; 1000 OR </a:t>
            </a:r>
            <a:r>
              <a:rPr lang="es-ES" sz="1300" dirty="0" err="1"/>
              <a:t>p_salario</a:t>
            </a:r>
            <a:r>
              <a:rPr lang="es-ES" sz="1300" dirty="0"/>
              <a:t> &gt; 50000 THEN</a:t>
            </a:r>
          </a:p>
          <a:p>
            <a:r>
              <a:rPr lang="es-ES" sz="1300" b="1" dirty="0"/>
              <a:t>             RAISE_APPLICATION_ERROR(-20001,</a:t>
            </a:r>
          </a:p>
          <a:p>
            <a:r>
              <a:rPr lang="es-ES" sz="1300" b="1" dirty="0"/>
              <a:t>             ‘El salario está fuera de rango’)</a:t>
            </a:r>
          </a:p>
          <a:p>
            <a:r>
              <a:rPr lang="es-ES" sz="1300" dirty="0"/>
              <a:t>        END IF;</a:t>
            </a:r>
          </a:p>
          <a:p>
            <a:r>
              <a:rPr lang="es-ES" sz="1300" dirty="0"/>
              <a:t>END </a:t>
            </a:r>
            <a:r>
              <a:rPr lang="es-ES" sz="1300" dirty="0" err="1"/>
              <a:t>validar_empleado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-- Probar el procedimiento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validar_empleado</a:t>
            </a:r>
            <a:r>
              <a:rPr lang="es-ES" sz="1300" dirty="0"/>
              <a:t>(500);   -- Error</a:t>
            </a:r>
          </a:p>
          <a:p>
            <a:r>
              <a:rPr lang="es-E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21F668C7-ADB5-2B9E-D2CC-540A11CB3EE2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 Asociación con códigos de error de usuario (entre -20000 y -20999)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423D11-D8DB-ACFA-F619-E1C466CBFCA9}"/>
              </a:ext>
            </a:extLst>
          </p:cNvPr>
          <p:cNvSpPr txBox="1"/>
          <p:nvPr/>
        </p:nvSpPr>
        <p:spPr>
          <a:xfrm>
            <a:off x="6372200" y="4731990"/>
            <a:ext cx="274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FF6A00"/>
                </a:solidFill>
                <a:latin typeface="-apple-system"/>
              </a:rPr>
              <a:t>session3-excepciones-definidas-por-usuario.sql</a:t>
            </a:r>
          </a:p>
          <a:p>
            <a:endParaRPr lang="es-ES" sz="1000" b="0" i="0" dirty="0">
              <a:solidFill>
                <a:srgbClr val="FF6A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59731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F081-6FED-3FB8-AE88-9B21DFE0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0334486B-4205-1A08-E725-B5165C81E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Tipos de Excepciones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142B0B1-678C-D604-1029-4B50A27E9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297E41C-962E-2AFE-6EDF-13DB8FBB8D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59E77EB9-0BF9-7EE5-128B-649C082F89FC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s-ES" sz="16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CB4B3F0-6782-A423-86DA-965FF5373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921453"/>
              </p:ext>
            </p:extLst>
          </p:nvPr>
        </p:nvGraphicFramePr>
        <p:xfrm>
          <a:off x="323528" y="1455390"/>
          <a:ext cx="8191500" cy="3276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1921">
                  <a:extLst>
                    <a:ext uri="{9D8B030D-6E8A-4147-A177-3AD203B41FA5}">
                      <a16:colId xmlns:a16="http://schemas.microsoft.com/office/drawing/2014/main" val="2472952288"/>
                    </a:ext>
                  </a:extLst>
                </a:gridCol>
                <a:gridCol w="1421849">
                  <a:extLst>
                    <a:ext uri="{9D8B030D-6E8A-4147-A177-3AD203B41FA5}">
                      <a16:colId xmlns:a16="http://schemas.microsoft.com/office/drawing/2014/main" val="3922802315"/>
                    </a:ext>
                  </a:extLst>
                </a:gridCol>
                <a:gridCol w="2437455">
                  <a:extLst>
                    <a:ext uri="{9D8B030D-6E8A-4147-A177-3AD203B41FA5}">
                      <a16:colId xmlns:a16="http://schemas.microsoft.com/office/drawing/2014/main" val="3296059538"/>
                    </a:ext>
                  </a:extLst>
                </a:gridCol>
                <a:gridCol w="2580275">
                  <a:extLst>
                    <a:ext uri="{9D8B030D-6E8A-4147-A177-3AD203B41FA5}">
                      <a16:colId xmlns:a16="http://schemas.microsoft.com/office/drawing/2014/main" val="314274320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/>
                        <a:t>Característica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dirty="0"/>
                        <a:t>Predefinidas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dirty="0"/>
                        <a:t>No Predefinidas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dirty="0"/>
                        <a:t>Usuario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2399260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dirty="0"/>
                        <a:t>Origen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Oracle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Oracle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Programador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5113630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/>
                        <a:t>Declaración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Implícita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dirty="0"/>
                        <a:t>Explícita con PRAGMA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Explícita con DECLARE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54346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dirty="0"/>
                        <a:t>Código Error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Nombres preasignados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dirty="0"/>
                        <a:t>Códigos Oracle específicos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-20000 a -20999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418603606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/>
                        <a:t>Uso de RAISE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Automático por Oracle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Manual con RAISE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Manual con RAISE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2628564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/>
                        <a:t>RAISE_APPLICATION_ERROR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No aplica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No aplica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Muy común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36305569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/>
                        <a:t>Legibilidad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dirty="0"/>
                        <a:t>Alta (nombres descriptivos)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Media (depende del nombre)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Alta (nombres de negocio)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218273995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b="1" dirty="0"/>
                        <a:t>Ejemplos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/>
                        <a:t>NO_DATA_FOUND, TOO_MANY_ROWS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/>
                        <a:t>FK violations, Check constraints</a:t>
                      </a:r>
                    </a:p>
                  </a:txBody>
                  <a:tcPr marL="857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400" dirty="0"/>
                        <a:t>Reglas de negocio específicas</a:t>
                      </a:r>
                    </a:p>
                  </a:txBody>
                  <a:tcPr marL="85725" marR="9525" marT="9525" marB="0" anchor="ctr"/>
                </a:tc>
                <a:extLst>
                  <a:ext uri="{0D108BD9-81ED-4DB2-BD59-A6C34878D82A}">
                    <a16:rowId xmlns:a16="http://schemas.microsoft.com/office/drawing/2014/main" val="1832781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718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12492-CE73-B70A-30EA-92D8699A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B8FE6A5-DDC2-A95C-97A7-76D425416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Mejores Prácticas en el Manejo de Excepciones</a:t>
            </a:r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A54AC48-0302-8FBC-F50E-12EE7FF3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F3B7636-9FB9-7436-DF5B-B2CF3323C1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err="1"/>
              <a:t>Arquitectura</a:t>
            </a:r>
            <a:r>
              <a:rPr lang="pt-BR" dirty="0"/>
              <a:t> interna de PL/SQL</a:t>
            </a:r>
            <a:endParaRPr lang="es-ES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6675AAC3-F5B9-38F2-52F6-56CE9B55B5E6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836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Sé Específico: Maneja excepciones específicas antes que las genéricas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No ignores errores: Siempre maneja las excepciones apropiadamente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Registra los errores: Mantén un log de errores para diagnóstico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Proporciona contexto: Incluye información relevante en los mensajes de error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dirty="0"/>
              <a:t>Maneja a nivel apropiado: Maneja las excepciones donde puedas tomar acción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664949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D99B-9FCD-19A6-8D33-16641BF4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>
            <a:extLst>
              <a:ext uri="{FF2B5EF4-FFF2-40B4-BE49-F238E27FC236}">
                <a16:creationId xmlns:a16="http://schemas.microsoft.com/office/drawing/2014/main" id="{F50A6B7B-DB45-0F4D-638D-153AE340B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A96731EF-172E-F03B-64C0-EE6838427F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1646531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9EBF-1141-24EC-6433-8B9CBC98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F11FC12-CE03-96EC-AB05-890C8511F4E2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8752140-D3F8-C65F-4152-6398C0D70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Declaraciones vs. referencias a estructuras SQL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08E2B12-7EA6-4432-7F83-AD4821CA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0D4A073-C029-0C2B-7E4C-35CBD68869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C29E400-85D8-D778-95EC-6FCDF0274A28}"/>
              </a:ext>
            </a:extLst>
          </p:cNvPr>
          <p:cNvSpPr txBox="1"/>
          <p:nvPr/>
        </p:nvSpPr>
        <p:spPr>
          <a:xfrm>
            <a:off x="261636" y="1311623"/>
            <a:ext cx="495843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dirty="0"/>
              <a:t>    -- Carga toda la fila en </a:t>
            </a:r>
            <a:r>
              <a:rPr lang="es-ES" sz="1300" dirty="0" err="1"/>
              <a:t>stack</a:t>
            </a:r>
            <a:r>
              <a:rPr lang="es-ES" sz="1300" dirty="0"/>
              <a:t> (potencialmente costoso)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v_emp</a:t>
            </a:r>
            <a:r>
              <a:rPr lang="es-ES" sz="1300" dirty="0"/>
              <a:t>   </a:t>
            </a:r>
            <a:r>
              <a:rPr lang="es-ES" sz="1300" dirty="0" err="1"/>
              <a:t>emp%ROWTYPE</a:t>
            </a:r>
            <a:r>
              <a:rPr lang="es-ES" sz="1300" dirty="0"/>
              <a:t>;</a:t>
            </a:r>
          </a:p>
          <a:p>
            <a:endParaRPr lang="es-ES" sz="1300" dirty="0"/>
          </a:p>
          <a:p>
            <a:r>
              <a:rPr lang="es-ES" sz="1300" dirty="0"/>
              <a:t>    -- Carga solo lo necesario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v_name</a:t>
            </a:r>
            <a:r>
              <a:rPr lang="es-ES" sz="1300" dirty="0"/>
              <a:t>  </a:t>
            </a:r>
            <a:r>
              <a:rPr lang="es-ES" sz="1300" dirty="0" err="1"/>
              <a:t>emp.ename%TYPE</a:t>
            </a:r>
            <a:r>
              <a:rPr lang="es-ES" sz="1300" dirty="0"/>
              <a:t>;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v_sal</a:t>
            </a:r>
            <a:r>
              <a:rPr lang="es-ES" sz="1300" dirty="0"/>
              <a:t>   </a:t>
            </a:r>
            <a:r>
              <a:rPr lang="es-ES" sz="1300" dirty="0" err="1"/>
              <a:t>emp.sal%TYPE</a:t>
            </a:r>
            <a:r>
              <a:rPr lang="es-ES" sz="1300" dirty="0"/>
              <a:t>;</a:t>
            </a:r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SELECT * INTO </a:t>
            </a:r>
            <a:r>
              <a:rPr lang="es-ES" sz="1300" dirty="0" err="1"/>
              <a:t>v_emp</a:t>
            </a:r>
            <a:r>
              <a:rPr lang="es-ES" sz="1300" dirty="0"/>
              <a:t> FROM </a:t>
            </a:r>
            <a:r>
              <a:rPr lang="es-ES" sz="1300" dirty="0" err="1"/>
              <a:t>emp</a:t>
            </a:r>
            <a:r>
              <a:rPr lang="es-ES" sz="1300" dirty="0"/>
              <a:t> WHERE </a:t>
            </a:r>
            <a:r>
              <a:rPr lang="es-ES" sz="1300" dirty="0" err="1"/>
              <a:t>empno</a:t>
            </a:r>
            <a:r>
              <a:rPr lang="es-ES" sz="1300" dirty="0"/>
              <a:t> = 7788;</a:t>
            </a:r>
          </a:p>
          <a:p>
            <a:endParaRPr lang="es-ES" sz="1300" dirty="0"/>
          </a:p>
          <a:p>
            <a:r>
              <a:rPr lang="es-ES" sz="1300" dirty="0"/>
              <a:t>    DBMS_OUTPUT.PUT_LINE(</a:t>
            </a:r>
            <a:r>
              <a:rPr lang="es-ES" sz="1300" dirty="0" err="1"/>
              <a:t>v_emp.ename</a:t>
            </a:r>
            <a:r>
              <a:rPr lang="es-ES" sz="1300" dirty="0"/>
              <a:t> || ' ' || </a:t>
            </a:r>
            <a:r>
              <a:rPr lang="es-ES" sz="1300" dirty="0" err="1"/>
              <a:t>v_emp.sal</a:t>
            </a:r>
            <a:r>
              <a:rPr lang="es-ES" sz="1300" dirty="0"/>
              <a:t>);</a:t>
            </a:r>
          </a:p>
          <a:p>
            <a:r>
              <a:rPr lang="es-E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E12E31BB-55FC-2B6D-1CB5-BBCDA63D3AD2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Preferir %TYPE y %ROWTYPE no solo por mantenimiento, sino por compatibilidad semántica interna.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Riesgos:</a:t>
            </a:r>
          </a:p>
          <a:p>
            <a:pPr marL="820738" lvl="2" indent="-285750"/>
            <a:r>
              <a:rPr lang="es-ES" sz="1600" dirty="0"/>
              <a:t>%ROWTYPE carga todos los campos en memoria en el </a:t>
            </a:r>
            <a:r>
              <a:rPr lang="es-ES" sz="1600" dirty="0" err="1"/>
              <a:t>stack</a:t>
            </a:r>
            <a:r>
              <a:rPr lang="es-ES" sz="1600" dirty="0"/>
              <a:t> de PL/SQL.</a:t>
            </a:r>
          </a:p>
          <a:p>
            <a:pPr marL="820738" lvl="2" indent="-285750"/>
            <a:r>
              <a:rPr lang="es-ES" sz="1600" dirty="0"/>
              <a:t>En estructuras grandes, usar subtipos o </a:t>
            </a:r>
            <a:r>
              <a:rPr lang="es-ES" sz="1600" dirty="0" err="1"/>
              <a:t>record</a:t>
            </a:r>
            <a:r>
              <a:rPr lang="es-ES" sz="1600" dirty="0"/>
              <a:t> explícito puede mejorar uso de PGA.</a:t>
            </a:r>
          </a:p>
        </p:txBody>
      </p:sp>
    </p:spTree>
    <p:extLst>
      <p:ext uri="{BB962C8B-B14F-4D97-AF65-F5344CB8AC3E}">
        <p14:creationId xmlns:p14="http://schemas.microsoft.com/office/powerpoint/2010/main" val="3695055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D5A96-00AC-142E-E272-5445AEDC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0115292-A5EE-CA8E-1DB7-CC2C5136C0EB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987EBDC-F07A-15A8-C9B3-D689757A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Declaración diferida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5AAC950-EBDD-D516-E27A-7AC3E2605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5E71E61-7059-560F-DCA2-582FE3D983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07D0D6-6EC2-6142-2B32-92529FE63EF1}"/>
              </a:ext>
            </a:extLst>
          </p:cNvPr>
          <p:cNvSpPr txBox="1"/>
          <p:nvPr/>
        </p:nvSpPr>
        <p:spPr>
          <a:xfrm>
            <a:off x="261636" y="1311623"/>
            <a:ext cx="495843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v_sum</a:t>
            </a:r>
            <a:r>
              <a:rPr lang="en-US" sz="1300" dirty="0"/>
              <a:t> SIMPLE_INTEGER := 0;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FOR </a:t>
            </a:r>
            <a:r>
              <a:rPr lang="en-US" sz="1300" dirty="0" err="1"/>
              <a:t>i</a:t>
            </a:r>
            <a:r>
              <a:rPr lang="en-US" sz="1300" dirty="0"/>
              <a:t> IN 1 .. 10_000_000 LOOP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v_sum</a:t>
            </a:r>
            <a:r>
              <a:rPr lang="en-US" sz="1300" dirty="0"/>
              <a:t> := </a:t>
            </a:r>
            <a:r>
              <a:rPr lang="en-US" sz="1300" dirty="0" err="1"/>
              <a:t>v_sum</a:t>
            </a:r>
            <a:r>
              <a:rPr lang="en-US" sz="1300" dirty="0"/>
              <a:t> + 1;</a:t>
            </a:r>
          </a:p>
          <a:p>
            <a:r>
              <a:rPr lang="en-US" sz="1300" dirty="0"/>
              <a:t>    END LOOP;</a:t>
            </a:r>
          </a:p>
          <a:p>
            <a:endParaRPr lang="en-US" sz="1300" dirty="0"/>
          </a:p>
          <a:p>
            <a:r>
              <a:rPr lang="en-US" sz="1300" dirty="0"/>
              <a:t>    DBMS_OUTPUT.PUT_LINE('Total = ' || </a:t>
            </a:r>
            <a:r>
              <a:rPr lang="en-US" sz="1300" dirty="0" err="1"/>
              <a:t>v_sum</a:t>
            </a:r>
            <a:r>
              <a:rPr lang="en-US" sz="1300" dirty="0"/>
              <a:t>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B0963015-8CE7-7C78-D6AE-3BA4EB8B1A86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Uso de PLS_INTEGER y SIMPLE_INTEGER: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PLS_INTEGER usa aritmética nativa → más rápido que NUMBER.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SIMPLE_INTEGER es no-</a:t>
            </a:r>
            <a:r>
              <a:rPr lang="es-ES" sz="1800" dirty="0" err="1"/>
              <a:t>nullable</a:t>
            </a:r>
            <a:r>
              <a:rPr lang="es-ES" sz="1800" dirty="0"/>
              <a:t> y no-chequeado (</a:t>
            </a:r>
            <a:r>
              <a:rPr lang="es-ES" sz="1800" b="1" dirty="0"/>
              <a:t>no </a:t>
            </a:r>
            <a:r>
              <a:rPr lang="es-ES" sz="1800" b="1" dirty="0" err="1"/>
              <a:t>overflow</a:t>
            </a:r>
            <a:r>
              <a:rPr lang="es-ES" sz="1800" b="1" dirty="0"/>
              <a:t> </a:t>
            </a:r>
            <a:r>
              <a:rPr lang="es-ES" sz="1800" b="1" dirty="0" err="1"/>
              <a:t>checks</a:t>
            </a:r>
            <a:r>
              <a:rPr lang="es-ES" sz="1800" dirty="0"/>
              <a:t>):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Ideal en cálculos intensivos dentro de funciones deterministas o código </a:t>
            </a:r>
            <a:r>
              <a:rPr lang="es-ES" sz="1800" dirty="0" err="1"/>
              <a:t>tight-loop</a:t>
            </a:r>
            <a:r>
              <a:rPr lang="es-ES" sz="1800" dirty="0"/>
              <a:t>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115887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376AF-231D-061B-7118-AA51B074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76350F71-ED60-EE0B-F9A2-68436B293598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DFF19569-2A00-EB0F-329E-26AD5629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Declaración diferida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2E1C142-9298-389E-15C0-4ECDD632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7FFA888-E74F-4152-A6DF-9A580E2B2A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74CF1FC-0269-98A0-1E55-4A012F3DAF84}"/>
              </a:ext>
            </a:extLst>
          </p:cNvPr>
          <p:cNvSpPr txBox="1"/>
          <p:nvPr/>
        </p:nvSpPr>
        <p:spPr>
          <a:xfrm>
            <a:off x="261636" y="1311623"/>
            <a:ext cx="495843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v_x</a:t>
            </a:r>
            <a:r>
              <a:rPr lang="es-ES" sz="1300" dirty="0"/>
              <a:t> PLS_INTEGER;</a:t>
            </a:r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v_x</a:t>
            </a:r>
            <a:r>
              <a:rPr lang="es-ES" sz="1300" dirty="0"/>
              <a:t> := 0;   -- inicializar aquí es </a:t>
            </a:r>
            <a:r>
              <a:rPr lang="es-ES" sz="1300" dirty="0" err="1"/>
              <a:t>micro-opt</a:t>
            </a:r>
            <a:r>
              <a:rPr lang="es-ES" sz="1300" dirty="0"/>
              <a:t> mejor en </a:t>
            </a:r>
            <a:r>
              <a:rPr lang="es-ES" sz="1300" dirty="0" err="1"/>
              <a:t>loops</a:t>
            </a:r>
            <a:endParaRPr lang="es-ES" sz="1300" dirty="0"/>
          </a:p>
          <a:p>
            <a:r>
              <a:rPr lang="es-ES" sz="1300" dirty="0"/>
              <a:t>END;;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A5B53F5A-788A-B37E-EE5C-1E2CDC8823B6}"/>
              </a:ext>
            </a:extLst>
          </p:cNvPr>
          <p:cNvSpPr txBox="1">
            <a:spLocks/>
          </p:cNvSpPr>
          <p:nvPr/>
        </p:nvSpPr>
        <p:spPr>
          <a:xfrm>
            <a:off x="4860032" y="1306683"/>
            <a:ext cx="4283968" cy="3425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Inicialización explícita vs. implícita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Declaraciones como:</a:t>
            </a:r>
          </a:p>
          <a:p>
            <a:pPr marL="820738" lvl="2" indent="-285750"/>
            <a:r>
              <a:rPr lang="es-ES" sz="1600" dirty="0" err="1"/>
              <a:t>v_total</a:t>
            </a:r>
            <a:r>
              <a:rPr lang="es-ES" sz="1600" dirty="0"/>
              <a:t> PLS_INTEGER := 0;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Tienen un coste ligeramente mayor que declarar sin inicializar y asignar más tarde dentro del bloque, pero solo perceptible en código altamente iterativo (millones de iteraciones).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En ciclos intensivos, </a:t>
            </a:r>
            <a:r>
              <a:rPr lang="es-ES" sz="1800" dirty="0" err="1"/>
              <a:t>micro-opt</a:t>
            </a:r>
            <a:r>
              <a:rPr lang="es-ES" sz="1800" dirty="0"/>
              <a:t>: declarar sin inicializar, asignar justo antes del </a:t>
            </a:r>
            <a:r>
              <a:rPr lang="es-ES" sz="1800" dirty="0" err="1"/>
              <a:t>loop</a:t>
            </a:r>
            <a:r>
              <a:rPr lang="es-ES" sz="1800" dirty="0"/>
              <a:t>.</a:t>
            </a:r>
            <a:endParaRPr lang="es-ES" sz="1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271423-528C-7405-85FC-C418824BB5C4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000" b="0" i="0" dirty="0">
                <a:solidFill>
                  <a:srgbClr val="FF6A00"/>
                </a:solidFill>
                <a:effectLst/>
                <a:latin typeface="-apple-system"/>
              </a:rPr>
              <a:t>sesion2-number.sql</a:t>
            </a:r>
          </a:p>
        </p:txBody>
      </p:sp>
    </p:spTree>
    <p:extLst>
      <p:ext uri="{BB962C8B-B14F-4D97-AF65-F5344CB8AC3E}">
        <p14:creationId xmlns:p14="http://schemas.microsoft.com/office/powerpoint/2010/main" val="3173176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5490-5DAC-C220-2FAD-08285775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CA9B583-15BE-48EF-C936-DD80B7363600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5868F1A-C7EB-88A2-329C-4E456F820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de datos avanzados y subtipos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1B15EF2-6EA5-38C7-E899-3B09A130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BE792FFC-C5C6-B8FF-01E9-6D6E31E508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AB542B-25A1-6E04-69FE-28A04A9E0A3F}"/>
              </a:ext>
            </a:extLst>
          </p:cNvPr>
          <p:cNvSpPr txBox="1"/>
          <p:nvPr/>
        </p:nvSpPr>
        <p:spPr>
          <a:xfrm>
            <a:off x="261636" y="1311623"/>
            <a:ext cx="445438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SUBTYPE </a:t>
            </a:r>
            <a:r>
              <a:rPr lang="en-US" sz="1300" dirty="0" err="1"/>
              <a:t>t_customer_id</a:t>
            </a:r>
            <a:r>
              <a:rPr lang="en-US" sz="1300" dirty="0"/>
              <a:t> IS NUMBER(10);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v_id</a:t>
            </a:r>
            <a:r>
              <a:rPr lang="en-US" sz="1300" dirty="0"/>
              <a:t> </a:t>
            </a:r>
            <a:r>
              <a:rPr lang="en-US" sz="1300" dirty="0" err="1"/>
              <a:t>t_customer_id</a:t>
            </a:r>
            <a:r>
              <a:rPr lang="en-US" sz="1300" dirty="0"/>
              <a:t> := 123;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DBMS_OUTPUT.PUT_LINE('Customer ID: ' || </a:t>
            </a:r>
            <a:r>
              <a:rPr lang="en-US" sz="1300" dirty="0" err="1"/>
              <a:t>v_id</a:t>
            </a:r>
            <a:r>
              <a:rPr lang="en-US" sz="1300" dirty="0"/>
              <a:t>);</a:t>
            </a:r>
          </a:p>
          <a:p>
            <a:r>
              <a:rPr lang="en-US" sz="1300" dirty="0"/>
              <a:t>END;</a:t>
            </a:r>
          </a:p>
          <a:p>
            <a:r>
              <a:rPr lang="en-US" sz="1300" dirty="0"/>
              <a:t>/</a:t>
            </a:r>
          </a:p>
          <a:p>
            <a:r>
              <a:rPr lang="en-US" sz="1300" dirty="0"/>
              <a:t>--</a:t>
            </a:r>
            <a:r>
              <a:rPr lang="es-ES" sz="1400" dirty="0"/>
              <a:t> Los límites se comprueban automáticamente, manteniendo invariantes sin código extra.</a:t>
            </a:r>
          </a:p>
          <a:p>
            <a:endParaRPr lang="en-US" sz="1300" dirty="0"/>
          </a:p>
          <a:p>
            <a:r>
              <a:rPr lang="en-US" sz="1300" dirty="0"/>
              <a:t>DECLARE</a:t>
            </a:r>
          </a:p>
          <a:p>
            <a:r>
              <a:rPr lang="en-US" sz="1300" dirty="0"/>
              <a:t>    SUBTYPE </a:t>
            </a:r>
            <a:r>
              <a:rPr lang="en-US" sz="1300" dirty="0" err="1"/>
              <a:t>positive_int</a:t>
            </a:r>
            <a:r>
              <a:rPr lang="en-US" sz="1300" dirty="0"/>
              <a:t> IS PLS_INTEGER RANGE 1 .. 9999;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v_n</a:t>
            </a:r>
            <a:r>
              <a:rPr lang="en-US" sz="1300" dirty="0"/>
              <a:t> </a:t>
            </a:r>
            <a:r>
              <a:rPr lang="en-US" sz="1300" dirty="0" err="1"/>
              <a:t>positive_int</a:t>
            </a:r>
            <a:r>
              <a:rPr lang="en-US" sz="1300" dirty="0"/>
              <a:t> := 5000;  -- error </a:t>
            </a:r>
            <a:r>
              <a:rPr lang="en-US" sz="1300" dirty="0" err="1"/>
              <a:t>en</a:t>
            </a:r>
            <a:r>
              <a:rPr lang="en-US" sz="1300" dirty="0"/>
              <a:t> runtime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NULL;</a:t>
            </a:r>
          </a:p>
          <a:p>
            <a:r>
              <a:rPr lang="en-US" sz="1300" dirty="0"/>
              <a:t>END;</a:t>
            </a:r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A1CF4BF9-834A-53AF-0A83-05DBBDD4E340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Tipos de datos avanzados y subtipos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Subtipos para semántica y seguridad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Crear semántica más fuerte:</a:t>
            </a:r>
          </a:p>
          <a:p>
            <a:pPr marL="820738" lvl="2" indent="-285750"/>
            <a:r>
              <a:rPr lang="es-ES" sz="1400" dirty="0"/>
              <a:t>SUBTYPE </a:t>
            </a:r>
            <a:r>
              <a:rPr lang="es-ES" sz="1400" dirty="0" err="1"/>
              <a:t>t_customer_id</a:t>
            </a:r>
            <a:r>
              <a:rPr lang="es-ES" sz="1400" dirty="0"/>
              <a:t> IS NUMBER(10);</a:t>
            </a:r>
          </a:p>
          <a:p>
            <a:pPr marL="820738" lvl="2" indent="-285750"/>
            <a:r>
              <a:rPr lang="es-ES" sz="1400" dirty="0"/>
              <a:t>SUBTYPE </a:t>
            </a:r>
            <a:r>
              <a:rPr lang="es-ES" sz="1400" dirty="0" err="1"/>
              <a:t>t_price</a:t>
            </a:r>
            <a:r>
              <a:rPr lang="es-ES" sz="1400" dirty="0"/>
              <a:t> IS NUMBER;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Ventajas:</a:t>
            </a:r>
          </a:p>
          <a:p>
            <a:pPr marL="820738" lvl="2" indent="-285750"/>
            <a:r>
              <a:rPr lang="es-ES" sz="1600" dirty="0"/>
              <a:t>Documentación viva.</a:t>
            </a:r>
          </a:p>
          <a:p>
            <a:pPr marL="820738" lvl="2" indent="-285750"/>
            <a:r>
              <a:rPr lang="es-ES" sz="1600" dirty="0"/>
              <a:t>Mayor robustez: cambiar </a:t>
            </a:r>
            <a:r>
              <a:rPr lang="es-ES" sz="1600" dirty="0" err="1"/>
              <a:t>t_price</a:t>
            </a:r>
            <a:r>
              <a:rPr lang="es-ES" sz="1600" dirty="0"/>
              <a:t> a NUMBER(10,2) afecta a todo el sistema sin tocar código.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571036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7C4C-8CCE-BBFB-FE70-139C6909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8606616-D2E8-0E6D-D627-B665A23B44EF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162F02B-000A-CE66-142E-C3ABDC752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de datos avanzados y subtipos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5BDDC51-1777-2729-4ED9-7B768FDD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FC2C7A7-73C2-974C-0348-0ACD0352D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9EEDBDB-F696-722F-1079-0E6E12528F55}"/>
              </a:ext>
            </a:extLst>
          </p:cNvPr>
          <p:cNvSpPr txBox="1"/>
          <p:nvPr/>
        </p:nvSpPr>
        <p:spPr>
          <a:xfrm>
            <a:off x="261636" y="1311623"/>
            <a:ext cx="44543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v_status</a:t>
            </a:r>
            <a:r>
              <a:rPr lang="en-US" sz="1300" dirty="0"/>
              <a:t>  </a:t>
            </a:r>
            <a:r>
              <a:rPr lang="en-US" sz="1300" dirty="0" err="1"/>
              <a:t>orders.status%TYPE</a:t>
            </a:r>
            <a:r>
              <a:rPr lang="en-US" sz="1300" dirty="0"/>
              <a:t> NOT NULL DEFAULT 'PENDING';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DBMS_OUTPUT.PUT_LINE(</a:t>
            </a:r>
            <a:r>
              <a:rPr lang="en-US" sz="1300" dirty="0" err="1"/>
              <a:t>v_status</a:t>
            </a:r>
            <a:r>
              <a:rPr lang="en-US" sz="1300" dirty="0"/>
              <a:t>);</a:t>
            </a:r>
          </a:p>
          <a:p>
            <a:r>
              <a:rPr lang="en-US" sz="1300" dirty="0"/>
              <a:t>END;</a:t>
            </a:r>
          </a:p>
          <a:p>
            <a:r>
              <a:rPr lang="en-US" sz="1300" dirty="0"/>
              <a:t>/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6B054F42-D56F-B1F3-63A4-4B1401A5AA9F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Tipos anclados avanzados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 err="1"/>
              <a:t>v_status</a:t>
            </a:r>
            <a:r>
              <a:rPr lang="es-ES" sz="1800" dirty="0"/>
              <a:t> </a:t>
            </a:r>
            <a:r>
              <a:rPr lang="es-ES" sz="1800" dirty="0" err="1"/>
              <a:t>my_table.status%TYPE</a:t>
            </a:r>
            <a:r>
              <a:rPr lang="es-ES" sz="1800" dirty="0"/>
              <a:t> NOT NULL DEFAULT 'A';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Mejor práctica: </a:t>
            </a:r>
            <a:r>
              <a:rPr lang="es-ES" sz="1800" b="1" dirty="0"/>
              <a:t>anclar sobre vistas</a:t>
            </a:r>
            <a:r>
              <a:rPr lang="es-ES" sz="1800" dirty="0"/>
              <a:t> API (no sobre tablas internas) para desacoplar físicamente el dominio.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570819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9F1D-C623-5DAA-4E3F-66119C06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0174A15-9D07-D3F8-A94D-EF893F337EED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7F48C42-A325-62C2-AAD9-7B01852DD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compuestos y patrones de diseño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07F15D7-0009-1072-6964-5BC767A61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1B896A4-7135-56C5-10E5-712B5D7C3E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05F3303-6EF1-A108-9B8E-3A23754DF9CA}"/>
              </a:ext>
            </a:extLst>
          </p:cNvPr>
          <p:cNvSpPr txBox="1"/>
          <p:nvPr/>
        </p:nvSpPr>
        <p:spPr>
          <a:xfrm>
            <a:off x="261636" y="1311623"/>
            <a:ext cx="4958436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PACKAGE </a:t>
            </a:r>
            <a:r>
              <a:rPr lang="en-US" sz="1300" dirty="0" err="1"/>
              <a:t>demo_pkg</a:t>
            </a:r>
            <a:r>
              <a:rPr lang="en-US" sz="1300" dirty="0"/>
              <a:t> AS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t_emp</a:t>
            </a:r>
            <a:r>
              <a:rPr lang="en-US" sz="1300" dirty="0"/>
              <a:t> IS RECORD (</a:t>
            </a:r>
          </a:p>
          <a:p>
            <a:r>
              <a:rPr lang="en-US" sz="1300" dirty="0"/>
              <a:t>        name  VARCHAR2(100),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sal</a:t>
            </a:r>
            <a:r>
              <a:rPr lang="en-US" sz="1300" dirty="0"/>
              <a:t>   NUMBER</a:t>
            </a:r>
          </a:p>
          <a:p>
            <a:r>
              <a:rPr lang="en-US" sz="1300" dirty="0"/>
              <a:t>    );</a:t>
            </a:r>
          </a:p>
          <a:p>
            <a:r>
              <a:rPr lang="en-US" sz="1300" dirty="0"/>
              <a:t>END;</a:t>
            </a:r>
          </a:p>
          <a:p>
            <a:r>
              <a:rPr lang="en-US" sz="1300" dirty="0"/>
              <a:t>/ </a:t>
            </a:r>
          </a:p>
          <a:p>
            <a:endParaRPr lang="en-US" sz="1300" dirty="0"/>
          </a:p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v_emp</a:t>
            </a:r>
            <a:r>
              <a:rPr lang="en-US" sz="1300" dirty="0"/>
              <a:t> RECORD (</a:t>
            </a:r>
          </a:p>
          <a:p>
            <a:r>
              <a:rPr lang="en-US" sz="1300" dirty="0"/>
              <a:t>        name  VARCHAR2(100),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sal</a:t>
            </a:r>
            <a:r>
              <a:rPr lang="en-US" sz="1300" dirty="0"/>
              <a:t>   NUMBER</a:t>
            </a:r>
          </a:p>
          <a:p>
            <a:r>
              <a:rPr lang="en-US" sz="1300" dirty="0"/>
              <a:t>    );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...</a:t>
            </a:r>
          </a:p>
          <a:p>
            <a:r>
              <a:rPr lang="en-US" sz="1300" dirty="0"/>
              <a:t>END;</a:t>
            </a:r>
          </a:p>
          <a:p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DD675F56-46FF-AC0D-0704-DFE981CEED34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RECORD tipado vs. RECORD anónimo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RECORD tipados almacenan metadatos en diccionario → más estables.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RECORD anónimos → más rápidos de declarar y sin coste del diccionario.</a:t>
            </a:r>
            <a:endParaRPr lang="es-ES" sz="1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FA8794-6403-045D-FE7E-6557C845D539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000" dirty="0">
                <a:solidFill>
                  <a:srgbClr val="FF6A00"/>
                </a:solidFill>
                <a:latin typeface="-apple-system"/>
              </a:rPr>
              <a:t>session3-record-table.sql</a:t>
            </a:r>
            <a:endParaRPr lang="es-ES" sz="1000" b="0" i="0" dirty="0">
              <a:solidFill>
                <a:srgbClr val="FF6A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02181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00DB-3C1D-C2FA-A5BC-ACC565C4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6D1AC76-ECCD-74E5-F0D8-48584001406B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D74F4948-B518-4209-F250-9F7D2068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compuestos y patrones de diseño - TABLE OF RECORD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D52A1B4-591C-532A-ABB7-AB7803AB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EA21530-88CC-7FDD-9714-36666A1C6A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A52719-5E9D-C67F-D9B1-CE3E289763C9}"/>
              </a:ext>
            </a:extLst>
          </p:cNvPr>
          <p:cNvSpPr txBox="1"/>
          <p:nvPr/>
        </p:nvSpPr>
        <p:spPr>
          <a:xfrm>
            <a:off x="261636" y="1311623"/>
            <a:ext cx="495843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CREATE OR REPLACE PACKAGE </a:t>
            </a:r>
            <a:r>
              <a:rPr lang="en-US" sz="1300" dirty="0" err="1"/>
              <a:t>demo_pkg</a:t>
            </a:r>
            <a:r>
              <a:rPr lang="en-US" sz="1300" dirty="0"/>
              <a:t> AS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t_line</a:t>
            </a:r>
            <a:r>
              <a:rPr lang="en-US" sz="1300" dirty="0"/>
              <a:t> IS RECORD (</a:t>
            </a:r>
          </a:p>
          <a:p>
            <a:r>
              <a:rPr lang="en-US" sz="1300" dirty="0"/>
              <a:t>        id   NUMBER,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val</a:t>
            </a:r>
            <a:r>
              <a:rPr lang="en-US" sz="1300" dirty="0"/>
              <a:t>  VARCHAR2(100)</a:t>
            </a:r>
          </a:p>
          <a:p>
            <a:r>
              <a:rPr lang="en-US" sz="1300" dirty="0"/>
              <a:t>    );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t_lines</a:t>
            </a:r>
            <a:r>
              <a:rPr lang="en-US" sz="1300" dirty="0"/>
              <a:t> IS TABLE OF </a:t>
            </a:r>
            <a:r>
              <a:rPr lang="en-US" sz="1300" dirty="0" err="1"/>
              <a:t>t_line</a:t>
            </a:r>
            <a:r>
              <a:rPr lang="en-US" sz="1300" dirty="0"/>
              <a:t>;</a:t>
            </a:r>
          </a:p>
          <a:p>
            <a:r>
              <a:rPr lang="en-US" sz="1300" dirty="0"/>
              <a:t>END; </a:t>
            </a:r>
          </a:p>
          <a:p>
            <a:endParaRPr lang="en-US" sz="1300" dirty="0"/>
          </a:p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v_list</a:t>
            </a:r>
            <a:r>
              <a:rPr lang="en-US" sz="1300" dirty="0"/>
              <a:t> </a:t>
            </a:r>
            <a:r>
              <a:rPr lang="en-US" sz="1300" dirty="0" err="1"/>
              <a:t>demo_pkg.t_lines</a:t>
            </a:r>
            <a:r>
              <a:rPr lang="en-US" sz="1300" dirty="0"/>
              <a:t> := </a:t>
            </a:r>
            <a:r>
              <a:rPr lang="en-US" sz="1300" dirty="0" err="1"/>
              <a:t>demo_pkg.t_lines</a:t>
            </a:r>
            <a:r>
              <a:rPr lang="en-US" sz="1300" dirty="0"/>
              <a:t>();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v_list.EXTEND</a:t>
            </a:r>
            <a:r>
              <a:rPr lang="en-US" sz="1300" dirty="0"/>
              <a:t>(2);</a:t>
            </a:r>
          </a:p>
          <a:p>
            <a:endParaRPr lang="en-US" sz="1300" dirty="0"/>
          </a:p>
          <a:p>
            <a:r>
              <a:rPr lang="en-US" sz="1300" dirty="0"/>
              <a:t>    </a:t>
            </a:r>
            <a:r>
              <a:rPr lang="en-US" sz="1300" dirty="0" err="1"/>
              <a:t>v_list</a:t>
            </a:r>
            <a:r>
              <a:rPr lang="en-US" sz="1300" dirty="0"/>
              <a:t>(1).id  := 1;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v_list</a:t>
            </a:r>
            <a:r>
              <a:rPr lang="en-US" sz="1300" dirty="0"/>
              <a:t>(1).</a:t>
            </a:r>
            <a:r>
              <a:rPr lang="en-US" sz="1300" dirty="0" err="1"/>
              <a:t>val</a:t>
            </a:r>
            <a:r>
              <a:rPr lang="en-US" sz="1300" dirty="0"/>
              <a:t> := 'A';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v_list</a:t>
            </a:r>
            <a:r>
              <a:rPr lang="en-US" sz="1300" dirty="0"/>
              <a:t>(2).id  := 2;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v_list</a:t>
            </a:r>
            <a:r>
              <a:rPr lang="en-US" sz="1300" dirty="0"/>
              <a:t>(2).</a:t>
            </a:r>
            <a:r>
              <a:rPr lang="en-US" sz="1300" dirty="0" err="1"/>
              <a:t>val</a:t>
            </a:r>
            <a:r>
              <a:rPr lang="en-US" sz="1300" dirty="0"/>
              <a:t> := 'B';</a:t>
            </a:r>
          </a:p>
          <a:p>
            <a:r>
              <a:rPr lang="en-US" sz="1300" dirty="0"/>
              <a:t>END;</a:t>
            </a:r>
          </a:p>
          <a:p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DE341C89-9C68-5C3A-DEBD-E2DA7DD8B9A3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Uso de TABLE OF RECORD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Patrón para pasar conjuntos "</a:t>
            </a:r>
            <a:r>
              <a:rPr lang="es-ES" sz="1800" dirty="0" err="1"/>
              <a:t>row-like</a:t>
            </a:r>
            <a:r>
              <a:rPr lang="es-ES" sz="1800" dirty="0"/>
              <a:t>" entre procedimientos: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b="1" dirty="0"/>
              <a:t>TYPE </a:t>
            </a:r>
            <a:r>
              <a:rPr lang="es-ES" sz="1600" b="1" dirty="0" err="1"/>
              <a:t>t_items</a:t>
            </a:r>
            <a:r>
              <a:rPr lang="es-ES" sz="1600" b="1" dirty="0"/>
              <a:t> IS TABLE OF </a:t>
            </a:r>
            <a:r>
              <a:rPr lang="es-ES" sz="1600" b="1" dirty="0" err="1"/>
              <a:t>my_pkq.t_item</a:t>
            </a:r>
            <a:r>
              <a:rPr lang="es-ES" sz="1600" b="1" dirty="0"/>
              <a:t>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Mejora mantenimiento frente a tipos SQL, ya que no necesita recompilar dependencias externas.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735602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26BE-3977-48B7-7B0D-20CDA1E6F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75F1549-13F2-BF87-5D8A-A7AEDF50EDB8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281548B-C7E4-F2D7-B57F-9201C8577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 err="1"/>
              <a:t>Nested</a:t>
            </a:r>
            <a:r>
              <a:rPr lang="es-ES" sz="4400" dirty="0"/>
              <a:t> tables vs. </a:t>
            </a:r>
            <a:r>
              <a:rPr lang="es-ES" sz="4400" dirty="0" err="1"/>
              <a:t>VARRAYs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6A50455E-B27A-4B4C-AF19-6AF0E6779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E35D304D-FDA6-15ED-A90C-C5E3BFE3F5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9408B55-95AB-8DE8-8B36-F6D3B3F724FC}"/>
              </a:ext>
            </a:extLst>
          </p:cNvPr>
          <p:cNvSpPr txBox="1"/>
          <p:nvPr/>
        </p:nvSpPr>
        <p:spPr>
          <a:xfrm>
            <a:off x="261636" y="1311623"/>
            <a:ext cx="495843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TYPE </a:t>
            </a:r>
            <a:r>
              <a:rPr lang="en-US" sz="1300" dirty="0" err="1"/>
              <a:t>t_colors</a:t>
            </a:r>
            <a:r>
              <a:rPr lang="en-US" sz="1300" dirty="0"/>
              <a:t> IS VARRAY(5) OF VARCHAR2(20);</a:t>
            </a:r>
          </a:p>
          <a:p>
            <a:r>
              <a:rPr lang="en-US" sz="1300" dirty="0"/>
              <a:t>-- </a:t>
            </a:r>
            <a:r>
              <a:rPr lang="en-US" sz="1300" dirty="0" err="1"/>
              <a:t>Rápido</a:t>
            </a:r>
            <a:r>
              <a:rPr lang="en-US" sz="1300" dirty="0"/>
              <a:t>, </a:t>
            </a:r>
            <a:r>
              <a:rPr lang="en-US" sz="1300" dirty="0" err="1"/>
              <a:t>pero</a:t>
            </a:r>
            <a:r>
              <a:rPr lang="en-US" sz="1300" dirty="0"/>
              <a:t> no flexible. </a:t>
            </a:r>
          </a:p>
          <a:p>
            <a:endParaRPr lang="en-US" sz="1300" dirty="0"/>
          </a:p>
          <a:p>
            <a:r>
              <a:rPr lang="en-US" sz="1300" dirty="0"/>
              <a:t>TYPE </a:t>
            </a:r>
            <a:r>
              <a:rPr lang="en-US" sz="1300" dirty="0" err="1"/>
              <a:t>t_colors</a:t>
            </a:r>
            <a:r>
              <a:rPr lang="en-US" sz="1300" dirty="0"/>
              <a:t> IS TABLE OF VARCHAR2(20);</a:t>
            </a:r>
          </a:p>
          <a:p>
            <a:r>
              <a:rPr lang="es-ES" sz="1300" dirty="0"/>
              <a:t>--Permite operaciones tipo SQL (DELETE, MULTISET, etc.).</a:t>
            </a:r>
            <a:endParaRPr lang="en-US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4261A1E8-691D-1271-46C1-A21F9D72F6EC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 err="1"/>
              <a:t>Nested</a:t>
            </a:r>
            <a:r>
              <a:rPr lang="es-ES" sz="1800" dirty="0"/>
              <a:t> tables vs. </a:t>
            </a:r>
            <a:r>
              <a:rPr lang="es-ES" sz="1800" dirty="0" err="1"/>
              <a:t>VARRAYs</a:t>
            </a:r>
            <a:r>
              <a:rPr lang="es-ES" sz="1800" dirty="0"/>
              <a:t> (visión avanzada)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VARRAY: en memoria contigua → muy rápido, pero no escalar &gt; 100 elementos en la práctica.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 err="1"/>
              <a:t>Nested</a:t>
            </a:r>
            <a:r>
              <a:rPr lang="es-ES" sz="1800" dirty="0"/>
              <a:t> table: puede ser </a:t>
            </a:r>
            <a:r>
              <a:rPr lang="es-ES" sz="1800" dirty="0" err="1"/>
              <a:t>sparse</a:t>
            </a:r>
            <a:r>
              <a:rPr lang="es-ES" sz="1800" dirty="0"/>
              <a:t> y se puede almacenar en B-</a:t>
            </a:r>
            <a:r>
              <a:rPr lang="es-ES" sz="1800" dirty="0" err="1"/>
              <a:t>Tree</a:t>
            </a:r>
            <a:r>
              <a:rPr lang="es-ES" sz="18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En PL/SQL exclusivo suele ser más flexible.</a:t>
            </a:r>
            <a:endParaRPr lang="es-ES" sz="14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EAF1D7-4E46-8D98-0D8A-9FE2336B8B4D}"/>
              </a:ext>
            </a:extLst>
          </p:cNvPr>
          <p:cNvSpPr txBox="1"/>
          <p:nvPr/>
        </p:nvSpPr>
        <p:spPr>
          <a:xfrm>
            <a:off x="7343135" y="4731990"/>
            <a:ext cx="177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000" dirty="0">
                <a:solidFill>
                  <a:srgbClr val="FF6A00"/>
                </a:solidFill>
                <a:latin typeface="-apple-system"/>
              </a:rPr>
              <a:t>sesion3-nested-varray.sql</a:t>
            </a:r>
            <a:endParaRPr lang="es-ES" sz="1000" b="0" i="0" dirty="0">
              <a:solidFill>
                <a:srgbClr val="FF6A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99178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C7AC-CC63-AC33-95C1-793B1526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2ABA323-5C86-F62E-B24E-0FE885DE6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 err="1"/>
              <a:t>Nested</a:t>
            </a:r>
            <a:r>
              <a:rPr lang="es-ES" sz="4400" dirty="0"/>
              <a:t> tables vs. </a:t>
            </a:r>
            <a:r>
              <a:rPr lang="es-ES" sz="4400" dirty="0" err="1"/>
              <a:t>VARRAYs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E39A3BC-03B4-D1F7-B9CD-207D295D5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3C40913-3820-C331-5C2E-AB68A0CF57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6FE33FB6-CDDF-EC7A-113C-4C2D224631A2}"/>
              </a:ext>
            </a:extLst>
          </p:cNvPr>
          <p:cNvSpPr txBox="1">
            <a:spLocks/>
          </p:cNvSpPr>
          <p:nvPr/>
        </p:nvSpPr>
        <p:spPr>
          <a:xfrm>
            <a:off x="395536" y="1306682"/>
            <a:ext cx="8748464" cy="35693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s-ES" sz="1800" dirty="0"/>
              <a:t>VARRAY:</a:t>
            </a:r>
          </a:p>
          <a:p>
            <a:pPr marL="820738" lvl="2" indent="-285750"/>
            <a:r>
              <a:rPr lang="es-ES" sz="1600" dirty="0" err="1"/>
              <a:t>v_data</a:t>
            </a:r>
            <a:r>
              <a:rPr lang="es-ES" sz="1600" dirty="0"/>
              <a:t>(1) := valor → Modificar elemento</a:t>
            </a:r>
          </a:p>
          <a:p>
            <a:pPr marL="820738" lvl="2" indent="-285750"/>
            <a:r>
              <a:rPr lang="es-ES" sz="1600" dirty="0" err="1"/>
              <a:t>v_data.EXTEND</a:t>
            </a:r>
            <a:r>
              <a:rPr lang="es-ES" sz="1600" dirty="0"/>
              <a:t> → Añadir hasta límite</a:t>
            </a:r>
          </a:p>
          <a:p>
            <a:pPr marL="820738" lvl="2" indent="-285750"/>
            <a:r>
              <a:rPr lang="es-ES" sz="1600" dirty="0" err="1"/>
              <a:t>v_data.COUNT</a:t>
            </a:r>
            <a:r>
              <a:rPr lang="es-ES" sz="1600" dirty="0"/>
              <a:t> → Contar elementos</a:t>
            </a:r>
            <a:endParaRPr lang="es-ES" sz="1800" dirty="0"/>
          </a:p>
          <a:p>
            <a:pPr lvl="1"/>
            <a:r>
              <a:rPr lang="es-ES" sz="1800" dirty="0"/>
              <a:t>NESTED TABLE:</a:t>
            </a:r>
          </a:p>
          <a:p>
            <a:pPr marL="820738" lvl="2" indent="-285750"/>
            <a:r>
              <a:rPr lang="es-ES" sz="1600" dirty="0" err="1"/>
              <a:t>v_data</a:t>
            </a:r>
            <a:r>
              <a:rPr lang="es-ES" sz="1600" dirty="0"/>
              <a:t>(1) := valor → Modificar elemento</a:t>
            </a:r>
          </a:p>
          <a:p>
            <a:pPr marL="820738" lvl="2" indent="-285750"/>
            <a:r>
              <a:rPr lang="es-ES" sz="1600" dirty="0" err="1"/>
              <a:t>v_data.DELETE</a:t>
            </a:r>
            <a:r>
              <a:rPr lang="es-ES" sz="1600" dirty="0"/>
              <a:t>(n) → Eliminar elemento</a:t>
            </a:r>
          </a:p>
          <a:p>
            <a:pPr marL="820738" lvl="2" indent="-285750"/>
            <a:r>
              <a:rPr lang="es-ES" sz="1600" dirty="0" err="1"/>
              <a:t>v_data.EXTEND</a:t>
            </a:r>
            <a:r>
              <a:rPr lang="es-ES" sz="1600" dirty="0"/>
              <a:t>(n) → Añadir múltiples</a:t>
            </a:r>
          </a:p>
          <a:p>
            <a:pPr marL="820738" lvl="2" indent="-285750"/>
            <a:r>
              <a:rPr lang="es-ES" sz="1600" dirty="0"/>
              <a:t>Consulta con TABLE() → Acceso SQL directo</a:t>
            </a:r>
          </a:p>
          <a:p>
            <a:pPr marL="285750" lvl="1" indent="-285750"/>
            <a:r>
              <a:rPr lang="es-ES" sz="1800" dirty="0"/>
              <a:t>DIFERENCIAS CLAVE:</a:t>
            </a:r>
          </a:p>
          <a:p>
            <a:pPr marL="820738" lvl="2" indent="-285750"/>
            <a:r>
              <a:rPr lang="es-ES" sz="1600" dirty="0"/>
              <a:t>VARRAY: Tamaño fijo, orden preservado, mejor performance</a:t>
            </a:r>
          </a:p>
          <a:p>
            <a:pPr marL="820738" lvl="2" indent="-285750"/>
            <a:r>
              <a:rPr lang="es-ES" sz="1600" dirty="0"/>
              <a:t>NESTED: Tamaño variable, más operaciones, más flexible</a:t>
            </a:r>
          </a:p>
        </p:txBody>
      </p:sp>
    </p:spTree>
    <p:extLst>
      <p:ext uri="{BB962C8B-B14F-4D97-AF65-F5344CB8AC3E}">
        <p14:creationId xmlns:p14="http://schemas.microsoft.com/office/powerpoint/2010/main" val="3674081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B86FC-9E87-F83F-9D1B-8B97F839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926DEC4-BF8C-AF7A-7437-A4F94C913F2D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0E49C01-8823-9B85-C58F-97F69C594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BOOLEAN y tipos lógicos 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7405251-2417-46C3-3FED-6CD83190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8F65D8C-8453-4AB6-F212-75E875AA05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F2BBEF-C903-8BAC-9FAA-EC44A9A7615A}"/>
              </a:ext>
            </a:extLst>
          </p:cNvPr>
          <p:cNvSpPr txBox="1"/>
          <p:nvPr/>
        </p:nvSpPr>
        <p:spPr>
          <a:xfrm>
            <a:off x="261636" y="1311623"/>
            <a:ext cx="44543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SUBTYPE </a:t>
            </a:r>
            <a:r>
              <a:rPr lang="es-ES" sz="1300" dirty="0" err="1"/>
              <a:t>t_bool</a:t>
            </a:r>
            <a:r>
              <a:rPr lang="es-ES" sz="1300" dirty="0"/>
              <a:t> IS PLS_INTEGER RANGE 0..1;</a:t>
            </a:r>
          </a:p>
          <a:p>
            <a:endParaRPr lang="es-ES" sz="1300" dirty="0"/>
          </a:p>
          <a:p>
            <a:r>
              <a:rPr lang="en-US" sz="1300" dirty="0"/>
              <a:t>FUNCTION </a:t>
            </a:r>
            <a:r>
              <a:rPr lang="en-US" sz="1300" dirty="0" err="1"/>
              <a:t>bool_to_int</a:t>
            </a:r>
            <a:r>
              <a:rPr lang="en-US" sz="1300" dirty="0"/>
              <a:t>(b BOOLEAN) RETURN </a:t>
            </a:r>
            <a:r>
              <a:rPr lang="en-US" sz="1300" dirty="0" err="1"/>
              <a:t>t_bool</a:t>
            </a:r>
            <a:r>
              <a:rPr lang="en-US" sz="1300" dirty="0"/>
              <a:t> IS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RETURN CASE WHEN b THEN 1 ELSE 0 END;</a:t>
            </a:r>
          </a:p>
          <a:p>
            <a:r>
              <a:rPr lang="en-US" sz="1300" dirty="0"/>
              <a:t>END;</a:t>
            </a:r>
            <a:endParaRPr lang="es-ES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18FBDC49-6508-D9D6-B25B-4D5EBD78A44F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Oracle SQL no tiene BOOLEAN, pero PL/SQL sí.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Errores comunes que los expertos deben evitar: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Nunca exponer BOOLEAN en funciones de SQL.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Para interoperabilidad crear tus propios dominios: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600" b="1" dirty="0"/>
              <a:t>SUBTYPE </a:t>
            </a:r>
            <a:r>
              <a:rPr lang="es-ES" sz="1600" b="1" dirty="0" err="1"/>
              <a:t>t_bool</a:t>
            </a:r>
            <a:r>
              <a:rPr lang="es-ES" sz="1600" b="1" dirty="0"/>
              <a:t> IS PLS_INTEGER RANGE 0..1;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En API PL/SQL internas, BOOLEAN sigue siendo la opción óptima.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921115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7CEA-9166-4DB4-0195-8C5DD517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045D6B3-7C98-75CA-3240-84FC7BD5932A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0B2D559-1870-417B-D14A-531C8CE8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grandes, </a:t>
            </a:r>
            <a:r>
              <a:rPr lang="es-ES" sz="4400" dirty="0" err="1"/>
              <a:t>LOBs</a:t>
            </a:r>
            <a:r>
              <a:rPr lang="es-ES" sz="4400" dirty="0"/>
              <a:t> y optimización</a:t>
            </a:r>
          </a:p>
          <a:p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D21694D-A170-AC9C-7828-964394E7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49305C6B-8800-FBDC-D282-21FB4C7266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FB6285-0609-0E56-0B33-F45551040ECB}"/>
              </a:ext>
            </a:extLst>
          </p:cNvPr>
          <p:cNvSpPr txBox="1"/>
          <p:nvPr/>
        </p:nvSpPr>
        <p:spPr>
          <a:xfrm>
            <a:off x="261636" y="1311623"/>
            <a:ext cx="495843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v_clob</a:t>
            </a:r>
            <a:r>
              <a:rPr lang="es-ES" sz="1300" dirty="0"/>
              <a:t>  CLOB;</a:t>
            </a:r>
          </a:p>
          <a:p>
            <a:r>
              <a:rPr lang="es-ES" sz="1300" dirty="0"/>
              <a:t>    </a:t>
            </a:r>
            <a:r>
              <a:rPr lang="es-ES" sz="1300" dirty="0" err="1"/>
              <a:t>v_buf</a:t>
            </a:r>
            <a:r>
              <a:rPr lang="es-ES" sz="1300" dirty="0"/>
              <a:t>   VARCHAR2(32767);</a:t>
            </a:r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SELECT </a:t>
            </a:r>
            <a:r>
              <a:rPr lang="es-ES" sz="1300" dirty="0" err="1"/>
              <a:t>text</a:t>
            </a:r>
            <a:r>
              <a:rPr lang="es-ES" sz="1300" dirty="0"/>
              <a:t> INTO </a:t>
            </a:r>
            <a:r>
              <a:rPr lang="es-ES" sz="1300" dirty="0" err="1"/>
              <a:t>v_clob</a:t>
            </a:r>
            <a:r>
              <a:rPr lang="es-ES" sz="1300" dirty="0"/>
              <a:t> FROM </a:t>
            </a:r>
            <a:r>
              <a:rPr lang="es-ES" sz="1300" dirty="0" err="1"/>
              <a:t>clob_table</a:t>
            </a:r>
            <a:r>
              <a:rPr lang="es-ES" sz="1300" dirty="0"/>
              <a:t> WHERE id = 1;</a:t>
            </a:r>
          </a:p>
          <a:p>
            <a:endParaRPr lang="es-ES" sz="1300" dirty="0"/>
          </a:p>
          <a:p>
            <a:r>
              <a:rPr lang="es-ES" sz="1300" dirty="0"/>
              <a:t>    FOR i IN 1 .. CEIL(DBMS_LOB.GETLENGTH(</a:t>
            </a:r>
            <a:r>
              <a:rPr lang="es-ES" sz="1300" dirty="0" err="1"/>
              <a:t>v_clob</a:t>
            </a:r>
            <a:r>
              <a:rPr lang="es-ES" sz="1300" dirty="0"/>
              <a:t>) / 32767) LOOP</a:t>
            </a:r>
          </a:p>
          <a:p>
            <a:r>
              <a:rPr lang="es-ES" sz="1300" dirty="0"/>
              <a:t>        DBMS_LOB.READ(</a:t>
            </a:r>
            <a:r>
              <a:rPr lang="es-ES" sz="1300" dirty="0" err="1"/>
              <a:t>v_clob</a:t>
            </a:r>
            <a:r>
              <a:rPr lang="es-ES" sz="1300" dirty="0"/>
              <a:t>, 32767, (i-1)*32767 + 1, </a:t>
            </a:r>
            <a:r>
              <a:rPr lang="es-ES" sz="1300" dirty="0" err="1"/>
              <a:t>v_buf</a:t>
            </a:r>
            <a:r>
              <a:rPr lang="es-ES" sz="1300" dirty="0"/>
              <a:t>);</a:t>
            </a:r>
          </a:p>
          <a:p>
            <a:r>
              <a:rPr lang="es-ES" sz="1300" dirty="0"/>
              <a:t>        DBMS_OUTPUT.PUT_LINE(LENGTH(</a:t>
            </a:r>
            <a:r>
              <a:rPr lang="es-ES" sz="1300" dirty="0" err="1"/>
              <a:t>v_buf</a:t>
            </a:r>
            <a:r>
              <a:rPr lang="es-ES" sz="1300" dirty="0"/>
              <a:t>));</a:t>
            </a:r>
          </a:p>
          <a:p>
            <a:r>
              <a:rPr lang="es-ES" sz="1300" dirty="0"/>
              <a:t>    END LOOP;</a:t>
            </a:r>
          </a:p>
          <a:p>
            <a:r>
              <a:rPr lang="es-E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B57E5268-9886-0683-F6D5-78D20296BA1A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Tipos grandes, </a:t>
            </a:r>
            <a:r>
              <a:rPr lang="es-ES" sz="1800" dirty="0" err="1"/>
              <a:t>LOBs</a:t>
            </a:r>
            <a:r>
              <a:rPr lang="es-ES" sz="1800" dirty="0"/>
              <a:t> y optimización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CLOB y BLOB en memoria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Un CLOB leído en variable PL/SQL carga todo el contenido en PGA.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Para evitarlo:</a:t>
            </a:r>
          </a:p>
          <a:p>
            <a:pPr marL="820738" lvl="2" indent="-285750"/>
            <a:r>
              <a:rPr lang="es-ES" sz="1600" dirty="0"/>
              <a:t>Usar DBMS_LOB.SUBSTR por </a:t>
            </a:r>
            <a:r>
              <a:rPr lang="es-ES" sz="1600" dirty="0" err="1"/>
              <a:t>chunks</a:t>
            </a:r>
            <a:r>
              <a:rPr lang="es-ES" sz="1600" dirty="0"/>
              <a:t>.</a:t>
            </a:r>
          </a:p>
          <a:p>
            <a:pPr marL="820738" lvl="2" indent="-285750"/>
            <a:r>
              <a:rPr lang="es-ES" sz="1600" dirty="0"/>
              <a:t>Procesar en </a:t>
            </a:r>
            <a:r>
              <a:rPr lang="es-ES" sz="1600" dirty="0" err="1"/>
              <a:t>streaming</a:t>
            </a:r>
            <a:r>
              <a:rPr lang="es-ES" sz="1600" dirty="0"/>
              <a:t> con DBMS_LOB.READ.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Declaración eficiente-&gt;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Forzar el uso de LOB </a:t>
            </a:r>
            <a:r>
              <a:rPr lang="es-ES" sz="1800" dirty="0" err="1"/>
              <a:t>locators</a:t>
            </a:r>
            <a:r>
              <a:rPr lang="es-ES" sz="1800" dirty="0"/>
              <a:t>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b="1" dirty="0" err="1"/>
              <a:t>v_clob</a:t>
            </a:r>
            <a:r>
              <a:rPr lang="es-ES" sz="1800" b="1" dirty="0"/>
              <a:t> CLOB</a:t>
            </a:r>
            <a:r>
              <a:rPr lang="es-ES" sz="1800" dirty="0"/>
              <a:t>;  -- </a:t>
            </a:r>
            <a:r>
              <a:rPr lang="es-ES" sz="1800" dirty="0" err="1"/>
              <a:t>locator</a:t>
            </a:r>
            <a:r>
              <a:rPr lang="es-ES" sz="1800" dirty="0"/>
              <a:t>, no carga contenido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821126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0211-B228-9DF9-2565-C2072196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50FBD495-DF0D-057E-A9D6-6EEEE7C9B5A2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A751AAD-673A-B4EA-2D69-A0858DBB3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de cursor y tipos REF CURSOR</a:t>
            </a:r>
          </a:p>
          <a:p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0C6689B7-15EA-6A8B-3C3E-47DF2A7A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F8A66DA-1B81-4418-E526-673D57AB7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D03F9FE-DA06-92FA-747A-F85BB0DDAAE6}"/>
              </a:ext>
            </a:extLst>
          </p:cNvPr>
          <p:cNvSpPr txBox="1"/>
          <p:nvPr/>
        </p:nvSpPr>
        <p:spPr>
          <a:xfrm>
            <a:off x="261636" y="1311623"/>
            <a:ext cx="495843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TYPE </a:t>
            </a:r>
            <a:r>
              <a:rPr lang="en-US" sz="1300" dirty="0" err="1"/>
              <a:t>t_ref</a:t>
            </a:r>
            <a:r>
              <a:rPr lang="en-US" sz="1300" dirty="0"/>
              <a:t> IS REF CURSOR RETURN </a:t>
            </a:r>
            <a:r>
              <a:rPr lang="en-US" sz="1300" dirty="0" err="1"/>
              <a:t>emp%ROWTYPE</a:t>
            </a:r>
            <a:r>
              <a:rPr lang="en-US" sz="1300" dirty="0"/>
              <a:t>;</a:t>
            </a:r>
          </a:p>
          <a:p>
            <a:r>
              <a:rPr lang="en-US" sz="1300" dirty="0"/>
              <a:t>DECLARE</a:t>
            </a:r>
          </a:p>
          <a:p>
            <a:r>
              <a:rPr lang="en-US" sz="1300" dirty="0"/>
              <a:t>    c </a:t>
            </a:r>
            <a:r>
              <a:rPr lang="en-US" sz="1300" dirty="0" err="1"/>
              <a:t>t_ref</a:t>
            </a:r>
            <a:r>
              <a:rPr lang="en-US" sz="1300" dirty="0"/>
              <a:t>;</a:t>
            </a:r>
          </a:p>
          <a:p>
            <a:r>
              <a:rPr lang="en-US" sz="1300" dirty="0"/>
              <a:t>    r </a:t>
            </a:r>
            <a:r>
              <a:rPr lang="en-US" sz="1300" dirty="0" err="1"/>
              <a:t>emp%ROWTYPE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OPEN c FOR SELECT * FROM emp;</a:t>
            </a:r>
          </a:p>
          <a:p>
            <a:r>
              <a:rPr lang="en-US" sz="1300" dirty="0"/>
              <a:t>    FETCH c INTO r;</a:t>
            </a:r>
          </a:p>
          <a:p>
            <a:r>
              <a:rPr lang="en-US" sz="1300" dirty="0"/>
              <a:t>    CLOSE c;</a:t>
            </a:r>
          </a:p>
          <a:p>
            <a:r>
              <a:rPr lang="en-US" sz="1300" dirty="0"/>
              <a:t>END;</a:t>
            </a:r>
          </a:p>
          <a:p>
            <a:endParaRPr lang="en-US" sz="1300" dirty="0"/>
          </a:p>
          <a:p>
            <a:r>
              <a:rPr lang="en-US" sz="1300" dirty="0"/>
              <a:t>DECLARE</a:t>
            </a:r>
          </a:p>
          <a:p>
            <a:r>
              <a:rPr lang="en-US" sz="1300" dirty="0"/>
              <a:t>    c SYS_REFCURSOR;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v_ename</a:t>
            </a:r>
            <a:r>
              <a:rPr lang="en-US" sz="1300" dirty="0"/>
              <a:t> VARCHAR2(100);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OPEN c FOR 'SELECT </a:t>
            </a:r>
            <a:r>
              <a:rPr lang="en-US" sz="1300" dirty="0" err="1"/>
              <a:t>ename</a:t>
            </a:r>
            <a:r>
              <a:rPr lang="en-US" sz="1300" dirty="0"/>
              <a:t> FROM emp';</a:t>
            </a:r>
          </a:p>
          <a:p>
            <a:r>
              <a:rPr lang="en-US" sz="1300" dirty="0"/>
              <a:t>    FETCH c INTO </a:t>
            </a:r>
            <a:r>
              <a:rPr lang="en-US" sz="1300" dirty="0" err="1"/>
              <a:t>v_ename</a:t>
            </a:r>
            <a:r>
              <a:rPr lang="en-US" sz="1300" dirty="0"/>
              <a:t>;</a:t>
            </a:r>
          </a:p>
          <a:p>
            <a:r>
              <a:rPr lang="en-US" sz="1300" dirty="0"/>
              <a:t>    CLOSE c;</a:t>
            </a:r>
          </a:p>
          <a:p>
            <a:r>
              <a:rPr lang="en-US" sz="1300" dirty="0"/>
              <a:t>END;</a:t>
            </a:r>
          </a:p>
          <a:p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47707318-2ABF-8690-DBFD-16A3D01EEA02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REF CURSOR tipado vs. no tipado</a:t>
            </a:r>
          </a:p>
          <a:p>
            <a:pPr marL="820738" lvl="2" indent="-285750"/>
            <a:r>
              <a:rPr lang="es-ES" sz="1600" dirty="0"/>
              <a:t>Tipado: seguridad en compilación.</a:t>
            </a:r>
          </a:p>
          <a:p>
            <a:pPr marL="820738" lvl="2" indent="-285750"/>
            <a:r>
              <a:rPr lang="es-ES" sz="1600" dirty="0"/>
              <a:t>No tipado: flexibilidad máxima en </a:t>
            </a:r>
            <a:r>
              <a:rPr lang="es-ES" sz="1600" dirty="0" err="1"/>
              <a:t>APIs</a:t>
            </a:r>
            <a:r>
              <a:rPr lang="es-ES" sz="1600" dirty="0"/>
              <a:t> genéricas.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Patrón avanzado: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b="1" dirty="0"/>
              <a:t>TYPE </a:t>
            </a:r>
            <a:r>
              <a:rPr lang="es-ES" sz="1800" b="1" dirty="0" err="1"/>
              <a:t>t_ref</a:t>
            </a:r>
            <a:r>
              <a:rPr lang="es-ES" sz="1800" b="1" dirty="0"/>
              <a:t> IS REF CURSOR RETURN </a:t>
            </a:r>
            <a:r>
              <a:rPr lang="es-ES" sz="1800" b="1" dirty="0" err="1"/>
              <a:t>my_table%ROWTYPE</a:t>
            </a:r>
            <a:r>
              <a:rPr lang="es-ES" sz="1800" b="1" dirty="0"/>
              <a:t>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Recomendado en módulos donde se controla completamente el contrato.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364106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6D05-F359-7761-A28D-F7301FD6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EEBF427-27E7-EAD5-30DC-583F0B4EFC54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7B6E106-7C6B-9453-82EB-AD30E319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CONSTANT</a:t>
            </a:r>
            <a:endParaRPr lang="es-ES" sz="72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BF944BDA-AF39-0135-7B49-F2716C50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71AF53D-BEF9-B731-386A-CC0478D6B8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4358B96-305F-CC9F-086A-D543838A0BB3}"/>
              </a:ext>
            </a:extLst>
          </p:cNvPr>
          <p:cNvSpPr txBox="1"/>
          <p:nvPr/>
        </p:nvSpPr>
        <p:spPr>
          <a:xfrm>
            <a:off x="261636" y="1311623"/>
            <a:ext cx="495843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dirty="0"/>
              <a:t>DECLARE</a:t>
            </a:r>
          </a:p>
          <a:p>
            <a:r>
              <a:rPr lang="es-ES" sz="1300" dirty="0"/>
              <a:t>    TYPE </a:t>
            </a:r>
            <a:r>
              <a:rPr lang="es-ES" sz="1300" dirty="0" err="1"/>
              <a:t>t_cfg</a:t>
            </a:r>
            <a:r>
              <a:rPr lang="es-ES" sz="1300" dirty="0"/>
              <a:t> IS RECORD (</a:t>
            </a:r>
          </a:p>
          <a:p>
            <a:r>
              <a:rPr lang="es-ES" sz="1300" dirty="0"/>
              <a:t>        a PLS_INTEGER,</a:t>
            </a:r>
          </a:p>
          <a:p>
            <a:r>
              <a:rPr lang="es-ES" sz="1300" dirty="0"/>
              <a:t>        b VARCHAR2(20)</a:t>
            </a:r>
          </a:p>
          <a:p>
            <a:r>
              <a:rPr lang="es-ES" sz="1300" dirty="0"/>
              <a:t>    );</a:t>
            </a:r>
          </a:p>
          <a:p>
            <a:endParaRPr lang="es-ES" sz="1300" dirty="0"/>
          </a:p>
          <a:p>
            <a:r>
              <a:rPr lang="es-ES" sz="1300" dirty="0"/>
              <a:t>    </a:t>
            </a:r>
            <a:r>
              <a:rPr lang="es-ES" sz="1300" dirty="0" err="1"/>
              <a:t>cfg</a:t>
            </a:r>
            <a:r>
              <a:rPr lang="es-ES" sz="1300" dirty="0"/>
              <a:t> CONSTANT </a:t>
            </a:r>
            <a:r>
              <a:rPr lang="es-ES" sz="1300" dirty="0" err="1"/>
              <a:t>t_cfg</a:t>
            </a:r>
            <a:r>
              <a:rPr lang="es-ES" sz="1300" dirty="0"/>
              <a:t> := </a:t>
            </a:r>
            <a:r>
              <a:rPr lang="es-ES" sz="1300" dirty="0" err="1"/>
              <a:t>t_cfg</a:t>
            </a:r>
            <a:r>
              <a:rPr lang="es-ES" sz="1300" dirty="0"/>
              <a:t>(10, 'OK');</a:t>
            </a:r>
          </a:p>
          <a:p>
            <a:r>
              <a:rPr lang="es-ES" sz="1300" dirty="0"/>
              <a:t>BEGIN</a:t>
            </a:r>
          </a:p>
          <a:p>
            <a:r>
              <a:rPr lang="es-ES" sz="1300" dirty="0"/>
              <a:t>    DBMS_OUTPUT.PUT_LINE(</a:t>
            </a:r>
            <a:r>
              <a:rPr lang="es-ES" sz="1300" dirty="0" err="1"/>
              <a:t>cfg.b</a:t>
            </a:r>
            <a:r>
              <a:rPr lang="es-ES" sz="1300" dirty="0"/>
              <a:t>);</a:t>
            </a:r>
          </a:p>
          <a:p>
            <a:r>
              <a:rPr lang="es-E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BE9ED5EE-95A1-BDCB-6D9C-EEE25D36B797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Uso experto de CONSTANT y semántica inmutable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CONSTANT sobre RECORD / TABLE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 err="1"/>
              <a:t>v_codes</a:t>
            </a:r>
            <a:r>
              <a:rPr lang="es-ES" sz="1800" dirty="0"/>
              <a:t> CONSTANT </a:t>
            </a:r>
            <a:r>
              <a:rPr lang="es-ES" sz="1800" dirty="0" err="1"/>
              <a:t>t_code_table</a:t>
            </a:r>
            <a:r>
              <a:rPr lang="es-ES" sz="1800" dirty="0"/>
              <a:t> := </a:t>
            </a:r>
            <a:r>
              <a:rPr lang="es-ES" sz="1800" dirty="0" err="1"/>
              <a:t>t_code_table</a:t>
            </a:r>
            <a:r>
              <a:rPr lang="es-ES" sz="1800" dirty="0"/>
              <a:t>('A', 'B', 'C');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Ventaja: evitar asignaciones repetidas en </a:t>
            </a:r>
            <a:r>
              <a:rPr lang="es-ES" sz="1800" dirty="0" err="1"/>
              <a:t>loops</a:t>
            </a:r>
            <a:r>
              <a:rPr lang="es-E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7384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93DE-4F65-3AFA-AF52-E32E414F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20E21-1A75-40A5-6371-1D9773499C71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84DA2E3E-E149-2EEF-EA1F-3D502A666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Tipos definidos en paquetes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3E19475-A79E-704A-D1C9-8B810F07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A371598-252B-202C-5180-955DCC00A7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650B232-8855-E225-7728-DCE597CDD0E8}"/>
              </a:ext>
            </a:extLst>
          </p:cNvPr>
          <p:cNvSpPr txBox="1"/>
          <p:nvPr/>
        </p:nvSpPr>
        <p:spPr>
          <a:xfrm>
            <a:off x="261636" y="1311623"/>
            <a:ext cx="445438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PACKAGE </a:t>
            </a:r>
            <a:r>
              <a:rPr lang="en-US" sz="1300" dirty="0" err="1"/>
              <a:t>order_dom</a:t>
            </a:r>
            <a:r>
              <a:rPr lang="en-US" sz="1300" dirty="0"/>
              <a:t> IS</a:t>
            </a:r>
          </a:p>
          <a:p>
            <a:r>
              <a:rPr lang="en-US" sz="1300" dirty="0"/>
              <a:t>    SUBTYPE id IS NUMBER(12);</a:t>
            </a:r>
          </a:p>
          <a:p>
            <a:r>
              <a:rPr lang="en-US" sz="1300" dirty="0"/>
              <a:t>    SUBTYPE amount IS NUMBER(10,2);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t_order</a:t>
            </a:r>
            <a:r>
              <a:rPr lang="en-US" sz="1300" dirty="0"/>
              <a:t> IS RECORD (</a:t>
            </a:r>
          </a:p>
          <a:p>
            <a:r>
              <a:rPr lang="en-US" sz="1300" dirty="0"/>
              <a:t>        id      </a:t>
            </a:r>
            <a:r>
              <a:rPr lang="en-US" sz="1300" dirty="0" err="1"/>
              <a:t>id</a:t>
            </a:r>
            <a:r>
              <a:rPr lang="en-US" sz="1300" dirty="0"/>
              <a:t>,</a:t>
            </a:r>
          </a:p>
          <a:p>
            <a:r>
              <a:rPr lang="en-US" sz="1300" dirty="0"/>
              <a:t>        amount  </a:t>
            </a:r>
            <a:r>
              <a:rPr lang="en-US" sz="1300" dirty="0" err="1"/>
              <a:t>amount</a:t>
            </a:r>
            <a:r>
              <a:rPr lang="en-US" sz="1300" dirty="0"/>
              <a:t>,</a:t>
            </a:r>
          </a:p>
          <a:p>
            <a:r>
              <a:rPr lang="en-US" sz="1300" dirty="0"/>
              <a:t>        status  VARCHAR2(10)</a:t>
            </a:r>
          </a:p>
          <a:p>
            <a:r>
              <a:rPr lang="en-US" sz="1300" dirty="0"/>
              <a:t>    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3E599B72-C881-F131-61F6-FD98946DBDB5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Razones para definir todos los tipos en un paquete</a:t>
            </a:r>
          </a:p>
          <a:p>
            <a:pPr marL="820738" lvl="2" indent="-285750"/>
            <a:r>
              <a:rPr lang="es-ES" sz="1600" dirty="0"/>
              <a:t>Encapsulación.</a:t>
            </a:r>
          </a:p>
          <a:p>
            <a:pPr marL="820738" lvl="2" indent="-285750"/>
            <a:r>
              <a:rPr lang="es-ES" sz="1600" dirty="0"/>
              <a:t>Estructura estable para mantenimiento.</a:t>
            </a:r>
          </a:p>
          <a:p>
            <a:pPr marL="820738" lvl="2" indent="-285750"/>
            <a:r>
              <a:rPr lang="es-ES" sz="1600" dirty="0"/>
              <a:t>Minimiza invalidación por </a:t>
            </a:r>
            <a:r>
              <a:rPr lang="es-ES" sz="1600" dirty="0" err="1"/>
              <a:t>recompilación</a:t>
            </a:r>
            <a:r>
              <a:rPr lang="es-ES" sz="16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Paquete como módulo de dominio</a:t>
            </a:r>
          </a:p>
        </p:txBody>
      </p:sp>
    </p:spTree>
    <p:extLst>
      <p:ext uri="{BB962C8B-B14F-4D97-AF65-F5344CB8AC3E}">
        <p14:creationId xmlns:p14="http://schemas.microsoft.com/office/powerpoint/2010/main" val="10604681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406F-2A62-9722-BC74-EDEE778D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9B4493E-ED35-C6FD-7C7C-992CFEDA1269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527997E-3641-5A5F-25F6-FD23E1F68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Declaraciones para paralelismo 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7D17684-6C42-0331-9E5F-21C901FA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3DCEB35-E877-CB47-B022-B730EC5AD4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24C0CC-2BB0-0F5D-B704-FC86B24D58B2}"/>
              </a:ext>
            </a:extLst>
          </p:cNvPr>
          <p:cNvSpPr txBox="1"/>
          <p:nvPr/>
        </p:nvSpPr>
        <p:spPr>
          <a:xfrm>
            <a:off x="261636" y="1311623"/>
            <a:ext cx="445438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PACKAGE </a:t>
            </a:r>
            <a:r>
              <a:rPr lang="en-US" sz="1300" dirty="0" err="1"/>
              <a:t>order_dom</a:t>
            </a:r>
            <a:r>
              <a:rPr lang="en-US" sz="1300" dirty="0"/>
              <a:t> IS</a:t>
            </a:r>
          </a:p>
          <a:p>
            <a:r>
              <a:rPr lang="en-US" sz="1300" dirty="0"/>
              <a:t>    SUBTYPE id IS NUMBER(12);</a:t>
            </a:r>
          </a:p>
          <a:p>
            <a:r>
              <a:rPr lang="en-US" sz="1300" dirty="0"/>
              <a:t>    SUBTYPE amount IS NUMBER(10,2);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t_order</a:t>
            </a:r>
            <a:r>
              <a:rPr lang="en-US" sz="1300" dirty="0"/>
              <a:t> IS RECORD (</a:t>
            </a:r>
          </a:p>
          <a:p>
            <a:r>
              <a:rPr lang="en-US" sz="1300" dirty="0"/>
              <a:t>        id      </a:t>
            </a:r>
            <a:r>
              <a:rPr lang="en-US" sz="1300" dirty="0" err="1"/>
              <a:t>id</a:t>
            </a:r>
            <a:r>
              <a:rPr lang="en-US" sz="1300" dirty="0"/>
              <a:t>,</a:t>
            </a:r>
          </a:p>
          <a:p>
            <a:r>
              <a:rPr lang="en-US" sz="1300" dirty="0"/>
              <a:t>        amount  </a:t>
            </a:r>
            <a:r>
              <a:rPr lang="en-US" sz="1300" dirty="0" err="1"/>
              <a:t>amount</a:t>
            </a:r>
            <a:r>
              <a:rPr lang="en-US" sz="1300" dirty="0"/>
              <a:t>,</a:t>
            </a:r>
          </a:p>
          <a:p>
            <a:r>
              <a:rPr lang="en-US" sz="1300" dirty="0"/>
              <a:t>        status  VARCHAR2(10)</a:t>
            </a:r>
          </a:p>
          <a:p>
            <a:r>
              <a:rPr lang="en-US" sz="1300" dirty="0"/>
              <a:t>    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1FBCEFBB-EB0A-A9FB-9900-AA3745FA8039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Declaraciones para paralelismo y optimización en PLSQL nativo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Declaraciones alineadas con NOCACHE, </a:t>
            </a:r>
            <a:r>
              <a:rPr lang="es-ES" sz="1800" dirty="0" err="1"/>
              <a:t>deterministic</a:t>
            </a:r>
            <a:r>
              <a:rPr lang="es-ES" sz="1800" dirty="0"/>
              <a:t>, etc..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Tipos inmutables → mejores para funciones marcadas como DETERMINISTIC.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Declarar variables en código compilado nativo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Activar:</a:t>
            </a:r>
          </a:p>
          <a:p>
            <a:pPr marL="820738" lvl="2" indent="-285750"/>
            <a:r>
              <a:rPr lang="es-ES" sz="1600" dirty="0"/>
              <a:t>ALTER SESSION SET </a:t>
            </a:r>
            <a:r>
              <a:rPr lang="es-ES" sz="1600" dirty="0" err="1"/>
              <a:t>plsql_code_type</a:t>
            </a:r>
            <a:r>
              <a:rPr lang="es-ES" sz="1600" dirty="0"/>
              <a:t> = 'NATIVE';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Variables de tipo SIMPLE_INTEGER o BINARY_INTEGER  ofrecen mejoras reales en pipelines numéricos.</a:t>
            </a:r>
          </a:p>
        </p:txBody>
      </p:sp>
    </p:spTree>
    <p:extLst>
      <p:ext uri="{BB962C8B-B14F-4D97-AF65-F5344CB8AC3E}">
        <p14:creationId xmlns:p14="http://schemas.microsoft.com/office/powerpoint/2010/main" val="3135803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D2D2-1AC6-B222-A558-97322872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>
            <a:extLst>
              <a:ext uri="{FF2B5EF4-FFF2-40B4-BE49-F238E27FC236}">
                <a16:creationId xmlns:a16="http://schemas.microsoft.com/office/drawing/2014/main" id="{7D1E7AFA-7189-5597-569B-5F7CCE61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de </a:t>
            </a:r>
            <a:r>
              <a:rPr lang="en-US" dirty="0" err="1"/>
              <a:t>flujo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PL/SQL (IF, CASE, LOOP, WHILE)</a:t>
            </a:r>
            <a:endParaRPr lang="es-ES" dirty="0"/>
          </a:p>
        </p:txBody>
      </p:sp>
      <p:sp>
        <p:nvSpPr>
          <p:cNvPr id="6" name="5 Marcador de texto">
            <a:extLst>
              <a:ext uri="{FF2B5EF4-FFF2-40B4-BE49-F238E27FC236}">
                <a16:creationId xmlns:a16="http://schemas.microsoft.com/office/drawing/2014/main" id="{9CD7A3D8-BD52-7CCA-2DBA-6824CD7D0E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2200969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48B8D-06EA-5C01-29BF-1D62F2CAE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62651DC-A861-EACE-C323-8FF9E39FECAD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26072A1-AB2C-D39C-CBA4-E4CF58C29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IF con evaluación corta (short-</a:t>
            </a:r>
            <a:r>
              <a:rPr lang="es-ES" sz="4400" dirty="0" err="1"/>
              <a:t>circuit</a:t>
            </a:r>
            <a:r>
              <a:rPr lang="es-ES" sz="4400" dirty="0"/>
              <a:t>)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FDB1C4E-0B59-3D4A-C631-CCC1A8F7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A7C710A-E341-8712-2FDE-B427F21D77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E67998-36FB-8EB8-7103-6FE74F6D41DF}"/>
              </a:ext>
            </a:extLst>
          </p:cNvPr>
          <p:cNvSpPr txBox="1"/>
          <p:nvPr/>
        </p:nvSpPr>
        <p:spPr>
          <a:xfrm>
            <a:off x="261636" y="1311623"/>
            <a:ext cx="44543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IF </a:t>
            </a:r>
            <a:r>
              <a:rPr lang="en-US" sz="1300" dirty="0" err="1"/>
              <a:t>v_obj</a:t>
            </a:r>
            <a:r>
              <a:rPr lang="en-US" sz="1300" dirty="0"/>
              <a:t> IS NOT NULL AND </a:t>
            </a:r>
            <a:r>
              <a:rPr lang="en-US" sz="1300" dirty="0" err="1"/>
              <a:t>v_obj.status</a:t>
            </a:r>
            <a:r>
              <a:rPr lang="en-US" sz="1300" dirty="0"/>
              <a:t> = 'ACTIVE' THEN</a:t>
            </a:r>
          </a:p>
          <a:p>
            <a:r>
              <a:rPr lang="en-US" sz="1300" dirty="0"/>
              <a:t>    process(</a:t>
            </a:r>
            <a:r>
              <a:rPr lang="en-US" sz="1300" dirty="0" err="1"/>
              <a:t>v_obj</a:t>
            </a:r>
            <a:r>
              <a:rPr lang="en-US" sz="1300" dirty="0"/>
              <a:t>);</a:t>
            </a:r>
          </a:p>
          <a:p>
            <a:r>
              <a:rPr lang="en-US" sz="1300" dirty="0"/>
              <a:t>END IF;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EA38F0D3-3038-0900-1FD2-688211BE7BF7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PL/SQL evalúa condiciones de izquierda a derecha y detiene la evaluación cuando ya sabe el resultado.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Esto se usa para construir condiciones seguras.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Explicación:</a:t>
            </a:r>
          </a:p>
          <a:p>
            <a:pPr marL="820738" lvl="2" indent="-285750"/>
            <a:r>
              <a:rPr lang="es-ES" sz="1600" dirty="0"/>
              <a:t>El segundo predicado solo se evalúa si </a:t>
            </a:r>
            <a:r>
              <a:rPr lang="es-ES" sz="1600" dirty="0" err="1"/>
              <a:t>v_obj</a:t>
            </a:r>
            <a:r>
              <a:rPr lang="es-ES" sz="1600" dirty="0"/>
              <a:t> IS NOT NULL.</a:t>
            </a:r>
          </a:p>
          <a:p>
            <a:pPr marL="820738" lvl="2" indent="-285750"/>
            <a:r>
              <a:rPr lang="es-ES" sz="1600" dirty="0"/>
              <a:t>Esto evita un posible </a:t>
            </a:r>
            <a:r>
              <a:rPr lang="es-ES" sz="1600" dirty="0" err="1"/>
              <a:t>value_error</a:t>
            </a:r>
            <a:r>
              <a:rPr lang="es-ES" sz="1600" dirty="0"/>
              <a:t>.</a:t>
            </a:r>
          </a:p>
          <a:p>
            <a:pPr marL="820738" lvl="2" indent="-285750"/>
            <a:r>
              <a:rPr lang="es-ES" sz="1600" dirty="0"/>
              <a:t>Útil al acceder a RECORDS, objetos, LOB </a:t>
            </a:r>
            <a:r>
              <a:rPr lang="es-ES" sz="1600" dirty="0" err="1"/>
              <a:t>locators</a:t>
            </a:r>
            <a:r>
              <a:rPr lang="es-ES" sz="1600" dirty="0"/>
              <a:t> o punteros.</a:t>
            </a:r>
          </a:p>
        </p:txBody>
      </p:sp>
    </p:spTree>
    <p:extLst>
      <p:ext uri="{BB962C8B-B14F-4D97-AF65-F5344CB8AC3E}">
        <p14:creationId xmlns:p14="http://schemas.microsoft.com/office/powerpoint/2010/main" val="41957009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7034-B545-762C-F8EC-85275824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E40D645-B3BD-5A75-D9F5-5AB864E967B9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250F607-C340-9E7D-0C97-DF46B6B4E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IF con condiciones "</a:t>
            </a:r>
            <a:r>
              <a:rPr lang="es-ES" sz="4400" dirty="0" err="1"/>
              <a:t>guard</a:t>
            </a:r>
            <a:r>
              <a:rPr lang="es-ES" sz="4400" dirty="0"/>
              <a:t> </a:t>
            </a:r>
            <a:r>
              <a:rPr lang="es-ES" sz="4400" dirty="0" err="1"/>
              <a:t>clauses</a:t>
            </a:r>
            <a:r>
              <a:rPr lang="es-ES" sz="4400" dirty="0"/>
              <a:t>" (patrón recomendado)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B6E10AC-28E6-413E-0E3D-F5F7EC9D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E7375B96-9FA3-286F-57DD-A888532D56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14587A7-63CA-5140-1405-AA3E4045CB9C}"/>
              </a:ext>
            </a:extLst>
          </p:cNvPr>
          <p:cNvSpPr txBox="1"/>
          <p:nvPr/>
        </p:nvSpPr>
        <p:spPr>
          <a:xfrm>
            <a:off x="261636" y="1311623"/>
            <a:ext cx="44543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IF </a:t>
            </a:r>
            <a:r>
              <a:rPr lang="en-US" sz="1300" dirty="0" err="1"/>
              <a:t>v_amount</a:t>
            </a:r>
            <a:r>
              <a:rPr lang="en-US" sz="1300" dirty="0"/>
              <a:t> &lt;= 0 THEN</a:t>
            </a:r>
          </a:p>
          <a:p>
            <a:r>
              <a:rPr lang="en-US" sz="1300" dirty="0"/>
              <a:t>    RETURN NULL;</a:t>
            </a:r>
          </a:p>
          <a:p>
            <a:r>
              <a:rPr lang="en-US" sz="1300" dirty="0"/>
              <a:t>END IF;</a:t>
            </a:r>
          </a:p>
          <a:p>
            <a:endParaRPr lang="en-US" sz="1300" dirty="0"/>
          </a:p>
          <a:p>
            <a:r>
              <a:rPr lang="en-US" sz="1300" dirty="0"/>
              <a:t>IF </a:t>
            </a:r>
            <a:r>
              <a:rPr lang="en-US" sz="1300" dirty="0" err="1"/>
              <a:t>v_customer_id</a:t>
            </a:r>
            <a:r>
              <a:rPr lang="en-US" sz="1300" dirty="0"/>
              <a:t> IS NULL THEN</a:t>
            </a:r>
          </a:p>
          <a:p>
            <a:r>
              <a:rPr lang="en-US" sz="1300" dirty="0"/>
              <a:t>    RAISE_APPLICATION_ERROR(-20001, 'Customer required');</a:t>
            </a:r>
          </a:p>
          <a:p>
            <a:r>
              <a:rPr lang="en-US" sz="1300" dirty="0"/>
              <a:t>END IF;</a:t>
            </a:r>
          </a:p>
          <a:p>
            <a:endParaRPr lang="en-US" sz="1300" dirty="0"/>
          </a:p>
          <a:p>
            <a:r>
              <a:rPr lang="en-US" sz="1300" dirty="0"/>
              <a:t>-- Código </a:t>
            </a:r>
            <a:r>
              <a:rPr lang="en-US" sz="1300" dirty="0" err="1"/>
              <a:t>limpio</a:t>
            </a:r>
            <a:r>
              <a:rPr lang="en-US" sz="1300" dirty="0"/>
              <a:t> sin </a:t>
            </a:r>
            <a:r>
              <a:rPr lang="en-US" sz="1300" dirty="0" err="1"/>
              <a:t>anidaciones</a:t>
            </a:r>
            <a:endParaRPr lang="en-US" sz="1300" dirty="0"/>
          </a:p>
          <a:p>
            <a:r>
              <a:rPr lang="en-US" sz="1300" dirty="0" err="1"/>
              <a:t>process_order</a:t>
            </a:r>
            <a:r>
              <a:rPr lang="en-US" sz="1300" dirty="0"/>
              <a:t>(</a:t>
            </a:r>
            <a:r>
              <a:rPr lang="en-US" sz="1300" dirty="0" err="1"/>
              <a:t>v_customer_id</a:t>
            </a:r>
            <a:r>
              <a:rPr lang="en-US" sz="1300" dirty="0"/>
              <a:t>, </a:t>
            </a:r>
            <a:r>
              <a:rPr lang="en-US" sz="1300" dirty="0" err="1"/>
              <a:t>v_amount</a:t>
            </a:r>
            <a:r>
              <a:rPr lang="en-US" sz="1300" dirty="0"/>
              <a:t>);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710F0D4C-D127-4731-51CB-130E164488BE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En código complejo, se recomienda salida temprana para evitar anidación profunda.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Explicación:</a:t>
            </a:r>
          </a:p>
          <a:p>
            <a:pPr marL="820738" lvl="2" indent="-285750"/>
            <a:r>
              <a:rPr lang="es-ES" sz="1600" dirty="0"/>
              <a:t>Patrón de ingeniería: “</a:t>
            </a:r>
            <a:r>
              <a:rPr lang="es-ES" sz="1600" dirty="0" err="1"/>
              <a:t>Fail</a:t>
            </a:r>
            <a:r>
              <a:rPr lang="es-ES" sz="1600" dirty="0"/>
              <a:t> </a:t>
            </a:r>
            <a:r>
              <a:rPr lang="es-ES" sz="1600" dirty="0" err="1"/>
              <a:t>fast</a:t>
            </a:r>
            <a:r>
              <a:rPr lang="es-ES" sz="1600" dirty="0"/>
              <a:t>”.</a:t>
            </a:r>
          </a:p>
          <a:p>
            <a:pPr marL="820738" lvl="2" indent="-285750"/>
            <a:r>
              <a:rPr lang="es-ES" sz="1600" dirty="0"/>
              <a:t>Reduce complejidad y mejora </a:t>
            </a:r>
            <a:r>
              <a:rPr lang="es-ES" sz="1600" dirty="0" err="1"/>
              <a:t>testabilidad</a:t>
            </a:r>
            <a:r>
              <a:rPr lang="es-ES" sz="1600" dirty="0"/>
              <a:t>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4279130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370D-8DC2-E4B3-378E-AAAE4027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7148302-86ED-C8B3-C399-4A59EB4EEDCF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D44841A-AE01-DCDF-E85E-753B9A015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CASE como expresión (no solo como sentencia)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D21A051-E486-57BD-53A4-57C2BAE3D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2F541AB-8081-E1F6-2826-5D29F580FA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BB714DD-C534-243A-6DFE-21AC4C6BBCF5}"/>
              </a:ext>
            </a:extLst>
          </p:cNvPr>
          <p:cNvSpPr txBox="1"/>
          <p:nvPr/>
        </p:nvSpPr>
        <p:spPr>
          <a:xfrm>
            <a:off x="261636" y="1311623"/>
            <a:ext cx="44543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 err="1"/>
              <a:t>v_priority</a:t>
            </a:r>
            <a:r>
              <a:rPr lang="en-US" sz="1300" dirty="0"/>
              <a:t> := CASE</a:t>
            </a:r>
          </a:p>
          <a:p>
            <a:r>
              <a:rPr lang="en-US" sz="1300" dirty="0"/>
              <a:t>    WHEN </a:t>
            </a:r>
            <a:r>
              <a:rPr lang="en-US" sz="1300" dirty="0" err="1"/>
              <a:t>v_status</a:t>
            </a:r>
            <a:r>
              <a:rPr lang="en-US" sz="1300" dirty="0"/>
              <a:t> IN ('CRITICAL','BLOCKER') THEN 1</a:t>
            </a:r>
          </a:p>
          <a:p>
            <a:r>
              <a:rPr lang="en-US" sz="1300" dirty="0"/>
              <a:t>    WHEN </a:t>
            </a:r>
            <a:r>
              <a:rPr lang="en-US" sz="1300" dirty="0" err="1"/>
              <a:t>v_status</a:t>
            </a:r>
            <a:r>
              <a:rPr lang="en-US" sz="1300" dirty="0"/>
              <a:t> = 'HIGH' THEN 2</a:t>
            </a:r>
          </a:p>
          <a:p>
            <a:r>
              <a:rPr lang="en-US" sz="1300" dirty="0"/>
              <a:t>    ELSE 3</a:t>
            </a:r>
          </a:p>
          <a:p>
            <a:r>
              <a:rPr lang="en-US" sz="1300" dirty="0"/>
              <a:t>END;</a:t>
            </a:r>
          </a:p>
          <a:p>
            <a:r>
              <a:rPr lang="en-US" sz="1300" dirty="0"/>
              <a:t>-- Código </a:t>
            </a:r>
            <a:r>
              <a:rPr lang="en-US" sz="1300" dirty="0" err="1"/>
              <a:t>limpio</a:t>
            </a:r>
            <a:r>
              <a:rPr lang="en-US" sz="1300" dirty="0"/>
              <a:t> sin </a:t>
            </a:r>
            <a:r>
              <a:rPr lang="en-US" sz="1300" dirty="0" err="1"/>
              <a:t>anidaciones</a:t>
            </a:r>
            <a:endParaRPr lang="en-US" sz="1300" dirty="0"/>
          </a:p>
          <a:p>
            <a:r>
              <a:rPr lang="en-US" sz="1300" dirty="0" err="1"/>
              <a:t>process_order</a:t>
            </a:r>
            <a:r>
              <a:rPr lang="en-US" sz="1300" dirty="0"/>
              <a:t>(</a:t>
            </a:r>
            <a:r>
              <a:rPr lang="en-US" sz="1300" dirty="0" err="1"/>
              <a:t>v_customer_id</a:t>
            </a:r>
            <a:r>
              <a:rPr lang="en-US" sz="1300" dirty="0"/>
              <a:t>, </a:t>
            </a:r>
            <a:r>
              <a:rPr lang="en-US" sz="1300" dirty="0" err="1"/>
              <a:t>v_amount</a:t>
            </a:r>
            <a:r>
              <a:rPr lang="en-US" sz="1300" dirty="0"/>
              <a:t>);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E23DE889-A01E-1AC1-0A79-BBE504A18F5B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El CASE expresivo evalúa a un valor, lo que permite lógica compacta y atómica.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Explicación:</a:t>
            </a:r>
          </a:p>
          <a:p>
            <a:pPr marL="820738" lvl="2" indent="-285750"/>
            <a:r>
              <a:rPr lang="es-ES" sz="1600" dirty="0"/>
              <a:t>Se evalúa una sola vez.</a:t>
            </a:r>
          </a:p>
          <a:p>
            <a:pPr marL="820738" lvl="2" indent="-285750"/>
            <a:r>
              <a:rPr lang="es-ES" sz="1600" dirty="0"/>
              <a:t>Útil en SELECT INTO y asignaciones.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6810775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C91D-C1E2-A7B8-CAE2-B8308CB2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6391654-1FF8-83A3-AD5B-040E2A1E22E2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3DCA42CF-4A3C-3FFB-0EC6-749839925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CASE buscado vs. CASE simple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AB68992-CE0C-AE1D-C457-C9F53100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052B4ECA-D69D-06FE-A547-66FD0510F8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CA18AF5-4FF6-046A-5FE8-FA0A1E17513A}"/>
              </a:ext>
            </a:extLst>
          </p:cNvPr>
          <p:cNvSpPr txBox="1"/>
          <p:nvPr/>
        </p:nvSpPr>
        <p:spPr>
          <a:xfrm>
            <a:off x="261636" y="1311623"/>
            <a:ext cx="445438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 err="1"/>
              <a:t>v_categoria</a:t>
            </a:r>
            <a:r>
              <a:rPr lang="en-US" sz="1300" dirty="0"/>
              <a:t> := CASE</a:t>
            </a:r>
          </a:p>
          <a:p>
            <a:r>
              <a:rPr lang="en-US" sz="1300" dirty="0"/>
              <a:t>    WHEN </a:t>
            </a:r>
            <a:r>
              <a:rPr lang="en-US" sz="1300" dirty="0" err="1"/>
              <a:t>v_score</a:t>
            </a:r>
            <a:r>
              <a:rPr lang="en-US" sz="1300" dirty="0"/>
              <a:t> &gt;= 90 AND </a:t>
            </a:r>
            <a:r>
              <a:rPr lang="en-US" sz="1300" dirty="0" err="1"/>
              <a:t>v_asistencia</a:t>
            </a:r>
            <a:r>
              <a:rPr lang="en-US" sz="1300" dirty="0"/>
              <a:t> &gt; 80 THEN '</a:t>
            </a:r>
            <a:r>
              <a:rPr lang="en-US" sz="1300" dirty="0" err="1"/>
              <a:t>Excelente</a:t>
            </a:r>
            <a:r>
              <a:rPr lang="en-US" sz="1300" dirty="0"/>
              <a:t>'</a:t>
            </a:r>
          </a:p>
          <a:p>
            <a:r>
              <a:rPr lang="en-US" sz="1300" dirty="0"/>
              <a:t>    WHEN </a:t>
            </a:r>
            <a:r>
              <a:rPr lang="en-US" sz="1300" dirty="0" err="1"/>
              <a:t>v_score</a:t>
            </a:r>
            <a:r>
              <a:rPr lang="en-US" sz="1300" dirty="0"/>
              <a:t> BETWEEN 70 AND 89 OR </a:t>
            </a:r>
            <a:r>
              <a:rPr lang="en-US" sz="1300" dirty="0" err="1"/>
              <a:t>v_extra</a:t>
            </a:r>
            <a:r>
              <a:rPr lang="en-US" sz="1300" dirty="0"/>
              <a:t> = 'S' THEN 'Bueno'</a:t>
            </a:r>
          </a:p>
          <a:p>
            <a:r>
              <a:rPr lang="en-US" sz="1300" dirty="0"/>
              <a:t>    WHEN </a:t>
            </a:r>
            <a:r>
              <a:rPr lang="en-US" sz="1300" dirty="0" err="1"/>
              <a:t>v_edad</a:t>
            </a:r>
            <a:r>
              <a:rPr lang="en-US" sz="1300" dirty="0"/>
              <a:t> &lt; 18 AND </a:t>
            </a:r>
            <a:r>
              <a:rPr lang="en-US" sz="1300" dirty="0" err="1"/>
              <a:t>v_score</a:t>
            </a:r>
            <a:r>
              <a:rPr lang="en-US" sz="1300" dirty="0"/>
              <a:t> &gt;= 60 THEN 'Aprobado Joven'</a:t>
            </a:r>
          </a:p>
          <a:p>
            <a:r>
              <a:rPr lang="en-US" sz="1300" dirty="0"/>
              <a:t>    WHEN SYSDATE - </a:t>
            </a:r>
            <a:r>
              <a:rPr lang="en-US" sz="1300" dirty="0" err="1"/>
              <a:t>v_fecha_ingreso</a:t>
            </a:r>
            <a:r>
              <a:rPr lang="en-US" sz="1300" dirty="0"/>
              <a:t> &gt; 365 THEN 'Antiguo'</a:t>
            </a:r>
          </a:p>
          <a:p>
            <a:r>
              <a:rPr lang="en-US" sz="1300" dirty="0"/>
              <a:t>    ELSE 'Regular'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B2EB686D-B437-FC68-07AE-F007D1D807C4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CASE simple evalúa una expresión fija.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CASE buscado (</a:t>
            </a:r>
            <a:r>
              <a:rPr lang="es-ES" sz="1800" dirty="0" err="1"/>
              <a:t>Searched</a:t>
            </a:r>
            <a:r>
              <a:rPr lang="es-ES" sz="1800" dirty="0"/>
              <a:t> CASE) permite expresiones arbitrarias.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Más flexible en comparaciones complejas.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434708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8E95-F262-9211-6A61-ABD8100C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B1E92BC-B2ED-A300-AB44-0A99D15AAAEB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E5322386-A7B9-1103-E108-D42D22A5C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CASE para evitar errores por </a:t>
            </a:r>
            <a:r>
              <a:rPr lang="es-ES" sz="4400" dirty="0" err="1"/>
              <a:t>null</a:t>
            </a:r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075AA10-FC0C-2DBF-9624-BD09E49A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3E57326-76AB-D467-18A6-CC35BFCE22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14D2CEA-809A-F2AD-6355-C0B315330874}"/>
              </a:ext>
            </a:extLst>
          </p:cNvPr>
          <p:cNvSpPr txBox="1"/>
          <p:nvPr/>
        </p:nvSpPr>
        <p:spPr>
          <a:xfrm>
            <a:off x="261636" y="1311623"/>
            <a:ext cx="44543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 err="1"/>
              <a:t>v_flag</a:t>
            </a:r>
            <a:r>
              <a:rPr lang="en-US" sz="1300" dirty="0"/>
              <a:t> :=</a:t>
            </a:r>
          </a:p>
          <a:p>
            <a:r>
              <a:rPr lang="en-US" sz="1300" dirty="0"/>
              <a:t>    CASE NVL(</a:t>
            </a:r>
            <a:r>
              <a:rPr lang="en-US" sz="1300" dirty="0" err="1"/>
              <a:t>v_input</a:t>
            </a:r>
            <a:r>
              <a:rPr lang="en-US" sz="1300" dirty="0"/>
              <a:t>, 'X')</a:t>
            </a:r>
          </a:p>
          <a:p>
            <a:r>
              <a:rPr lang="en-US" sz="1300" dirty="0"/>
              <a:t>        WHEN 'A' THEN 'VALID'</a:t>
            </a:r>
          </a:p>
          <a:p>
            <a:r>
              <a:rPr lang="en-US" sz="1300" dirty="0"/>
              <a:t>        WHEN 'B' THEN 'VALID'</a:t>
            </a:r>
          </a:p>
          <a:p>
            <a:r>
              <a:rPr lang="en-US" sz="1300" dirty="0"/>
              <a:t>        ELSE 'INVALID'</a:t>
            </a:r>
          </a:p>
          <a:p>
            <a:r>
              <a:rPr lang="en-US" sz="1300" dirty="0"/>
              <a:t>    END;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90FC3961-3546-E145-A83C-F544066FA9E3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Esto evita errores que en IF serían molestos.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Táctica: normalizar </a:t>
            </a:r>
            <a:r>
              <a:rPr lang="es-ES" sz="1800" dirty="0" err="1"/>
              <a:t>NULLs</a:t>
            </a:r>
            <a:r>
              <a:rPr lang="es-ES" sz="1800" dirty="0"/>
              <a:t> antes de comparar.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Muy útil cuando las columnas pueden ser </a:t>
            </a:r>
            <a:r>
              <a:rPr lang="es-ES" sz="1800" dirty="0" err="1"/>
              <a:t>null</a:t>
            </a:r>
            <a:r>
              <a:rPr lang="es-ES" sz="1800" dirty="0"/>
              <a:t> pero representan estados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40421538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E071D-8FD8-E695-5A26-0BEBB076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D371ABF-2D48-0EED-6525-374E7C17C5E1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B54D7AD-1FCF-87A7-D992-CEDA59CB7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LOOP con salida controlada y condición múltiple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8BEFD54-902A-90F9-A59F-0CF1328E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A622D4FA-4814-A6D1-EFA4-B13E9ED6B2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3C09D9A-B26F-2EBE-2A6F-D167054E9F58}"/>
              </a:ext>
            </a:extLst>
          </p:cNvPr>
          <p:cNvSpPr txBox="1"/>
          <p:nvPr/>
        </p:nvSpPr>
        <p:spPr>
          <a:xfrm>
            <a:off x="261636" y="1311623"/>
            <a:ext cx="44543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LOOP</a:t>
            </a:r>
          </a:p>
          <a:p>
            <a:r>
              <a:rPr lang="en-US" sz="1300" dirty="0"/>
              <a:t>    FETCH </a:t>
            </a:r>
            <a:r>
              <a:rPr lang="en-US" sz="1300" dirty="0" err="1"/>
              <a:t>c_data</a:t>
            </a:r>
            <a:r>
              <a:rPr lang="en-US" sz="1300" dirty="0"/>
              <a:t> INTO </a:t>
            </a:r>
            <a:r>
              <a:rPr lang="en-US" sz="1300" dirty="0" err="1"/>
              <a:t>v_row</a:t>
            </a:r>
            <a:r>
              <a:rPr lang="en-US" sz="1300" dirty="0"/>
              <a:t>;</a:t>
            </a:r>
          </a:p>
          <a:p>
            <a:r>
              <a:rPr lang="en-US" sz="1300" dirty="0"/>
              <a:t>    EXIT WHEN </a:t>
            </a:r>
            <a:r>
              <a:rPr lang="en-US" sz="1300" dirty="0" err="1"/>
              <a:t>c_data%NOTFOUND</a:t>
            </a:r>
            <a:r>
              <a:rPr lang="en-US" sz="1300" dirty="0"/>
              <a:t> OR </a:t>
            </a:r>
            <a:r>
              <a:rPr lang="en-US" sz="1300" dirty="0" err="1"/>
              <a:t>v_row.status</a:t>
            </a:r>
            <a:r>
              <a:rPr lang="en-US" sz="1300" dirty="0"/>
              <a:t> = 'END';</a:t>
            </a:r>
          </a:p>
          <a:p>
            <a:r>
              <a:rPr lang="en-US" sz="1300" dirty="0"/>
              <a:t>    process(</a:t>
            </a:r>
            <a:r>
              <a:rPr lang="en-US" sz="1300" dirty="0" err="1"/>
              <a:t>v_row</a:t>
            </a:r>
            <a:r>
              <a:rPr lang="en-US" sz="1300" dirty="0"/>
              <a:t>);</a:t>
            </a:r>
          </a:p>
          <a:p>
            <a:r>
              <a:rPr lang="en-US" sz="1300" dirty="0"/>
              <a:t>END LOOP;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B1860C7B-C701-1E96-7627-71CB9F2865EE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Explicación: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Patrón ideal para procesamiento en </a:t>
            </a:r>
            <a:r>
              <a:rPr lang="es-ES" sz="1800" dirty="0" err="1"/>
              <a:t>streaming</a:t>
            </a:r>
            <a:r>
              <a:rPr lang="es-ES" sz="18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Útil con cursores grandes → consume PGA mínima.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7611899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7126-C243-3083-F732-4C30E07F5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763F84E-45AF-6E40-7FB4-43AEE9D7B941}"/>
              </a:ext>
            </a:extLst>
          </p:cNvPr>
          <p:cNvSpPr/>
          <p:nvPr/>
        </p:nvSpPr>
        <p:spPr>
          <a:xfrm>
            <a:off x="261636" y="1275606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E529F85-31B4-6269-18F3-94285250C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LOOP con lógica de retroceso (</a:t>
            </a:r>
            <a:r>
              <a:rPr lang="es-ES" sz="4400" dirty="0" err="1"/>
              <a:t>rollback</a:t>
            </a:r>
            <a:r>
              <a:rPr lang="es-ES" sz="4400" dirty="0"/>
              <a:t> segmentado)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B57F5FF-68AA-4E7A-66F4-5E5858A5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31A37E20-8715-72C4-F7EF-E40F1647CC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FAF8C50-44D8-65BC-84A6-BF3DA34CB0BF}"/>
              </a:ext>
            </a:extLst>
          </p:cNvPr>
          <p:cNvSpPr txBox="1"/>
          <p:nvPr/>
        </p:nvSpPr>
        <p:spPr>
          <a:xfrm>
            <a:off x="261636" y="1311623"/>
            <a:ext cx="44543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FOR </a:t>
            </a:r>
            <a:r>
              <a:rPr lang="en-US" sz="1300" dirty="0" err="1"/>
              <a:t>i</a:t>
            </a:r>
            <a:r>
              <a:rPr lang="en-US" sz="1300" dirty="0"/>
              <a:t> IN 1 .. 100000 LOOP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update_row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);</a:t>
            </a:r>
          </a:p>
          <a:p>
            <a:endParaRPr lang="en-US" sz="1300" dirty="0"/>
          </a:p>
          <a:p>
            <a:r>
              <a:rPr lang="en-US" sz="1300" dirty="0"/>
              <a:t>    IF MOD(</a:t>
            </a:r>
            <a:r>
              <a:rPr lang="en-US" sz="1300" dirty="0" err="1"/>
              <a:t>i</a:t>
            </a:r>
            <a:r>
              <a:rPr lang="en-US" sz="1300" dirty="0"/>
              <a:t>, 1000) = 0 THEN</a:t>
            </a:r>
          </a:p>
          <a:p>
            <a:r>
              <a:rPr lang="en-US" sz="1300" dirty="0"/>
              <a:t>        COMMIT; -- </a:t>
            </a:r>
            <a:r>
              <a:rPr lang="en-US" sz="1300" dirty="0" err="1"/>
              <a:t>pequeño</a:t>
            </a:r>
            <a:r>
              <a:rPr lang="en-US" sz="1300" dirty="0"/>
              <a:t> commit </a:t>
            </a:r>
            <a:r>
              <a:rPr lang="en-US" sz="1300" dirty="0" err="1"/>
              <a:t>controlado</a:t>
            </a:r>
            <a:endParaRPr lang="en-US" sz="1300" dirty="0"/>
          </a:p>
          <a:p>
            <a:r>
              <a:rPr lang="en-US" sz="1300" dirty="0"/>
              <a:t>    END IF;</a:t>
            </a:r>
          </a:p>
          <a:p>
            <a:r>
              <a:rPr lang="en-US" sz="1300" dirty="0"/>
              <a:t>END LOOP;</a:t>
            </a:r>
            <a:endParaRPr lang="en-US" sz="14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FB60A1CF-2E0D-030F-F3D2-ECA5E395FBDF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Para procesar en lotes sin arriesgar transacciones gigantes: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Patrón: </a:t>
            </a:r>
            <a:r>
              <a:rPr lang="es-ES" sz="1800" dirty="0" err="1"/>
              <a:t>Chunked</a:t>
            </a:r>
            <a:r>
              <a:rPr lang="es-ES" sz="1800" dirty="0"/>
              <a:t> </a:t>
            </a:r>
            <a:r>
              <a:rPr lang="es-ES" sz="1800" dirty="0" err="1"/>
              <a:t>commit</a:t>
            </a:r>
            <a:r>
              <a:rPr lang="es-ES" sz="18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Reduce UNDO y PGA.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Muy usado en migraciones y cargas masivas.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8516635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21DBF-0FAA-1831-1316-9C75BBFA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02F6585-9622-A831-EF3E-EDA925497FCB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BCAE5BF-E106-EEE7-5C25-345A57BA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LOOP etiquetado (</a:t>
            </a:r>
            <a:r>
              <a:rPr lang="es-ES" sz="4400" dirty="0" err="1"/>
              <a:t>labels</a:t>
            </a:r>
            <a:r>
              <a:rPr lang="es-ES" sz="4400" dirty="0"/>
              <a:t>)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D8E745C3-DEDE-DA33-CB64-248E961CB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39654F9-C9B0-1864-772E-2D94E12525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684617-5F2A-83F9-EC8A-30AE85842576}"/>
              </a:ext>
            </a:extLst>
          </p:cNvPr>
          <p:cNvSpPr txBox="1"/>
          <p:nvPr/>
        </p:nvSpPr>
        <p:spPr>
          <a:xfrm>
            <a:off x="261636" y="1311623"/>
            <a:ext cx="44543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300" dirty="0"/>
              <a:t>&lt;&lt;outer_loop&gt;&gt;</a:t>
            </a:r>
          </a:p>
          <a:p>
            <a:r>
              <a:rPr lang="nl-NL" sz="1300" dirty="0"/>
              <a:t>FOR i IN 1..10 LOOP</a:t>
            </a:r>
          </a:p>
          <a:p>
            <a:r>
              <a:rPr lang="nl-NL" sz="1300" dirty="0"/>
              <a:t>    &lt;&lt;inner_loop&gt;&gt;</a:t>
            </a:r>
          </a:p>
          <a:p>
            <a:r>
              <a:rPr lang="nl-NL" sz="1300" dirty="0"/>
              <a:t>    FOR j IN 1..10 LOOP</a:t>
            </a:r>
          </a:p>
          <a:p>
            <a:r>
              <a:rPr lang="nl-NL" sz="1300" dirty="0"/>
              <a:t>        EXIT outer_loop WHEN j = 5;</a:t>
            </a:r>
          </a:p>
          <a:p>
            <a:r>
              <a:rPr lang="nl-NL" sz="1300" dirty="0"/>
              <a:t>    END LOOP inner_loop;</a:t>
            </a:r>
          </a:p>
          <a:p>
            <a:r>
              <a:rPr lang="nl-NL" sz="1300" dirty="0"/>
              <a:t>END LOOP outer_loop;</a:t>
            </a:r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F1B1EF78-64A8-1396-1AC9-C1A50BD469CF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Control total del flujo, especialmente en procedimientos complejos.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Permite romper múltiple niveles de </a:t>
            </a:r>
            <a:r>
              <a:rPr lang="es-ES" sz="1800" dirty="0" err="1"/>
              <a:t>loops</a:t>
            </a:r>
            <a:r>
              <a:rPr lang="es-ES" sz="1800" dirty="0"/>
              <a:t> sin </a:t>
            </a:r>
            <a:r>
              <a:rPr lang="es-ES" sz="1800" dirty="0" err="1"/>
              <a:t>flags</a:t>
            </a:r>
            <a:r>
              <a:rPr lang="es-ES" sz="1800" dirty="0"/>
              <a:t>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9898602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EC32-F125-4522-A419-E49712037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6D5BA32-23B9-C62B-786E-7E3E3294D4FE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7AC189C-FF97-09F5-E8E8-6175A5FED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WHILE para </a:t>
            </a:r>
            <a:r>
              <a:rPr lang="es-ES" sz="4400" dirty="0" err="1"/>
              <a:t>polling</a:t>
            </a:r>
            <a:r>
              <a:rPr lang="es-ES" sz="4400" dirty="0"/>
              <a:t> o espera condicional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108AC68-ED56-7593-4D6A-F2CE5CBC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299CA0C-6179-8E71-8B0A-06240A4BB8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3D6A0A4-1D9F-1ABF-ECD1-B476669B8B29}"/>
              </a:ext>
            </a:extLst>
          </p:cNvPr>
          <p:cNvSpPr txBox="1"/>
          <p:nvPr/>
        </p:nvSpPr>
        <p:spPr>
          <a:xfrm>
            <a:off x="261636" y="1311623"/>
            <a:ext cx="44543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300" dirty="0"/>
          </a:p>
          <a:p>
            <a:r>
              <a:rPr lang="en-US" sz="1300" dirty="0"/>
              <a:t>WHILE NOT </a:t>
            </a:r>
            <a:r>
              <a:rPr lang="en-US" sz="1300" dirty="0" err="1"/>
              <a:t>is_ready</a:t>
            </a:r>
            <a:r>
              <a:rPr lang="en-US" sz="1300" dirty="0"/>
              <a:t>(</a:t>
            </a:r>
            <a:r>
              <a:rPr lang="en-US" sz="1300" dirty="0" err="1"/>
              <a:t>v_job_id</a:t>
            </a:r>
            <a:r>
              <a:rPr lang="en-US" sz="1300" dirty="0"/>
              <a:t>) LOOP</a:t>
            </a:r>
          </a:p>
          <a:p>
            <a:r>
              <a:rPr lang="en-US" sz="1300" dirty="0"/>
              <a:t>    DBMS_LOCK.SLEEP(0.5);</a:t>
            </a:r>
          </a:p>
          <a:p>
            <a:r>
              <a:rPr lang="en-US" sz="1300" dirty="0"/>
              <a:t>END LOOP;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DA15FA59-BB55-F310-39D7-351BC479C79A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Patrón típico en sistemas de integración o colas.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Máximo control: evalúa antes de entrar.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Evita evaluaciones innecesarias si la condición nunca se cumple.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960110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FE07-A3B6-00A3-4E1B-EA7D1EC7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950093A-4385-8E63-6B86-6FB3CF188BA4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4E353E7A-B343-8C9E-387D-9828063B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WHILE con condición mutante segura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1A7BBA3C-88DC-0259-6FC0-06730F73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31613D2-F250-7AE4-F5DF-EC73CD0B4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B6338AE-0C30-048F-75FE-7EB4F384B15D}"/>
              </a:ext>
            </a:extLst>
          </p:cNvPr>
          <p:cNvSpPr txBox="1"/>
          <p:nvPr/>
        </p:nvSpPr>
        <p:spPr>
          <a:xfrm>
            <a:off x="261636" y="1311623"/>
            <a:ext cx="445438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300" dirty="0"/>
          </a:p>
          <a:p>
            <a:r>
              <a:rPr lang="en-US" sz="1300" dirty="0" err="1"/>
              <a:t>v_attempts</a:t>
            </a:r>
            <a:r>
              <a:rPr lang="en-US" sz="1300" dirty="0"/>
              <a:t> := 0;</a:t>
            </a:r>
          </a:p>
          <a:p>
            <a:endParaRPr lang="en-US" sz="1300" dirty="0"/>
          </a:p>
          <a:p>
            <a:r>
              <a:rPr lang="en-US" sz="1300" dirty="0"/>
              <a:t>WHILE (</a:t>
            </a:r>
            <a:r>
              <a:rPr lang="en-US" sz="1300" dirty="0" err="1"/>
              <a:t>v_flag</a:t>
            </a:r>
            <a:r>
              <a:rPr lang="en-US" sz="1300" dirty="0"/>
              <a:t> &lt;&gt; 'DONE') AND (</a:t>
            </a:r>
            <a:r>
              <a:rPr lang="en-US" sz="1300" dirty="0" err="1"/>
              <a:t>v_attempts</a:t>
            </a:r>
            <a:r>
              <a:rPr lang="en-US" sz="1300" dirty="0"/>
              <a:t> &lt; 10) LOOP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process_step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v_attempts</a:t>
            </a:r>
            <a:r>
              <a:rPr lang="en-US" sz="1300" dirty="0"/>
              <a:t> := </a:t>
            </a:r>
            <a:r>
              <a:rPr lang="en-US" sz="1300" dirty="0" err="1"/>
              <a:t>v_attempts</a:t>
            </a:r>
            <a:r>
              <a:rPr lang="en-US" sz="1300" dirty="0"/>
              <a:t> + 1;</a:t>
            </a:r>
          </a:p>
          <a:p>
            <a:r>
              <a:rPr lang="en-US" sz="1300" dirty="0"/>
              <a:t>END LOOP;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F1D0B79B-F609-A32E-B81B-75F1B75CD14F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WHILE con condición mutante segura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Asegura que la condición cambie o producirá un </a:t>
            </a:r>
            <a:r>
              <a:rPr lang="es-ES" sz="1800" dirty="0" err="1"/>
              <a:t>timeout</a:t>
            </a:r>
            <a:r>
              <a:rPr lang="es-ES" sz="1800" dirty="0"/>
              <a:t> real.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Patrón defensivo: “</a:t>
            </a:r>
            <a:r>
              <a:rPr lang="es-ES" sz="1800" dirty="0" err="1"/>
              <a:t>guard</a:t>
            </a:r>
            <a:r>
              <a:rPr lang="es-ES" sz="1800" dirty="0"/>
              <a:t> </a:t>
            </a:r>
            <a:r>
              <a:rPr lang="es-ES" sz="1800" dirty="0" err="1"/>
              <a:t>rails</a:t>
            </a:r>
            <a:r>
              <a:rPr lang="es-ES" sz="1800" dirty="0"/>
              <a:t>” para evitar </a:t>
            </a:r>
            <a:r>
              <a:rPr lang="es-ES" sz="1800" dirty="0" err="1"/>
              <a:t>loops</a:t>
            </a:r>
            <a:r>
              <a:rPr lang="es-ES" sz="1800" dirty="0"/>
              <a:t> infinitos.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4210232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B7AA-C096-DA7D-959C-9C2215DF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311C1D3-A65F-E2E4-55EA-EB779A27D64D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9DFC7A4B-B0B0-8357-B169-5ACD3C2BD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FOR sobre resultados de cursor (</a:t>
            </a:r>
            <a:r>
              <a:rPr lang="es-ES" sz="4400" dirty="0" err="1"/>
              <a:t>streaming</a:t>
            </a:r>
            <a:r>
              <a:rPr lang="es-ES" sz="4400" dirty="0"/>
              <a:t> seguro)</a:t>
            </a:r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F9F9A6E-599D-2FEE-4204-43B41DE9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43626516-E8FB-95AE-AB77-6240F7EF65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B19B625-3C82-0961-64BC-16AAABBF8537}"/>
              </a:ext>
            </a:extLst>
          </p:cNvPr>
          <p:cNvSpPr txBox="1"/>
          <p:nvPr/>
        </p:nvSpPr>
        <p:spPr>
          <a:xfrm>
            <a:off x="261636" y="1311623"/>
            <a:ext cx="459839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300" dirty="0"/>
          </a:p>
          <a:p>
            <a:r>
              <a:rPr lang="en-US" sz="1300" dirty="0"/>
              <a:t>FOR rec IN (SELECT * FROM </a:t>
            </a:r>
            <a:r>
              <a:rPr lang="en-US" sz="1300" dirty="0" err="1"/>
              <a:t>large_table</a:t>
            </a:r>
            <a:r>
              <a:rPr lang="en-US" sz="1300" dirty="0"/>
              <a:t> WHERE status='ACTIVE') LOOP</a:t>
            </a:r>
          </a:p>
          <a:p>
            <a:r>
              <a:rPr lang="en-US" sz="1300" dirty="0"/>
              <a:t>    process(rec);</a:t>
            </a:r>
          </a:p>
          <a:p>
            <a:r>
              <a:rPr lang="en-US" sz="1300" dirty="0"/>
              <a:t>END LOOP;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2EA489FE-3806-68D5-DBFD-7AF6FE701415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Evita cargar sets en memoria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No usa BULK COLLECT → mínimo PGA.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Oracle gestiona el </a:t>
            </a:r>
            <a:r>
              <a:rPr lang="es-ES" sz="1800" dirty="0" err="1"/>
              <a:t>fetch</a:t>
            </a:r>
            <a:r>
              <a:rPr lang="es-ES" sz="1800" dirty="0"/>
              <a:t> progresivo.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Mas lento, pero menos PGA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41705475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6489-6B60-A4A7-C901-2A0CEB6B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B88ADE7-2F96-5D3D-83A0-5C7BEA6EB39E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D0833439-F7D5-A945-E2E3-226993DBE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FOR REVERSE – </a:t>
            </a:r>
            <a:r>
              <a:rPr lang="es-ES" sz="4400" dirty="0" err="1"/>
              <a:t>streaming</a:t>
            </a:r>
            <a:r>
              <a:rPr lang="es-ES" sz="4400" dirty="0"/>
              <a:t> inverso real</a:t>
            </a:r>
          </a:p>
          <a:p>
            <a:endParaRPr lang="es-ES" sz="4400" dirty="0"/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2951F5D8-F7A4-B0DD-6462-CA023054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100D836-88CC-4067-4927-F2C7B7F122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A471C3C-15D3-72B0-F501-5B0A8BE7443C}"/>
              </a:ext>
            </a:extLst>
          </p:cNvPr>
          <p:cNvSpPr txBox="1"/>
          <p:nvPr/>
        </p:nvSpPr>
        <p:spPr>
          <a:xfrm>
            <a:off x="261636" y="1311623"/>
            <a:ext cx="4598396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v_count</a:t>
            </a:r>
            <a:r>
              <a:rPr lang="en-US" sz="1300" dirty="0"/>
              <a:t> NUMBER := 5;</a:t>
            </a:r>
          </a:p>
          <a:p>
            <a:r>
              <a:rPr lang="en-US" sz="1300" dirty="0"/>
              <a:t>    </a:t>
            </a:r>
          </a:p>
          <a:p>
            <a:r>
              <a:rPr lang="en-US" sz="1300" dirty="0"/>
              <a:t>    -- </a:t>
            </a:r>
            <a:r>
              <a:rPr lang="en-US" sz="1300" dirty="0" err="1"/>
              <a:t>Función</a:t>
            </a:r>
            <a:r>
              <a:rPr lang="en-US" sz="1300" dirty="0"/>
              <a:t> </a:t>
            </a:r>
            <a:r>
              <a:rPr lang="en-US" sz="1300" dirty="0" err="1"/>
              <a:t>simulada</a:t>
            </a:r>
            <a:r>
              <a:rPr lang="en-US" sz="1300" dirty="0"/>
              <a:t> para </a:t>
            </a:r>
            <a:r>
              <a:rPr lang="en-US" sz="1300" dirty="0" err="1"/>
              <a:t>ver</a:t>
            </a:r>
            <a:r>
              <a:rPr lang="en-US" sz="1300" dirty="0"/>
              <a:t> </a:t>
            </a:r>
            <a:r>
              <a:rPr lang="en-US" sz="1300" dirty="0" err="1"/>
              <a:t>el</a:t>
            </a:r>
            <a:r>
              <a:rPr lang="en-US" sz="1300" dirty="0"/>
              <a:t> </a:t>
            </a:r>
            <a:r>
              <a:rPr lang="en-US" sz="1300" dirty="0" err="1"/>
              <a:t>orden</a:t>
            </a:r>
            <a:endParaRPr lang="en-US" sz="1300" dirty="0"/>
          </a:p>
          <a:p>
            <a:r>
              <a:rPr lang="en-US" sz="1300" dirty="0"/>
              <a:t>    PROCEDURE </a:t>
            </a:r>
            <a:r>
              <a:rPr lang="en-US" sz="1300" dirty="0" err="1"/>
              <a:t>delete_child</a:t>
            </a:r>
            <a:r>
              <a:rPr lang="en-US" sz="1300" dirty="0"/>
              <a:t>(</a:t>
            </a:r>
            <a:r>
              <a:rPr lang="en-US" sz="1300" dirty="0" err="1"/>
              <a:t>p_index</a:t>
            </a:r>
            <a:r>
              <a:rPr lang="en-US" sz="1300" dirty="0"/>
              <a:t> NUMBER) IS</a:t>
            </a:r>
          </a:p>
          <a:p>
            <a:r>
              <a:rPr lang="en-US" sz="1300" dirty="0"/>
              <a:t>    BEGIN</a:t>
            </a:r>
          </a:p>
          <a:p>
            <a:r>
              <a:rPr lang="en-US" sz="1300" dirty="0"/>
              <a:t>        DBMS_OUTPUT.PUT_LINE('</a:t>
            </a:r>
            <a:r>
              <a:rPr lang="en-US" sz="1300" dirty="0" err="1"/>
              <a:t>Eliminando</a:t>
            </a:r>
            <a:r>
              <a:rPr lang="en-US" sz="1300" dirty="0"/>
              <a:t> </a:t>
            </a:r>
            <a:r>
              <a:rPr lang="en-US" sz="1300" dirty="0" err="1"/>
              <a:t>hijo</a:t>
            </a:r>
            <a:r>
              <a:rPr lang="en-US" sz="1300" dirty="0"/>
              <a:t> </a:t>
            </a:r>
            <a:r>
              <a:rPr lang="en-US" sz="1300" dirty="0" err="1"/>
              <a:t>índice</a:t>
            </a:r>
            <a:r>
              <a:rPr lang="en-US" sz="1300" dirty="0"/>
              <a:t>: ' || </a:t>
            </a:r>
            <a:r>
              <a:rPr lang="en-US" sz="1300" dirty="0" err="1"/>
              <a:t>p_index</a:t>
            </a:r>
            <a:r>
              <a:rPr lang="en-US" sz="1300" dirty="0"/>
              <a:t>);</a:t>
            </a:r>
          </a:p>
          <a:p>
            <a:r>
              <a:rPr lang="en-US" sz="1300" dirty="0"/>
              <a:t>    END;</a:t>
            </a:r>
          </a:p>
          <a:p>
            <a:endParaRPr lang="en-US" sz="1300" dirty="0"/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DBMS_OUTPUT.PUT_LINE('=EN ORDEN INVERSO (REVERSE) ===');</a:t>
            </a:r>
          </a:p>
          <a:p>
            <a:r>
              <a:rPr lang="en-US" sz="1300" dirty="0"/>
              <a:t>    FOR </a:t>
            </a:r>
            <a:r>
              <a:rPr lang="en-US" sz="1300" dirty="0" err="1"/>
              <a:t>i</a:t>
            </a:r>
            <a:r>
              <a:rPr lang="en-US" sz="1300" dirty="0"/>
              <a:t> IN </a:t>
            </a:r>
            <a:r>
              <a:rPr lang="en-US" sz="1300" b="1" dirty="0"/>
              <a:t>REVERSE</a:t>
            </a:r>
            <a:r>
              <a:rPr lang="en-US" sz="1300" dirty="0"/>
              <a:t> 1..v_count LOOP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delete_child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);</a:t>
            </a:r>
          </a:p>
          <a:p>
            <a:r>
              <a:rPr lang="en-US" sz="1300" dirty="0"/>
              <a:t>    END LOOP;</a:t>
            </a:r>
          </a:p>
          <a:p>
            <a:r>
              <a:rPr lang="en-US" sz="1300" dirty="0"/>
              <a:t>END;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6130E52F-B3E3-FE87-5CCD-24539DF1F958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 err="1"/>
              <a:t>Util</a:t>
            </a:r>
            <a:r>
              <a:rPr lang="es-ES" sz="1800" dirty="0"/>
              <a:t> para evitar problemas de integridad en “</a:t>
            </a:r>
            <a:r>
              <a:rPr lang="es-ES" sz="1800" dirty="0" err="1"/>
              <a:t>delete</a:t>
            </a:r>
            <a:r>
              <a:rPr lang="es-ES" sz="1800" dirty="0"/>
              <a:t> cascades”.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Evita procesar hijo recién añadido; útil en grafos o árboles.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Por ejemplo, relaciones padre-hijo recursivas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477517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0A3E-4C65-A89C-91B7-1CD5E943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8C081321-9009-C627-B7B9-0FC9C127E3B7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5ED488E-7324-BD3C-6654-A9F9B8F1E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FOR LOOP con índice no visible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A80DF6A0-3DC5-4B2A-A94F-F03C4315E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736C12C-BCDF-D39F-AA01-3F33619874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C95514C-21BB-21AF-7C4A-DBCFDF8FE527}"/>
              </a:ext>
            </a:extLst>
          </p:cNvPr>
          <p:cNvSpPr txBox="1"/>
          <p:nvPr/>
        </p:nvSpPr>
        <p:spPr>
          <a:xfrm>
            <a:off x="261636" y="1311623"/>
            <a:ext cx="459839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v_total</a:t>
            </a:r>
            <a:r>
              <a:rPr lang="en-US" sz="1300" dirty="0"/>
              <a:t> NUMBER := 0;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FOR </a:t>
            </a:r>
            <a:r>
              <a:rPr lang="en-US" sz="1300" dirty="0" err="1"/>
              <a:t>i</a:t>
            </a:r>
            <a:r>
              <a:rPr lang="en-US" sz="1300" dirty="0"/>
              <a:t> IN 1..1000000 LOOP  -- '</a:t>
            </a:r>
            <a:r>
              <a:rPr lang="en-US" sz="1300" dirty="0" err="1"/>
              <a:t>i</a:t>
            </a:r>
            <a:r>
              <a:rPr lang="en-US" sz="1300" dirty="0"/>
              <a:t>' es </a:t>
            </a:r>
            <a:r>
              <a:rPr lang="en-US" sz="1300" dirty="0" err="1"/>
              <a:t>el</a:t>
            </a:r>
            <a:r>
              <a:rPr lang="en-US" sz="1300" dirty="0"/>
              <a:t> </a:t>
            </a:r>
            <a:r>
              <a:rPr lang="en-US" sz="1300" dirty="0" err="1"/>
              <a:t>índice</a:t>
            </a:r>
            <a:r>
              <a:rPr lang="en-US" sz="1300" dirty="0"/>
              <a:t>, </a:t>
            </a:r>
            <a:r>
              <a:rPr lang="en-US" sz="1300" dirty="0" err="1"/>
              <a:t>pero</a:t>
            </a:r>
            <a:r>
              <a:rPr lang="en-US" sz="1300" dirty="0"/>
              <a:t> NO lo </a:t>
            </a:r>
            <a:r>
              <a:rPr lang="en-US" sz="1300" dirty="0" err="1"/>
              <a:t>puedes</a:t>
            </a:r>
            <a:r>
              <a:rPr lang="en-US" sz="1300" dirty="0"/>
              <a:t> </a:t>
            </a:r>
            <a:r>
              <a:rPr lang="en-US" sz="1300" dirty="0" err="1"/>
              <a:t>modificar</a:t>
            </a:r>
            <a:endParaRPr lang="en-US" sz="1300" dirty="0"/>
          </a:p>
          <a:p>
            <a:r>
              <a:rPr lang="en-US" sz="1300" dirty="0"/>
              <a:t>        </a:t>
            </a:r>
            <a:r>
              <a:rPr lang="en-US" sz="1300" dirty="0" err="1"/>
              <a:t>v_total</a:t>
            </a:r>
            <a:r>
              <a:rPr lang="en-US" sz="1300" dirty="0"/>
              <a:t> := </a:t>
            </a:r>
            <a:r>
              <a:rPr lang="en-US" sz="1300" dirty="0" err="1"/>
              <a:t>v_total</a:t>
            </a:r>
            <a:r>
              <a:rPr lang="en-US" sz="1300" dirty="0"/>
              <a:t> + </a:t>
            </a:r>
            <a:r>
              <a:rPr lang="en-US" sz="1300" dirty="0" err="1"/>
              <a:t>i</a:t>
            </a:r>
            <a:r>
              <a:rPr lang="en-US" sz="1300" dirty="0"/>
              <a:t>;</a:t>
            </a:r>
          </a:p>
          <a:p>
            <a:r>
              <a:rPr lang="en-US" sz="1300" dirty="0"/>
              <a:t>        -- </a:t>
            </a:r>
            <a:r>
              <a:rPr lang="en-US" sz="1300" dirty="0" err="1"/>
              <a:t>i</a:t>
            </a:r>
            <a:r>
              <a:rPr lang="en-US" sz="1300" dirty="0"/>
              <a:t> := 5;  --ERROR: No </a:t>
            </a:r>
            <a:r>
              <a:rPr lang="en-US" sz="1300" dirty="0" err="1"/>
              <a:t>puedes</a:t>
            </a:r>
            <a:r>
              <a:rPr lang="en-US" sz="1300" dirty="0"/>
              <a:t> </a:t>
            </a:r>
            <a:r>
              <a:rPr lang="en-US" sz="1300" dirty="0" err="1"/>
              <a:t>modificar</a:t>
            </a:r>
            <a:r>
              <a:rPr lang="en-US" sz="1300" dirty="0"/>
              <a:t> '</a:t>
            </a:r>
            <a:r>
              <a:rPr lang="en-US" sz="1300" dirty="0" err="1"/>
              <a:t>i</a:t>
            </a:r>
            <a:r>
              <a:rPr lang="en-US" sz="1300" dirty="0"/>
              <a:t>'</a:t>
            </a:r>
          </a:p>
          <a:p>
            <a:r>
              <a:rPr lang="en-US" sz="1300" dirty="0"/>
              <a:t>    END LOOP;</a:t>
            </a:r>
          </a:p>
          <a:p>
            <a:r>
              <a:rPr lang="en-US" sz="1300" dirty="0"/>
              <a:t>    </a:t>
            </a:r>
          </a:p>
          <a:p>
            <a:r>
              <a:rPr lang="en-US" sz="1300" dirty="0"/>
              <a:t>    -- DBMS_OUTPUT.PUT_LINE(</a:t>
            </a:r>
            <a:r>
              <a:rPr lang="en-US" sz="1300" dirty="0" err="1"/>
              <a:t>i</a:t>
            </a:r>
            <a:r>
              <a:rPr lang="en-US" sz="1300" dirty="0"/>
              <a:t>);  -- ERROR: '</a:t>
            </a:r>
            <a:r>
              <a:rPr lang="en-US" sz="1300" dirty="0" err="1"/>
              <a:t>i</a:t>
            </a:r>
            <a:r>
              <a:rPr lang="en-US" sz="1300" dirty="0"/>
              <a:t>' no </a:t>
            </a:r>
            <a:r>
              <a:rPr lang="en-US" sz="1300" dirty="0" err="1"/>
              <a:t>existe</a:t>
            </a:r>
            <a:r>
              <a:rPr lang="en-US" sz="1300" dirty="0"/>
              <a:t> fuera del loop</a:t>
            </a:r>
          </a:p>
          <a:p>
            <a:r>
              <a:rPr lang="en-US" sz="1300" dirty="0"/>
              <a:t>END;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654E8B2A-AB49-B9D8-9101-6A64F118630E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El índice es un subtipo PLS_INTEGER, optimizado para </a:t>
            </a:r>
            <a:r>
              <a:rPr lang="es-ES" sz="1800" dirty="0" err="1"/>
              <a:t>loops</a:t>
            </a:r>
            <a:r>
              <a:rPr lang="es-ES" sz="18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Esto es importante para rendimiento en PL/SQL nativo.</a:t>
            </a:r>
          </a:p>
        </p:txBody>
      </p:sp>
    </p:spTree>
    <p:extLst>
      <p:ext uri="{BB962C8B-B14F-4D97-AF65-F5344CB8AC3E}">
        <p14:creationId xmlns:p14="http://schemas.microsoft.com/office/powerpoint/2010/main" val="34338370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757B-7652-8B7C-85C1-01C3562E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4DCB1CDF-79D3-38B5-26A7-915B2A203C91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C61C640-472F-52C8-240A-86E8023AE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Control de flujo - </a:t>
            </a:r>
            <a:r>
              <a:rPr lang="es-ES" sz="4400" dirty="0" err="1"/>
              <a:t>Patrón</a:t>
            </a:r>
            <a:r>
              <a:rPr lang="es-ES" sz="4400" dirty="0"/>
              <a:t> "</a:t>
            </a:r>
            <a:r>
              <a:rPr lang="es-ES" sz="4400" dirty="0" err="1"/>
              <a:t>State</a:t>
            </a:r>
            <a:r>
              <a:rPr lang="es-ES" sz="4400" dirty="0"/>
              <a:t> Machine" usando CASE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1357084-8E52-D0F6-C740-3B0CB99E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7CD58F2-4E9E-053D-BA08-BE674A3AEA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1AF1863-BAC2-1A6C-F5BC-08E95EF28A3C}"/>
              </a:ext>
            </a:extLst>
          </p:cNvPr>
          <p:cNvSpPr txBox="1"/>
          <p:nvPr/>
        </p:nvSpPr>
        <p:spPr>
          <a:xfrm>
            <a:off x="261636" y="1311623"/>
            <a:ext cx="459839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WHILE </a:t>
            </a:r>
            <a:r>
              <a:rPr lang="en-US" sz="1300" dirty="0" err="1"/>
              <a:t>v_state</a:t>
            </a:r>
            <a:r>
              <a:rPr lang="en-US" sz="1300" dirty="0"/>
              <a:t> &lt;&gt; 'END' LOOP</a:t>
            </a:r>
          </a:p>
          <a:p>
            <a:r>
              <a:rPr lang="en-US" sz="1300" dirty="0"/>
              <a:t>    CASE </a:t>
            </a:r>
            <a:r>
              <a:rPr lang="en-US" sz="1300" dirty="0" err="1"/>
              <a:t>v_state</a:t>
            </a:r>
            <a:endParaRPr lang="en-US" sz="1300" dirty="0"/>
          </a:p>
          <a:p>
            <a:r>
              <a:rPr lang="en-US" sz="1300" dirty="0"/>
              <a:t>        WHEN 'INIT' THEN </a:t>
            </a:r>
            <a:r>
              <a:rPr lang="en-US" sz="1300" dirty="0" err="1"/>
              <a:t>v_state</a:t>
            </a:r>
            <a:r>
              <a:rPr lang="en-US" sz="1300" dirty="0"/>
              <a:t> := </a:t>
            </a:r>
            <a:r>
              <a:rPr lang="en-US" sz="1300" dirty="0" err="1"/>
              <a:t>step_init</a:t>
            </a:r>
            <a:r>
              <a:rPr lang="en-US" sz="1300" dirty="0"/>
              <a:t>();</a:t>
            </a:r>
          </a:p>
          <a:p>
            <a:r>
              <a:rPr lang="en-US" sz="1300" dirty="0"/>
              <a:t>        WHEN 'LOAD' THEN </a:t>
            </a:r>
            <a:r>
              <a:rPr lang="en-US" sz="1300" dirty="0" err="1"/>
              <a:t>v_state</a:t>
            </a:r>
            <a:r>
              <a:rPr lang="en-US" sz="1300" dirty="0"/>
              <a:t> := </a:t>
            </a:r>
            <a:r>
              <a:rPr lang="en-US" sz="1300" dirty="0" err="1"/>
              <a:t>step_load</a:t>
            </a:r>
            <a:r>
              <a:rPr lang="en-US" sz="1300" dirty="0"/>
              <a:t>();</a:t>
            </a:r>
          </a:p>
          <a:p>
            <a:r>
              <a:rPr lang="en-US" sz="1300" dirty="0"/>
              <a:t>        WHEN 'PROCESS' THEN </a:t>
            </a:r>
            <a:r>
              <a:rPr lang="en-US" sz="1300" dirty="0" err="1"/>
              <a:t>v_state</a:t>
            </a:r>
            <a:r>
              <a:rPr lang="en-US" sz="1300" dirty="0"/>
              <a:t> := </a:t>
            </a:r>
            <a:r>
              <a:rPr lang="en-US" sz="1300" dirty="0" err="1"/>
              <a:t>step_process</a:t>
            </a:r>
            <a:r>
              <a:rPr lang="en-US" sz="1300" dirty="0"/>
              <a:t>();</a:t>
            </a:r>
          </a:p>
          <a:p>
            <a:r>
              <a:rPr lang="en-US" sz="1300" dirty="0"/>
              <a:t>        WHEN 'SAVE' THEN </a:t>
            </a:r>
            <a:r>
              <a:rPr lang="en-US" sz="1300" dirty="0" err="1"/>
              <a:t>v_state</a:t>
            </a:r>
            <a:r>
              <a:rPr lang="en-US" sz="1300" dirty="0"/>
              <a:t> := </a:t>
            </a:r>
            <a:r>
              <a:rPr lang="en-US" sz="1300" dirty="0" err="1"/>
              <a:t>step_save</a:t>
            </a:r>
            <a:r>
              <a:rPr lang="en-US" sz="1300" dirty="0"/>
              <a:t>();</a:t>
            </a:r>
          </a:p>
          <a:p>
            <a:r>
              <a:rPr lang="en-US" sz="1300" dirty="0"/>
              <a:t>        ELSE </a:t>
            </a:r>
            <a:r>
              <a:rPr lang="en-US" sz="1300" dirty="0" err="1"/>
              <a:t>v_state</a:t>
            </a:r>
            <a:r>
              <a:rPr lang="en-US" sz="1300" dirty="0"/>
              <a:t> := 'END';</a:t>
            </a:r>
          </a:p>
          <a:p>
            <a:r>
              <a:rPr lang="en-US" sz="1300" dirty="0"/>
              <a:t>    END CASE;</a:t>
            </a:r>
          </a:p>
          <a:p>
            <a:r>
              <a:rPr lang="en-US" sz="1300" dirty="0"/>
              <a:t>END LOOP;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5189EB08-C224-373A-8022-148EF2910D81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 err="1"/>
              <a:t>Patrón</a:t>
            </a:r>
            <a:r>
              <a:rPr lang="es-ES" sz="1800" dirty="0"/>
              <a:t> "</a:t>
            </a:r>
            <a:r>
              <a:rPr lang="es-ES" sz="1800" dirty="0" err="1"/>
              <a:t>State</a:t>
            </a:r>
            <a:r>
              <a:rPr lang="es-ES" sz="1800" dirty="0"/>
              <a:t> Machine" usando CASE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Muy usado en </a:t>
            </a:r>
            <a:r>
              <a:rPr lang="es-ES" sz="1800" dirty="0" err="1"/>
              <a:t>parsers</a:t>
            </a:r>
            <a:r>
              <a:rPr lang="es-ES" sz="1800" dirty="0"/>
              <a:t>, </a:t>
            </a:r>
            <a:r>
              <a:rPr lang="es-ES" sz="1800" dirty="0" err="1"/>
              <a:t>workflows</a:t>
            </a:r>
            <a:r>
              <a:rPr lang="es-ES" sz="1800" dirty="0"/>
              <a:t> y </a:t>
            </a:r>
            <a:r>
              <a:rPr lang="es-ES" sz="1800" dirty="0" err="1"/>
              <a:t>ETLs</a:t>
            </a:r>
            <a:r>
              <a:rPr lang="es-ES" sz="18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Control de flujo desacoplado de lógica.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Reduce complejidad del </a:t>
            </a:r>
            <a:r>
              <a:rPr lang="es-ES" sz="1800" dirty="0" err="1"/>
              <a:t>main</a:t>
            </a:r>
            <a:r>
              <a:rPr lang="es-ES" sz="1800" dirty="0"/>
              <a:t> </a:t>
            </a:r>
            <a:r>
              <a:rPr lang="es-ES" sz="1800" dirty="0" err="1"/>
              <a:t>loop</a:t>
            </a:r>
            <a:r>
              <a:rPr lang="es-E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30270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8B04-E0D6-D061-1E44-7DDDBB2B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8858C38-3FEA-BB85-35A6-E09ED1D6DDB1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17A1B744-B334-BBA2-2C80-C37E1F24E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Control de flujo - Patrón “</a:t>
            </a:r>
            <a:r>
              <a:rPr lang="es-ES" sz="4400" dirty="0" err="1"/>
              <a:t>Retry</a:t>
            </a:r>
            <a:r>
              <a:rPr lang="es-ES" sz="4400" dirty="0"/>
              <a:t> </a:t>
            </a:r>
            <a:r>
              <a:rPr lang="es-ES" sz="4400" dirty="0" err="1"/>
              <a:t>with</a:t>
            </a:r>
            <a:r>
              <a:rPr lang="es-ES" sz="4400" dirty="0"/>
              <a:t> </a:t>
            </a:r>
            <a:r>
              <a:rPr lang="es-ES" sz="4400" dirty="0" err="1"/>
              <a:t>backoff</a:t>
            </a:r>
            <a:r>
              <a:rPr lang="es-ES" sz="4400" dirty="0"/>
              <a:t>”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0D45055-1AC2-A47C-B245-6BAA216D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DCC042FE-3246-7658-C30E-2ABDD5B0F1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C778F0-92E3-C912-4F50-EA5CE8C42B16}"/>
              </a:ext>
            </a:extLst>
          </p:cNvPr>
          <p:cNvSpPr txBox="1"/>
          <p:nvPr/>
        </p:nvSpPr>
        <p:spPr>
          <a:xfrm>
            <a:off x="261636" y="1311623"/>
            <a:ext cx="459839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 err="1"/>
              <a:t>v_attempt</a:t>
            </a:r>
            <a:r>
              <a:rPr lang="en-US" sz="1300" dirty="0"/>
              <a:t> := 0;</a:t>
            </a:r>
          </a:p>
          <a:p>
            <a:r>
              <a:rPr lang="en-US" sz="1300" dirty="0"/>
              <a:t>WHILE </a:t>
            </a:r>
            <a:r>
              <a:rPr lang="en-US" sz="1300" dirty="0" err="1"/>
              <a:t>v_attempt</a:t>
            </a:r>
            <a:r>
              <a:rPr lang="en-US" sz="1300" dirty="0"/>
              <a:t> &lt; 5 LOOP</a:t>
            </a:r>
          </a:p>
          <a:p>
            <a:r>
              <a:rPr lang="en-US" sz="1300" dirty="0"/>
              <a:t>    BEGIN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try_something</a:t>
            </a:r>
            <a:r>
              <a:rPr lang="en-US" sz="1300" dirty="0"/>
              <a:t>;</a:t>
            </a:r>
          </a:p>
          <a:p>
            <a:r>
              <a:rPr lang="en-US" sz="1300" dirty="0"/>
              <a:t>        EXIT; -- </a:t>
            </a:r>
            <a:r>
              <a:rPr lang="en-US" sz="1300" dirty="0" err="1"/>
              <a:t>éxito</a:t>
            </a:r>
            <a:endParaRPr lang="en-US" sz="1300" dirty="0"/>
          </a:p>
          <a:p>
            <a:r>
              <a:rPr lang="en-US" sz="1300" dirty="0"/>
              <a:t>    EXCEPTION</a:t>
            </a:r>
          </a:p>
          <a:p>
            <a:r>
              <a:rPr lang="en-US" sz="1300" dirty="0"/>
              <a:t>        WHEN others THEN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v_attempt</a:t>
            </a:r>
            <a:r>
              <a:rPr lang="en-US" sz="1300" dirty="0"/>
              <a:t> := </a:t>
            </a:r>
            <a:r>
              <a:rPr lang="en-US" sz="1300" dirty="0" err="1"/>
              <a:t>v_attempt</a:t>
            </a:r>
            <a:r>
              <a:rPr lang="en-US" sz="1300" dirty="0"/>
              <a:t> + 1;</a:t>
            </a:r>
          </a:p>
          <a:p>
            <a:r>
              <a:rPr lang="en-US" sz="1300" dirty="0"/>
              <a:t>            DBMS_LOCK.SLEEP(POWER(2, </a:t>
            </a:r>
            <a:r>
              <a:rPr lang="en-US" sz="1300" dirty="0" err="1"/>
              <a:t>v_attempt</a:t>
            </a:r>
            <a:r>
              <a:rPr lang="en-US" sz="1300" dirty="0"/>
              <a:t>));</a:t>
            </a:r>
          </a:p>
          <a:p>
            <a:r>
              <a:rPr lang="en-US" sz="1300" dirty="0"/>
              <a:t>    END;</a:t>
            </a:r>
          </a:p>
          <a:p>
            <a:r>
              <a:rPr lang="en-US" sz="1300" dirty="0"/>
              <a:t>END LOOP;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1CDDDA69-02C8-1957-B48D-1C59DC4795D0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Ideal para </a:t>
            </a:r>
            <a:r>
              <a:rPr lang="es-ES" sz="1800" dirty="0" err="1"/>
              <a:t>APIs</a:t>
            </a:r>
            <a:r>
              <a:rPr lang="es-ES" sz="1800" dirty="0"/>
              <a:t> externas o recursos bloqueados.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Exponencial </a:t>
            </a:r>
            <a:r>
              <a:rPr lang="es-ES" sz="1800" dirty="0" err="1"/>
              <a:t>backoff</a:t>
            </a:r>
            <a:r>
              <a:rPr lang="es-ES" sz="1800" dirty="0"/>
              <a:t> como en sistemas distribuidos.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Evita saturación por reintentos constantes.</a:t>
            </a:r>
          </a:p>
        </p:txBody>
      </p:sp>
    </p:spTree>
    <p:extLst>
      <p:ext uri="{BB962C8B-B14F-4D97-AF65-F5344CB8AC3E}">
        <p14:creationId xmlns:p14="http://schemas.microsoft.com/office/powerpoint/2010/main" val="27056549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9758-A97A-F988-6FAB-C48DF11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AC40D28-CBBE-1B52-0AE7-6FBA5A54CD45}"/>
              </a:ext>
            </a:extLst>
          </p:cNvPr>
          <p:cNvSpPr/>
          <p:nvPr/>
        </p:nvSpPr>
        <p:spPr>
          <a:xfrm>
            <a:off x="261636" y="1275607"/>
            <a:ext cx="4454380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A144CBE-2991-34D6-7ED7-D79B9467E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400" dirty="0"/>
              <a:t>Control de flujo - Patrón “</a:t>
            </a:r>
            <a:r>
              <a:rPr lang="es-ES" sz="4400" dirty="0" err="1"/>
              <a:t>Retry</a:t>
            </a:r>
            <a:r>
              <a:rPr lang="es-ES" sz="4400" dirty="0"/>
              <a:t> </a:t>
            </a:r>
            <a:r>
              <a:rPr lang="es-ES" sz="4400" dirty="0" err="1"/>
              <a:t>with</a:t>
            </a:r>
            <a:r>
              <a:rPr lang="es-ES" sz="4400" dirty="0"/>
              <a:t> </a:t>
            </a:r>
            <a:r>
              <a:rPr lang="es-ES" sz="4400" dirty="0" err="1"/>
              <a:t>backoff</a:t>
            </a:r>
            <a:r>
              <a:rPr lang="es-ES" sz="4400" dirty="0"/>
              <a:t>”</a:t>
            </a:r>
          </a:p>
          <a:p>
            <a:endParaRPr lang="es-ES" sz="4400" dirty="0"/>
          </a:p>
          <a:p>
            <a:endParaRPr lang="es-ES" sz="4400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C3B0896E-2D56-1692-A64A-A32B5E9C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24F4D45E-9D7A-C00F-CE5D-5BFB08B92E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Declaración de Variables y Tipos de Datos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663FDDD-E854-73E1-CE32-C3966A3BA23F}"/>
              </a:ext>
            </a:extLst>
          </p:cNvPr>
          <p:cNvSpPr txBox="1"/>
          <p:nvPr/>
        </p:nvSpPr>
        <p:spPr>
          <a:xfrm>
            <a:off x="261636" y="1311623"/>
            <a:ext cx="459839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 err="1"/>
              <a:t>v_attempt</a:t>
            </a:r>
            <a:r>
              <a:rPr lang="en-US" sz="1300" dirty="0"/>
              <a:t> := 0;</a:t>
            </a:r>
          </a:p>
          <a:p>
            <a:r>
              <a:rPr lang="en-US" sz="1300" dirty="0"/>
              <a:t>WHILE </a:t>
            </a:r>
            <a:r>
              <a:rPr lang="en-US" sz="1300" dirty="0" err="1"/>
              <a:t>v_attempt</a:t>
            </a:r>
            <a:r>
              <a:rPr lang="en-US" sz="1300" dirty="0"/>
              <a:t> &lt; 5 LOOP</a:t>
            </a:r>
          </a:p>
          <a:p>
            <a:r>
              <a:rPr lang="en-US" sz="1300" dirty="0"/>
              <a:t>    BEGIN</a:t>
            </a:r>
          </a:p>
          <a:p>
            <a:r>
              <a:rPr lang="en-US" sz="1300" dirty="0"/>
              <a:t>        </a:t>
            </a:r>
            <a:r>
              <a:rPr lang="en-US" sz="1300" dirty="0" err="1"/>
              <a:t>try_something</a:t>
            </a:r>
            <a:r>
              <a:rPr lang="en-US" sz="1300" dirty="0"/>
              <a:t>;</a:t>
            </a:r>
          </a:p>
          <a:p>
            <a:r>
              <a:rPr lang="en-US" sz="1300" dirty="0"/>
              <a:t>        EXIT; -- </a:t>
            </a:r>
            <a:r>
              <a:rPr lang="en-US" sz="1300" dirty="0" err="1"/>
              <a:t>éxito</a:t>
            </a:r>
            <a:endParaRPr lang="en-US" sz="1300" dirty="0"/>
          </a:p>
          <a:p>
            <a:r>
              <a:rPr lang="en-US" sz="1300" dirty="0"/>
              <a:t>    EXCEPTION</a:t>
            </a:r>
          </a:p>
          <a:p>
            <a:r>
              <a:rPr lang="en-US" sz="1300" dirty="0"/>
              <a:t>        WHEN others THEN</a:t>
            </a:r>
          </a:p>
          <a:p>
            <a:r>
              <a:rPr lang="en-US" sz="1300" dirty="0"/>
              <a:t>            </a:t>
            </a:r>
            <a:r>
              <a:rPr lang="en-US" sz="1300" dirty="0" err="1"/>
              <a:t>v_attempt</a:t>
            </a:r>
            <a:r>
              <a:rPr lang="en-US" sz="1300" dirty="0"/>
              <a:t> := </a:t>
            </a:r>
            <a:r>
              <a:rPr lang="en-US" sz="1300" dirty="0" err="1"/>
              <a:t>v_attempt</a:t>
            </a:r>
            <a:r>
              <a:rPr lang="en-US" sz="1300" dirty="0"/>
              <a:t> + 1;</a:t>
            </a:r>
          </a:p>
          <a:p>
            <a:r>
              <a:rPr lang="en-US" sz="1300" dirty="0"/>
              <a:t>            DBMS_LOCK.SLEEP(POWER(2, </a:t>
            </a:r>
            <a:r>
              <a:rPr lang="en-US" sz="1300" dirty="0" err="1"/>
              <a:t>v_attempt</a:t>
            </a:r>
            <a:r>
              <a:rPr lang="en-US" sz="1300" dirty="0"/>
              <a:t>));</a:t>
            </a:r>
          </a:p>
          <a:p>
            <a:r>
              <a:rPr lang="en-US" sz="1300" dirty="0"/>
              <a:t>    END;</a:t>
            </a:r>
          </a:p>
          <a:p>
            <a:r>
              <a:rPr lang="en-US" sz="1300" dirty="0"/>
              <a:t>END LOOP;</a:t>
            </a:r>
            <a:endParaRPr lang="nl-NL" sz="1300" dirty="0"/>
          </a:p>
        </p:txBody>
      </p:sp>
      <p:sp>
        <p:nvSpPr>
          <p:cNvPr id="2" name="4 Marcador de contenido">
            <a:extLst>
              <a:ext uri="{FF2B5EF4-FFF2-40B4-BE49-F238E27FC236}">
                <a16:creationId xmlns:a16="http://schemas.microsoft.com/office/drawing/2014/main" id="{60553A9D-26E8-7D17-6F4A-664800B2838A}"/>
              </a:ext>
            </a:extLst>
          </p:cNvPr>
          <p:cNvSpPr txBox="1">
            <a:spLocks/>
          </p:cNvSpPr>
          <p:nvPr/>
        </p:nvSpPr>
        <p:spPr>
          <a:xfrm>
            <a:off x="4860032" y="1306682"/>
            <a:ext cx="4283968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Ideal para </a:t>
            </a:r>
            <a:r>
              <a:rPr lang="es-ES" sz="1800" dirty="0" err="1"/>
              <a:t>APIs</a:t>
            </a:r>
            <a:r>
              <a:rPr lang="es-ES" sz="1800" dirty="0"/>
              <a:t> externas o recursos bloqueados.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Exponencial </a:t>
            </a:r>
            <a:r>
              <a:rPr lang="es-ES" sz="1800" dirty="0" err="1"/>
              <a:t>backoff</a:t>
            </a:r>
            <a:r>
              <a:rPr lang="es-ES" sz="1800" dirty="0"/>
              <a:t> como en sistemas distribuidos.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s-ES" sz="1800" dirty="0"/>
              <a:t>Evita saturación por reintentos constantes.</a:t>
            </a:r>
          </a:p>
        </p:txBody>
      </p:sp>
    </p:spTree>
    <p:extLst>
      <p:ext uri="{BB962C8B-B14F-4D97-AF65-F5344CB8AC3E}">
        <p14:creationId xmlns:p14="http://schemas.microsoft.com/office/powerpoint/2010/main" val="38448106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TICARUM 2017 v1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TICARUM 2017 v1.1</Template>
  <TotalTime>7646</TotalTime>
  <Words>7162</Words>
  <Application>Microsoft Office PowerPoint</Application>
  <PresentationFormat>Presentación en pantalla (16:9)</PresentationFormat>
  <Paragraphs>966</Paragraphs>
  <Slides>62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9" baseType="lpstr">
      <vt:lpstr>-apple-system</vt:lpstr>
      <vt:lpstr>Arial</vt:lpstr>
      <vt:lpstr>Calibri</vt:lpstr>
      <vt:lpstr>Calibri Light</vt:lpstr>
      <vt:lpstr>Consolas</vt:lpstr>
      <vt:lpstr>Segoe UI</vt:lpstr>
      <vt:lpstr>Plantilla TICARUM 2017 v1.0</vt:lpstr>
      <vt:lpstr>Análisis y optimización de consultas en Oracle SQL y PL/SQL </vt:lpstr>
      <vt:lpstr>Análisis y optimización de consultas en Oracle SQL y PL/SQL</vt:lpstr>
      <vt:lpstr>Análisis y optimización de consultas en Oracle SQL y PL/SQL</vt:lpstr>
      <vt:lpstr>Arquitectura interna de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Declaración de Variables y Tipos de Datos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Control de flujo en PL/SQL (IF, CASE, LOOP, WHILE)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¡Muchas Gracias!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MUNUERA RUIZ</dc:creator>
  <cp:lastModifiedBy>PEDRO MUNUERA RUIZ</cp:lastModifiedBy>
  <cp:revision>95</cp:revision>
  <dcterms:created xsi:type="dcterms:W3CDTF">2025-10-27T20:26:45Z</dcterms:created>
  <dcterms:modified xsi:type="dcterms:W3CDTF">2025-11-17T11:34:50Z</dcterms:modified>
</cp:coreProperties>
</file>