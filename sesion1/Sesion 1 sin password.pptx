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260" r:id="rId3"/>
    <p:sldId id="265" r:id="rId4"/>
    <p:sldId id="266" r:id="rId5"/>
    <p:sldId id="258" r:id="rId6"/>
    <p:sldId id="263" r:id="rId7"/>
    <p:sldId id="279" r:id="rId8"/>
    <p:sldId id="268" r:id="rId9"/>
    <p:sldId id="262" r:id="rId10"/>
    <p:sldId id="269" r:id="rId11"/>
    <p:sldId id="270" r:id="rId12"/>
    <p:sldId id="267" r:id="rId13"/>
    <p:sldId id="271" r:id="rId14"/>
    <p:sldId id="272" r:id="rId15"/>
    <p:sldId id="275" r:id="rId16"/>
    <p:sldId id="273" r:id="rId17"/>
    <p:sldId id="294" r:id="rId18"/>
    <p:sldId id="264" r:id="rId19"/>
    <p:sldId id="277" r:id="rId20"/>
    <p:sldId id="274" r:id="rId21"/>
    <p:sldId id="276" r:id="rId22"/>
    <p:sldId id="292" r:id="rId23"/>
    <p:sldId id="291" r:id="rId24"/>
    <p:sldId id="293" r:id="rId25"/>
    <p:sldId id="295" r:id="rId26"/>
    <p:sldId id="296" r:id="rId27"/>
    <p:sldId id="280" r:id="rId28"/>
    <p:sldId id="281" r:id="rId29"/>
    <p:sldId id="282" r:id="rId30"/>
    <p:sldId id="283" r:id="rId31"/>
    <p:sldId id="285" r:id="rId32"/>
    <p:sldId id="284" r:id="rId33"/>
    <p:sldId id="288" r:id="rId34"/>
    <p:sldId id="286" r:id="rId35"/>
    <p:sldId id="289" r:id="rId36"/>
    <p:sldId id="297" r:id="rId37"/>
    <p:sldId id="298" r:id="rId38"/>
    <p:sldId id="299" r:id="rId39"/>
    <p:sldId id="300" r:id="rId40"/>
    <p:sldId id="301" r:id="rId41"/>
    <p:sldId id="303" r:id="rId42"/>
    <p:sldId id="302" r:id="rId43"/>
    <p:sldId id="304" r:id="rId44"/>
    <p:sldId id="306" r:id="rId45"/>
    <p:sldId id="305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1" r:id="rId60"/>
    <p:sldId id="320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3" r:id="rId72"/>
    <p:sldId id="334" r:id="rId73"/>
    <p:sldId id="335" r:id="rId74"/>
    <p:sldId id="332" r:id="rId75"/>
    <p:sldId id="259" r:id="rId76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A00"/>
    <a:srgbClr val="F26D28"/>
    <a:srgbClr val="FF6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13A81-F6F4-48F1-9240-6625495FC0FC}" type="datetimeFigureOut">
              <a:rPr lang="es-ES" smtClean="0"/>
              <a:pPr/>
              <a:t>10/11/2025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0AE22-138E-4CE0-8F43-3DD4BBCBCB7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0AE22-138E-4CE0-8F43-3DD4BBCBCB7D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8780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FDA36-3306-FDC5-F717-E27FC239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82AD16-73FE-6532-3462-B9844FA34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642E41-1865-60DA-24C3-F3EC4F90F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F62C62-E49F-7BC5-49CF-87DF4C24F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0AE22-138E-4CE0-8F43-3DD4BBCBCB7D}" type="slidenum">
              <a:rPr lang="es-ES" smtClean="0"/>
              <a:pPr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038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0AE22-138E-4CE0-8F43-3DD4BBCBCB7D}" type="slidenum">
              <a:rPr lang="es-ES" smtClean="0"/>
              <a:pPr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432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1 senc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sultado de imagen de network background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8 Rectángulo"/>
          <p:cNvSpPr/>
          <p:nvPr userDrawn="1"/>
        </p:nvSpPr>
        <p:spPr>
          <a:xfrm>
            <a:off x="0" y="0"/>
            <a:ext cx="9144000" cy="1995686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Marcador de posición de imagen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227934"/>
          </a:xfrm>
        </p:spPr>
        <p:txBody>
          <a:bodyPr anchor="ctr">
            <a:normAutofit/>
          </a:bodyPr>
          <a:lstStyle>
            <a:lvl1pPr algn="ctr">
              <a:buFontTx/>
              <a:buNone/>
              <a:defRPr sz="1600" i="1">
                <a:solidFill>
                  <a:srgbClr val="F26D28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0"/>
            <a:ext cx="5760640" cy="1440159"/>
          </a:xfrm>
          <a:solidFill>
            <a:srgbClr val="FF6B00"/>
          </a:solidFill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 con imagen de fondo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187624" y="1347614"/>
            <a:ext cx="6048672" cy="1872208"/>
          </a:xfrm>
        </p:spPr>
        <p:txBody>
          <a:bodyPr anchor="t">
            <a:noAutofit/>
          </a:bodyPr>
          <a:lstStyle>
            <a:lvl1pPr algn="l">
              <a:defRPr sz="3600" b="1" cap="none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Subtítulo de la Presentación</a:t>
            </a:r>
          </a:p>
        </p:txBody>
      </p:sp>
      <p:sp>
        <p:nvSpPr>
          <p:cNvPr id="13" name="12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1043608" y="195486"/>
            <a:ext cx="1296764" cy="1512515"/>
          </a:xfrm>
        </p:spPr>
        <p:txBody>
          <a:bodyPr>
            <a:noAutofit/>
          </a:bodyPr>
          <a:lstStyle>
            <a:lvl1pPr>
              <a:buNone/>
              <a:defRPr sz="80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s-ES" dirty="0"/>
              <a:t>1</a:t>
            </a:r>
          </a:p>
        </p:txBody>
      </p:sp>
      <p:pic>
        <p:nvPicPr>
          <p:cNvPr id="5" name="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12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5" name="1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16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2 Marcador de contenido"/>
          <p:cNvSpPr>
            <a:spLocks noGrp="1"/>
          </p:cNvSpPr>
          <p:nvPr>
            <p:ph idx="10"/>
          </p:nvPr>
        </p:nvSpPr>
        <p:spPr>
          <a:xfrm>
            <a:off x="457200" y="1196950"/>
            <a:ext cx="4042792" cy="339102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6" name="2 Marcador de contenido"/>
          <p:cNvSpPr>
            <a:spLocks noGrp="1"/>
          </p:cNvSpPr>
          <p:nvPr>
            <p:ph idx="14"/>
          </p:nvPr>
        </p:nvSpPr>
        <p:spPr>
          <a:xfrm>
            <a:off x="4644008" y="1193000"/>
            <a:ext cx="4032448" cy="339497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9" name="18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21" name="20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2" name="11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1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2</a:t>
            </a:r>
          </a:p>
        </p:txBody>
      </p:sp>
      <p:sp>
        <p:nvSpPr>
          <p:cNvPr id="13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16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9" name="1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0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  <p:sp>
        <p:nvSpPr>
          <p:cNvPr id="21" name="2 Marcador de contenido"/>
          <p:cNvSpPr>
            <a:spLocks noGrp="1"/>
          </p:cNvSpPr>
          <p:nvPr>
            <p:ph idx="10"/>
          </p:nvPr>
        </p:nvSpPr>
        <p:spPr>
          <a:xfrm>
            <a:off x="457200" y="1635646"/>
            <a:ext cx="4042792" cy="2952328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2" name="2 Marcador de contenido"/>
          <p:cNvSpPr>
            <a:spLocks noGrp="1"/>
          </p:cNvSpPr>
          <p:nvPr>
            <p:ph idx="15"/>
          </p:nvPr>
        </p:nvSpPr>
        <p:spPr>
          <a:xfrm>
            <a:off x="4644008" y="1632206"/>
            <a:ext cx="4032448" cy="295576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 userDrawn="1"/>
        </p:nvSpPr>
        <p:spPr>
          <a:xfrm>
            <a:off x="0" y="0"/>
            <a:ext cx="3059832" cy="51435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2386607" cy="8715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2386607" cy="351829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9" name="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27584" y="4421182"/>
            <a:ext cx="1503909" cy="454824"/>
          </a:xfrm>
          <a:prstGeom prst="rect">
            <a:avLst/>
          </a:prstGeom>
        </p:spPr>
      </p:pic>
      <p:sp>
        <p:nvSpPr>
          <p:cNvPr id="10" name="2 Marcador de contenido"/>
          <p:cNvSpPr>
            <a:spLocks noGrp="1"/>
          </p:cNvSpPr>
          <p:nvPr>
            <p:ph idx="1"/>
          </p:nvPr>
        </p:nvSpPr>
        <p:spPr>
          <a:xfrm>
            <a:off x="3275856" y="195486"/>
            <a:ext cx="5410944" cy="439913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sección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sección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835696" y="627534"/>
            <a:ext cx="5486400" cy="1381746"/>
          </a:xfrm>
        </p:spPr>
        <p:txBody>
          <a:bodyPr anchor="b"/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Despedida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835696" y="1995686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despedida</a:t>
            </a:r>
          </a:p>
        </p:txBody>
      </p:sp>
      <p:sp>
        <p:nvSpPr>
          <p:cNvPr id="6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835696" y="2859782"/>
            <a:ext cx="1152128" cy="1152128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Autor</a:t>
            </a:r>
          </a:p>
        </p:txBody>
      </p:sp>
      <p:sp>
        <p:nvSpPr>
          <p:cNvPr id="10" name="9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2987675" y="2859088"/>
            <a:ext cx="4321175" cy="1152525"/>
          </a:xfr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rmAutofit/>
          </a:bodyPr>
          <a:lstStyle>
            <a:lvl1pPr>
              <a:buNone/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&lt;Nombre y apellidos&gt;</a:t>
            </a:r>
          </a:p>
          <a:p>
            <a:pPr lvl="0"/>
            <a:r>
              <a:rPr lang="es-ES" dirty="0"/>
              <a:t>&lt;Email&gt;</a:t>
            </a:r>
          </a:p>
          <a:p>
            <a:pPr lvl="0"/>
            <a:r>
              <a:rPr lang="es-ES" dirty="0"/>
              <a:t>&lt;Teléfono&gt;</a:t>
            </a:r>
          </a:p>
        </p:txBody>
      </p:sp>
      <p:pic>
        <p:nvPicPr>
          <p:cNvPr id="8" name="7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3015D-F054-4B71-BB12-316A6A9541BC}" type="datetimeFigureOut">
              <a:rPr lang="es-ES" smtClean="0"/>
              <a:pPr/>
              <a:t>10/11/2025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51" r:id="rId4"/>
    <p:sldLayoutId id="2147483650" r:id="rId5"/>
    <p:sldLayoutId id="2147483652" r:id="rId6"/>
    <p:sldLayoutId id="2147483653" r:id="rId7"/>
    <p:sldLayoutId id="2147483656" r:id="rId8"/>
    <p:sldLayoutId id="2147483657" r:id="rId9"/>
    <p:sldLayoutId id="2147483661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es/database/sqldeveloper/technologies/downloa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51520" y="411510"/>
            <a:ext cx="7772400" cy="1152128"/>
          </a:xfrm>
        </p:spPr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947663"/>
          </a:xfrm>
        </p:spPr>
        <p:txBody>
          <a:bodyPr/>
          <a:lstStyle/>
          <a:p>
            <a:r>
              <a:rPr lang="es-ES" dirty="0"/>
              <a:t>Oracle </a:t>
            </a:r>
            <a:r>
              <a:rPr lang="es-ES" dirty="0" err="1"/>
              <a:t>Database</a:t>
            </a:r>
            <a:endParaRPr lang="es-ES" dirty="0"/>
          </a:p>
          <a:p>
            <a:pPr lvl="1"/>
            <a:r>
              <a:rPr lang="es-ES" dirty="0"/>
              <a:t>En un mundo impulsado por datos, dominar SQL y PL/SQL es esencial. Aprende a gestionar, optimizar y automatizar el procesamiento de información, una habilidad clave para el desarrollo </a:t>
            </a:r>
            <a:r>
              <a:rPr lang="es-ES" dirty="0" err="1"/>
              <a:t>backend</a:t>
            </a:r>
            <a:r>
              <a:rPr lang="es-ES" dirty="0"/>
              <a:t> y el análisis de datos.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Inicio</a:t>
            </a:r>
            <a:endParaRPr lang="es-ES" dirty="0"/>
          </a:p>
        </p:txBody>
      </p:sp>
      <p:pic>
        <p:nvPicPr>
          <p:cNvPr id="1026" name="Picture 2" descr="Aplicación Oracle DB 11g Errors Guide en Amazon Appstore">
            <a:extLst>
              <a:ext uri="{FF2B5EF4-FFF2-40B4-BE49-F238E27FC236}">
                <a16:creationId xmlns:a16="http://schemas.microsoft.com/office/drawing/2014/main" id="{56530982-3F72-7132-B328-AD4E032FF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7" y="271576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90AA-A36D-0698-1CFD-B91FCF9F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D4D17EB-BB9C-75A1-58BF-CB459A47A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Sesiones</a:t>
            </a:r>
          </a:p>
          <a:p>
            <a:pPr lvl="2"/>
            <a:r>
              <a:rPr lang="es-ES" dirty="0"/>
              <a:t>Sesión 1 – Conexión y diseño de tablas (2h)</a:t>
            </a:r>
          </a:p>
          <a:p>
            <a:pPr lvl="2"/>
            <a:r>
              <a:rPr lang="es-ES" dirty="0"/>
              <a:t>Sesión 2 – Insertar y consultar datos (2h)</a:t>
            </a:r>
          </a:p>
          <a:p>
            <a:pPr lvl="2"/>
            <a:r>
              <a:rPr lang="es-ES" dirty="0"/>
              <a:t>Sesión 3 – Fundamentos de PL/SQL (2h)</a:t>
            </a:r>
          </a:p>
          <a:p>
            <a:pPr lvl="2"/>
            <a:r>
              <a:rPr lang="es-ES" dirty="0"/>
              <a:t>Sesión 4 – Procedimientos, funciones y paquetes (2h)</a:t>
            </a:r>
          </a:p>
          <a:p>
            <a:pPr lvl="2"/>
            <a:r>
              <a:rPr lang="es-ES" dirty="0"/>
              <a:t>Sesión 5 – Cursores y operaciones en bloque (2h)</a:t>
            </a:r>
          </a:p>
          <a:p>
            <a:pPr lvl="2"/>
            <a:r>
              <a:rPr lang="es-ES" dirty="0"/>
              <a:t>Sesión 6 – Optimización de consultas (3h)</a:t>
            </a:r>
          </a:p>
          <a:p>
            <a:pPr lvl="2"/>
            <a:r>
              <a:rPr lang="es-ES" dirty="0"/>
              <a:t>Sesión 7 – </a:t>
            </a:r>
            <a:r>
              <a:rPr lang="es-ES" dirty="0" err="1"/>
              <a:t>Triggers</a:t>
            </a:r>
            <a:r>
              <a:rPr lang="es-ES" dirty="0"/>
              <a:t> (1h)</a:t>
            </a:r>
          </a:p>
          <a:p>
            <a:pPr lvl="2"/>
            <a:endParaRPr lang="es-ES" dirty="0"/>
          </a:p>
          <a:p>
            <a:pPr lvl="2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1DB2940-3159-AA88-2A46-762F55B4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EC34DE5-E61C-8A31-4D73-BAFA907511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Indice</a:t>
            </a:r>
            <a:r>
              <a:rPr lang="es-ES" dirty="0"/>
              <a:t> Curso</a:t>
            </a:r>
          </a:p>
        </p:txBody>
      </p:sp>
    </p:spTree>
    <p:extLst>
      <p:ext uri="{BB962C8B-B14F-4D97-AF65-F5344CB8AC3E}">
        <p14:creationId xmlns:p14="http://schemas.microsoft.com/office/powerpoint/2010/main" val="420673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CE6A2-AB82-D079-EEE9-CFE683B1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0695829-FF1C-F669-F93A-C5974D0C6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Sesión 1</a:t>
            </a:r>
          </a:p>
          <a:p>
            <a:pPr lvl="2"/>
            <a:r>
              <a:rPr lang="es-ES" dirty="0"/>
              <a:t>Instalación y uso de Oracle SQL </a:t>
            </a:r>
            <a:r>
              <a:rPr lang="es-ES" dirty="0" err="1"/>
              <a:t>Developer</a:t>
            </a:r>
            <a:endParaRPr lang="es-ES" dirty="0"/>
          </a:p>
          <a:p>
            <a:pPr lvl="2"/>
            <a:r>
              <a:rPr lang="es-ES" dirty="0"/>
              <a:t>Conexión al servidor Oracle y organización de conexiones</a:t>
            </a:r>
          </a:p>
          <a:p>
            <a:pPr lvl="2"/>
            <a:r>
              <a:rPr lang="es-ES" dirty="0"/>
              <a:t>Creación de tablas: CREATE TABLE, tipos de datos, </a:t>
            </a:r>
            <a:r>
              <a:rPr lang="es-ES" dirty="0" err="1"/>
              <a:t>BFile</a:t>
            </a:r>
            <a:r>
              <a:rPr lang="es-ES" dirty="0"/>
              <a:t>, claves primarias, </a:t>
            </a:r>
            <a:r>
              <a:rPr lang="es-ES" dirty="0" err="1"/>
              <a:t>Identity</a:t>
            </a:r>
            <a:r>
              <a:rPr lang="es-ES" dirty="0"/>
              <a:t>, etc.</a:t>
            </a:r>
          </a:p>
          <a:p>
            <a:pPr lvl="2"/>
            <a:r>
              <a:rPr lang="es-ES" dirty="0"/>
              <a:t>Claves foráneas y relaciones simples entre tablas</a:t>
            </a:r>
          </a:p>
          <a:p>
            <a:pPr lvl="2"/>
            <a:endParaRPr lang="es-ES" dirty="0"/>
          </a:p>
          <a:p>
            <a:pPr lvl="2"/>
            <a:r>
              <a:rPr lang="es-ES" dirty="0"/>
              <a:t>Git clone https://github.com/pedromunuerar/cursoplsql.git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A9B2BE7-9B0C-4A6B-A3FA-1246DCF6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BE311FF-4CE5-2CFD-96D8-D9DCF7AA2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Indice</a:t>
            </a:r>
            <a:r>
              <a:rPr lang="es-ES" dirty="0"/>
              <a:t> Sesión 1</a:t>
            </a:r>
          </a:p>
        </p:txBody>
      </p:sp>
    </p:spTree>
    <p:extLst>
      <p:ext uri="{BB962C8B-B14F-4D97-AF65-F5344CB8AC3E}">
        <p14:creationId xmlns:p14="http://schemas.microsoft.com/office/powerpoint/2010/main" val="4276708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0E7A-4878-C245-DB0B-EE247F0D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16F86DC-1442-640D-0BF1-32AC10520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672409"/>
          </a:xfrm>
        </p:spPr>
        <p:txBody>
          <a:bodyPr>
            <a:normAutofit lnSpcReduction="10000"/>
          </a:bodyPr>
          <a:lstStyle/>
          <a:p>
            <a:r>
              <a:rPr lang="es-ES" dirty="0"/>
              <a:t>Instalar Oracle SQL </a:t>
            </a:r>
            <a:r>
              <a:rPr lang="es-ES" dirty="0" err="1"/>
              <a:t>Developer</a:t>
            </a:r>
            <a:endParaRPr lang="es-ES" dirty="0"/>
          </a:p>
          <a:p>
            <a:pPr lvl="1"/>
            <a:r>
              <a:rPr lang="es-ES" dirty="0"/>
              <a:t>Descarga</a:t>
            </a:r>
          </a:p>
          <a:p>
            <a:pPr lvl="2"/>
            <a:r>
              <a:rPr lang="es-ES" dirty="0">
                <a:hlinkClick r:id="rId3"/>
              </a:rPr>
              <a:t>https://www.oracle.com/es/database/sqldeveloper/technologies/download/</a:t>
            </a:r>
            <a:endParaRPr lang="es-ES" dirty="0"/>
          </a:p>
          <a:p>
            <a:pPr lvl="1"/>
            <a:r>
              <a:rPr lang="es-ES" dirty="0"/>
              <a:t>Novell </a:t>
            </a:r>
            <a:r>
              <a:rPr lang="es-ES" dirty="0" err="1"/>
              <a:t>Zenworks</a:t>
            </a:r>
            <a:endParaRPr lang="es-ES" dirty="0"/>
          </a:p>
          <a:p>
            <a:pPr lvl="2"/>
            <a:r>
              <a:rPr lang="es-ES" dirty="0"/>
              <a:t>Aplicaciones UM -&gt; Herramientas -&gt; MEDEA</a:t>
            </a:r>
          </a:p>
          <a:p>
            <a:pPr lvl="3"/>
            <a:r>
              <a:rPr lang="es-ES" dirty="0"/>
              <a:t>Si encuentra versiones anteriores solicitará si quieres importar datos.</a:t>
            </a:r>
          </a:p>
          <a:p>
            <a:pPr lvl="2"/>
            <a:r>
              <a:rPr lang="es-ES" dirty="0"/>
              <a:t>Directorios importantes:</a:t>
            </a:r>
          </a:p>
          <a:p>
            <a:pPr lvl="3"/>
            <a:r>
              <a:rPr lang="es-ES" dirty="0"/>
              <a:t>C:\Oracle\sqldeveloper-23.1.1.345.2114-x64    Donde están las extensiones</a:t>
            </a:r>
          </a:p>
          <a:p>
            <a:pPr lvl="3"/>
            <a:r>
              <a:rPr lang="es-ES" dirty="0"/>
              <a:t>C:\Users\&lt;usuario&gt;\AppData\Roaming\SQL </a:t>
            </a:r>
            <a:r>
              <a:rPr lang="es-ES" dirty="0" err="1"/>
              <a:t>Developer</a:t>
            </a:r>
            <a:r>
              <a:rPr lang="es-ES" dirty="0"/>
              <a:t> Historial, </a:t>
            </a:r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templates</a:t>
            </a:r>
            <a:r>
              <a:rPr lang="es-ES" dirty="0"/>
              <a:t>, Fragmentos.</a:t>
            </a:r>
          </a:p>
          <a:p>
            <a:pPr lvl="1"/>
            <a:r>
              <a:rPr lang="es-ES" dirty="0"/>
              <a:t>Manual</a:t>
            </a:r>
          </a:p>
          <a:p>
            <a:pPr lvl="2"/>
            <a:r>
              <a:rPr lang="es-ES" dirty="0"/>
              <a:t>https://docs.oracle.com/cd/E12151_01/index.htm</a:t>
            </a:r>
          </a:p>
          <a:p>
            <a:pPr lvl="3"/>
            <a:endParaRPr lang="es-ES" dirty="0"/>
          </a:p>
          <a:p>
            <a:pPr lvl="2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2F88460-32FD-ABB0-5F03-576BB368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EED6F9B-CAA9-639B-6FEB-986F79A5DD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4281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0C67D-F0F2-76EA-234E-36CC4AB5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41A7083F-EF28-CD21-6E0F-CBD245707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672409"/>
          </a:xfrm>
        </p:spPr>
        <p:txBody>
          <a:bodyPr>
            <a:normAutofit/>
          </a:bodyPr>
          <a:lstStyle/>
          <a:p>
            <a:r>
              <a:rPr lang="es-ES" dirty="0"/>
              <a:t>Instalar Oracle SQL </a:t>
            </a:r>
            <a:r>
              <a:rPr lang="es-ES" dirty="0" err="1"/>
              <a:t>Developer</a:t>
            </a:r>
            <a:endParaRPr lang="es-ES" dirty="0"/>
          </a:p>
          <a:p>
            <a:pPr lvl="1"/>
            <a:r>
              <a:rPr lang="es-ES" dirty="0"/>
              <a:t>Servidor</a:t>
            </a:r>
          </a:p>
          <a:p>
            <a:pPr lvl="1"/>
            <a:r>
              <a:rPr lang="es-ES" dirty="0"/>
              <a:t>******************</a:t>
            </a:r>
          </a:p>
          <a:p>
            <a:pPr lvl="1"/>
            <a:r>
              <a:rPr lang="es-ES" dirty="0"/>
              <a:t>ZEUSDESA  Puerto ****</a:t>
            </a:r>
          </a:p>
          <a:p>
            <a:pPr lvl="1"/>
            <a:r>
              <a:rPr lang="es-ES" dirty="0"/>
              <a:t>FORMACION_TICARUM</a:t>
            </a:r>
          </a:p>
          <a:p>
            <a:pPr lvl="1"/>
            <a:r>
              <a:rPr lang="es-ES" dirty="0"/>
              <a:t>*********</a:t>
            </a:r>
          </a:p>
          <a:p>
            <a:pPr lvl="1"/>
            <a:endParaRPr lang="es-ES" dirty="0"/>
          </a:p>
          <a:p>
            <a:pPr lvl="2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DD3939D-7CE5-2331-19A8-57087D52D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CFD564A-CEC5-5089-B9C6-2F484A170F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175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25605-3592-9629-4C66-F728E364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>
            <a:extLst>
              <a:ext uri="{FF2B5EF4-FFF2-40B4-BE49-F238E27FC236}">
                <a16:creationId xmlns:a16="http://schemas.microsoft.com/office/drawing/2014/main" id="{B1D512A1-F369-23E4-32A3-2CFC70D0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205B91B-D77A-2282-395B-D87539C77F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9253F671-D4AA-6554-103B-EA22DAC0E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258" y="1188905"/>
            <a:ext cx="2969850" cy="121138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62789E3-7A14-FCD7-1D71-20C538945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8" y="2919092"/>
            <a:ext cx="2423463" cy="188193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5AFC0CE-7B73-215D-DB63-E4A5B5EDE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885" y="2624597"/>
            <a:ext cx="4122116" cy="2202786"/>
          </a:xfrm>
          <a:prstGeom prst="rect">
            <a:avLst/>
          </a:prstGeom>
        </p:spPr>
      </p:pic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36D84F7-629B-9A9D-326D-E10EBC26F0E3}"/>
              </a:ext>
            </a:extLst>
          </p:cNvPr>
          <p:cNvSpPr txBox="1">
            <a:spLocks/>
          </p:cNvSpPr>
          <p:nvPr/>
        </p:nvSpPr>
        <p:spPr>
          <a:xfrm>
            <a:off x="4499992" y="1082375"/>
            <a:ext cx="3960440" cy="1424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I</a:t>
            </a:r>
            <a:r>
              <a:rPr lang="es-ES" dirty="0" err="1"/>
              <a:t>nstalación</a:t>
            </a: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Podemos importar la configuración de otra instalación</a:t>
            </a:r>
          </a:p>
        </p:txBody>
      </p:sp>
    </p:spTree>
    <p:extLst>
      <p:ext uri="{BB962C8B-B14F-4D97-AF65-F5344CB8AC3E}">
        <p14:creationId xmlns:p14="http://schemas.microsoft.com/office/powerpoint/2010/main" val="237432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AB64-3463-2F81-8734-0A1DF08A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>
            <a:extLst>
              <a:ext uri="{FF2B5EF4-FFF2-40B4-BE49-F238E27FC236}">
                <a16:creationId xmlns:a16="http://schemas.microsoft.com/office/drawing/2014/main" id="{46C8D2D3-3829-295A-8D61-7A874820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58C05F9-30D6-1C2A-1163-1B1FD8EF2E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25D6AB-7FA5-19E1-F39F-780987297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2649564"/>
            <a:ext cx="2240930" cy="2082426"/>
          </a:xfrm>
          <a:prstGeom prst="rect">
            <a:avLst/>
          </a:prstGeom>
        </p:spPr>
      </p:pic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5A8A92A3-4989-9DF7-AC4B-69C1C4958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22350" y="2283718"/>
            <a:ext cx="4505886" cy="2448313"/>
          </a:xfrm>
          <a:prstGeom prst="rect">
            <a:avLst/>
          </a:prstGeom>
        </p:spPr>
      </p:pic>
      <p:sp>
        <p:nvSpPr>
          <p:cNvPr id="3" name="4 Marcador de contenido">
            <a:extLst>
              <a:ext uri="{FF2B5EF4-FFF2-40B4-BE49-F238E27FC236}">
                <a16:creationId xmlns:a16="http://schemas.microsoft.com/office/drawing/2014/main" id="{4C567849-151B-E5CC-F859-9A54D0784AC6}"/>
              </a:ext>
            </a:extLst>
          </p:cNvPr>
          <p:cNvSpPr txBox="1">
            <a:spLocks/>
          </p:cNvSpPr>
          <p:nvPr/>
        </p:nvSpPr>
        <p:spPr>
          <a:xfrm>
            <a:off x="315764" y="936892"/>
            <a:ext cx="8784976" cy="14244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Conexiones</a:t>
            </a: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También podemos importar/exportar las conexiones. Recomiendo tener un archivo.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Organizar por colores los entornos.</a:t>
            </a:r>
          </a:p>
        </p:txBody>
      </p:sp>
    </p:spTree>
    <p:extLst>
      <p:ext uri="{BB962C8B-B14F-4D97-AF65-F5344CB8AC3E}">
        <p14:creationId xmlns:p14="http://schemas.microsoft.com/office/powerpoint/2010/main" val="415803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BCFB-05DF-63F0-2502-4F15BDC7B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>
            <a:extLst>
              <a:ext uri="{FF2B5EF4-FFF2-40B4-BE49-F238E27FC236}">
                <a16:creationId xmlns:a16="http://schemas.microsoft.com/office/drawing/2014/main" id="{4F2B72D5-6630-8164-C53C-F4FBCD29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B282EAC-9F3E-2A14-94C8-462D0C99B0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AF191002-E592-83AF-9D53-12DF617B3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63064"/>
            <a:ext cx="2306206" cy="11161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BFFD5BD-665F-2D77-4CFA-BFCBF562D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871" y="2452026"/>
            <a:ext cx="1374574" cy="140429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825CA53-8104-3284-029B-1523983A2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653" y="1635646"/>
            <a:ext cx="2613336" cy="2811024"/>
          </a:xfrm>
          <a:prstGeom prst="rect">
            <a:avLst/>
          </a:prstGeom>
        </p:spPr>
      </p:pic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08456220-48AC-4572-C97B-1215B0F536C6}"/>
              </a:ext>
            </a:extLst>
          </p:cNvPr>
          <p:cNvSpPr txBox="1">
            <a:spLocks/>
          </p:cNvSpPr>
          <p:nvPr/>
        </p:nvSpPr>
        <p:spPr>
          <a:xfrm>
            <a:off x="480574" y="1059582"/>
            <a:ext cx="3960440" cy="1424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Carpetas</a:t>
            </a: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Y organizar por carpetas los usuarios.</a:t>
            </a:r>
          </a:p>
        </p:txBody>
      </p:sp>
    </p:spTree>
    <p:extLst>
      <p:ext uri="{BB962C8B-B14F-4D97-AF65-F5344CB8AC3E}">
        <p14:creationId xmlns:p14="http://schemas.microsoft.com/office/powerpoint/2010/main" val="2011508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0476-7628-EFAB-5296-742F95D2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>
            <a:extLst>
              <a:ext uri="{FF2B5EF4-FFF2-40B4-BE49-F238E27FC236}">
                <a16:creationId xmlns:a16="http://schemas.microsoft.com/office/drawing/2014/main" id="{8DECD659-97D9-B7C7-80DA-D44DFF98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5BBC1B6-A663-DDC0-9C99-613E255FD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0031DE-E771-BCEA-A3FF-4C1D2AAA9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21" y="2309605"/>
            <a:ext cx="1783848" cy="242238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C8ABF49-2202-5BCF-2993-D25FE7882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589" y="2309606"/>
            <a:ext cx="1791343" cy="242238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4A9972A-9FCD-35DE-77E4-FFCCED19B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579" y="2309605"/>
            <a:ext cx="1695200" cy="242238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E13946C-9ED8-F96B-9972-8693A4432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137" y="1869245"/>
            <a:ext cx="2416327" cy="2862745"/>
          </a:xfrm>
          <a:prstGeom prst="rect">
            <a:avLst/>
          </a:prstGeom>
        </p:spPr>
      </p:pic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46FE47D-5F4E-9BC7-721D-95AF9E27FDCB}"/>
              </a:ext>
            </a:extLst>
          </p:cNvPr>
          <p:cNvSpPr txBox="1">
            <a:spLocks/>
          </p:cNvSpPr>
          <p:nvPr/>
        </p:nvSpPr>
        <p:spPr>
          <a:xfrm>
            <a:off x="480574" y="1059582"/>
            <a:ext cx="7331786" cy="1424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Carpetas</a:t>
            </a: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El objetivo es no tener que estar buscando las conexiones.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Y usar el color para saber en qué entorno estamos.</a:t>
            </a:r>
          </a:p>
        </p:txBody>
      </p:sp>
    </p:spTree>
    <p:extLst>
      <p:ext uri="{BB962C8B-B14F-4D97-AF65-F5344CB8AC3E}">
        <p14:creationId xmlns:p14="http://schemas.microsoft.com/office/powerpoint/2010/main" val="3182080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5F81-F6A8-B4CB-9F96-99B5B6F6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>
            <a:extLst>
              <a:ext uri="{FF2B5EF4-FFF2-40B4-BE49-F238E27FC236}">
                <a16:creationId xmlns:a16="http://schemas.microsoft.com/office/drawing/2014/main" id="{EC0EB986-8C7F-6FFF-F3A7-39535D90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C8EF4711-6897-7E55-D25B-F10250F10A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8E065AB-3E6A-4D8D-31AE-E903DEB7B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794" y="2760034"/>
            <a:ext cx="2602982" cy="197195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E2FDB46-8333-20DE-2886-A65A2B979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457" y="2760035"/>
            <a:ext cx="2602983" cy="196993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8D1DD86-F34D-D61B-09C0-744D12B29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79" y="2780617"/>
            <a:ext cx="2103291" cy="1839348"/>
          </a:xfrm>
          <a:prstGeom prst="rect">
            <a:avLst/>
          </a:prstGeom>
        </p:spPr>
      </p:pic>
      <p:sp>
        <p:nvSpPr>
          <p:cNvPr id="13" name="4 Marcador de contenido">
            <a:extLst>
              <a:ext uri="{FF2B5EF4-FFF2-40B4-BE49-F238E27FC236}">
                <a16:creationId xmlns:a16="http://schemas.microsoft.com/office/drawing/2014/main" id="{F96C29E3-D12F-2F2B-EA7F-5B8219AFC08D}"/>
              </a:ext>
            </a:extLst>
          </p:cNvPr>
          <p:cNvSpPr txBox="1">
            <a:spLocks/>
          </p:cNvSpPr>
          <p:nvPr/>
        </p:nvSpPr>
        <p:spPr>
          <a:xfrm>
            <a:off x="480574" y="1059582"/>
            <a:ext cx="8483914" cy="1424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Exportar conexiones</a:t>
            </a: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Podemos crear un archivo con las conexiones que deseemos. Y facilitarlas a algún compañero. Evitando que tenga que configurar todo desde cero.</a:t>
            </a:r>
          </a:p>
        </p:txBody>
      </p:sp>
    </p:spTree>
    <p:extLst>
      <p:ext uri="{BB962C8B-B14F-4D97-AF65-F5344CB8AC3E}">
        <p14:creationId xmlns:p14="http://schemas.microsoft.com/office/powerpoint/2010/main" val="2340339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ABD6E-764B-6A94-C0E4-CE625D87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72639F0-2ABB-0C6E-D69B-671544EEB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229600" cy="3816424"/>
          </a:xfrm>
        </p:spPr>
        <p:txBody>
          <a:bodyPr>
            <a:normAutofit lnSpcReduction="10000"/>
          </a:bodyPr>
          <a:lstStyle/>
          <a:p>
            <a:r>
              <a:rPr lang="es-ES" dirty="0"/>
              <a:t>Fragmentos (</a:t>
            </a:r>
            <a:r>
              <a:rPr lang="es-ES" dirty="0" err="1"/>
              <a:t>Snippets</a:t>
            </a:r>
            <a:r>
              <a:rPr lang="es-ES" dirty="0"/>
              <a:t>)</a:t>
            </a:r>
          </a:p>
          <a:p>
            <a:pPr lvl="2"/>
            <a:r>
              <a:rPr lang="es-ES" dirty="0"/>
              <a:t>Los </a:t>
            </a:r>
            <a:r>
              <a:rPr lang="es-ES" dirty="0" err="1"/>
              <a:t>Snippets</a:t>
            </a:r>
            <a:r>
              <a:rPr lang="es-ES" dirty="0"/>
              <a:t> te permiten insertar plantillas de SQL o PL/SQL con un doble clic o arrastrar al editor. Menú: Ver → Fragmentos</a:t>
            </a:r>
          </a:p>
          <a:p>
            <a:pPr lvl="2"/>
            <a:r>
              <a:rPr lang="es-ES" dirty="0"/>
              <a:t>Se guardan en %</a:t>
            </a:r>
            <a:r>
              <a:rPr lang="es-ES" dirty="0" err="1"/>
              <a:t>AppData</a:t>
            </a:r>
            <a:r>
              <a:rPr lang="es-ES" dirty="0"/>
              <a:t>%\SQL </a:t>
            </a:r>
            <a:r>
              <a:rPr lang="es-ES" dirty="0" err="1"/>
              <a:t>Developer</a:t>
            </a:r>
            <a:r>
              <a:rPr lang="es-ES" dirty="0"/>
              <a:t>\UserSnippets.xml</a:t>
            </a:r>
          </a:p>
          <a:p>
            <a:pPr lvl="2"/>
            <a:r>
              <a:rPr lang="es-ES" dirty="0"/>
              <a:t>C:\Users\&lt;usuario&gt;\AppData\Roaming\SQL </a:t>
            </a:r>
            <a:r>
              <a:rPr lang="es-ES" dirty="0" err="1"/>
              <a:t>Developer</a:t>
            </a:r>
            <a:r>
              <a:rPr lang="es-ES" dirty="0"/>
              <a:t>\UserSnippets.xml</a:t>
            </a:r>
          </a:p>
          <a:p>
            <a:pPr lvl="2"/>
            <a:r>
              <a:rPr lang="es-ES" dirty="0"/>
              <a:t>Podemos guardar una copia, y utilizarla en otra instalación.</a:t>
            </a:r>
          </a:p>
          <a:p>
            <a:pPr lvl="2"/>
            <a:r>
              <a:rPr lang="es-ES" dirty="0"/>
              <a:t>Los podemos organizar por categorías. Y se ordenan alfabéticamente. </a:t>
            </a:r>
          </a:p>
          <a:p>
            <a:pPr lvl="2"/>
            <a:r>
              <a:rPr lang="es-ES" dirty="0"/>
              <a:t>Oracle SQL </a:t>
            </a:r>
            <a:r>
              <a:rPr lang="es-ES" dirty="0" err="1"/>
              <a:t>Developer</a:t>
            </a:r>
            <a:r>
              <a:rPr lang="es-ES" dirty="0"/>
              <a:t> ya trae muchos útiles:</a:t>
            </a:r>
          </a:p>
          <a:p>
            <a:pPr lvl="3"/>
            <a:r>
              <a:rPr lang="es-ES" dirty="0"/>
              <a:t>Flashback</a:t>
            </a:r>
          </a:p>
          <a:p>
            <a:pPr lvl="3"/>
            <a:r>
              <a:rPr lang="es-ES" dirty="0"/>
              <a:t>Formatos de Fecha</a:t>
            </a:r>
          </a:p>
          <a:p>
            <a:pPr lvl="3"/>
            <a:r>
              <a:rPr lang="es-ES" dirty="0"/>
              <a:t>Formatos Numéricos.</a:t>
            </a:r>
          </a:p>
          <a:p>
            <a:pPr lvl="3"/>
            <a:r>
              <a:rPr lang="es-ES" dirty="0"/>
              <a:t>Creamos uno nuevo para consulta</a:t>
            </a:r>
          </a:p>
          <a:p>
            <a:pPr lvl="2"/>
            <a:endParaRPr lang="es-ES" dirty="0"/>
          </a:p>
          <a:p>
            <a:pPr lvl="2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C22BAFA-B419-36A9-C5C6-9F0930CF3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A24AC8F-AC09-C62D-E6E8-51D7E42A30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25777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FF198-368F-34DC-A19B-78DD7FB8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2A9C7B9-52A6-F13B-63B0-B23A1B3A6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7574"/>
            <a:ext cx="8856984" cy="3960440"/>
          </a:xfrm>
        </p:spPr>
        <p:txBody>
          <a:bodyPr/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Templates</a:t>
            </a:r>
            <a:endParaRPr lang="es-ES" dirty="0"/>
          </a:p>
          <a:p>
            <a:pPr lvl="1"/>
            <a:r>
              <a:rPr lang="es-ES" dirty="0"/>
              <a:t>Similar a los fragmentos. </a:t>
            </a:r>
          </a:p>
          <a:p>
            <a:pPr marL="877888" lvl="2" indent="-342900"/>
            <a:r>
              <a:rPr lang="es-ES" dirty="0"/>
              <a:t>Se pueden configurar en Herramientas -&gt; Preferencias -&gt; Editor de Códigos -&gt; Plantillas de códigos</a:t>
            </a:r>
          </a:p>
          <a:p>
            <a:pPr marL="877888" lvl="2" indent="-342900"/>
            <a:r>
              <a:rPr lang="es-ES" dirty="0"/>
              <a:t>Se guardan en C:\Users\&lt;usuario&gt;\AppData\Roaming\SQL </a:t>
            </a:r>
            <a:r>
              <a:rPr lang="es-ES" dirty="0" err="1"/>
              <a:t>Developer</a:t>
            </a:r>
            <a:r>
              <a:rPr lang="es-ES" dirty="0"/>
              <a:t>\CodeTemplates.xml</a:t>
            </a:r>
          </a:p>
          <a:p>
            <a:pPr marL="877888" lvl="2" indent="-342900"/>
            <a:r>
              <a:rPr lang="es-ES" dirty="0"/>
              <a:t>Se utilizan pulsando escribiendo el código y pulsando </a:t>
            </a:r>
            <a:r>
              <a:rPr lang="es-ES" dirty="0" err="1"/>
              <a:t>Ctrl+Shift+T</a:t>
            </a:r>
            <a:r>
              <a:rPr lang="es-ES" dirty="0"/>
              <a:t>  o </a:t>
            </a:r>
            <a:r>
              <a:rPr lang="es-ES" dirty="0" err="1"/>
              <a:t>Btn</a:t>
            </a:r>
            <a:r>
              <a:rPr lang="es-ES" dirty="0"/>
              <a:t> Derecho Plantilla de Código</a:t>
            </a:r>
          </a:p>
          <a:p>
            <a:pPr marL="877888" lvl="2" indent="-342900"/>
            <a:r>
              <a:rPr lang="es-ES" dirty="0"/>
              <a:t>Permiten posicionar el cursor y sustitución usando  [], mientras que los Fragmentos no.</a:t>
            </a:r>
          </a:p>
          <a:p>
            <a:pPr marL="877888" lvl="2" indent="-342900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1AA1173-185E-2F4E-53D5-04BC5A46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F555522-6DAB-C47F-46B4-52216472F3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2436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8FFF-C944-DCC3-122A-0CE0D91C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C4C730D-3C1F-A1FE-861B-1DB79AA23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6"/>
            <a:ext cx="5842992" cy="4104455"/>
          </a:xfrm>
        </p:spPr>
        <p:txBody>
          <a:bodyPr>
            <a:normAutofit/>
          </a:bodyPr>
          <a:lstStyle/>
          <a:p>
            <a:r>
              <a:rPr lang="es-ES" dirty="0" err="1"/>
              <a:t>Tips</a:t>
            </a:r>
            <a:r>
              <a:rPr lang="es-ES" dirty="0"/>
              <a:t> Rápidos</a:t>
            </a:r>
          </a:p>
          <a:p>
            <a:pPr lvl="1"/>
            <a:r>
              <a:rPr lang="es-ES" dirty="0"/>
              <a:t>Buscar</a:t>
            </a:r>
          </a:p>
          <a:p>
            <a:pPr lvl="2"/>
            <a:r>
              <a:rPr lang="es-ES" dirty="0"/>
              <a:t>Ver -&gt; Buscar Objetos en la Base de Datos </a:t>
            </a:r>
          </a:p>
          <a:p>
            <a:pPr lvl="1"/>
            <a:r>
              <a:rPr lang="es-ES" dirty="0"/>
              <a:t>Git</a:t>
            </a:r>
          </a:p>
          <a:p>
            <a:pPr lvl="2"/>
            <a:r>
              <a:rPr lang="es-ES" dirty="0"/>
              <a:t>Equipo -&gt; Versiones. Luego Git-&gt; Clonar</a:t>
            </a:r>
          </a:p>
          <a:p>
            <a:pPr lvl="2"/>
            <a:r>
              <a:rPr lang="es-ES" dirty="0"/>
              <a:t>Ejemplo:  https://github.com/pedromunuerar/cursoplsql.git</a:t>
            </a:r>
          </a:p>
          <a:p>
            <a:pPr lvl="2"/>
            <a:r>
              <a:rPr lang="es-ES" dirty="0"/>
              <a:t>Accedemos con el navegador de archivos del </a:t>
            </a:r>
            <a:r>
              <a:rPr lang="es-ES" dirty="0" err="1"/>
              <a:t>Developer</a:t>
            </a:r>
            <a:r>
              <a:rPr lang="es-ES" dirty="0"/>
              <a:t>. En Ver -&gt; Archivos</a:t>
            </a:r>
          </a:p>
          <a:p>
            <a:pPr lvl="2"/>
            <a:r>
              <a:rPr lang="es-ES" dirty="0"/>
              <a:t>Se integra totalmente con determinadas versiones de </a:t>
            </a:r>
            <a:r>
              <a:rPr lang="es-ES" dirty="0" err="1"/>
              <a:t>git</a:t>
            </a:r>
            <a:endParaRPr lang="es-ES" dirty="0"/>
          </a:p>
          <a:p>
            <a:pPr marL="268288" lvl="2" indent="0">
              <a:buNone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354BCC5-E3DE-C5C8-B337-0CF72C5C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312F3FC-ADA4-D3B7-45A1-7F29A0BC24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E5504C-BBEC-11B3-DBD0-5A15B07F0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429" y="1188853"/>
            <a:ext cx="1902720" cy="16382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D7D241C-E0EC-9CD2-1B49-83C5E58FE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892" y="3018543"/>
            <a:ext cx="2459257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30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6AFFD-90DB-8D81-6332-912235CE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5F0D51D-FF7E-E600-BC09-E9DD3D6A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3558"/>
            <a:ext cx="8507288" cy="4176463"/>
          </a:xfrm>
        </p:spPr>
        <p:txBody>
          <a:bodyPr>
            <a:normAutofit/>
          </a:bodyPr>
          <a:lstStyle/>
          <a:p>
            <a:r>
              <a:rPr lang="es-ES" dirty="0" err="1"/>
              <a:t>Tips</a:t>
            </a:r>
            <a:r>
              <a:rPr lang="es-ES" dirty="0"/>
              <a:t> Rápidos</a:t>
            </a:r>
          </a:p>
          <a:p>
            <a:pPr lvl="1"/>
            <a:r>
              <a:rPr lang="es-ES" dirty="0"/>
              <a:t>SVN</a:t>
            </a:r>
          </a:p>
          <a:p>
            <a:pPr lvl="2"/>
            <a:r>
              <a:rPr lang="es-ES" dirty="0"/>
              <a:t>Podemos usar también un repositorio SVN.</a:t>
            </a:r>
          </a:p>
          <a:p>
            <a:pPr lvl="2"/>
            <a:r>
              <a:rPr lang="es-ES" dirty="0"/>
              <a:t>Pero no se integra con iconos SVN. Para poder usar SVN debes hacer el </a:t>
            </a:r>
            <a:r>
              <a:rPr lang="es-ES" dirty="0" err="1"/>
              <a:t>checkout</a:t>
            </a:r>
            <a:r>
              <a:rPr lang="es-ES" dirty="0"/>
              <a:t> con Oracle </a:t>
            </a:r>
            <a:r>
              <a:rPr lang="es-ES" dirty="0" err="1"/>
              <a:t>Sql</a:t>
            </a:r>
            <a:r>
              <a:rPr lang="es-ES" dirty="0"/>
              <a:t> </a:t>
            </a:r>
            <a:r>
              <a:rPr lang="es-ES" dirty="0" err="1"/>
              <a:t>Developer</a:t>
            </a:r>
            <a:r>
              <a:rPr lang="es-ES" dirty="0"/>
              <a:t> para generar las credenciales.</a:t>
            </a:r>
          </a:p>
          <a:p>
            <a:pPr lvl="2"/>
            <a:r>
              <a:rPr lang="es-ES" dirty="0"/>
              <a:t>En la versión en español “Desproteger” es la forma en la que se hace un </a:t>
            </a:r>
            <a:r>
              <a:rPr lang="es-ES" dirty="0" err="1"/>
              <a:t>Checkout</a:t>
            </a:r>
            <a:r>
              <a:rPr lang="es-ES" dirty="0"/>
              <a:t>. </a:t>
            </a:r>
          </a:p>
          <a:p>
            <a:pPr lvl="1"/>
            <a:r>
              <a:rPr lang="es-ES" dirty="0"/>
              <a:t>Formatos de Fechas</a:t>
            </a:r>
          </a:p>
          <a:p>
            <a:pPr lvl="2"/>
            <a:r>
              <a:rPr lang="es-ES" dirty="0"/>
              <a:t>Preferencias -&gt; Base de Datos -&gt; NLS Se puede configurar el formato por defecto. Es muy importante. El formato al menos tienes que tener el RRRR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268288" lvl="2" indent="0">
              <a:buNone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5378EADA-51D9-FE81-1119-0697E7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A46D249-80EE-34A3-90E7-C614E23F01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0481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3792C-A611-B2CD-5F57-3ACDA2C06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9216F00-330B-040D-265F-42D7BB004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3559"/>
            <a:ext cx="8507288" cy="3600400"/>
          </a:xfrm>
        </p:spPr>
        <p:txBody>
          <a:bodyPr>
            <a:normAutofit/>
          </a:bodyPr>
          <a:lstStyle/>
          <a:p>
            <a:r>
              <a:rPr lang="es-ES" dirty="0" err="1"/>
              <a:t>Tips</a:t>
            </a:r>
            <a:r>
              <a:rPr lang="es-ES" dirty="0"/>
              <a:t> Rápidos</a:t>
            </a:r>
          </a:p>
          <a:p>
            <a:pPr lvl="1"/>
            <a:r>
              <a:rPr lang="es-ES" dirty="0"/>
              <a:t>Historial</a:t>
            </a:r>
          </a:p>
          <a:p>
            <a:pPr lvl="2"/>
            <a:r>
              <a:rPr lang="es-ES" dirty="0"/>
              <a:t>Ver -&gt; Historial. Se puede configurar el numero de días y sesiones en Preferencias-&gt;Historial , por defecto son 7 días, sesiones. Algo muy limitado. Y muy malo.</a:t>
            </a:r>
          </a:p>
          <a:p>
            <a:pPr lvl="2"/>
            <a:r>
              <a:rPr lang="es-ES" dirty="0"/>
              <a:t>A veces necesitamos recuperar consultas. Hay Historial de BD. </a:t>
            </a:r>
          </a:p>
          <a:p>
            <a:pPr lvl="2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268288" lvl="2" indent="0">
              <a:buNone/>
            </a:pPr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ACB26B6-7F81-D943-0162-2B7AD5A70544}"/>
              </a:ext>
            </a:extLst>
          </p:cNvPr>
          <p:cNvSpPr/>
          <p:nvPr/>
        </p:nvSpPr>
        <p:spPr>
          <a:xfrm>
            <a:off x="4878264" y="3857156"/>
            <a:ext cx="3534238" cy="9343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495AFE-BC38-E0E0-2484-CC6CEF9B051C}"/>
              </a:ext>
            </a:extLst>
          </p:cNvPr>
          <p:cNvSpPr/>
          <p:nvPr/>
        </p:nvSpPr>
        <p:spPr>
          <a:xfrm>
            <a:off x="962176" y="3857156"/>
            <a:ext cx="2502024" cy="9343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071A1E3-E1C8-C65C-0D8D-63DF1D5C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6314875A-2A1D-FC3F-9DD0-2A8265213A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23F567-6250-CB3F-6810-E090EDB7379B}"/>
              </a:ext>
            </a:extLst>
          </p:cNvPr>
          <p:cNvSpPr txBox="1"/>
          <p:nvPr/>
        </p:nvSpPr>
        <p:spPr>
          <a:xfrm>
            <a:off x="5092027" y="4083917"/>
            <a:ext cx="3106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en-US" dirty="0">
                <a:solidFill>
                  <a:srgbClr val="0C0D0E"/>
                </a:solidFill>
                <a:effectLst/>
                <a:latin typeface="ui-monospace"/>
              </a:rPr>
              <a:t>select * from </a:t>
            </a:r>
            <a:r>
              <a:rPr lang="en-US" dirty="0" err="1">
                <a:solidFill>
                  <a:srgbClr val="0C0D0E"/>
                </a:solidFill>
                <a:effectLst/>
                <a:latin typeface="ui-monospace"/>
              </a:rPr>
              <a:t>dba_hist_sqltext</a:t>
            </a:r>
            <a:r>
              <a:rPr lang="en-US" dirty="0">
                <a:solidFill>
                  <a:srgbClr val="0C0D0E"/>
                </a:solidFill>
                <a:effectLst/>
                <a:latin typeface="ui-monospace"/>
              </a:rPr>
              <a:t>;</a:t>
            </a:r>
            <a:br>
              <a:rPr lang="en-US" b="0" i="0" dirty="0">
                <a:solidFill>
                  <a:srgbClr val="0C0D0E"/>
                </a:solidFill>
                <a:effectLst/>
                <a:latin typeface="inherit"/>
              </a:rPr>
            </a:b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47CB4-EBEE-71C0-A617-508E4814A622}"/>
              </a:ext>
            </a:extLst>
          </p:cNvPr>
          <p:cNvSpPr txBox="1"/>
          <p:nvPr/>
        </p:nvSpPr>
        <p:spPr>
          <a:xfrm>
            <a:off x="1187624" y="4083918"/>
            <a:ext cx="25020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s-ES" b="0" i="0" dirty="0" err="1">
                <a:solidFill>
                  <a:srgbClr val="0C0D0E"/>
                </a:solidFill>
                <a:effectLst/>
                <a:latin typeface="ui-monospace"/>
              </a:rPr>
              <a:t>select</a:t>
            </a:r>
            <a:r>
              <a:rPr lang="es-ES" b="0" i="0" dirty="0">
                <a:solidFill>
                  <a:srgbClr val="0C0D0E"/>
                </a:solidFill>
                <a:effectLst/>
                <a:latin typeface="ui-monospace"/>
              </a:rPr>
              <a:t> * </a:t>
            </a:r>
            <a:r>
              <a:rPr lang="es-ES" b="0" i="0" dirty="0" err="1">
                <a:solidFill>
                  <a:srgbClr val="0C0D0E"/>
                </a:solidFill>
                <a:effectLst/>
                <a:latin typeface="ui-monospace"/>
              </a:rPr>
              <a:t>from</a:t>
            </a:r>
            <a:r>
              <a:rPr lang="es-ES" b="0" i="0" dirty="0">
                <a:solidFill>
                  <a:srgbClr val="0C0D0E"/>
                </a:solidFill>
                <a:effectLst/>
                <a:latin typeface="ui-monospace"/>
              </a:rPr>
              <a:t> </a:t>
            </a:r>
            <a:r>
              <a:rPr lang="es-ES" b="0" i="0" dirty="0" err="1">
                <a:solidFill>
                  <a:srgbClr val="0C0D0E"/>
                </a:solidFill>
                <a:effectLst/>
                <a:latin typeface="ui-monospace"/>
              </a:rPr>
              <a:t>v$sql</a:t>
            </a:r>
            <a:r>
              <a:rPr lang="es-ES" b="0" i="0" dirty="0">
                <a:solidFill>
                  <a:srgbClr val="0C0D0E"/>
                </a:solidFill>
                <a:effectLst/>
                <a:latin typeface="ui-monospace"/>
              </a:rPr>
              <a:t>;</a:t>
            </a:r>
          </a:p>
          <a:p>
            <a:pPr>
              <a:buNone/>
            </a:pPr>
            <a:endParaRPr lang="es-ES" dirty="0"/>
          </a:p>
        </p:txBody>
      </p:sp>
      <p:sp>
        <p:nvSpPr>
          <p:cNvPr id="11" name="4 Marcador de contenido">
            <a:extLst>
              <a:ext uri="{FF2B5EF4-FFF2-40B4-BE49-F238E27FC236}">
                <a16:creationId xmlns:a16="http://schemas.microsoft.com/office/drawing/2014/main" id="{F27E7302-854B-3D75-DBF2-20157C96045D}"/>
              </a:ext>
            </a:extLst>
          </p:cNvPr>
          <p:cNvSpPr txBox="1">
            <a:spLocks/>
          </p:cNvSpPr>
          <p:nvPr/>
        </p:nvSpPr>
        <p:spPr>
          <a:xfrm>
            <a:off x="899592" y="3338348"/>
            <a:ext cx="2323485" cy="68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Recientes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268288" lvl="2" indent="0">
              <a:buFont typeface="Arial" pitchFamily="34" charset="0"/>
              <a:buNone/>
            </a:pPr>
            <a:endParaRPr lang="es-ES" dirty="0"/>
          </a:p>
        </p:txBody>
      </p:sp>
      <p:sp>
        <p:nvSpPr>
          <p:cNvPr id="12" name="4 Marcador de contenido">
            <a:extLst>
              <a:ext uri="{FF2B5EF4-FFF2-40B4-BE49-F238E27FC236}">
                <a16:creationId xmlns:a16="http://schemas.microsoft.com/office/drawing/2014/main" id="{66A09B58-64EB-C3FD-2E2B-40A92F08ABE8}"/>
              </a:ext>
            </a:extLst>
          </p:cNvPr>
          <p:cNvSpPr txBox="1">
            <a:spLocks/>
          </p:cNvSpPr>
          <p:nvPr/>
        </p:nvSpPr>
        <p:spPr>
          <a:xfrm>
            <a:off x="4878264" y="3338348"/>
            <a:ext cx="2323485" cy="68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Antiguas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268288" lvl="2" indent="0">
              <a:buFont typeface="Arial" pitchFamily="34" charset="0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1920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316A3-0758-5F82-533D-11A38815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A2041252-E43B-934A-1FC9-377B25EB8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8840"/>
            <a:ext cx="8229600" cy="4033190"/>
          </a:xfrm>
        </p:spPr>
        <p:txBody>
          <a:bodyPr>
            <a:normAutofit lnSpcReduction="10000"/>
          </a:bodyPr>
          <a:lstStyle/>
          <a:p>
            <a:r>
              <a:rPr lang="es-ES" dirty="0" err="1"/>
              <a:t>Tips</a:t>
            </a:r>
            <a:endParaRPr lang="es-ES" dirty="0"/>
          </a:p>
          <a:p>
            <a:pPr lvl="1"/>
            <a:r>
              <a:rPr lang="es-ES" dirty="0"/>
              <a:t>Fechas</a:t>
            </a:r>
          </a:p>
          <a:p>
            <a:pPr lvl="2"/>
            <a:r>
              <a:rPr lang="es-ES" dirty="0"/>
              <a:t>Ejemplo DD/MM/RRRR</a:t>
            </a:r>
          </a:p>
          <a:p>
            <a:pPr lvl="1"/>
            <a:r>
              <a:rPr lang="es-ES" dirty="0"/>
              <a:t>Atajos de teclado</a:t>
            </a:r>
          </a:p>
          <a:p>
            <a:pPr lvl="2"/>
            <a:r>
              <a:rPr lang="es-ES" dirty="0"/>
              <a:t>Herramientas → Preferencias → Teclas de Método Abreviado</a:t>
            </a:r>
          </a:p>
          <a:p>
            <a:pPr lvl="2"/>
            <a:r>
              <a:rPr lang="es-ES" dirty="0"/>
              <a:t>Se puede Exportar e Importar</a:t>
            </a:r>
          </a:p>
          <a:p>
            <a:pPr lvl="2"/>
            <a:r>
              <a:rPr lang="es-ES" dirty="0"/>
              <a:t>También se pueden modificar</a:t>
            </a:r>
          </a:p>
          <a:p>
            <a:pPr lvl="1"/>
            <a:r>
              <a:rPr lang="es-ES" dirty="0"/>
              <a:t>Carro</a:t>
            </a:r>
          </a:p>
          <a:p>
            <a:pPr lvl="2"/>
            <a:r>
              <a:rPr lang="es-ES" dirty="0"/>
              <a:t>Permite agrupar objetos. Ver-&gt;Carro </a:t>
            </a:r>
          </a:p>
          <a:p>
            <a:pPr lvl="2"/>
            <a:r>
              <a:rPr lang="es-ES" dirty="0"/>
              <a:t>Le podemos asignar nombre.</a:t>
            </a:r>
          </a:p>
          <a:p>
            <a:pPr lvl="2"/>
            <a:r>
              <a:rPr lang="es-ES" dirty="0"/>
              <a:t>Guardar, exportar y comparar.</a:t>
            </a:r>
          </a:p>
          <a:p>
            <a:pPr lvl="2"/>
            <a:r>
              <a:rPr lang="es-ES" dirty="0"/>
              <a:t>Útil para esquemas grandes y repetición de estructuras</a:t>
            </a:r>
          </a:p>
          <a:p>
            <a:pPr marL="268288" lvl="2" indent="0">
              <a:buNone/>
            </a:pPr>
            <a:endParaRPr lang="es-ES" dirty="0"/>
          </a:p>
          <a:p>
            <a:pPr lvl="2"/>
            <a:endParaRPr lang="es-ES" dirty="0"/>
          </a:p>
          <a:p>
            <a:pPr lvl="2"/>
            <a:endParaRPr lang="es-ES" dirty="0"/>
          </a:p>
          <a:p>
            <a:pPr marL="268288" lvl="2" indent="0">
              <a:buNone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4B08C08-0D84-C8ED-43D9-5F8AFDFD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516CB5C-714D-BE00-7186-F5F57033F9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Oracle SQL </a:t>
            </a:r>
            <a:r>
              <a:rPr lang="es-ES" dirty="0" err="1"/>
              <a:t>Developer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586F4E-E7E6-2BF2-B565-F1ECF002B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932842"/>
            <a:ext cx="2067213" cy="14956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71FFE4B-8D08-226A-E3AD-7BE465880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898" y="915566"/>
            <a:ext cx="2162477" cy="149563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0ED228A2-1784-DC04-FCE9-483089D92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19678"/>
              </p:ext>
            </p:extLst>
          </p:nvPr>
        </p:nvGraphicFramePr>
        <p:xfrm>
          <a:off x="4898213" y="2787774"/>
          <a:ext cx="3930870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7425">
                  <a:extLst>
                    <a:ext uri="{9D8B030D-6E8A-4147-A177-3AD203B41FA5}">
                      <a16:colId xmlns:a16="http://schemas.microsoft.com/office/drawing/2014/main" val="162068881"/>
                    </a:ext>
                  </a:extLst>
                </a:gridCol>
                <a:gridCol w="1623445">
                  <a:extLst>
                    <a:ext uri="{9D8B030D-6E8A-4147-A177-3AD203B41FA5}">
                      <a16:colId xmlns:a16="http://schemas.microsoft.com/office/drawing/2014/main" val="1794135894"/>
                    </a:ext>
                  </a:extLst>
                </a:gridCol>
              </a:tblGrid>
              <a:tr h="1718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Acción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Atajo (Windows/Linux)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2330255"/>
                  </a:ext>
                </a:extLst>
              </a:tr>
              <a:tr h="171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Ejecutar </a:t>
                      </a:r>
                      <a:r>
                        <a:rPr lang="es-ES" sz="1100" u="none" strike="noStrike" dirty="0" err="1">
                          <a:effectLst/>
                        </a:rPr>
                        <a:t>statement</a:t>
                      </a:r>
                      <a:r>
                        <a:rPr lang="es-ES" sz="1100" u="none" strike="noStrike" dirty="0">
                          <a:effectLst/>
                        </a:rPr>
                        <a:t> actual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Ctrl + Enter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6799749"/>
                  </a:ext>
                </a:extLst>
              </a:tr>
              <a:tr h="171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Ejecutar script completo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F5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5186698"/>
                  </a:ext>
                </a:extLst>
              </a:tr>
              <a:tr h="171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Formatear SQL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Ctrl</a:t>
                      </a:r>
                      <a:r>
                        <a:rPr lang="es-ES" sz="1100" u="none" strike="noStrike" dirty="0">
                          <a:effectLst/>
                        </a:rPr>
                        <a:t> + F7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7010879"/>
                  </a:ext>
                </a:extLst>
              </a:tr>
              <a:tr h="171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Comentar / </a:t>
                      </a:r>
                      <a:r>
                        <a:rPr lang="es-ES" sz="1100" u="none" strike="noStrike" dirty="0" err="1">
                          <a:effectLst/>
                        </a:rPr>
                        <a:t>descomentar</a:t>
                      </a:r>
                      <a:r>
                        <a:rPr lang="es-ES" sz="1100" u="none" strike="noStrike" dirty="0">
                          <a:effectLst/>
                        </a:rPr>
                        <a:t> líneas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Ctrl</a:t>
                      </a:r>
                      <a:r>
                        <a:rPr lang="es-ES" sz="1100" u="none" strike="noStrike" dirty="0">
                          <a:effectLst/>
                        </a:rPr>
                        <a:t> + /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6059963"/>
                  </a:ext>
                </a:extLst>
              </a:tr>
              <a:tr h="171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Buscar objeto (table, proc, etc.)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Alt + G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6071941"/>
                  </a:ext>
                </a:extLst>
              </a:tr>
              <a:tr h="171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Ir al bloque de código (Begin/End)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Ctrl + Shift + Arrow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84106438"/>
                  </a:ext>
                </a:extLst>
              </a:tr>
              <a:tr h="171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Ver plan de ejecución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F10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8725846"/>
                  </a:ext>
                </a:extLst>
              </a:tr>
              <a:tr h="171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Autocompletar / Insight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Ctrl + Space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2652547"/>
                  </a:ext>
                </a:extLst>
              </a:tr>
              <a:tr h="171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Plegar / expandir bloques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Ctrl</a:t>
                      </a:r>
                      <a:r>
                        <a:rPr lang="es-ES" sz="1100" u="none" strike="noStrike" dirty="0">
                          <a:effectLst/>
                        </a:rPr>
                        <a:t> + Shift + -/+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530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951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C6153-39FE-C0D0-4CD1-AF1ABD61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>
            <a:extLst>
              <a:ext uri="{FF2B5EF4-FFF2-40B4-BE49-F238E27FC236}">
                <a16:creationId xmlns:a16="http://schemas.microsoft.com/office/drawing/2014/main" id="{6FB53698-1F64-78CF-CBA6-F8016402B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6" name="5 Marcador de texto">
            <a:extLst>
              <a:ext uri="{FF2B5EF4-FFF2-40B4-BE49-F238E27FC236}">
                <a16:creationId xmlns:a16="http://schemas.microsoft.com/office/drawing/2014/main" id="{534CC541-415B-1AB7-DF13-24FE748B66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3030134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B9F41-AE46-8688-1388-89F1F26FB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236639F-8543-5476-0BBA-48A183C35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888432"/>
          </a:xfrm>
        </p:spPr>
        <p:txBody>
          <a:bodyPr/>
          <a:lstStyle/>
          <a:p>
            <a:r>
              <a:rPr lang="es-ES" dirty="0"/>
              <a:t>Sintaxis general</a:t>
            </a:r>
          </a:p>
          <a:p>
            <a:pPr marL="268288" lvl="2" indent="0">
              <a:buNone/>
            </a:pPr>
            <a:r>
              <a:rPr lang="es-ES" sz="1400" dirty="0"/>
              <a:t>CREATE TABLE </a:t>
            </a:r>
            <a:r>
              <a:rPr lang="es-ES" sz="1400" dirty="0" err="1"/>
              <a:t>nombre_tabla</a:t>
            </a:r>
            <a:r>
              <a:rPr lang="es-ES" sz="1400" dirty="0"/>
              <a:t> (</a:t>
            </a:r>
          </a:p>
          <a:p>
            <a:pPr marL="268288" lvl="2" indent="0">
              <a:buNone/>
            </a:pPr>
            <a:r>
              <a:rPr lang="es-ES" sz="1400" dirty="0"/>
              <a:t>   </a:t>
            </a:r>
            <a:r>
              <a:rPr lang="es-ES" sz="1400" dirty="0" err="1"/>
              <a:t>nombre_columna</a:t>
            </a:r>
            <a:r>
              <a:rPr lang="es-ES" sz="1400" dirty="0"/>
              <a:t> </a:t>
            </a:r>
            <a:r>
              <a:rPr lang="es-ES" sz="1400" dirty="0" err="1"/>
              <a:t>tipo_dato</a:t>
            </a:r>
            <a:r>
              <a:rPr lang="es-ES" sz="1400" dirty="0"/>
              <a:t> [DEFAULT valor] [</a:t>
            </a:r>
            <a:r>
              <a:rPr lang="es-ES" sz="1400" dirty="0" err="1"/>
              <a:t>constraint</a:t>
            </a:r>
            <a:r>
              <a:rPr lang="es-ES" sz="1400" dirty="0"/>
              <a:t>],</a:t>
            </a:r>
          </a:p>
          <a:p>
            <a:pPr marL="268288" lvl="2" indent="0">
              <a:buNone/>
            </a:pPr>
            <a:r>
              <a:rPr lang="es-ES" sz="1400" dirty="0"/>
              <a:t>   ...</a:t>
            </a:r>
          </a:p>
          <a:p>
            <a:pPr marL="268288" lvl="2" indent="0">
              <a:buNone/>
            </a:pPr>
            <a:r>
              <a:rPr lang="es-ES" sz="1400" dirty="0"/>
              <a:t>) [TABLESPACE </a:t>
            </a:r>
            <a:r>
              <a:rPr lang="es-ES" sz="1400" dirty="0" err="1"/>
              <a:t>nombre_ts</a:t>
            </a:r>
            <a:r>
              <a:rPr lang="es-ES" sz="1400" dirty="0"/>
              <a:t>]</a:t>
            </a:r>
          </a:p>
          <a:p>
            <a:pPr marL="268288" lvl="2" indent="0">
              <a:buNone/>
            </a:pPr>
            <a:r>
              <a:rPr lang="es-ES" sz="1400" dirty="0"/>
              <a:t>[STORAGE (...)]</a:t>
            </a:r>
          </a:p>
          <a:p>
            <a:pPr marL="268288" lvl="2" indent="0">
              <a:buNone/>
            </a:pPr>
            <a:r>
              <a:rPr lang="es-ES" sz="1400" dirty="0"/>
              <a:t>[PCTFREE n]</a:t>
            </a:r>
          </a:p>
          <a:p>
            <a:pPr marL="268288" lvl="2" indent="0">
              <a:buNone/>
            </a:pPr>
            <a:r>
              <a:rPr lang="es-ES" sz="1400" dirty="0"/>
              <a:t>[PCTUSED n];</a:t>
            </a:r>
          </a:p>
          <a:p>
            <a:pPr lvl="2"/>
            <a:r>
              <a:rPr lang="es-ES" sz="1600" dirty="0"/>
              <a:t>Oracle distingue entre </a:t>
            </a:r>
            <a:r>
              <a:rPr lang="es-ES" sz="1600" b="1" dirty="0"/>
              <a:t>definición lógica</a:t>
            </a:r>
            <a:r>
              <a:rPr lang="es-ES" sz="1600" dirty="0"/>
              <a:t> (nombre, columnas, </a:t>
            </a:r>
            <a:r>
              <a:rPr lang="es-ES" sz="1600" dirty="0" err="1"/>
              <a:t>constraints</a:t>
            </a:r>
            <a:r>
              <a:rPr lang="es-ES" sz="1600" dirty="0"/>
              <a:t>) y </a:t>
            </a:r>
            <a:r>
              <a:rPr lang="es-ES" sz="1600" b="1" dirty="0"/>
              <a:t>definición física</a:t>
            </a:r>
            <a:r>
              <a:rPr lang="es-ES" sz="1600" dirty="0"/>
              <a:t> (</a:t>
            </a:r>
            <a:r>
              <a:rPr lang="es-ES" sz="1600" dirty="0" err="1"/>
              <a:t>tablespace</a:t>
            </a:r>
            <a:r>
              <a:rPr lang="es-ES" sz="1600" dirty="0"/>
              <a:t>, almacenamiento, compresión).</a:t>
            </a:r>
          </a:p>
          <a:p>
            <a:pPr lvl="2"/>
            <a:r>
              <a:rPr lang="es-ES" sz="1600" dirty="0"/>
              <a:t>En versiones 12c en adelante (incluyendo 18c), se recomienda usar </a:t>
            </a:r>
            <a:r>
              <a:rPr lang="es-ES" sz="1600" b="1" dirty="0"/>
              <a:t>IDENTITY </a:t>
            </a:r>
            <a:r>
              <a:rPr lang="es-ES" sz="1600" b="1" dirty="0" err="1"/>
              <a:t>columns</a:t>
            </a:r>
            <a:r>
              <a:rPr lang="es-ES" sz="1600" dirty="0"/>
              <a:t> en lugar de secuencias + </a:t>
            </a:r>
            <a:r>
              <a:rPr lang="es-ES" sz="1600" dirty="0" err="1"/>
              <a:t>triggers</a:t>
            </a:r>
            <a:r>
              <a:rPr lang="es-ES" sz="1600" dirty="0"/>
              <a:t> para claves primarias simples.</a:t>
            </a:r>
          </a:p>
          <a:p>
            <a:pPr lvl="2"/>
            <a:endParaRPr lang="es-ES" sz="16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A92A7FBC-BE6E-C146-8F5C-F2ED9D58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7226EFD-009A-EE99-66DC-D987090426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</p:spTree>
    <p:extLst>
      <p:ext uri="{BB962C8B-B14F-4D97-AF65-F5344CB8AC3E}">
        <p14:creationId xmlns:p14="http://schemas.microsoft.com/office/powerpoint/2010/main" val="185651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073AF-363E-D60D-7389-7B7D0D8F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3FB9F253-DEBC-4205-BB75-6400C6A17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2458616" cy="3394472"/>
          </a:xfrm>
        </p:spPr>
        <p:txBody>
          <a:bodyPr/>
          <a:lstStyle/>
          <a:p>
            <a:r>
              <a:rPr lang="es-ES" dirty="0"/>
              <a:t>Tipos básicos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7BFDE55-DBFA-3AF7-4EC5-F676F84B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42D5D82-1775-6A1B-D6CC-D2DA07D634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5D04EDF-361A-D550-EC8F-8DC4486F1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342736"/>
              </p:ext>
            </p:extLst>
          </p:nvPr>
        </p:nvGraphicFramePr>
        <p:xfrm>
          <a:off x="447981" y="1851670"/>
          <a:ext cx="4318000" cy="2419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1922">
                  <a:extLst>
                    <a:ext uri="{9D8B030D-6E8A-4147-A177-3AD203B41FA5}">
                      <a16:colId xmlns:a16="http://schemas.microsoft.com/office/drawing/2014/main" val="684686042"/>
                    </a:ext>
                  </a:extLst>
                </a:gridCol>
                <a:gridCol w="1459427">
                  <a:extLst>
                    <a:ext uri="{9D8B030D-6E8A-4147-A177-3AD203B41FA5}">
                      <a16:colId xmlns:a16="http://schemas.microsoft.com/office/drawing/2014/main" val="2681252880"/>
                    </a:ext>
                  </a:extLst>
                </a:gridCol>
                <a:gridCol w="2106651">
                  <a:extLst>
                    <a:ext uri="{9D8B030D-6E8A-4147-A177-3AD203B41FA5}">
                      <a16:colId xmlns:a16="http://schemas.microsoft.com/office/drawing/2014/main" val="22230189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Categoría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Tipo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Descripción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914184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Numéricos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NUMBER(p,s)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Enteros y decimales de precisión arbitraria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2782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Texto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CHAR(n)</a:t>
                      </a:r>
                      <a:r>
                        <a:rPr lang="es-ES" sz="1100" u="none" strike="noStrike">
                          <a:effectLst/>
                        </a:rPr>
                        <a:t>, </a:t>
                      </a:r>
                      <a:r>
                        <a:rPr lang="es-ES" sz="1000" u="none" strike="noStrike">
                          <a:effectLst/>
                        </a:rPr>
                        <a:t>VARCHAR2(n)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Longitud fija o variable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46785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Unicode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NCHAR</a:t>
                      </a:r>
                      <a:r>
                        <a:rPr lang="es-ES" sz="1100" u="none" strike="noStrike">
                          <a:effectLst/>
                        </a:rPr>
                        <a:t>, </a:t>
                      </a:r>
                      <a:r>
                        <a:rPr lang="es-ES" sz="1000" u="none" strike="noStrike">
                          <a:effectLst/>
                        </a:rPr>
                        <a:t>NVARCHAR2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Soporta caracteres multibyte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838451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Fecha/Hora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DATE</a:t>
                      </a:r>
                      <a:r>
                        <a:rPr lang="en-US" sz="1100" u="none" strike="noStrike" dirty="0">
                          <a:effectLst/>
                        </a:rPr>
                        <a:t>, </a:t>
                      </a:r>
                      <a:r>
                        <a:rPr lang="en-US" sz="1000" u="none" strike="noStrike" dirty="0">
                          <a:effectLst/>
                        </a:rPr>
                        <a:t>TIMESTAMP</a:t>
                      </a:r>
                      <a:r>
                        <a:rPr lang="en-US" sz="1100" u="none" strike="noStrike" dirty="0">
                          <a:effectLst/>
                        </a:rPr>
                        <a:t>, </a:t>
                      </a:r>
                      <a:r>
                        <a:rPr lang="en-US" sz="1000" u="none" strike="noStrike" dirty="0">
                          <a:effectLst/>
                        </a:rPr>
                        <a:t>TIMESTAMP WITH TIME ZONE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Manejo de tiempos precisos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55688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Binarios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RAW</a:t>
                      </a:r>
                      <a:r>
                        <a:rPr lang="en-US" sz="1100" u="none" strike="noStrike">
                          <a:effectLst/>
                        </a:rPr>
                        <a:t>, </a:t>
                      </a:r>
                      <a:r>
                        <a:rPr lang="en-US" sz="1000" u="none" strike="noStrike">
                          <a:effectLst/>
                        </a:rPr>
                        <a:t>LONG RAW</a:t>
                      </a:r>
                      <a:r>
                        <a:rPr lang="en-US" sz="1100" u="none" strike="noStrike">
                          <a:effectLst/>
                        </a:rPr>
                        <a:t>, </a:t>
                      </a:r>
                      <a:r>
                        <a:rPr lang="en-US" sz="1000" u="none" strike="noStrike">
                          <a:effectLst/>
                        </a:rPr>
                        <a:t>BLOB</a:t>
                      </a:r>
                      <a:r>
                        <a:rPr lang="en-US" sz="1100" u="none" strike="noStrike">
                          <a:effectLst/>
                        </a:rPr>
                        <a:t>, </a:t>
                      </a:r>
                      <a:r>
                        <a:rPr lang="en-US" sz="1000" u="none" strike="noStrike">
                          <a:effectLst/>
                        </a:rPr>
                        <a:t>BFILE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Datos binarios y archivos externos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328293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Booleanos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(no nativo, se usa </a:t>
                      </a:r>
                      <a:r>
                        <a:rPr lang="es-ES" sz="1000" u="none" strike="noStrike">
                          <a:effectLst/>
                        </a:rPr>
                        <a:t>CHAR(1)</a:t>
                      </a:r>
                      <a:r>
                        <a:rPr lang="es-ES" sz="1100" u="none" strike="noStrike">
                          <a:effectLst/>
                        </a:rPr>
                        <a:t> o </a:t>
                      </a:r>
                      <a:r>
                        <a:rPr lang="es-ES" sz="1000" u="none" strike="noStrike">
                          <a:effectLst/>
                        </a:rPr>
                        <a:t>NUMBER(1)</a:t>
                      </a:r>
                      <a:r>
                        <a:rPr lang="es-ES" sz="1100" u="none" strike="noStrike">
                          <a:effectLst/>
                        </a:rPr>
                        <a:t> con check)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32146516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4270DE84-B08A-D305-3BEC-CBD74CB17703}"/>
              </a:ext>
            </a:extLst>
          </p:cNvPr>
          <p:cNvSpPr/>
          <p:nvPr/>
        </p:nvSpPr>
        <p:spPr>
          <a:xfrm>
            <a:off x="4860032" y="1911560"/>
            <a:ext cx="4104456" cy="17281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A69C24-9DCA-404B-37CD-EAFEB7B33F7B}"/>
              </a:ext>
            </a:extLst>
          </p:cNvPr>
          <p:cNvSpPr txBox="1"/>
          <p:nvPr/>
        </p:nvSpPr>
        <p:spPr>
          <a:xfrm>
            <a:off x="4973294" y="1897544"/>
            <a:ext cx="38471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CREATE TABLE empleados (</a:t>
            </a:r>
          </a:p>
          <a:p>
            <a:r>
              <a:rPr lang="es-ES" dirty="0"/>
              <a:t>   id NUMBER GENERATED ALWAYS AS IDENTITY,</a:t>
            </a:r>
          </a:p>
          <a:p>
            <a:r>
              <a:rPr lang="es-ES" dirty="0"/>
              <a:t>   nombre VARCHAR2(100) NOT NULL,</a:t>
            </a:r>
          </a:p>
          <a:p>
            <a:r>
              <a:rPr lang="es-ES" dirty="0"/>
              <a:t>CONSTRAINT </a:t>
            </a:r>
            <a:r>
              <a:rPr lang="es-ES" dirty="0" err="1"/>
              <a:t>pk_empleados</a:t>
            </a:r>
            <a:r>
              <a:rPr lang="es-ES" dirty="0"/>
              <a:t> PRIMARY KEY (id));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294A58F7-CD2E-28A3-CB64-4DF501FFEFB0}"/>
              </a:ext>
            </a:extLst>
          </p:cNvPr>
          <p:cNvSpPr txBox="1">
            <a:spLocks/>
          </p:cNvSpPr>
          <p:nvPr/>
        </p:nvSpPr>
        <p:spPr>
          <a:xfrm>
            <a:off x="4739305" y="1203059"/>
            <a:ext cx="2458616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I</a:t>
            </a:r>
            <a:r>
              <a:rPr lang="es-ES" dirty="0" err="1"/>
              <a:t>dentity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46192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DB2B4-84D9-7605-2F99-321ADC93D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C86D4F6-C680-BEE5-A048-39518883C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6"/>
            <a:ext cx="8651304" cy="3679057"/>
          </a:xfrm>
        </p:spPr>
        <p:txBody>
          <a:bodyPr/>
          <a:lstStyle/>
          <a:p>
            <a:r>
              <a:rPr lang="es-ES" dirty="0"/>
              <a:t>Tipos básicos – NUMBER (</a:t>
            </a:r>
            <a:r>
              <a:rPr lang="es-ES" dirty="0" err="1"/>
              <a:t>p,s</a:t>
            </a:r>
            <a:r>
              <a:rPr lang="es-ES" dirty="0"/>
              <a:t>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 err="1"/>
              <a:t>precision</a:t>
            </a:r>
            <a:r>
              <a:rPr lang="es-ES" sz="1800" dirty="0"/>
              <a:t>: Número total de dígitos (1-38)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 err="1"/>
              <a:t>scale</a:t>
            </a:r>
            <a:r>
              <a:rPr lang="es-ES" sz="1800" dirty="0"/>
              <a:t>: Dígitos decimales a la derecha del punto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Optimizar espacio. Menos bloques e índices mas pequeños.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La clave está en dimensionar correctamente según el dominio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2718AAF-4080-E537-0281-F4FD869C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29B19F1-E856-E309-583E-FB280A8EA8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A7325E7-0B60-B2B3-AB1B-123ACB712588}"/>
              </a:ext>
            </a:extLst>
          </p:cNvPr>
          <p:cNvSpPr/>
          <p:nvPr/>
        </p:nvSpPr>
        <p:spPr>
          <a:xfrm>
            <a:off x="1115616" y="2715766"/>
            <a:ext cx="6030416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02389D8-45E2-64C0-30C9-BCFA720C3AFC}"/>
              </a:ext>
            </a:extLst>
          </p:cNvPr>
          <p:cNvSpPr txBox="1"/>
          <p:nvPr/>
        </p:nvSpPr>
        <p:spPr>
          <a:xfrm>
            <a:off x="1691680" y="2715767"/>
            <a:ext cx="59584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CREATE TABLE </a:t>
            </a:r>
            <a:r>
              <a:rPr lang="es-ES" sz="1600" dirty="0" err="1"/>
              <a:t>prueba_tamanio</a:t>
            </a:r>
            <a:r>
              <a:rPr lang="es-ES" sz="1600" dirty="0"/>
              <a:t> (</a:t>
            </a:r>
          </a:p>
          <a:p>
            <a:r>
              <a:rPr lang="es-ES" sz="1600" dirty="0"/>
              <a:t>    </a:t>
            </a:r>
            <a:r>
              <a:rPr lang="es-ES" sz="1600" dirty="0" err="1"/>
              <a:t>numero_grande</a:t>
            </a:r>
            <a:r>
              <a:rPr lang="es-ES" sz="1600" dirty="0"/>
              <a:t> NUMBER,           -- 22 bytes promedio</a:t>
            </a:r>
          </a:p>
          <a:p>
            <a:r>
              <a:rPr lang="es-ES" sz="1600" dirty="0"/>
              <a:t>    </a:t>
            </a:r>
            <a:r>
              <a:rPr lang="es-ES" sz="1600" dirty="0" err="1"/>
              <a:t>numero_optimizado</a:t>
            </a:r>
            <a:r>
              <a:rPr lang="es-ES" sz="1600" dirty="0"/>
              <a:t> NUMBER(10, 2), -- 6 bytes promedio</a:t>
            </a:r>
          </a:p>
          <a:p>
            <a:r>
              <a:rPr lang="es-ES" sz="1600" dirty="0"/>
              <a:t>    </a:t>
            </a:r>
            <a:r>
              <a:rPr lang="es-ES" sz="1600" dirty="0" err="1"/>
              <a:t>booleano_optimizado</a:t>
            </a:r>
            <a:r>
              <a:rPr lang="es-ES" sz="1600" dirty="0"/>
              <a:t> NUMBER(1) -- 2 bytes</a:t>
            </a:r>
          </a:p>
          <a:p>
            <a:r>
              <a:rPr lang="es-ES" sz="1600" dirty="0"/>
              <a:t>);</a:t>
            </a:r>
          </a:p>
          <a:p>
            <a:r>
              <a:rPr lang="es-ES" sz="1600" dirty="0"/>
              <a:t>-- Después de insertar 1000 registros:</a:t>
            </a:r>
          </a:p>
          <a:p>
            <a:r>
              <a:rPr lang="es-ES" sz="1600" dirty="0"/>
              <a:t>-- NUMBER: ~22 </a:t>
            </a:r>
            <a:r>
              <a:rPr lang="es-ES" sz="1600" dirty="0" err="1"/>
              <a:t>Kbytes</a:t>
            </a:r>
            <a:endParaRPr lang="es-ES" sz="1600" dirty="0"/>
          </a:p>
          <a:p>
            <a:r>
              <a:rPr lang="es-ES" sz="1600" dirty="0"/>
              <a:t>-- NUMBER(10,2): ~6 </a:t>
            </a:r>
            <a:r>
              <a:rPr lang="es-ES" sz="1600" dirty="0" err="1"/>
              <a:t>Kbytes</a:t>
            </a:r>
            <a:r>
              <a:rPr lang="es-ES" sz="1600" dirty="0"/>
              <a:t> (73% menos espacio)</a:t>
            </a:r>
          </a:p>
          <a:p>
            <a:r>
              <a:rPr lang="es-ES" sz="1600" dirty="0"/>
              <a:t>-- NUMBER(1): 2Kbytes (90% menos de espacio)</a:t>
            </a:r>
          </a:p>
        </p:txBody>
      </p:sp>
    </p:spTree>
    <p:extLst>
      <p:ext uri="{BB962C8B-B14F-4D97-AF65-F5344CB8AC3E}">
        <p14:creationId xmlns:p14="http://schemas.microsoft.com/office/powerpoint/2010/main" val="111457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77AE-FED5-9491-B0C6-CB0A57FB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52C90DC-B706-94BE-B3D3-58FAB19F5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291264" cy="3607049"/>
          </a:xfrm>
        </p:spPr>
        <p:txBody>
          <a:bodyPr/>
          <a:lstStyle/>
          <a:p>
            <a:r>
              <a:rPr lang="es-ES" dirty="0"/>
              <a:t>Tipos básicos – Varchar2 (n), </a:t>
            </a:r>
            <a:r>
              <a:rPr lang="es-ES" dirty="0" err="1"/>
              <a:t>Char</a:t>
            </a:r>
            <a:r>
              <a:rPr lang="es-ES" dirty="0"/>
              <a:t>(n), NVarchar2(n), </a:t>
            </a:r>
            <a:r>
              <a:rPr lang="es-ES" dirty="0" err="1"/>
              <a:t>Nchar</a:t>
            </a:r>
            <a:r>
              <a:rPr lang="es-ES" dirty="0"/>
              <a:t>(n)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Varchar2 y </a:t>
            </a:r>
            <a:r>
              <a:rPr lang="es-ES" dirty="0" err="1"/>
              <a:t>Char</a:t>
            </a:r>
            <a:r>
              <a:rPr lang="es-ES" dirty="0"/>
              <a:t> usan idioma principal de la BD.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NVarchar2 y </a:t>
            </a:r>
            <a:r>
              <a:rPr lang="es-ES" dirty="0" err="1"/>
              <a:t>Nchar</a:t>
            </a:r>
            <a:r>
              <a:rPr lang="es-ES" dirty="0"/>
              <a:t> usan AL16UTF16 (siempre Unicode)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Hay que tener en cuenta que 1 carácter no siempre es un byte.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3C0E0058-A0D1-7710-0BB9-BB9152B0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93206B6-E8A4-7AB7-FB10-625B93B722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363D93-7AA3-C4BF-2339-5CC9C90CF62D}"/>
              </a:ext>
            </a:extLst>
          </p:cNvPr>
          <p:cNvSpPr/>
          <p:nvPr/>
        </p:nvSpPr>
        <p:spPr>
          <a:xfrm>
            <a:off x="2447764" y="2781125"/>
            <a:ext cx="4248472" cy="19508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B47D7BB-3C31-2343-9869-959A1AF0BFF9}"/>
              </a:ext>
            </a:extLst>
          </p:cNvPr>
          <p:cNvSpPr txBox="1"/>
          <p:nvPr/>
        </p:nvSpPr>
        <p:spPr>
          <a:xfrm>
            <a:off x="2735796" y="2971727"/>
            <a:ext cx="38164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SELECT </a:t>
            </a:r>
          </a:p>
          <a:p>
            <a:r>
              <a:rPr lang="es-ES" sz="1600" dirty="0"/>
              <a:t>    '</a:t>
            </a:r>
            <a:r>
              <a:rPr lang="es-ES" sz="1600" dirty="0" err="1"/>
              <a:t>áéí</a:t>
            </a:r>
            <a:r>
              <a:rPr lang="es-ES" sz="1600" dirty="0"/>
              <a:t>' as texto,</a:t>
            </a:r>
          </a:p>
          <a:p>
            <a:r>
              <a:rPr lang="es-ES" sz="1600" dirty="0"/>
              <a:t>    LENGTH('</a:t>
            </a:r>
            <a:r>
              <a:rPr lang="es-ES" sz="1600" dirty="0" err="1"/>
              <a:t>áéí</a:t>
            </a:r>
            <a:r>
              <a:rPr lang="es-ES" sz="1600" dirty="0"/>
              <a:t>') as caracteres,</a:t>
            </a:r>
          </a:p>
          <a:p>
            <a:r>
              <a:rPr lang="es-ES" sz="1600" dirty="0"/>
              <a:t>    LENGTHB('</a:t>
            </a:r>
            <a:r>
              <a:rPr lang="es-ES" sz="1600" dirty="0" err="1"/>
              <a:t>áéí</a:t>
            </a:r>
            <a:r>
              <a:rPr lang="es-ES" sz="1600" dirty="0"/>
              <a:t>') as bytes,</a:t>
            </a:r>
          </a:p>
          <a:p>
            <a:r>
              <a:rPr lang="es-ES" sz="1600" dirty="0"/>
              <a:t>    VSIZE('</a:t>
            </a:r>
            <a:r>
              <a:rPr lang="es-ES" sz="1600" dirty="0" err="1"/>
              <a:t>áéí</a:t>
            </a:r>
            <a:r>
              <a:rPr lang="es-ES" sz="1600" dirty="0"/>
              <a:t>') as </a:t>
            </a:r>
            <a:r>
              <a:rPr lang="es-ES" sz="1600" dirty="0" err="1"/>
              <a:t>bytes_almacenamiento</a:t>
            </a:r>
            <a:endParaRPr lang="es-ES" sz="1600" dirty="0"/>
          </a:p>
          <a:p>
            <a:r>
              <a:rPr lang="es-ES" sz="1600" dirty="0"/>
              <a:t>FROM dual;</a:t>
            </a:r>
          </a:p>
        </p:txBody>
      </p:sp>
    </p:spTree>
    <p:extLst>
      <p:ext uri="{BB962C8B-B14F-4D97-AF65-F5344CB8AC3E}">
        <p14:creationId xmlns:p14="http://schemas.microsoft.com/office/powerpoint/2010/main" val="1838698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0675-09ED-2F30-B428-F8FDB826A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3A6A02B-5F9C-FECB-97F5-8B60ADDDF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291264" cy="3607049"/>
          </a:xfrm>
        </p:spPr>
        <p:txBody>
          <a:bodyPr/>
          <a:lstStyle/>
          <a:p>
            <a:r>
              <a:rPr lang="es-ES" dirty="0"/>
              <a:t>Tipos básicos – Date, </a:t>
            </a:r>
            <a:r>
              <a:rPr lang="es-ES" dirty="0" err="1"/>
              <a:t>Timestamp</a:t>
            </a:r>
            <a:r>
              <a:rPr lang="es-ES" dirty="0"/>
              <a:t>, </a:t>
            </a:r>
            <a:r>
              <a:rPr lang="es-ES" dirty="0" err="1"/>
              <a:t>Timespamp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Time </a:t>
            </a:r>
            <a:r>
              <a:rPr lang="es-ES" dirty="0" err="1"/>
              <a:t>Zone</a:t>
            </a: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DATE: suficiente para la mayoría de operaciones de negocio.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TIMESTAMP: necesario en auditoría, ETL, registros de alta frecuencia.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TIMESTAMP WITH TIME ZONE: imprescindible en sistemas distribuidos globalmente.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TIMESTAMP WITH LOCAL TIME ZONE: conserva coherencia local sin perder precisión.</a:t>
            </a:r>
          </a:p>
          <a:p>
            <a:r>
              <a:rPr lang="es-ES" sz="1000" dirty="0"/>
              <a:t>sesion1-dates.sql</a:t>
            </a:r>
          </a:p>
          <a:p>
            <a:br>
              <a:rPr lang="es-ES" dirty="0"/>
            </a:br>
            <a:endParaRPr lang="es-ES" sz="16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3BD7616A-7644-1339-CA22-6F88C1BA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5379533-BC74-BD94-EB91-4B3C1851DF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8D329AC-B580-EFF5-F04A-24608B409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285966"/>
              </p:ext>
            </p:extLst>
          </p:nvPr>
        </p:nvGraphicFramePr>
        <p:xfrm>
          <a:off x="1497682" y="3017490"/>
          <a:ext cx="6210300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700">
                  <a:extLst>
                    <a:ext uri="{9D8B030D-6E8A-4147-A177-3AD203B41FA5}">
                      <a16:colId xmlns:a16="http://schemas.microsoft.com/office/drawing/2014/main" val="1708779614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3145292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752914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0021281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1840211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Tipo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Precisión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Zona horaria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Almacenamiento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Descripción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730151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DATE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Segundos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No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7 bytes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Incluye fecha y hora (hasta segundos)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887184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TIMESTAMP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Hasta 9 decimales (nanosegundos)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No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11 bytes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Precisión extendida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13897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TIMESTAMP WITH TIME ZONE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Hasta 9 decimales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Sí (offset ±hh:mm)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13 bytes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Convierte a UTC internamente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22042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TIMESTAMP WITH LOCAL TIME ZONE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Hasta 9 decimales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Sí (normaliza a hora local del usuario)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11 bytes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Ajusta automáticamente según sesión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7227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126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1AD23-134E-9A42-9949-2ED220574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B15ED5A-4B8B-3781-E5B9-6F96AD763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291264" cy="3607049"/>
          </a:xfrm>
        </p:spPr>
        <p:txBody>
          <a:bodyPr/>
          <a:lstStyle/>
          <a:p>
            <a:r>
              <a:rPr lang="es-ES" dirty="0"/>
              <a:t>Tipos básicos – Date, </a:t>
            </a:r>
            <a:r>
              <a:rPr lang="es-ES" dirty="0" err="1"/>
              <a:t>Timestamp</a:t>
            </a:r>
            <a:r>
              <a:rPr lang="es-ES" dirty="0"/>
              <a:t>, </a:t>
            </a:r>
            <a:r>
              <a:rPr lang="es-ES" dirty="0" err="1"/>
              <a:t>Timespamp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Time </a:t>
            </a:r>
            <a:r>
              <a:rPr lang="es-ES" dirty="0" err="1"/>
              <a:t>Zone</a:t>
            </a:r>
            <a:endParaRPr lang="es-ES" dirty="0"/>
          </a:p>
          <a:p>
            <a:pPr lvl="2"/>
            <a:r>
              <a:rPr lang="es-ES" dirty="0"/>
              <a:t>Ejemplo sesion1-dates.sql</a:t>
            </a:r>
          </a:p>
          <a:p>
            <a:pPr lvl="2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231FF4F-F0EC-98FB-A176-9E78E261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E5E272E-86C6-0478-CD09-945DBA4377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B7E9611-1585-7FF2-4C2F-964FCE3BEB74}"/>
              </a:ext>
            </a:extLst>
          </p:cNvPr>
          <p:cNvSpPr/>
          <p:nvPr/>
        </p:nvSpPr>
        <p:spPr>
          <a:xfrm>
            <a:off x="251520" y="1851670"/>
            <a:ext cx="8291264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EA477E-9B61-297F-A7CD-D0FB9B906281}"/>
              </a:ext>
            </a:extLst>
          </p:cNvPr>
          <p:cNvSpPr txBox="1"/>
          <p:nvPr/>
        </p:nvSpPr>
        <p:spPr>
          <a:xfrm>
            <a:off x="601216" y="1947485"/>
            <a:ext cx="66607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500" dirty="0"/>
              <a:t>CREATE TABLE eventos (</a:t>
            </a:r>
          </a:p>
          <a:p>
            <a:r>
              <a:rPr lang="es-ES" sz="1500" dirty="0"/>
              <a:t>   id NUMBER GENERATED ALWAYS AS IDENTITY PRIMARY KEY,</a:t>
            </a:r>
          </a:p>
          <a:p>
            <a:r>
              <a:rPr lang="es-ES" sz="1500" dirty="0"/>
              <a:t>   </a:t>
            </a:r>
            <a:r>
              <a:rPr lang="es-ES" sz="1500" dirty="0" err="1"/>
              <a:t>fecha_creacion</a:t>
            </a:r>
            <a:r>
              <a:rPr lang="es-ES" sz="1500" dirty="0"/>
              <a:t> DATE DEFAULT SYSDATE,</a:t>
            </a:r>
          </a:p>
          <a:p>
            <a:r>
              <a:rPr lang="es-ES" sz="1500" dirty="0"/>
              <a:t>   </a:t>
            </a:r>
            <a:r>
              <a:rPr lang="es-ES" sz="1500" dirty="0" err="1"/>
              <a:t>fecha_detallada</a:t>
            </a:r>
            <a:r>
              <a:rPr lang="es-ES" sz="1500" dirty="0"/>
              <a:t> TIMESTAMP DEFAULT SYSTIMESTAMP,</a:t>
            </a:r>
          </a:p>
          <a:p>
            <a:r>
              <a:rPr lang="es-ES" sz="1500" dirty="0"/>
              <a:t>   </a:t>
            </a:r>
            <a:r>
              <a:rPr lang="es-ES" sz="1500" dirty="0" err="1"/>
              <a:t>fecha_global</a:t>
            </a:r>
            <a:r>
              <a:rPr lang="es-ES" sz="1500" dirty="0"/>
              <a:t> TIMESTAMP WITH TIME ZONE DEFAULT CURRENT_TIMESTAMP,</a:t>
            </a:r>
          </a:p>
          <a:p>
            <a:r>
              <a:rPr lang="es-ES" sz="1500" dirty="0"/>
              <a:t>   </a:t>
            </a:r>
            <a:r>
              <a:rPr lang="es-ES" sz="1500" dirty="0" err="1"/>
              <a:t>fecha_local</a:t>
            </a:r>
            <a:r>
              <a:rPr lang="es-ES" sz="1500" dirty="0"/>
              <a:t> TIMESTAMP WITH LOCAL TIME ZONE DEFAULT SYSTIMESTAMP);</a:t>
            </a:r>
          </a:p>
          <a:p>
            <a:endParaRPr lang="es-ES" sz="1500" dirty="0"/>
          </a:p>
          <a:p>
            <a:r>
              <a:rPr lang="en-US" sz="1500" dirty="0"/>
              <a:t>INSERT INTO </a:t>
            </a:r>
            <a:r>
              <a:rPr lang="en-US" sz="1500" dirty="0" err="1"/>
              <a:t>eventos</a:t>
            </a:r>
            <a:r>
              <a:rPr lang="en-US" sz="1500" dirty="0"/>
              <a:t> DEFAULT VALUES;</a:t>
            </a:r>
          </a:p>
          <a:p>
            <a:endParaRPr lang="en-US" sz="1500" dirty="0"/>
          </a:p>
          <a:p>
            <a:r>
              <a:rPr lang="en-US" sz="1500" dirty="0"/>
              <a:t>SELECT * FROM </a:t>
            </a:r>
            <a:r>
              <a:rPr lang="en-US" sz="1500" dirty="0" err="1"/>
              <a:t>eventos</a:t>
            </a:r>
            <a:r>
              <a:rPr lang="en-US" sz="1500" dirty="0"/>
              <a:t>;</a:t>
            </a:r>
            <a:endParaRPr lang="es-ES" sz="1500" dirty="0"/>
          </a:p>
        </p:txBody>
      </p:sp>
    </p:spTree>
    <p:extLst>
      <p:ext uri="{BB962C8B-B14F-4D97-AF65-F5344CB8AC3E}">
        <p14:creationId xmlns:p14="http://schemas.microsoft.com/office/powerpoint/2010/main" val="2476083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CD2D-E4E7-29F9-C92A-4B4B6527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9E9174C-1BEB-B143-E5AD-9FA544552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291264" cy="3607049"/>
          </a:xfrm>
        </p:spPr>
        <p:txBody>
          <a:bodyPr/>
          <a:lstStyle/>
          <a:p>
            <a:r>
              <a:rPr lang="es-ES" dirty="0"/>
              <a:t>Tipos básicos – Date, </a:t>
            </a:r>
            <a:r>
              <a:rPr lang="es-ES" dirty="0" err="1"/>
              <a:t>Timestamp</a:t>
            </a:r>
            <a:r>
              <a:rPr lang="es-ES" dirty="0"/>
              <a:t>, </a:t>
            </a:r>
            <a:r>
              <a:rPr lang="es-ES" dirty="0" err="1"/>
              <a:t>Timespamp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Time </a:t>
            </a:r>
            <a:r>
              <a:rPr lang="es-ES" dirty="0" err="1"/>
              <a:t>Zone</a:t>
            </a:r>
            <a:endParaRPr lang="es-ES" dirty="0"/>
          </a:p>
          <a:p>
            <a:pPr lvl="2"/>
            <a:r>
              <a:rPr lang="es-ES" dirty="0"/>
              <a:t>Conversiones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4CD9B5D-A8D5-0689-7CB8-8A53F363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E5DED0A-54B8-203C-85D0-AE413C9DF0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C38F58B-BF38-E38A-BCE9-7805F73859A2}"/>
              </a:ext>
            </a:extLst>
          </p:cNvPr>
          <p:cNvSpPr/>
          <p:nvPr/>
        </p:nvSpPr>
        <p:spPr>
          <a:xfrm>
            <a:off x="251520" y="1851669"/>
            <a:ext cx="8291264" cy="30309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2D0D9F-8115-3160-D4FE-44535A2F4533}"/>
              </a:ext>
            </a:extLst>
          </p:cNvPr>
          <p:cNvSpPr txBox="1"/>
          <p:nvPr/>
        </p:nvSpPr>
        <p:spPr>
          <a:xfrm>
            <a:off x="601216" y="1947485"/>
            <a:ext cx="66607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500" dirty="0"/>
              <a:t>--Probamos</a:t>
            </a:r>
          </a:p>
          <a:p>
            <a:r>
              <a:rPr lang="es-ES" sz="1500" dirty="0"/>
              <a:t>SELECT * FROM eventos;</a:t>
            </a:r>
          </a:p>
          <a:p>
            <a:endParaRPr lang="es-ES" sz="1500" dirty="0"/>
          </a:p>
          <a:p>
            <a:r>
              <a:rPr lang="es-ES" sz="1500" dirty="0"/>
              <a:t>-- DATE → TIMESTAMP</a:t>
            </a:r>
          </a:p>
          <a:p>
            <a:r>
              <a:rPr lang="es-ES" sz="1500" dirty="0"/>
              <a:t>CAST(fecha AS TIMESTAMP)</a:t>
            </a:r>
          </a:p>
          <a:p>
            <a:endParaRPr lang="es-ES" sz="1500" dirty="0"/>
          </a:p>
          <a:p>
            <a:r>
              <a:rPr lang="es-ES" sz="1500" dirty="0"/>
              <a:t>-- TIMESTAMP → DATE (trunca precisión)</a:t>
            </a:r>
          </a:p>
          <a:p>
            <a:r>
              <a:rPr lang="es-ES" sz="1500" dirty="0"/>
              <a:t>CAST(</a:t>
            </a:r>
            <a:r>
              <a:rPr lang="es-ES" sz="1500" dirty="0" err="1"/>
              <a:t>fecha_ts</a:t>
            </a:r>
            <a:r>
              <a:rPr lang="es-ES" sz="1500" dirty="0"/>
              <a:t> AS DATE)</a:t>
            </a:r>
          </a:p>
          <a:p>
            <a:endParaRPr lang="es-ES" sz="1500" dirty="0"/>
          </a:p>
          <a:p>
            <a:r>
              <a:rPr lang="es-ES" sz="1500" dirty="0"/>
              <a:t>-- Conversión de zonas horarias</a:t>
            </a:r>
          </a:p>
          <a:p>
            <a:r>
              <a:rPr lang="es-ES" sz="1500" dirty="0"/>
              <a:t>FROM_TZ(TIMESTAMP '2025-10-27 12:00:00', '</a:t>
            </a:r>
            <a:r>
              <a:rPr lang="es-ES" sz="1500" dirty="0" err="1"/>
              <a:t>Europe</a:t>
            </a:r>
            <a:r>
              <a:rPr lang="es-ES" sz="1500" dirty="0"/>
              <a:t>/Madrid')   AT TIME ZONE '</a:t>
            </a:r>
            <a:r>
              <a:rPr lang="es-ES" sz="1500" dirty="0" err="1"/>
              <a:t>America</a:t>
            </a:r>
            <a:r>
              <a:rPr lang="es-ES" sz="1500" dirty="0"/>
              <a:t>/</a:t>
            </a:r>
            <a:r>
              <a:rPr lang="es-ES" sz="1500" dirty="0" err="1"/>
              <a:t>Mexico_City</a:t>
            </a:r>
            <a:r>
              <a:rPr lang="es-ES" sz="1500" dirty="0"/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897508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01FA-04FD-0EBF-E627-1DC0063B8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6039D4F-7ECD-71CA-7373-8F7ED04FB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4114800" cy="3607049"/>
          </a:xfrm>
        </p:spPr>
        <p:txBody>
          <a:bodyPr>
            <a:normAutofit lnSpcReduction="10000"/>
          </a:bodyPr>
          <a:lstStyle/>
          <a:p>
            <a:r>
              <a:rPr lang="es-ES" dirty="0"/>
              <a:t>IDENTITY vs Secuencias propias</a:t>
            </a:r>
          </a:p>
          <a:p>
            <a:pPr lvl="1"/>
            <a:r>
              <a:rPr lang="es-ES" dirty="0"/>
              <a:t>Problema usando IDENTITY en 18, puedes dejar la secuencia huérfana. ¿Cómo evitarlo? </a:t>
            </a:r>
          </a:p>
          <a:p>
            <a:pPr lvl="1"/>
            <a:r>
              <a:rPr lang="es-ES" b="1" dirty="0"/>
              <a:t>Antes de borrar la tabla, borra la IDENTITY con “ALTER TABLE”</a:t>
            </a:r>
            <a:r>
              <a:rPr lang="es-ES" dirty="0"/>
              <a:t>. Luego puedes borrar la tabla normalmente. 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Opcionalmente puedes usar secuencias propias, aunque no está recomendado.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7ADAE17-7789-E24B-0ADA-7A5DF38E2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AF7AEA0-73D1-A562-DEA1-F7A92418AA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4EEC00D-EC93-E448-E5A6-CA640810FCEE}"/>
              </a:ext>
            </a:extLst>
          </p:cNvPr>
          <p:cNvSpPr/>
          <p:nvPr/>
        </p:nvSpPr>
        <p:spPr>
          <a:xfrm>
            <a:off x="4644008" y="3003798"/>
            <a:ext cx="4392488" cy="1944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B1F27A-AD5F-9759-3FD8-D27AA2BCFADD}"/>
              </a:ext>
            </a:extLst>
          </p:cNvPr>
          <p:cNvSpPr txBox="1"/>
          <p:nvPr/>
        </p:nvSpPr>
        <p:spPr>
          <a:xfrm>
            <a:off x="4788024" y="3101355"/>
            <a:ext cx="4572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CREATE SEQUENCE </a:t>
            </a:r>
            <a:r>
              <a:rPr lang="es-ES" sz="1600" dirty="0" err="1"/>
              <a:t>clientes_seq</a:t>
            </a:r>
            <a:r>
              <a:rPr lang="es-ES" sz="1600" dirty="0"/>
              <a:t> START WITH 1 INCREMENT BY 1;</a:t>
            </a:r>
          </a:p>
          <a:p>
            <a:r>
              <a:rPr lang="es-ES" sz="1600" dirty="0"/>
              <a:t>CREATE TABLE clientes (</a:t>
            </a:r>
          </a:p>
          <a:p>
            <a:r>
              <a:rPr lang="es-ES" sz="1600" dirty="0"/>
              <a:t>    id NUMBER DEFAULT </a:t>
            </a:r>
            <a:r>
              <a:rPr lang="es-ES" sz="1600" dirty="0" err="1"/>
              <a:t>clientes_seq.NEXTVAL</a:t>
            </a:r>
            <a:r>
              <a:rPr lang="es-ES" sz="1600" dirty="0"/>
              <a:t> PRIMARY KEY,</a:t>
            </a:r>
          </a:p>
          <a:p>
            <a:r>
              <a:rPr lang="es-ES" sz="1600" dirty="0"/>
              <a:t>    nombre VARCHAR2(100)</a:t>
            </a:r>
          </a:p>
          <a:p>
            <a:r>
              <a:rPr lang="es-ES" dirty="0"/>
              <a:t>);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EDF5B00-9622-20D6-1C8D-7EE92163DE56}"/>
              </a:ext>
            </a:extLst>
          </p:cNvPr>
          <p:cNvSpPr/>
          <p:nvPr/>
        </p:nvSpPr>
        <p:spPr>
          <a:xfrm>
            <a:off x="4644008" y="1059582"/>
            <a:ext cx="4392488" cy="17281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FDAF85-568A-FDE2-97E6-EA3B45D36C2B}"/>
              </a:ext>
            </a:extLst>
          </p:cNvPr>
          <p:cNvSpPr txBox="1"/>
          <p:nvPr/>
        </p:nvSpPr>
        <p:spPr>
          <a:xfrm>
            <a:off x="4788024" y="1131590"/>
            <a:ext cx="4679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ALTER TABLE empleados MODIFY id DROP IDENTITY;</a:t>
            </a:r>
          </a:p>
          <a:p>
            <a:endParaRPr lang="es-ES" dirty="0"/>
          </a:p>
          <a:p>
            <a:r>
              <a:rPr lang="es-ES" dirty="0"/>
              <a:t>DROP TABLE empleados;</a:t>
            </a:r>
          </a:p>
        </p:txBody>
      </p:sp>
    </p:spTree>
    <p:extLst>
      <p:ext uri="{BB962C8B-B14F-4D97-AF65-F5344CB8AC3E}">
        <p14:creationId xmlns:p14="http://schemas.microsoft.com/office/powerpoint/2010/main" val="59598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D3AB9-C7C1-32D4-3050-D03AFF651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54C0260-8854-AD0B-0868-ADB07C63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507288" cy="3607049"/>
          </a:xfrm>
        </p:spPr>
        <p:txBody>
          <a:bodyPr/>
          <a:lstStyle/>
          <a:p>
            <a:r>
              <a:rPr lang="es-ES" dirty="0"/>
              <a:t>Consulta</a:t>
            </a:r>
          </a:p>
          <a:p>
            <a:pPr lvl="1"/>
            <a:r>
              <a:rPr lang="es-ES" dirty="0"/>
              <a:t>Relacionar secuencias IDENTITY con tablas. Importante para localizar secuencias huérfanas. Si tenemos una ISEQ que no está en esta consulta, es huérfana.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7711516-DFC8-793B-AC26-49B04E53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CA43B062-C55C-F33C-FCF0-69B2E3F113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C27D338-20D2-0277-11A8-6953F3DE2EA6}"/>
              </a:ext>
            </a:extLst>
          </p:cNvPr>
          <p:cNvSpPr/>
          <p:nvPr/>
        </p:nvSpPr>
        <p:spPr>
          <a:xfrm>
            <a:off x="1175478" y="2571750"/>
            <a:ext cx="6192688" cy="23042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A4017FF-A74B-32C0-0B41-1068026127A1}"/>
              </a:ext>
            </a:extLst>
          </p:cNvPr>
          <p:cNvSpPr txBox="1"/>
          <p:nvPr/>
        </p:nvSpPr>
        <p:spPr>
          <a:xfrm>
            <a:off x="1751542" y="2715766"/>
            <a:ext cx="51845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SELECT </a:t>
            </a:r>
            <a:r>
              <a:rPr lang="es-ES" dirty="0" err="1"/>
              <a:t>t.table_name</a:t>
            </a:r>
            <a:r>
              <a:rPr lang="es-ES" dirty="0"/>
              <a:t>,</a:t>
            </a:r>
          </a:p>
          <a:p>
            <a:r>
              <a:rPr lang="es-ES" dirty="0"/>
              <a:t>       </a:t>
            </a:r>
            <a:r>
              <a:rPr lang="es-ES" dirty="0" err="1"/>
              <a:t>c.column_name</a:t>
            </a:r>
            <a:r>
              <a:rPr lang="es-ES" dirty="0"/>
              <a:t>,</a:t>
            </a:r>
          </a:p>
          <a:p>
            <a:r>
              <a:rPr lang="es-ES" dirty="0"/>
              <a:t>       </a:t>
            </a:r>
            <a:r>
              <a:rPr lang="es-ES" dirty="0" err="1"/>
              <a:t>s.sequence_name</a:t>
            </a:r>
            <a:endParaRPr lang="es-ES" dirty="0"/>
          </a:p>
          <a:p>
            <a:r>
              <a:rPr lang="es-ES" dirty="0"/>
              <a:t>FROM   </a:t>
            </a:r>
            <a:r>
              <a:rPr lang="es-ES" dirty="0" err="1"/>
              <a:t>user_tab_identity_cols</a:t>
            </a:r>
            <a:r>
              <a:rPr lang="es-ES" dirty="0"/>
              <a:t> c</a:t>
            </a:r>
          </a:p>
          <a:p>
            <a:r>
              <a:rPr lang="es-ES" dirty="0"/>
              <a:t>JOIN   </a:t>
            </a:r>
            <a:r>
              <a:rPr lang="es-ES" dirty="0" err="1"/>
              <a:t>user_tables</a:t>
            </a:r>
            <a:r>
              <a:rPr lang="es-ES" dirty="0"/>
              <a:t> t ON </a:t>
            </a:r>
            <a:r>
              <a:rPr lang="es-ES" dirty="0" err="1"/>
              <a:t>c.table_name</a:t>
            </a:r>
            <a:r>
              <a:rPr lang="es-ES" dirty="0"/>
              <a:t> = </a:t>
            </a:r>
            <a:r>
              <a:rPr lang="es-ES" dirty="0" err="1"/>
              <a:t>t.table_name</a:t>
            </a:r>
            <a:endParaRPr lang="es-ES" dirty="0"/>
          </a:p>
          <a:p>
            <a:r>
              <a:rPr lang="es-ES" dirty="0"/>
              <a:t>JOIN   </a:t>
            </a:r>
            <a:r>
              <a:rPr lang="es-ES" dirty="0" err="1"/>
              <a:t>user_sequences</a:t>
            </a:r>
            <a:r>
              <a:rPr lang="es-ES" dirty="0"/>
              <a:t> s ON </a:t>
            </a:r>
            <a:r>
              <a:rPr lang="es-ES" dirty="0" err="1"/>
              <a:t>c.sequence_name</a:t>
            </a:r>
            <a:r>
              <a:rPr lang="es-ES" dirty="0"/>
              <a:t> = </a:t>
            </a:r>
            <a:r>
              <a:rPr lang="es-ES" dirty="0" err="1"/>
              <a:t>s.sequence_name</a:t>
            </a:r>
            <a:r>
              <a:rPr lang="es-E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26172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A3F3F-F402-C4B1-D268-936C93AC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A78A24E5-8303-0C8E-7CDC-13D4A1CCA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507288" cy="3607049"/>
          </a:xfrm>
        </p:spPr>
        <p:txBody>
          <a:bodyPr/>
          <a:lstStyle/>
          <a:p>
            <a:r>
              <a:rPr lang="es-ES" dirty="0"/>
              <a:t>Tipos especiales: BLOB, CLOB, NCLOB</a:t>
            </a:r>
          </a:p>
          <a:p>
            <a:pPr lvl="1"/>
            <a:r>
              <a:rPr lang="es-ES" dirty="0"/>
              <a:t>Se almacena por defecto dentro del </a:t>
            </a:r>
            <a:r>
              <a:rPr lang="es-ES" dirty="0" err="1"/>
              <a:t>tablespace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Permite manipular datos binarios grandes (imágenes, documentos, etc.).</a:t>
            </a:r>
          </a:p>
          <a:p>
            <a:r>
              <a:rPr lang="es-ES" sz="1000" dirty="0"/>
              <a:t>sesion1-blob.sql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F604978F-B16F-207E-28BC-09305987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F086A06-0F75-7A59-BB11-5C8A6A58B5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2F76EC-0318-DFF8-3DB4-321B89A4C47E}"/>
              </a:ext>
            </a:extLst>
          </p:cNvPr>
          <p:cNvSpPr/>
          <p:nvPr/>
        </p:nvSpPr>
        <p:spPr>
          <a:xfrm>
            <a:off x="1175478" y="2571750"/>
            <a:ext cx="6192688" cy="23042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3CE9D9C-75EE-1665-280D-BB8F2470A389}"/>
              </a:ext>
            </a:extLst>
          </p:cNvPr>
          <p:cNvSpPr txBox="1"/>
          <p:nvPr/>
        </p:nvSpPr>
        <p:spPr>
          <a:xfrm>
            <a:off x="1751542" y="2715766"/>
            <a:ext cx="51845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TABLE </a:t>
            </a:r>
            <a:r>
              <a:rPr lang="en-US" dirty="0" err="1"/>
              <a:t>documentos</a:t>
            </a:r>
            <a:r>
              <a:rPr lang="en-US" dirty="0"/>
              <a:t> (</a:t>
            </a:r>
          </a:p>
          <a:p>
            <a:r>
              <a:rPr lang="en-US" dirty="0"/>
              <a:t>   id NUMBER GENERATED ALWAYS AS IDENTITY PRIMARY KEY,</a:t>
            </a:r>
          </a:p>
          <a:p>
            <a:r>
              <a:rPr lang="en-US" dirty="0"/>
              <a:t>   </a:t>
            </a:r>
            <a:r>
              <a:rPr lang="en-US" dirty="0" err="1"/>
              <a:t>nombre</a:t>
            </a:r>
            <a:r>
              <a:rPr lang="en-US" dirty="0"/>
              <a:t> VARCHAR2(200),</a:t>
            </a:r>
          </a:p>
          <a:p>
            <a:r>
              <a:rPr lang="en-US" dirty="0"/>
              <a:t>   </a:t>
            </a:r>
            <a:r>
              <a:rPr lang="en-US" dirty="0" err="1"/>
              <a:t>archivo</a:t>
            </a:r>
            <a:r>
              <a:rPr lang="en-US" dirty="0"/>
              <a:t> BLOB</a:t>
            </a:r>
          </a:p>
          <a:p>
            <a:r>
              <a:rPr lang="en-US" dirty="0"/>
              <a:t>);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0174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C2912-F083-69BF-D7C0-32561CE7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615D27D-AEA5-AD8A-32FB-00038DAA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507288" cy="3607049"/>
          </a:xfrm>
        </p:spPr>
        <p:txBody>
          <a:bodyPr>
            <a:normAutofit/>
          </a:bodyPr>
          <a:lstStyle/>
          <a:p>
            <a:r>
              <a:rPr lang="es-ES" dirty="0"/>
              <a:t>Ventajas de separar </a:t>
            </a:r>
            <a:r>
              <a:rPr lang="es-ES" dirty="0" err="1"/>
              <a:t>LOBs</a:t>
            </a:r>
            <a:r>
              <a:rPr lang="es-ES" dirty="0"/>
              <a:t> en su propio </a:t>
            </a:r>
            <a:r>
              <a:rPr lang="es-ES" dirty="0" err="1"/>
              <a:t>tablespace</a:t>
            </a:r>
            <a:endParaRPr lang="es-ES" dirty="0"/>
          </a:p>
          <a:p>
            <a:pPr lvl="2"/>
            <a:r>
              <a:rPr lang="es-ES" dirty="0"/>
              <a:t>Mejor administración del espacio</a:t>
            </a:r>
          </a:p>
          <a:p>
            <a:pPr lvl="2"/>
            <a:r>
              <a:rPr lang="es-ES" dirty="0"/>
              <a:t>Optimización de </a:t>
            </a:r>
            <a:r>
              <a:rPr lang="es-ES" dirty="0" err="1"/>
              <a:t>backups</a:t>
            </a:r>
            <a:r>
              <a:rPr lang="es-ES" dirty="0"/>
              <a:t> (puedes hacer </a:t>
            </a:r>
            <a:r>
              <a:rPr lang="es-ES" dirty="0" err="1"/>
              <a:t>backups</a:t>
            </a:r>
            <a:r>
              <a:rPr lang="es-ES" dirty="0"/>
              <a:t> diferentes)</a:t>
            </a:r>
          </a:p>
          <a:p>
            <a:pPr lvl="2"/>
            <a:r>
              <a:rPr lang="es-ES" dirty="0"/>
              <a:t>Mejor rendimiento en operaciones I/O</a:t>
            </a:r>
          </a:p>
          <a:p>
            <a:pPr lvl="2"/>
            <a:r>
              <a:rPr lang="es-ES" dirty="0"/>
              <a:t>Control granular sobre el almacenamiento</a:t>
            </a:r>
          </a:p>
          <a:p>
            <a:pPr lvl="2"/>
            <a:r>
              <a:rPr lang="es-ES" dirty="0" err="1"/>
              <a:t>SecureFile</a:t>
            </a:r>
            <a:r>
              <a:rPr lang="es-ES" dirty="0"/>
              <a:t>: Siempre usa </a:t>
            </a:r>
            <a:r>
              <a:rPr lang="es-ES" dirty="0" err="1"/>
              <a:t>SecureFile</a:t>
            </a:r>
            <a:r>
              <a:rPr lang="es-ES" dirty="0"/>
              <a:t> en lugar de </a:t>
            </a:r>
            <a:r>
              <a:rPr lang="es-ES" dirty="0" err="1"/>
              <a:t>BasicFile</a:t>
            </a:r>
            <a:r>
              <a:rPr lang="es-ES" dirty="0"/>
              <a:t>. </a:t>
            </a:r>
            <a:r>
              <a:rPr lang="es-ES" dirty="0" err="1"/>
              <a:t>SecureFile</a:t>
            </a:r>
            <a:r>
              <a:rPr lang="es-ES" dirty="0"/>
              <a:t> es la opción nueva y </a:t>
            </a:r>
            <a:r>
              <a:rPr lang="es-ES" dirty="0" err="1"/>
              <a:t>BasicFile</a:t>
            </a:r>
            <a:r>
              <a:rPr lang="es-ES" dirty="0"/>
              <a:t> la opción </a:t>
            </a:r>
            <a:r>
              <a:rPr lang="es-ES" dirty="0" err="1"/>
              <a:t>legacy</a:t>
            </a:r>
            <a:r>
              <a:rPr lang="es-ES" dirty="0"/>
              <a:t>. (2x de diferencia) </a:t>
            </a:r>
          </a:p>
          <a:p>
            <a:pPr lvl="2"/>
            <a:r>
              <a:rPr lang="es-ES" dirty="0"/>
              <a:t>Compresión: COMPRESS HIGH para archivos muy comprimibles</a:t>
            </a:r>
          </a:p>
          <a:p>
            <a:pPr lvl="2"/>
            <a:r>
              <a:rPr lang="es-ES" dirty="0" err="1"/>
              <a:t>Deduplicación</a:t>
            </a:r>
            <a:r>
              <a:rPr lang="es-ES" dirty="0"/>
              <a:t>: KEEP_DUPLICATES o DEDUPLICATE según necesidades</a:t>
            </a:r>
          </a:p>
          <a:p>
            <a:pPr lvl="2"/>
            <a:r>
              <a:rPr lang="es-ES" dirty="0" err="1"/>
              <a:t>Caching</a:t>
            </a:r>
            <a:r>
              <a:rPr lang="es-ES" dirty="0"/>
              <a:t>: CACHE para archivos frecuentemente accedidos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9046942-C72E-0CC1-BFF4-3A9D0ACD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6736AFC-7F51-6B74-C694-7D11E050D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552E4C-78C2-D183-FEA1-70F0D0DDF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463497"/>
            <a:ext cx="6677957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44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C185B-4700-DC1D-59E5-C127EFDF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D42671E-1CB3-5AF0-E7F5-BB4D9D3AD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507288" cy="3607049"/>
          </a:xfrm>
        </p:spPr>
        <p:txBody>
          <a:bodyPr>
            <a:normAutofit/>
          </a:bodyPr>
          <a:lstStyle/>
          <a:p>
            <a:r>
              <a:rPr lang="es-ES" dirty="0"/>
              <a:t>Ventajas de separar </a:t>
            </a:r>
            <a:r>
              <a:rPr lang="es-ES" dirty="0" err="1"/>
              <a:t>LOBs</a:t>
            </a:r>
            <a:r>
              <a:rPr lang="es-ES" dirty="0"/>
              <a:t> en su propio </a:t>
            </a:r>
            <a:r>
              <a:rPr lang="es-ES" dirty="0" err="1"/>
              <a:t>tablespace</a:t>
            </a:r>
            <a:endParaRPr lang="es-ES" dirty="0"/>
          </a:p>
          <a:p>
            <a:pPr lvl="2"/>
            <a:r>
              <a:rPr lang="es-ES" dirty="0"/>
              <a:t>Mejor administración del espacio</a:t>
            </a:r>
          </a:p>
          <a:p>
            <a:pPr lvl="2"/>
            <a:r>
              <a:rPr lang="es-ES" dirty="0"/>
              <a:t>Optimización de </a:t>
            </a:r>
            <a:r>
              <a:rPr lang="es-ES" dirty="0" err="1"/>
              <a:t>backups</a:t>
            </a:r>
            <a:r>
              <a:rPr lang="es-ES" dirty="0"/>
              <a:t> (puedes hacer </a:t>
            </a:r>
            <a:r>
              <a:rPr lang="es-ES" dirty="0" err="1"/>
              <a:t>backups</a:t>
            </a:r>
            <a:r>
              <a:rPr lang="es-ES" dirty="0"/>
              <a:t> diferentes)</a:t>
            </a:r>
          </a:p>
          <a:p>
            <a:pPr lvl="2"/>
            <a:r>
              <a:rPr lang="es-ES" dirty="0"/>
              <a:t>Mejor rendimiento en operaciones I/O</a:t>
            </a:r>
          </a:p>
          <a:p>
            <a:pPr lvl="2"/>
            <a:r>
              <a:rPr lang="es-ES" dirty="0"/>
              <a:t>Control granular sobre el almacenamiento</a:t>
            </a:r>
          </a:p>
          <a:p>
            <a:pPr lvl="2"/>
            <a:r>
              <a:rPr lang="es-ES" dirty="0" err="1"/>
              <a:t>SecureFile</a:t>
            </a:r>
            <a:r>
              <a:rPr lang="es-ES" dirty="0"/>
              <a:t>: Siempre usa </a:t>
            </a:r>
            <a:r>
              <a:rPr lang="es-ES" dirty="0" err="1"/>
              <a:t>SecureFile</a:t>
            </a:r>
            <a:r>
              <a:rPr lang="es-ES" dirty="0"/>
              <a:t> en lugar de </a:t>
            </a:r>
            <a:r>
              <a:rPr lang="es-ES" dirty="0" err="1"/>
              <a:t>BasicFile</a:t>
            </a:r>
            <a:r>
              <a:rPr lang="es-ES" dirty="0"/>
              <a:t>. </a:t>
            </a:r>
            <a:r>
              <a:rPr lang="es-ES" dirty="0" err="1"/>
              <a:t>SecureFile</a:t>
            </a:r>
            <a:r>
              <a:rPr lang="es-ES" dirty="0"/>
              <a:t> es la opción nueva y </a:t>
            </a:r>
            <a:r>
              <a:rPr lang="es-ES" dirty="0" err="1"/>
              <a:t>BasicFile</a:t>
            </a:r>
            <a:r>
              <a:rPr lang="es-ES" dirty="0"/>
              <a:t> la opción </a:t>
            </a:r>
            <a:r>
              <a:rPr lang="es-ES" dirty="0" err="1"/>
              <a:t>legacy</a:t>
            </a:r>
            <a:r>
              <a:rPr lang="es-ES" dirty="0"/>
              <a:t>. (2x de diferencia) </a:t>
            </a:r>
          </a:p>
          <a:p>
            <a:pPr lvl="2"/>
            <a:r>
              <a:rPr lang="es-ES" dirty="0"/>
              <a:t>Compresión: COMPRESS HIGH para archivos muy comprimibles</a:t>
            </a:r>
          </a:p>
          <a:p>
            <a:pPr lvl="2"/>
            <a:r>
              <a:rPr lang="es-ES" dirty="0" err="1"/>
              <a:t>Deduplicación</a:t>
            </a:r>
            <a:r>
              <a:rPr lang="es-ES" dirty="0"/>
              <a:t>: KEEP_DUPLICATES o DEDUPLICATE según necesidades</a:t>
            </a:r>
          </a:p>
          <a:p>
            <a:pPr lvl="2"/>
            <a:r>
              <a:rPr lang="es-ES" dirty="0" err="1"/>
              <a:t>Caching</a:t>
            </a:r>
            <a:r>
              <a:rPr lang="es-ES" dirty="0"/>
              <a:t>: CACHE para archivos frecuentemente accedidos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F3236D6-74A1-13C7-E63D-87F22FB8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C27A11D8-39E2-4058-9FEC-CBEA68C3B0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4CCA19-6D71-6953-D58C-2281739FB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463497"/>
            <a:ext cx="6677957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64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4615B-A562-B035-FE4D-5BB6A2F39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856004D-FEC7-24BC-F4FB-857DFF019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507288" cy="3607049"/>
          </a:xfrm>
        </p:spPr>
        <p:txBody>
          <a:bodyPr>
            <a:normAutofit/>
          </a:bodyPr>
          <a:lstStyle/>
          <a:p>
            <a:r>
              <a:rPr lang="es-ES" dirty="0"/>
              <a:t>Ventajas de separar </a:t>
            </a:r>
            <a:r>
              <a:rPr lang="es-ES" dirty="0" err="1"/>
              <a:t>BLOBs</a:t>
            </a:r>
            <a:r>
              <a:rPr lang="es-ES" dirty="0"/>
              <a:t> en su propio </a:t>
            </a:r>
            <a:r>
              <a:rPr lang="es-ES" dirty="0" err="1"/>
              <a:t>tablespace</a:t>
            </a: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Creación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Modificación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FC60D7DE-1FB7-35B2-B8AA-89A94A21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6BAEFBB-9920-CE6A-EB95-4616346A63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0D8BE76-42D6-5F6B-BB72-669C930ADD35}"/>
              </a:ext>
            </a:extLst>
          </p:cNvPr>
          <p:cNvSpPr/>
          <p:nvPr/>
        </p:nvSpPr>
        <p:spPr>
          <a:xfrm>
            <a:off x="2771800" y="3692238"/>
            <a:ext cx="6192688" cy="11904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60CDA3-91E0-B75C-8F39-951D9514A550}"/>
              </a:ext>
            </a:extLst>
          </p:cNvPr>
          <p:cNvSpPr txBox="1"/>
          <p:nvPr/>
        </p:nvSpPr>
        <p:spPr>
          <a:xfrm>
            <a:off x="2803303" y="3839370"/>
            <a:ext cx="4374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ALTER TABLE documentos</a:t>
            </a:r>
          </a:p>
          <a:p>
            <a:r>
              <a:rPr lang="es-ES" dirty="0"/>
              <a:t>MOVE LOB(archivo) STORE AS SECUREFILE </a:t>
            </a:r>
          </a:p>
          <a:p>
            <a:r>
              <a:rPr lang="es-ES" dirty="0"/>
              <a:t>(TABLESPACE </a:t>
            </a:r>
            <a:r>
              <a:rPr lang="es-ES" dirty="0" err="1"/>
              <a:t>blob_ts</a:t>
            </a:r>
            <a:r>
              <a:rPr lang="es-ES" dirty="0"/>
              <a:t>);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51C287D-B3F3-73EA-08E6-F7FCAAD9D0D7}"/>
              </a:ext>
            </a:extLst>
          </p:cNvPr>
          <p:cNvSpPr/>
          <p:nvPr/>
        </p:nvSpPr>
        <p:spPr>
          <a:xfrm>
            <a:off x="2771800" y="1516823"/>
            <a:ext cx="6192688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284F37-DD63-F192-354F-FFFC013BCABF}"/>
              </a:ext>
            </a:extLst>
          </p:cNvPr>
          <p:cNvSpPr txBox="1"/>
          <p:nvPr/>
        </p:nvSpPr>
        <p:spPr>
          <a:xfrm>
            <a:off x="2793794" y="1516823"/>
            <a:ext cx="60486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CREATE TABLE documentos (</a:t>
            </a:r>
          </a:p>
          <a:p>
            <a:r>
              <a:rPr lang="es-ES" dirty="0"/>
              <a:t>   id NUMBER GENERATED ALWAYS AS IDENTITY PRIMARY KEY,</a:t>
            </a:r>
          </a:p>
          <a:p>
            <a:r>
              <a:rPr lang="es-ES" dirty="0"/>
              <a:t>   nombre VARCHAR2(200),</a:t>
            </a:r>
          </a:p>
          <a:p>
            <a:r>
              <a:rPr lang="es-ES" dirty="0"/>
              <a:t>   archivo BLOB</a:t>
            </a:r>
          </a:p>
          <a:p>
            <a:r>
              <a:rPr lang="es-ES" dirty="0"/>
              <a:t>)</a:t>
            </a:r>
          </a:p>
          <a:p>
            <a:r>
              <a:rPr lang="es-ES" dirty="0"/>
              <a:t>LOB(archivo) STORE AS SECUREFILE</a:t>
            </a:r>
          </a:p>
          <a:p>
            <a:r>
              <a:rPr lang="es-ES" dirty="0"/>
              <a:t>(TABLESPACE </a:t>
            </a:r>
            <a:r>
              <a:rPr lang="es-ES" dirty="0" err="1"/>
              <a:t>blob_ts</a:t>
            </a:r>
            <a:r>
              <a:rPr lang="es-E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41339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F209-4D7D-8A94-D1D3-E5738F2A0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3C78559-43A2-2666-9AC0-FD58059B0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507288" cy="3607049"/>
          </a:xfrm>
        </p:spPr>
        <p:txBody>
          <a:bodyPr>
            <a:normAutofit/>
          </a:bodyPr>
          <a:lstStyle/>
          <a:p>
            <a:r>
              <a:rPr lang="es-ES" dirty="0"/>
              <a:t>BFILES </a:t>
            </a:r>
            <a:r>
              <a:rPr lang="es-ES" sz="1100" dirty="0"/>
              <a:t>sesion1-bfile.sql</a:t>
            </a:r>
            <a:endParaRPr lang="es-ES" dirty="0"/>
          </a:p>
          <a:p>
            <a:pPr lvl="2"/>
            <a:r>
              <a:rPr lang="es-ES" dirty="0"/>
              <a:t>Mejor administración del espacio</a:t>
            </a:r>
          </a:p>
          <a:p>
            <a:pPr lvl="2"/>
            <a:r>
              <a:rPr lang="es-ES" dirty="0"/>
              <a:t>Optimización de </a:t>
            </a:r>
            <a:r>
              <a:rPr lang="es-ES" dirty="0" err="1"/>
              <a:t>backups</a:t>
            </a:r>
            <a:r>
              <a:rPr lang="es-ES" dirty="0"/>
              <a:t> (puedes hacer </a:t>
            </a:r>
            <a:r>
              <a:rPr lang="es-ES" dirty="0" err="1"/>
              <a:t>backups</a:t>
            </a:r>
            <a:r>
              <a:rPr lang="es-ES" dirty="0"/>
              <a:t> diferentes)</a:t>
            </a:r>
          </a:p>
          <a:p>
            <a:pPr lvl="2"/>
            <a:r>
              <a:rPr lang="es-ES" dirty="0"/>
              <a:t>Mejor rendimiento en operaciones I/O</a:t>
            </a:r>
          </a:p>
          <a:p>
            <a:pPr lvl="2"/>
            <a:r>
              <a:rPr lang="es-ES" dirty="0"/>
              <a:t>Control granular sobre el almacenamiento</a:t>
            </a:r>
          </a:p>
          <a:p>
            <a:pPr lvl="2"/>
            <a:r>
              <a:rPr lang="es-ES" dirty="0" err="1"/>
              <a:t>SecureFile</a:t>
            </a:r>
            <a:r>
              <a:rPr lang="es-ES" dirty="0"/>
              <a:t>: Siempre usa </a:t>
            </a:r>
            <a:r>
              <a:rPr lang="es-ES" dirty="0" err="1"/>
              <a:t>SecureFile</a:t>
            </a:r>
            <a:r>
              <a:rPr lang="es-ES" dirty="0"/>
              <a:t> en lugar de </a:t>
            </a:r>
            <a:r>
              <a:rPr lang="es-ES" dirty="0" err="1"/>
              <a:t>BasicFile</a:t>
            </a:r>
            <a:r>
              <a:rPr lang="es-ES" dirty="0"/>
              <a:t>. </a:t>
            </a:r>
            <a:r>
              <a:rPr lang="es-ES" dirty="0" err="1"/>
              <a:t>SecureFile</a:t>
            </a:r>
            <a:r>
              <a:rPr lang="es-ES" dirty="0"/>
              <a:t> es la opción nueva y </a:t>
            </a:r>
            <a:r>
              <a:rPr lang="es-ES" dirty="0" err="1"/>
              <a:t>BasicFile</a:t>
            </a:r>
            <a:r>
              <a:rPr lang="es-ES" dirty="0"/>
              <a:t> la opción </a:t>
            </a:r>
            <a:r>
              <a:rPr lang="es-ES" dirty="0" err="1"/>
              <a:t>legacy</a:t>
            </a:r>
            <a:r>
              <a:rPr lang="es-ES" dirty="0"/>
              <a:t>. (2x de diferencia) </a:t>
            </a:r>
          </a:p>
          <a:p>
            <a:pPr lvl="2"/>
            <a:r>
              <a:rPr lang="es-ES" dirty="0"/>
              <a:t>Compresión: COMPRESS HIGH para archivos muy comprimibles</a:t>
            </a:r>
          </a:p>
          <a:p>
            <a:pPr lvl="2"/>
            <a:r>
              <a:rPr lang="es-ES" dirty="0" err="1"/>
              <a:t>Deduplicación</a:t>
            </a:r>
            <a:r>
              <a:rPr lang="es-ES" dirty="0"/>
              <a:t>: KEEP_DUPLICATES o DEDUPLICATE según necesidades</a:t>
            </a:r>
          </a:p>
          <a:p>
            <a:pPr lvl="2"/>
            <a:r>
              <a:rPr lang="es-ES" dirty="0" err="1"/>
              <a:t>Caching</a:t>
            </a:r>
            <a:r>
              <a:rPr lang="es-ES" dirty="0"/>
              <a:t>: CACHE para archivos frecuentemente accedidos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24D6B4E-3A88-DCE4-F54C-17C8DCA61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08CA8FB-8363-F850-33B0-E3F2E77FA0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</p:spTree>
    <p:extLst>
      <p:ext uri="{BB962C8B-B14F-4D97-AF65-F5344CB8AC3E}">
        <p14:creationId xmlns:p14="http://schemas.microsoft.com/office/powerpoint/2010/main" val="2222180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286A-F624-D868-8176-2C03C681D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3E938737-65AA-2965-0563-40F685E97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058"/>
            <a:ext cx="8507288" cy="4155926"/>
          </a:xfrm>
        </p:spPr>
        <p:txBody>
          <a:bodyPr>
            <a:normAutofit/>
          </a:bodyPr>
          <a:lstStyle/>
          <a:p>
            <a:r>
              <a:rPr lang="es-ES" dirty="0"/>
              <a:t>Diferencias BLOB, CLOB, NCLOB, BFILE</a:t>
            </a:r>
          </a:p>
          <a:p>
            <a:pPr marL="534988" marR="0" lvl="2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6A0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CLOB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  <a:latin typeface="Calibri"/>
              </a:rPr>
              <a:t>Character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  <a:latin typeface="Calibri"/>
              </a:rPr>
              <a:t>Large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  <a:latin typeface="Calibri"/>
              </a:rPr>
              <a:t>Object</a:t>
            </a:r>
            <a:endParaRPr lang="es-ES" dirty="0">
              <a:solidFill>
                <a:prstClr val="white">
                  <a:lumMod val="50000"/>
                </a:prstClr>
              </a:solidFill>
              <a:latin typeface="Calibri"/>
            </a:endParaRP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Almacena: Texto en formato de caracteres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Contenido: Documentos de texto, XML, JSON, código fuente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Codificación: Usa codificación de caracteres (UTF-8, ASCII, etc.)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Operaciones: Búsquedas de texto, manipulaciones de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  <a:latin typeface="Calibri"/>
              </a:rPr>
              <a:t>strings</a:t>
            </a:r>
            <a:endParaRPr lang="es-ES" dirty="0">
              <a:solidFill>
                <a:prstClr val="white">
                  <a:lumMod val="50000"/>
                </a:prstClr>
              </a:solidFill>
              <a:latin typeface="Calibri"/>
            </a:endParaRP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Ejemplo</a:t>
            </a:r>
            <a:r>
              <a:rPr lang="es-ES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: CREATE TABLE documentos (id NUMBER, contenido CLOB);</a:t>
            </a:r>
          </a:p>
          <a:p>
            <a:pPr lvl="2"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BLOB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</a:rPr>
              <a:t>Binary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</a:rPr>
              <a:t>Large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</a:rPr>
              <a:t>Object</a:t>
            </a:r>
            <a:endParaRPr lang="es-ES" dirty="0">
              <a:solidFill>
                <a:prstClr val="white">
                  <a:lumMod val="50000"/>
                </a:prstClr>
              </a:solidFill>
            </a:endParaRP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Almacena: Almacena: Datos binarios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Contenido: Imágenes, audio, video, archivos comprimidos, ejecutables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Codificación: Sin codificación específica, bytes crudos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Operaciones: Manipulación a nivel de bytes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Ejemplo</a:t>
            </a:r>
            <a:r>
              <a:rPr lang="es-ES" b="1" dirty="0">
                <a:solidFill>
                  <a:prstClr val="white">
                    <a:lumMod val="50000"/>
                  </a:prstClr>
                </a:solidFill>
              </a:rPr>
              <a:t>: CREATE TABLE </a:t>
            </a:r>
            <a:r>
              <a:rPr lang="es-ES" b="1" dirty="0" err="1">
                <a:solidFill>
                  <a:prstClr val="white">
                    <a:lumMod val="50000"/>
                  </a:prstClr>
                </a:solidFill>
              </a:rPr>
              <a:t>imagenes</a:t>
            </a:r>
            <a:r>
              <a:rPr lang="es-ES" b="1" dirty="0">
                <a:solidFill>
                  <a:prstClr val="white">
                    <a:lumMod val="50000"/>
                  </a:prstClr>
                </a:solidFill>
              </a:rPr>
              <a:t> (id NUMBER, archivo BLOB);</a:t>
            </a:r>
            <a:endParaRPr kumimoji="0" lang="es-ES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A716EFF1-7312-9E76-A6D4-F6FCDE6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594631D-BF45-8BF9-4030-8044C46C23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</p:spTree>
    <p:extLst>
      <p:ext uri="{BB962C8B-B14F-4D97-AF65-F5344CB8AC3E}">
        <p14:creationId xmlns:p14="http://schemas.microsoft.com/office/powerpoint/2010/main" val="13625969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9FF5A-C8F8-10EA-BE76-E86B9FCA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3FC6C0CF-4DD2-5752-272F-162F90918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15566"/>
            <a:ext cx="8928992" cy="3679057"/>
          </a:xfrm>
        </p:spPr>
        <p:txBody>
          <a:bodyPr>
            <a:normAutofit/>
          </a:bodyPr>
          <a:lstStyle/>
          <a:p>
            <a:r>
              <a:rPr lang="es-ES" dirty="0"/>
              <a:t>Diferencias BLOB, CLOB NCLOB, BFILE</a:t>
            </a:r>
          </a:p>
          <a:p>
            <a:pPr marL="534988" marR="0" lvl="2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6A0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NCLOB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  <a:latin typeface="Calibri"/>
              </a:rPr>
              <a:t>National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  <a:latin typeface="Calibri"/>
              </a:rPr>
              <a:t>Character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  <a:latin typeface="Calibri"/>
              </a:rPr>
              <a:t>Large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  <a:latin typeface="Calibri"/>
              </a:rPr>
              <a:t>Object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)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Similar a CLOB pero para conjuntos de caracteres nacionales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Soporte mejorado para Unicode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  <a:latin typeface="Calibri"/>
              </a:rPr>
              <a:t>Ejemplo: Texto en múltiples idiomas</a:t>
            </a:r>
          </a:p>
          <a:p>
            <a:pPr lvl="2"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BFILE (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</a:rPr>
              <a:t>Binary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 File) 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Almacena referencia a archivo externo. OJO dependencia de la capa física.</a:t>
            </a: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Los datos permanecen en el sistema de archivos. Por defecto no se exporta, ni entra en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</a:rPr>
              <a:t>backups</a:t>
            </a:r>
            <a:endParaRPr lang="es-ES" dirty="0">
              <a:solidFill>
                <a:prstClr val="white">
                  <a:lumMod val="50000"/>
                </a:prstClr>
              </a:solidFill>
            </a:endParaRPr>
          </a:p>
          <a:p>
            <a:pPr lvl="3" indent="-266700">
              <a:buFont typeface="Arial" pitchFamily="34" charset="0"/>
              <a:buChar char="•"/>
              <a:defRPr/>
            </a:pP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Ejemplo: CREATE TABLE </a:t>
            </a:r>
            <a:r>
              <a:rPr lang="es-ES" dirty="0" err="1">
                <a:solidFill>
                  <a:prstClr val="white">
                    <a:lumMod val="50000"/>
                  </a:prstClr>
                </a:solidFill>
              </a:rPr>
              <a:t>archivos_externos</a:t>
            </a:r>
            <a:r>
              <a:rPr lang="es-ES" dirty="0">
                <a:solidFill>
                  <a:prstClr val="white">
                    <a:lumMod val="50000"/>
                  </a:prstClr>
                </a:solidFill>
              </a:rPr>
              <a:t> (id NUMBER, referencia BFILE);</a:t>
            </a:r>
            <a:endParaRPr lang="es-ES" dirty="0">
              <a:solidFill>
                <a:prstClr val="white">
                  <a:lumMod val="50000"/>
                </a:prstClr>
              </a:solidFill>
              <a:latin typeface="Calibri"/>
            </a:endParaRPr>
          </a:p>
          <a:p>
            <a:pPr lvl="3" indent="-266700">
              <a:buFont typeface="Arial" pitchFamily="34" charset="0"/>
              <a:buChar char="•"/>
              <a:defRPr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C42BED1-805E-64A2-85C0-D0C5096D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BCD140C-2A07-B76F-9E7D-C7E9248D82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E309496-6D2A-4FF4-A8EE-EA889F04F0A9}"/>
              </a:ext>
            </a:extLst>
          </p:cNvPr>
          <p:cNvGraphicFramePr>
            <a:graphicFrameLocks noGrp="1"/>
          </p:cNvGraphicFramePr>
          <p:nvPr/>
        </p:nvGraphicFramePr>
        <p:xfrm>
          <a:off x="2589559" y="3820825"/>
          <a:ext cx="3543178" cy="11587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638">
                  <a:extLst>
                    <a:ext uri="{9D8B030D-6E8A-4147-A177-3AD203B41FA5}">
                      <a16:colId xmlns:a16="http://schemas.microsoft.com/office/drawing/2014/main" val="1080889223"/>
                    </a:ext>
                  </a:extLst>
                </a:gridCol>
                <a:gridCol w="812601">
                  <a:extLst>
                    <a:ext uri="{9D8B030D-6E8A-4147-A177-3AD203B41FA5}">
                      <a16:colId xmlns:a16="http://schemas.microsoft.com/office/drawing/2014/main" val="1111757638"/>
                    </a:ext>
                  </a:extLst>
                </a:gridCol>
                <a:gridCol w="1242800">
                  <a:extLst>
                    <a:ext uri="{9D8B030D-6E8A-4147-A177-3AD203B41FA5}">
                      <a16:colId xmlns:a16="http://schemas.microsoft.com/office/drawing/2014/main" val="2514424458"/>
                    </a:ext>
                  </a:extLst>
                </a:gridCol>
                <a:gridCol w="923139">
                  <a:extLst>
                    <a:ext uri="{9D8B030D-6E8A-4147-A177-3AD203B41FA5}">
                      <a16:colId xmlns:a16="http://schemas.microsoft.com/office/drawing/2014/main" val="2540844563"/>
                    </a:ext>
                  </a:extLst>
                </a:gridCol>
              </a:tblGrid>
              <a:tr h="3696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Tipo</a:t>
                      </a:r>
                      <a:endParaRPr lang="es-ES" sz="11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Contenido</a:t>
                      </a:r>
                      <a:endParaRPr lang="es-ES" sz="11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Almacenamiento</a:t>
                      </a:r>
                      <a:endParaRPr lang="es-ES" sz="11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Codificación</a:t>
                      </a:r>
                      <a:endParaRPr lang="es-ES" sz="11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632171453"/>
                  </a:ext>
                </a:extLst>
              </a:tr>
              <a:tr h="1972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CLOB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Texto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Interno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Caracteres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635926289"/>
                  </a:ext>
                </a:extLst>
              </a:tr>
              <a:tr h="1972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BLOB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Binario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Interno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Bytes crudos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831744295"/>
                  </a:ext>
                </a:extLst>
              </a:tr>
              <a:tr h="1972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NCLOB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Texto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Interno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Unicode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358873422"/>
                  </a:ext>
                </a:extLst>
              </a:tr>
              <a:tr h="1972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BFILE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Binario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Externo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Bytes crudos</a:t>
                      </a:r>
                      <a:endParaRPr lang="es-ES" sz="1100" b="0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145403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589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BF940-37C2-F2E8-5087-452FB0FD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FABC4386-6A0C-BB4C-12C5-4274D0007A2A}"/>
              </a:ext>
            </a:extLst>
          </p:cNvPr>
          <p:cNvSpPr/>
          <p:nvPr/>
        </p:nvSpPr>
        <p:spPr>
          <a:xfrm>
            <a:off x="582210" y="2109021"/>
            <a:ext cx="7446174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3ED409E-7177-432D-64CC-67A6BB2CB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15566"/>
            <a:ext cx="8928992" cy="3679057"/>
          </a:xfrm>
        </p:spPr>
        <p:txBody>
          <a:bodyPr>
            <a:normAutofit/>
          </a:bodyPr>
          <a:lstStyle/>
          <a:p>
            <a:r>
              <a:rPr lang="es-ES" dirty="0"/>
              <a:t>JSON </a:t>
            </a:r>
            <a:r>
              <a:rPr lang="es-ES" sz="1000" dirty="0"/>
              <a:t>sesion1-json.sql</a:t>
            </a:r>
            <a:endParaRPr lang="es-ES" dirty="0"/>
          </a:p>
          <a:p>
            <a:pPr lvl="2">
              <a:defRPr/>
            </a:pPr>
            <a:r>
              <a:rPr lang="es-ES" dirty="0"/>
              <a:t>Oracle soporta </a:t>
            </a:r>
            <a:r>
              <a:rPr lang="es-ES" b="1" dirty="0"/>
              <a:t>JSON nativo</a:t>
            </a:r>
            <a:r>
              <a:rPr lang="es-ES" dirty="0"/>
              <a:t> en columnas VARCHAR2, CLOB o BLOB.</a:t>
            </a:r>
            <a:br>
              <a:rPr lang="es-ES" dirty="0"/>
            </a:br>
            <a:r>
              <a:rPr lang="es-ES" dirty="0"/>
              <a:t>En 21c aparece el tipo JSON, pero en 18c lo gestionamos como texto </a:t>
            </a:r>
            <a:r>
              <a:rPr lang="es-ES" b="1" dirty="0"/>
              <a:t>con validación</a:t>
            </a:r>
            <a:r>
              <a:rPr lang="es-ES" dirty="0"/>
              <a:t>.</a:t>
            </a:r>
          </a:p>
          <a:p>
            <a:pPr lvl="2">
              <a:defRPr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B832BB4-21FB-15E6-4E0D-BFB75C73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C62CE6C-4359-DDFA-8B20-E3BA80C009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72BA18-059D-6AC3-0BD7-C48E75C9F27C}"/>
              </a:ext>
            </a:extLst>
          </p:cNvPr>
          <p:cNvSpPr txBox="1"/>
          <p:nvPr/>
        </p:nvSpPr>
        <p:spPr>
          <a:xfrm>
            <a:off x="701800" y="2184415"/>
            <a:ext cx="66784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CREATE TABLE pedidos (</a:t>
            </a:r>
          </a:p>
          <a:p>
            <a:r>
              <a:rPr lang="es-ES" sz="1600" dirty="0"/>
              <a:t>   id NUMBER GENERATED ALWAYS AS IDENTITY PRIMARY KEY,</a:t>
            </a:r>
          </a:p>
          <a:p>
            <a:r>
              <a:rPr lang="es-ES" sz="1600" dirty="0"/>
              <a:t>   cliente VARCHAR2(100),</a:t>
            </a:r>
          </a:p>
          <a:p>
            <a:r>
              <a:rPr lang="es-ES" sz="1600" dirty="0"/>
              <a:t>   datos CLOB CONSTRAINT </a:t>
            </a:r>
            <a:r>
              <a:rPr lang="es-ES" sz="1600" dirty="0" err="1"/>
              <a:t>chk_json</a:t>
            </a:r>
            <a:r>
              <a:rPr lang="es-ES" sz="1600" dirty="0"/>
              <a:t> CHECK (datos IS JSON)</a:t>
            </a:r>
          </a:p>
          <a:p>
            <a:r>
              <a:rPr lang="es-ES" sz="1600" dirty="0"/>
              <a:t>);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EF0EFB-D3B0-C0DE-FA48-169A8C5D46BC}"/>
              </a:ext>
            </a:extLst>
          </p:cNvPr>
          <p:cNvSpPr txBox="1"/>
          <p:nvPr/>
        </p:nvSpPr>
        <p:spPr>
          <a:xfrm>
            <a:off x="669134" y="3499143"/>
            <a:ext cx="82233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INSERT INTO pedidos (cliente, datos)</a:t>
            </a:r>
          </a:p>
          <a:p>
            <a:r>
              <a:rPr lang="es-ES" sz="1600" dirty="0"/>
              <a:t>VALUES ('Carlos', '{"</a:t>
            </a:r>
            <a:r>
              <a:rPr lang="es-ES" sz="1600" dirty="0" err="1"/>
              <a:t>items</a:t>
            </a:r>
            <a:r>
              <a:rPr lang="es-ES" sz="1600" dirty="0"/>
              <a:t>":[{"producto":"Cámara","precio":250.0}],"envio":"24h"}');</a:t>
            </a:r>
          </a:p>
        </p:txBody>
      </p:sp>
    </p:spTree>
    <p:extLst>
      <p:ext uri="{BB962C8B-B14F-4D97-AF65-F5344CB8AC3E}">
        <p14:creationId xmlns:p14="http://schemas.microsoft.com/office/powerpoint/2010/main" val="1432100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C1181-7D82-B827-0971-8A37446B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92B228D-DD1E-6A06-B5A4-A8018B3AA292}"/>
              </a:ext>
            </a:extLst>
          </p:cNvPr>
          <p:cNvSpPr/>
          <p:nvPr/>
        </p:nvSpPr>
        <p:spPr>
          <a:xfrm>
            <a:off x="582210" y="2109021"/>
            <a:ext cx="7446174" cy="24856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DDD79120-A1C2-C902-D820-E11142DFF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15566"/>
            <a:ext cx="8928992" cy="3679057"/>
          </a:xfrm>
        </p:spPr>
        <p:txBody>
          <a:bodyPr>
            <a:normAutofit/>
          </a:bodyPr>
          <a:lstStyle/>
          <a:p>
            <a:r>
              <a:rPr lang="es-ES" dirty="0"/>
              <a:t>JSON</a:t>
            </a:r>
          </a:p>
          <a:p>
            <a:pPr lvl="2">
              <a:defRPr/>
            </a:pPr>
            <a:r>
              <a:rPr lang="es-ES" dirty="0"/>
              <a:t>Podemos consultar e indexar directamente sobre el JSON</a:t>
            </a:r>
          </a:p>
          <a:p>
            <a:pPr lvl="2">
              <a:defRPr/>
            </a:pPr>
            <a:r>
              <a:rPr lang="es-ES" dirty="0"/>
              <a:t>Tenemos una gestión relativamente decente de Nulos.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6275EF9-55B7-58FE-6715-58A43A4B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D48CA9D-58F3-4511-5209-122B778301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44902C-055F-5868-14FD-EEF59500A0C5}"/>
              </a:ext>
            </a:extLst>
          </p:cNvPr>
          <p:cNvSpPr txBox="1"/>
          <p:nvPr/>
        </p:nvSpPr>
        <p:spPr>
          <a:xfrm>
            <a:off x="793963" y="2216485"/>
            <a:ext cx="79746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SELECT</a:t>
            </a:r>
          </a:p>
          <a:p>
            <a:r>
              <a:rPr lang="es-ES" sz="1600" dirty="0"/>
              <a:t>   JSON_VALUE(datos, '$.</a:t>
            </a:r>
            <a:r>
              <a:rPr lang="es-ES" sz="1600" dirty="0" err="1"/>
              <a:t>items</a:t>
            </a:r>
            <a:r>
              <a:rPr lang="es-ES" sz="1600" dirty="0"/>
              <a:t>[0].producto') AS producto,</a:t>
            </a:r>
          </a:p>
          <a:p>
            <a:r>
              <a:rPr lang="es-ES" sz="1600" dirty="0"/>
              <a:t>   JSON_VALUE(datos, '$.</a:t>
            </a:r>
            <a:r>
              <a:rPr lang="es-ES" sz="1600" dirty="0" err="1"/>
              <a:t>items</a:t>
            </a:r>
            <a:r>
              <a:rPr lang="es-ES" sz="1600" dirty="0"/>
              <a:t>[0].precio') AS precio</a:t>
            </a:r>
          </a:p>
          <a:p>
            <a:r>
              <a:rPr lang="es-ES" sz="1600" dirty="0"/>
              <a:t>FROM pedidos;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44F160-6229-8C06-8BF5-45B573BDB6D3}"/>
              </a:ext>
            </a:extLst>
          </p:cNvPr>
          <p:cNvSpPr txBox="1"/>
          <p:nvPr/>
        </p:nvSpPr>
        <p:spPr>
          <a:xfrm>
            <a:off x="793963" y="3474932"/>
            <a:ext cx="69847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CREATE INDEX </a:t>
            </a:r>
            <a:r>
              <a:rPr lang="es-ES" sz="1600" dirty="0" err="1"/>
              <a:t>idx_pedidos_producto</a:t>
            </a:r>
            <a:endParaRPr lang="es-ES" sz="1600" dirty="0"/>
          </a:p>
          <a:p>
            <a:r>
              <a:rPr lang="es-ES" sz="1600" dirty="0"/>
              <a:t>ON pedidos (JSON_VALUE(datos, '$.</a:t>
            </a:r>
            <a:r>
              <a:rPr lang="es-ES" sz="1600" dirty="0" err="1"/>
              <a:t>items</a:t>
            </a:r>
            <a:r>
              <a:rPr lang="es-ES" sz="1600" dirty="0"/>
              <a:t>[0].producto' RETURNING VARCHAR2(100)));</a:t>
            </a:r>
          </a:p>
        </p:txBody>
      </p:sp>
    </p:spTree>
    <p:extLst>
      <p:ext uri="{BB962C8B-B14F-4D97-AF65-F5344CB8AC3E}">
        <p14:creationId xmlns:p14="http://schemas.microsoft.com/office/powerpoint/2010/main" val="3627520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454BB-6994-50D3-43D5-3C6F2780A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BF4756E-8FA6-599B-AF68-6BBC26A5E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15566"/>
            <a:ext cx="8928992" cy="3679057"/>
          </a:xfrm>
        </p:spPr>
        <p:txBody>
          <a:bodyPr>
            <a:normAutofit/>
          </a:bodyPr>
          <a:lstStyle/>
          <a:p>
            <a:r>
              <a:rPr lang="es-ES" dirty="0"/>
              <a:t>JSON</a:t>
            </a:r>
          </a:p>
          <a:p>
            <a:pPr lvl="2">
              <a:defRPr/>
            </a:pPr>
            <a:r>
              <a:rPr lang="es-ES" dirty="0"/>
              <a:t>Funciones útiles:</a:t>
            </a:r>
          </a:p>
          <a:p>
            <a:pPr lvl="3">
              <a:defRPr/>
            </a:pPr>
            <a:r>
              <a:rPr lang="es-ES" dirty="0"/>
              <a:t>IS JSON: valida estructura.</a:t>
            </a:r>
          </a:p>
          <a:p>
            <a:pPr lvl="3">
              <a:defRPr/>
            </a:pPr>
            <a:r>
              <a:rPr lang="es-ES" dirty="0"/>
              <a:t>JSON_VALUE: extrae un valor escalar.</a:t>
            </a:r>
          </a:p>
          <a:p>
            <a:pPr lvl="3">
              <a:defRPr/>
            </a:pPr>
            <a:r>
              <a:rPr lang="es-ES" dirty="0"/>
              <a:t>JSON_QUERY: devuelve fragmentos (objetos/</a:t>
            </a:r>
            <a:r>
              <a:rPr lang="es-ES" dirty="0" err="1"/>
              <a:t>arrays</a:t>
            </a:r>
            <a:r>
              <a:rPr lang="es-ES" dirty="0"/>
              <a:t>).</a:t>
            </a:r>
          </a:p>
          <a:p>
            <a:pPr lvl="3">
              <a:defRPr/>
            </a:pPr>
            <a:r>
              <a:rPr lang="es-ES" dirty="0"/>
              <a:t>JSON_EXISTS: filtra filas con condiciones JSON.</a:t>
            </a:r>
          </a:p>
          <a:p>
            <a:pPr lvl="3">
              <a:defRPr/>
            </a:pPr>
            <a:r>
              <a:rPr lang="es-ES" dirty="0"/>
              <a:t>JSON_TABLE: convierte JSON en tabla relacional.</a:t>
            </a:r>
            <a:br>
              <a:rPr lang="es-ES" dirty="0"/>
            </a:br>
            <a:endParaRPr lang="es-ES" dirty="0"/>
          </a:p>
          <a:p>
            <a:pPr lvl="2">
              <a:defRPr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5F3B8AC6-10AC-920E-AF99-CF2E2A5C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8A27094-0A3C-91D0-0CD2-B7788D0D9B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</p:spTree>
    <p:extLst>
      <p:ext uri="{BB962C8B-B14F-4D97-AF65-F5344CB8AC3E}">
        <p14:creationId xmlns:p14="http://schemas.microsoft.com/office/powerpoint/2010/main" val="2474553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4CDE7-9D43-6C26-514C-D224A305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A054BED3-D4AC-EEC8-2C6E-5E6DC7946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15566"/>
            <a:ext cx="8928992" cy="3679057"/>
          </a:xfrm>
        </p:spPr>
        <p:txBody>
          <a:bodyPr>
            <a:normAutofit/>
          </a:bodyPr>
          <a:lstStyle/>
          <a:p>
            <a:r>
              <a:rPr lang="es-ES" dirty="0"/>
              <a:t>Sintaxis Básica de JSON </a:t>
            </a:r>
            <a:r>
              <a:rPr lang="es-ES" dirty="0" err="1"/>
              <a:t>Path</a:t>
            </a:r>
            <a:endParaRPr lang="es-ES" dirty="0"/>
          </a:p>
          <a:p>
            <a:pPr lvl="2">
              <a:defRPr/>
            </a:pPr>
            <a:r>
              <a:rPr lang="es-ES" dirty="0"/>
              <a:t>Reglas útiles:</a:t>
            </a:r>
          </a:p>
          <a:p>
            <a:pPr lvl="3">
              <a:defRPr/>
            </a:pPr>
            <a:r>
              <a:rPr lang="es-ES" dirty="0"/>
              <a:t>$ = Raíz del documento</a:t>
            </a:r>
          </a:p>
          <a:p>
            <a:pPr lvl="3">
              <a:defRPr/>
            </a:pPr>
            <a:r>
              <a:rPr lang="es-ES" dirty="0"/>
              <a:t>. = Acceso a propiedades de objeto</a:t>
            </a:r>
          </a:p>
          <a:p>
            <a:pPr lvl="3">
              <a:defRPr/>
            </a:pPr>
            <a:r>
              <a:rPr lang="es-ES" dirty="0"/>
              <a:t>[] = Acceso a elementos de array</a:t>
            </a:r>
          </a:p>
          <a:p>
            <a:pPr lvl="3">
              <a:defRPr/>
            </a:pPr>
            <a:r>
              <a:rPr lang="es-ES" dirty="0"/>
              <a:t>[*] = Todos los elementos de array</a:t>
            </a:r>
          </a:p>
          <a:p>
            <a:pPr lvl="3">
              <a:defRPr/>
            </a:pPr>
            <a:r>
              <a:rPr lang="es-ES" dirty="0"/>
              <a:t>[0] = Primer elemento (índice base 0)</a:t>
            </a:r>
          </a:p>
          <a:p>
            <a:pPr lvl="3">
              <a:defRPr/>
            </a:pPr>
            <a:r>
              <a:rPr lang="es-ES" dirty="0"/>
              <a:t>?(@.condicion) = Filtros en JSON_EXISTS</a:t>
            </a:r>
            <a:br>
              <a:rPr lang="es-ES" dirty="0"/>
            </a:br>
            <a:endParaRPr lang="es-ES" dirty="0"/>
          </a:p>
          <a:p>
            <a:pPr lvl="2">
              <a:defRPr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769EA5C-B0AC-6CDB-2088-FB129AA7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BE314E0-AAB6-E25E-2005-BD31B4AB7E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</p:spTree>
    <p:extLst>
      <p:ext uri="{BB962C8B-B14F-4D97-AF65-F5344CB8AC3E}">
        <p14:creationId xmlns:p14="http://schemas.microsoft.com/office/powerpoint/2010/main" val="27324342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42FF5-EA45-643B-CDC6-EE331B6B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60E52E0-5851-12BD-9465-39F6B2A52943}"/>
              </a:ext>
            </a:extLst>
          </p:cNvPr>
          <p:cNvSpPr/>
          <p:nvPr/>
        </p:nvSpPr>
        <p:spPr>
          <a:xfrm>
            <a:off x="582210" y="1761947"/>
            <a:ext cx="7446174" cy="2677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D8139CD-05B9-C8A5-E7F5-4E4FCD301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15566"/>
            <a:ext cx="8928992" cy="3679057"/>
          </a:xfrm>
        </p:spPr>
        <p:txBody>
          <a:bodyPr>
            <a:normAutofit/>
          </a:bodyPr>
          <a:lstStyle/>
          <a:p>
            <a:r>
              <a:rPr lang="es-ES" dirty="0"/>
              <a:t>XML en Oracle: </a:t>
            </a:r>
            <a:r>
              <a:rPr lang="es-ES" dirty="0" err="1"/>
              <a:t>XMLType</a:t>
            </a:r>
            <a:r>
              <a:rPr lang="es-ES" dirty="0"/>
              <a:t> </a:t>
            </a:r>
            <a:r>
              <a:rPr lang="es-ES" sz="1000" dirty="0"/>
              <a:t>sesion1-xml.sql</a:t>
            </a:r>
            <a:endParaRPr lang="es-ES" dirty="0"/>
          </a:p>
          <a:p>
            <a:pPr lvl="2"/>
            <a:r>
              <a:rPr lang="es-ES" dirty="0"/>
              <a:t>El tipo XMLTYPE encapsula un documento XML y permite consultas </a:t>
            </a:r>
            <a:r>
              <a:rPr lang="es-ES" dirty="0" err="1"/>
              <a:t>XQuery</a:t>
            </a:r>
            <a:r>
              <a:rPr lang="es-ES" dirty="0"/>
              <a:t> / </a:t>
            </a:r>
            <a:r>
              <a:rPr lang="es-ES" dirty="0" err="1"/>
              <a:t>XPath</a:t>
            </a:r>
            <a:r>
              <a:rPr lang="es-ES" dirty="0"/>
              <a:t>.</a:t>
            </a:r>
          </a:p>
          <a:p>
            <a:pPr marL="539750" lvl="3" indent="0">
              <a:buNone/>
              <a:defRPr/>
            </a:pPr>
            <a:br>
              <a:rPr lang="es-ES" dirty="0"/>
            </a:br>
            <a:endParaRPr lang="es-ES" dirty="0"/>
          </a:p>
          <a:p>
            <a:pPr lvl="2">
              <a:defRPr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D7DC7C7-8FF4-3D47-4BD3-7A0C2CA0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35475B7-5ACC-1EDB-462C-554B99CDAC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BBFA15A-CB4E-646B-E53E-D8DEF65ABDEA}"/>
              </a:ext>
            </a:extLst>
          </p:cNvPr>
          <p:cNvSpPr txBox="1"/>
          <p:nvPr/>
        </p:nvSpPr>
        <p:spPr>
          <a:xfrm>
            <a:off x="673630" y="4507255"/>
            <a:ext cx="8064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⚠️ </a:t>
            </a:r>
            <a:r>
              <a:rPr lang="es-ES" sz="1600" dirty="0">
                <a:latin typeface="Courier New" panose="02070309020205020404" pitchFamily="49" charset="0"/>
              </a:rPr>
              <a:t>EXTRACTVALUE</a:t>
            </a:r>
            <a:r>
              <a:rPr lang="es-ES" sz="1600" dirty="0"/>
              <a:t> está deprecado, pero sigue soportado en 18c.</a:t>
            </a:r>
            <a:br>
              <a:rPr lang="es-ES" sz="1600" dirty="0"/>
            </a:br>
            <a:r>
              <a:rPr lang="es-ES" sz="1600" dirty="0"/>
              <a:t>En proyectos nuevos, usa </a:t>
            </a:r>
            <a:r>
              <a:rPr lang="es-ES" sz="1600" dirty="0">
                <a:latin typeface="Courier New" panose="02070309020205020404" pitchFamily="49" charset="0"/>
              </a:rPr>
              <a:t>XMLQUERY</a:t>
            </a:r>
            <a:r>
              <a:rPr lang="es-ES" sz="1600" dirty="0"/>
              <a:t> y </a:t>
            </a:r>
            <a:r>
              <a:rPr lang="es-ES" sz="1600" dirty="0">
                <a:latin typeface="Courier New" panose="02070309020205020404" pitchFamily="49" charset="0"/>
              </a:rPr>
              <a:t>XMLTABLE</a:t>
            </a:r>
            <a:r>
              <a:rPr lang="es-ES" sz="1600" dirty="0"/>
              <a:t> (más potentes y estandarizadas).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353CCB-DE17-3AD2-C2F7-9F1F5C1EDFD2}"/>
              </a:ext>
            </a:extLst>
          </p:cNvPr>
          <p:cNvSpPr txBox="1"/>
          <p:nvPr/>
        </p:nvSpPr>
        <p:spPr>
          <a:xfrm>
            <a:off x="649930" y="1761946"/>
            <a:ext cx="73448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CREATE TABLE facturas (</a:t>
            </a:r>
          </a:p>
          <a:p>
            <a:r>
              <a:rPr lang="es-ES" sz="1400" dirty="0"/>
              <a:t>   id NUMBER GENERATED ALWAYS AS IDENTITY PRIMARY KEY,</a:t>
            </a:r>
          </a:p>
          <a:p>
            <a:r>
              <a:rPr lang="es-ES" sz="1400" dirty="0"/>
              <a:t>   </a:t>
            </a:r>
            <a:r>
              <a:rPr lang="es-ES" sz="1400" dirty="0" err="1"/>
              <a:t>xml_data</a:t>
            </a:r>
            <a:r>
              <a:rPr lang="es-ES" sz="1400" dirty="0"/>
              <a:t> XMLTYPE</a:t>
            </a:r>
          </a:p>
          <a:p>
            <a:r>
              <a:rPr lang="es-ES" sz="1400" dirty="0"/>
              <a:t>);</a:t>
            </a:r>
          </a:p>
          <a:p>
            <a:endParaRPr lang="es-ES" sz="1400" dirty="0"/>
          </a:p>
          <a:p>
            <a:r>
              <a:rPr lang="es-ES" sz="1400" dirty="0"/>
              <a:t>INSERT INTO facturas (</a:t>
            </a:r>
            <a:r>
              <a:rPr lang="es-ES" sz="1400" dirty="0" err="1"/>
              <a:t>xml_data</a:t>
            </a:r>
            <a:r>
              <a:rPr lang="es-ES" sz="1400" dirty="0"/>
              <a:t>)</a:t>
            </a:r>
          </a:p>
          <a:p>
            <a:r>
              <a:rPr lang="es-ES" sz="1400" dirty="0"/>
              <a:t>VALUES (XMLTYPE('&lt;factura&gt;&lt;cliente&gt;Ana&lt;/cliente&gt;&lt;total&gt;120.50&lt;/total&gt;&lt;/factura&gt;’));</a:t>
            </a:r>
          </a:p>
          <a:p>
            <a:endParaRPr lang="es-ES" sz="1400" dirty="0"/>
          </a:p>
          <a:p>
            <a:r>
              <a:rPr lang="es-ES" sz="1400" dirty="0"/>
              <a:t>SELECT</a:t>
            </a:r>
          </a:p>
          <a:p>
            <a:r>
              <a:rPr lang="es-ES" sz="1400" dirty="0"/>
              <a:t>   EXTRACTVALUE(</a:t>
            </a:r>
            <a:r>
              <a:rPr lang="es-ES" sz="1400" dirty="0" err="1"/>
              <a:t>xml_data</a:t>
            </a:r>
            <a:r>
              <a:rPr lang="es-ES" sz="1400" dirty="0"/>
              <a:t>, '/factura/cliente') AS cliente,</a:t>
            </a:r>
          </a:p>
          <a:p>
            <a:r>
              <a:rPr lang="es-ES" sz="1400" dirty="0"/>
              <a:t>   EXTRACTVALUE(</a:t>
            </a:r>
            <a:r>
              <a:rPr lang="es-ES" sz="1400" dirty="0" err="1"/>
              <a:t>xml_data</a:t>
            </a:r>
            <a:r>
              <a:rPr lang="es-ES" sz="1400" dirty="0"/>
              <a:t>, '/factura/total') AS total</a:t>
            </a:r>
          </a:p>
          <a:p>
            <a:r>
              <a:rPr lang="es-ES" sz="1400" dirty="0"/>
              <a:t>FROM facturas;</a:t>
            </a:r>
          </a:p>
        </p:txBody>
      </p:sp>
    </p:spTree>
    <p:extLst>
      <p:ext uri="{BB962C8B-B14F-4D97-AF65-F5344CB8AC3E}">
        <p14:creationId xmlns:p14="http://schemas.microsoft.com/office/powerpoint/2010/main" val="2438581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61228-CCDC-AEF1-873C-F9CE4536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6F2F06A-8398-26E1-5508-3211B7FBF690}"/>
              </a:ext>
            </a:extLst>
          </p:cNvPr>
          <p:cNvSpPr/>
          <p:nvPr/>
        </p:nvSpPr>
        <p:spPr>
          <a:xfrm>
            <a:off x="4704105" y="2559644"/>
            <a:ext cx="3832696" cy="2388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AE835CF-10C3-422D-866D-6A0221501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6"/>
            <a:ext cx="8579296" cy="2676497"/>
          </a:xfrm>
        </p:spPr>
        <p:txBody>
          <a:bodyPr>
            <a:normAutofit/>
          </a:bodyPr>
          <a:lstStyle/>
          <a:p>
            <a:r>
              <a:rPr lang="es-ES" dirty="0"/>
              <a:t>Tipos objeto y colecciones (estructuras anidadas) </a:t>
            </a:r>
            <a:r>
              <a:rPr lang="es-ES" sz="1100" dirty="0"/>
              <a:t>sesion1-objects.sql</a:t>
            </a:r>
            <a:endParaRPr lang="es-E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Podemos crear registros.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Y crear campos donde guardarlos.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dirty="0"/>
              <a:t>También tablas anidadas.</a:t>
            </a:r>
          </a:p>
          <a:p>
            <a:endParaRPr lang="es-ES" dirty="0"/>
          </a:p>
          <a:p>
            <a:pPr marL="539750" lvl="3" indent="0">
              <a:buNone/>
              <a:defRPr/>
            </a:pPr>
            <a:br>
              <a:rPr lang="es-ES" dirty="0"/>
            </a:br>
            <a:endParaRPr lang="es-ES" dirty="0"/>
          </a:p>
          <a:p>
            <a:pPr lvl="2">
              <a:defRPr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6F5DB6D-89EA-A6E7-1F1D-7CC16982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E326C53-B4E5-64CA-7615-C2DC46558B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3BA3344-E819-1C28-3B7B-1259908572BD}"/>
              </a:ext>
            </a:extLst>
          </p:cNvPr>
          <p:cNvSpPr txBox="1"/>
          <p:nvPr/>
        </p:nvSpPr>
        <p:spPr>
          <a:xfrm>
            <a:off x="4847637" y="2684702"/>
            <a:ext cx="35456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CREATE TYPE </a:t>
            </a:r>
            <a:r>
              <a:rPr lang="es-ES" sz="1400" dirty="0" err="1"/>
              <a:t>direccion_t</a:t>
            </a:r>
            <a:r>
              <a:rPr lang="es-ES" sz="1400" dirty="0"/>
              <a:t> AS OBJECT (</a:t>
            </a:r>
          </a:p>
          <a:p>
            <a:r>
              <a:rPr lang="es-ES" sz="1400" dirty="0"/>
              <a:t>   calle VARCHAR2(100),</a:t>
            </a:r>
          </a:p>
          <a:p>
            <a:r>
              <a:rPr lang="es-ES" sz="1400" dirty="0"/>
              <a:t>   ciudad VARCHAR2(50),</a:t>
            </a:r>
          </a:p>
          <a:p>
            <a:r>
              <a:rPr lang="es-ES" sz="1400" dirty="0"/>
              <a:t>   </a:t>
            </a:r>
            <a:r>
              <a:rPr lang="es-ES" sz="1400" dirty="0" err="1"/>
              <a:t>cp</a:t>
            </a:r>
            <a:r>
              <a:rPr lang="es-ES" sz="1400" dirty="0"/>
              <a:t> VARCHAR2(10));</a:t>
            </a:r>
          </a:p>
          <a:p>
            <a:endParaRPr lang="es-ES" sz="1400" dirty="0"/>
          </a:p>
          <a:p>
            <a:r>
              <a:rPr lang="es-ES" sz="1400" dirty="0"/>
              <a:t>CREATE TABLE clientes (</a:t>
            </a:r>
          </a:p>
          <a:p>
            <a:r>
              <a:rPr lang="es-ES" sz="1400" dirty="0"/>
              <a:t>   id NUMBER PRIMARY KEY,</a:t>
            </a:r>
          </a:p>
          <a:p>
            <a:r>
              <a:rPr lang="es-ES" sz="1400" dirty="0"/>
              <a:t>   nombre VARCHAR2(100),</a:t>
            </a:r>
          </a:p>
          <a:p>
            <a:r>
              <a:rPr lang="es-ES" sz="1400" dirty="0"/>
              <a:t>   domicilio </a:t>
            </a:r>
            <a:r>
              <a:rPr lang="es-ES" sz="1400" dirty="0" err="1"/>
              <a:t>direccion_t</a:t>
            </a:r>
            <a:r>
              <a:rPr lang="es-ES" sz="1400" dirty="0"/>
              <a:t>;</a:t>
            </a:r>
          </a:p>
          <a:p>
            <a:endParaRPr lang="es-ES" sz="14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9EA0FC-1FF3-4FA3-498E-21D8F9BD9E40}"/>
              </a:ext>
            </a:extLst>
          </p:cNvPr>
          <p:cNvSpPr/>
          <p:nvPr/>
        </p:nvSpPr>
        <p:spPr>
          <a:xfrm>
            <a:off x="445774" y="2567726"/>
            <a:ext cx="3832696" cy="2380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34B0A6-DC04-829F-7C6D-5339EA0DF1FC}"/>
              </a:ext>
            </a:extLst>
          </p:cNvPr>
          <p:cNvSpPr txBox="1"/>
          <p:nvPr/>
        </p:nvSpPr>
        <p:spPr>
          <a:xfrm>
            <a:off x="495612" y="2782010"/>
            <a:ext cx="37828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INSERT INTO clientes VALUES (</a:t>
            </a:r>
          </a:p>
          <a:p>
            <a:r>
              <a:rPr lang="es-ES" sz="1400" dirty="0"/>
              <a:t>   1,</a:t>
            </a:r>
          </a:p>
          <a:p>
            <a:r>
              <a:rPr lang="es-ES" sz="1400" dirty="0"/>
              <a:t>   'María Pérez',</a:t>
            </a:r>
          </a:p>
          <a:p>
            <a:r>
              <a:rPr lang="es-ES" sz="1400" dirty="0"/>
              <a:t>   </a:t>
            </a:r>
            <a:r>
              <a:rPr lang="es-ES" sz="1400" dirty="0" err="1"/>
              <a:t>direccion_t</a:t>
            </a:r>
            <a:r>
              <a:rPr lang="es-ES" sz="1400" dirty="0"/>
              <a:t>('Av. Central 45', 'Madrid', '28010'));</a:t>
            </a:r>
          </a:p>
          <a:p>
            <a:endParaRPr lang="es-ES" sz="1400" dirty="0"/>
          </a:p>
          <a:p>
            <a:r>
              <a:rPr lang="es-ES" sz="1400" dirty="0"/>
              <a:t>SELECT </a:t>
            </a:r>
            <a:r>
              <a:rPr lang="es-ES" sz="1400" dirty="0" err="1"/>
              <a:t>c.domicilio.ciudad</a:t>
            </a:r>
            <a:r>
              <a:rPr lang="es-ES" sz="1400" dirty="0"/>
              <a:t> FROM clientes c;</a:t>
            </a:r>
          </a:p>
          <a:p>
            <a:endParaRPr lang="es-ES" sz="1400" dirty="0"/>
          </a:p>
          <a:p>
            <a:r>
              <a:rPr lang="es-ES" sz="1400" dirty="0"/>
              <a:t>SELECT * FROM clientes c;</a:t>
            </a:r>
          </a:p>
          <a:p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0452251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0A9FA-EB8B-CEA2-1534-32AA87810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37C65A0-5F5F-A69A-45DE-9ADD9B4E0E65}"/>
              </a:ext>
            </a:extLst>
          </p:cNvPr>
          <p:cNvSpPr/>
          <p:nvPr/>
        </p:nvSpPr>
        <p:spPr>
          <a:xfrm>
            <a:off x="323528" y="1635649"/>
            <a:ext cx="4752528" cy="3168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AAA80635-599D-6602-57A9-23CB2501B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31590"/>
            <a:ext cx="8579296" cy="792086"/>
          </a:xfrm>
        </p:spPr>
        <p:txBody>
          <a:bodyPr>
            <a:normAutofit lnSpcReduction="10000"/>
          </a:bodyPr>
          <a:lstStyle/>
          <a:p>
            <a:r>
              <a:rPr lang="es-ES" dirty="0"/>
              <a:t>Tipos objeto y colecciones (estructuras anidadas)</a:t>
            </a:r>
            <a:br>
              <a:rPr lang="es-ES" dirty="0"/>
            </a:br>
            <a:endParaRPr lang="es-ES" dirty="0"/>
          </a:p>
          <a:p>
            <a:pPr lvl="2">
              <a:defRPr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34CBA5F7-3C1F-647C-235E-FFABC509C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FE88F8F-53B3-7FDA-C79B-F0906FB602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6505F6E-BD59-3DDE-DAA7-A120109D8689}"/>
              </a:ext>
            </a:extLst>
          </p:cNvPr>
          <p:cNvSpPr txBox="1"/>
          <p:nvPr/>
        </p:nvSpPr>
        <p:spPr>
          <a:xfrm>
            <a:off x="502114" y="1808987"/>
            <a:ext cx="42484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CREATE TYPE </a:t>
            </a:r>
            <a:r>
              <a:rPr lang="es-ES" sz="1400" dirty="0" err="1"/>
              <a:t>telefono_t</a:t>
            </a:r>
            <a:r>
              <a:rPr lang="es-ES" sz="1400" dirty="0"/>
              <a:t> AS OBJECT (</a:t>
            </a:r>
          </a:p>
          <a:p>
            <a:r>
              <a:rPr lang="es-ES" sz="1400" dirty="0"/>
              <a:t>   tipo VARCHAR2(10),</a:t>
            </a:r>
          </a:p>
          <a:p>
            <a:r>
              <a:rPr lang="es-ES" sz="1400" dirty="0"/>
              <a:t>   numero VARCHAR2(20)</a:t>
            </a:r>
          </a:p>
          <a:p>
            <a:r>
              <a:rPr lang="es-ES" sz="1400" dirty="0"/>
              <a:t>);</a:t>
            </a:r>
          </a:p>
          <a:p>
            <a:endParaRPr lang="es-ES" sz="1400" dirty="0"/>
          </a:p>
          <a:p>
            <a:r>
              <a:rPr lang="es-ES" sz="1400" dirty="0"/>
              <a:t>CREATE TYPE </a:t>
            </a:r>
            <a:r>
              <a:rPr lang="es-ES" sz="1400" dirty="0" err="1"/>
              <a:t>lista_telefonos_t</a:t>
            </a:r>
            <a:r>
              <a:rPr lang="es-ES" sz="1400" dirty="0"/>
              <a:t> AS TABLE OF </a:t>
            </a:r>
            <a:r>
              <a:rPr lang="es-ES" sz="1400" dirty="0" err="1"/>
              <a:t>telefono_t</a:t>
            </a:r>
            <a:r>
              <a:rPr lang="es-ES" sz="1400" dirty="0"/>
              <a:t>;</a:t>
            </a:r>
          </a:p>
          <a:p>
            <a:endParaRPr lang="es-ES" sz="1400" dirty="0"/>
          </a:p>
          <a:p>
            <a:r>
              <a:rPr lang="es-ES" sz="1400" dirty="0"/>
              <a:t>CREATE TABLE personas (</a:t>
            </a:r>
          </a:p>
          <a:p>
            <a:r>
              <a:rPr lang="es-ES" sz="1400" dirty="0"/>
              <a:t>   id NUMBER PRIMARY KEY,</a:t>
            </a:r>
          </a:p>
          <a:p>
            <a:r>
              <a:rPr lang="es-ES" sz="1400" dirty="0"/>
              <a:t>   nombre VARCHAR2(100),</a:t>
            </a:r>
          </a:p>
          <a:p>
            <a:r>
              <a:rPr lang="es-ES" sz="1400" dirty="0"/>
              <a:t>   </a:t>
            </a:r>
            <a:r>
              <a:rPr lang="es-ES" sz="1400" dirty="0" err="1"/>
              <a:t>telefonos</a:t>
            </a:r>
            <a:r>
              <a:rPr lang="es-ES" sz="1400" dirty="0"/>
              <a:t> </a:t>
            </a:r>
            <a:r>
              <a:rPr lang="es-ES" sz="1400" dirty="0" err="1"/>
              <a:t>lista_telefonos_t</a:t>
            </a:r>
            <a:endParaRPr lang="es-ES" sz="1400" dirty="0"/>
          </a:p>
          <a:p>
            <a:r>
              <a:rPr lang="es-ES" sz="1400" dirty="0"/>
              <a:t>) NESTED TABLE </a:t>
            </a:r>
            <a:r>
              <a:rPr lang="es-ES" sz="1400" dirty="0" err="1"/>
              <a:t>telefonos</a:t>
            </a:r>
            <a:r>
              <a:rPr lang="es-ES" sz="1400" dirty="0"/>
              <a:t> STORE AS </a:t>
            </a:r>
            <a:r>
              <a:rPr lang="es-ES" sz="1400" dirty="0" err="1"/>
              <a:t>telefonos_nt</a:t>
            </a:r>
            <a:r>
              <a:rPr lang="es-ES" sz="1400" dirty="0"/>
              <a:t>;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4A8095B-66EF-0049-64B4-98680E801A6D}"/>
              </a:ext>
            </a:extLst>
          </p:cNvPr>
          <p:cNvSpPr/>
          <p:nvPr/>
        </p:nvSpPr>
        <p:spPr>
          <a:xfrm>
            <a:off x="5364088" y="1620984"/>
            <a:ext cx="3456383" cy="3168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74AE51-79EB-2B34-FAD4-80B381E6A0B8}"/>
              </a:ext>
            </a:extLst>
          </p:cNvPr>
          <p:cNvSpPr txBox="1"/>
          <p:nvPr/>
        </p:nvSpPr>
        <p:spPr>
          <a:xfrm>
            <a:off x="5405205" y="1794322"/>
            <a:ext cx="32815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INSERT INTO personas VALUES (</a:t>
            </a:r>
          </a:p>
          <a:p>
            <a:r>
              <a:rPr lang="es-ES" sz="1400" dirty="0"/>
              <a:t>   1,</a:t>
            </a:r>
          </a:p>
          <a:p>
            <a:r>
              <a:rPr lang="es-ES" sz="1400" dirty="0"/>
              <a:t>   'Juan López', </a:t>
            </a:r>
            <a:r>
              <a:rPr lang="es-ES" sz="1400" dirty="0" err="1"/>
              <a:t>lista_telefonos_t</a:t>
            </a:r>
            <a:r>
              <a:rPr lang="es-ES" sz="1400" dirty="0"/>
              <a:t>(</a:t>
            </a:r>
            <a:r>
              <a:rPr lang="es-ES" sz="1400" dirty="0" err="1"/>
              <a:t>telefono_t</a:t>
            </a:r>
            <a:r>
              <a:rPr lang="es-ES" sz="1400" dirty="0"/>
              <a:t>('Móvil','600123123'), </a:t>
            </a:r>
            <a:r>
              <a:rPr lang="es-ES" sz="1400" dirty="0" err="1"/>
              <a:t>telefono_t</a:t>
            </a:r>
            <a:r>
              <a:rPr lang="es-ES" sz="1400" dirty="0"/>
              <a:t>('Fijo','911223344'))</a:t>
            </a:r>
          </a:p>
          <a:p>
            <a:r>
              <a:rPr lang="es-ES" sz="1400" dirty="0"/>
              <a:t>);</a:t>
            </a:r>
          </a:p>
          <a:p>
            <a:endParaRPr lang="es-ES" sz="1400" dirty="0"/>
          </a:p>
          <a:p>
            <a:r>
              <a:rPr lang="es-ES" sz="1400" dirty="0"/>
              <a:t>SELECT </a:t>
            </a:r>
            <a:r>
              <a:rPr lang="es-ES" sz="1400" dirty="0" err="1"/>
              <a:t>p.nombre</a:t>
            </a:r>
            <a:r>
              <a:rPr lang="es-ES" sz="1400" dirty="0"/>
              <a:t>, </a:t>
            </a:r>
            <a:r>
              <a:rPr lang="es-ES" sz="1400" dirty="0" err="1"/>
              <a:t>t.numero</a:t>
            </a:r>
            <a:endParaRPr lang="es-ES" sz="1400" dirty="0"/>
          </a:p>
          <a:p>
            <a:r>
              <a:rPr lang="es-ES" sz="1400" dirty="0"/>
              <a:t>FROM personas p, TABLE(</a:t>
            </a:r>
            <a:r>
              <a:rPr lang="es-ES" sz="1400" dirty="0" err="1"/>
              <a:t>p.telefonos</a:t>
            </a:r>
            <a:r>
              <a:rPr lang="es-ES" sz="1400" dirty="0"/>
              <a:t>) t;</a:t>
            </a:r>
          </a:p>
        </p:txBody>
      </p:sp>
    </p:spTree>
    <p:extLst>
      <p:ext uri="{BB962C8B-B14F-4D97-AF65-F5344CB8AC3E}">
        <p14:creationId xmlns:p14="http://schemas.microsoft.com/office/powerpoint/2010/main" val="23516766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F943F-FCEA-8AE0-0C99-F7A57A87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8E786BD-2BCC-31E9-A714-7EDE9F2F9F42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BA869C0-0355-3632-EBFF-3CBDD1643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Columnas virtuales y expresiones</a:t>
            </a:r>
          </a:p>
          <a:p>
            <a:endParaRPr lang="es-ES" dirty="0"/>
          </a:p>
          <a:p>
            <a:pPr marL="539750" lvl="3" indent="0">
              <a:buNone/>
              <a:defRPr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E8E0E8F-CCBD-08B2-F5BF-CB4FE299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F4D03C3-7BB9-B67C-12B4-835213392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7E1D7E-E6BE-648A-A3CD-9FA7EC711ACE}"/>
              </a:ext>
            </a:extLst>
          </p:cNvPr>
          <p:cNvSpPr txBox="1"/>
          <p:nvPr/>
        </p:nvSpPr>
        <p:spPr>
          <a:xfrm>
            <a:off x="276560" y="1491632"/>
            <a:ext cx="35456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CREATE TABLE </a:t>
            </a:r>
            <a:r>
              <a:rPr lang="en-US" sz="1400" dirty="0" err="1"/>
              <a:t>ventas</a:t>
            </a:r>
            <a:r>
              <a:rPr lang="en-US" sz="1400" dirty="0"/>
              <a:t> (</a:t>
            </a:r>
          </a:p>
          <a:p>
            <a:r>
              <a:rPr lang="en-US" sz="1400" dirty="0"/>
              <a:t>   id NUMBER GENERATED ALWAYS AS IDENTITY PRIMARY KEY,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precio_unitario</a:t>
            </a:r>
            <a:r>
              <a:rPr lang="en-US" sz="1400" dirty="0"/>
              <a:t> NUMBER(10,2),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cantidad</a:t>
            </a:r>
            <a:r>
              <a:rPr lang="en-US" sz="1400" dirty="0"/>
              <a:t> NUMBER,</a:t>
            </a:r>
          </a:p>
          <a:p>
            <a:r>
              <a:rPr lang="en-US" sz="1400" dirty="0"/>
              <a:t>   total NUMBER GENERATED ALWAYS AS (</a:t>
            </a:r>
            <a:r>
              <a:rPr lang="en-US" sz="1400" dirty="0" err="1"/>
              <a:t>precio_unitario</a:t>
            </a:r>
            <a:r>
              <a:rPr lang="en-US" sz="1400" dirty="0"/>
              <a:t> * </a:t>
            </a:r>
            <a:r>
              <a:rPr lang="en-US" sz="1400" dirty="0" err="1"/>
              <a:t>cantidad</a:t>
            </a:r>
            <a:r>
              <a:rPr lang="en-US" sz="1400" dirty="0"/>
              <a:t>) VIRTUAL</a:t>
            </a:r>
          </a:p>
          <a:p>
            <a:r>
              <a:rPr lang="en-US" sz="1400" dirty="0"/>
              <a:t>);</a:t>
            </a:r>
          </a:p>
          <a:p>
            <a:endParaRPr lang="en-US" sz="1400" dirty="0"/>
          </a:p>
          <a:p>
            <a:r>
              <a:rPr lang="es-ES" sz="1400" dirty="0"/>
              <a:t>CREATE INDEX </a:t>
            </a:r>
            <a:r>
              <a:rPr lang="es-ES" sz="1400" dirty="0" err="1"/>
              <a:t>idx_total</a:t>
            </a:r>
            <a:r>
              <a:rPr lang="es-ES" sz="1400" dirty="0"/>
              <a:t> ON ventas (total);</a:t>
            </a:r>
          </a:p>
          <a:p>
            <a:endParaRPr lang="es-ES" sz="1400" dirty="0"/>
          </a:p>
          <a:p>
            <a:r>
              <a:rPr lang="es-ES" sz="1400" dirty="0" err="1"/>
              <a:t>select</a:t>
            </a:r>
            <a:r>
              <a:rPr lang="es-ES" sz="1400" dirty="0"/>
              <a:t> * </a:t>
            </a:r>
            <a:r>
              <a:rPr lang="es-ES" sz="1400" dirty="0" err="1"/>
              <a:t>from</a:t>
            </a:r>
            <a:r>
              <a:rPr lang="es-ES" sz="1400" dirty="0"/>
              <a:t> ventas;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1408739C-A1A2-6010-7201-E3B5F1F78933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Calculadas al vuelo y almacenadas en el diccionario (no en disco).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Permiten indexación.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Perfecta para reglas derivadas o validaciones complejas.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Con el índice pasamos de 0,096s a 0,025s en los </a:t>
            </a:r>
            <a:r>
              <a:rPr lang="es-ES" sz="1600" dirty="0" err="1"/>
              <a:t>tests</a:t>
            </a:r>
            <a:r>
              <a:rPr lang="es-ES" sz="1600" dirty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Pero siempre es mejor materializar la expresión.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Útil cuando no quieres hacer el calculo fuera de la BD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600" dirty="0"/>
          </a:p>
          <a:p>
            <a:endParaRPr lang="es-ES" dirty="0"/>
          </a:p>
          <a:p>
            <a:pPr marL="539750" lvl="3" indent="0">
              <a:buFont typeface="Arial" pitchFamily="34" charset="0"/>
              <a:buNone/>
              <a:defRPr/>
            </a:pP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FD8664-54AA-F258-9693-53ABDD7614C1}"/>
              </a:ext>
            </a:extLst>
          </p:cNvPr>
          <p:cNvSpPr txBox="1"/>
          <p:nvPr/>
        </p:nvSpPr>
        <p:spPr>
          <a:xfrm>
            <a:off x="7343135" y="4731990"/>
            <a:ext cx="177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0" dirty="0">
                <a:solidFill>
                  <a:srgbClr val="FF6A00"/>
                </a:solidFill>
                <a:effectLst/>
                <a:latin typeface="-apple-system"/>
              </a:rPr>
              <a:t>sesion1-columnas-virtuales.sql</a:t>
            </a:r>
            <a:endParaRPr lang="es-ES" dirty="0">
              <a:solidFill>
                <a:srgbClr val="FF6A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724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C6369-A869-8C14-CE09-AF72CB39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D9DF16D-AB8C-FD2F-2276-0DCFB055AFAF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2E0B999-5ED7-25CD-644E-0E9B731CF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Columnas invisibles</a:t>
            </a:r>
            <a:endParaRPr lang="es-ES" dirty="0"/>
          </a:p>
          <a:p>
            <a:pPr marL="539750" lvl="3" indent="0">
              <a:buNone/>
              <a:defRPr/>
            </a:pP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EF7F341-61EF-63D2-1F98-D2C4C67B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3F5462A-B82F-7038-0F62-46058931CD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95D7AB-DB55-2E7D-CBB1-93F675AF390F}"/>
              </a:ext>
            </a:extLst>
          </p:cNvPr>
          <p:cNvSpPr txBox="1"/>
          <p:nvPr/>
        </p:nvSpPr>
        <p:spPr>
          <a:xfrm>
            <a:off x="261636" y="1284799"/>
            <a:ext cx="3545633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TABLE </a:t>
            </a:r>
            <a:r>
              <a:rPr lang="en-US" sz="1300" dirty="0" err="1"/>
              <a:t>usuarios_web</a:t>
            </a:r>
            <a:r>
              <a:rPr lang="en-US" sz="1300" dirty="0"/>
              <a:t> (</a:t>
            </a:r>
          </a:p>
          <a:p>
            <a:r>
              <a:rPr lang="en-US" sz="1300" dirty="0"/>
              <a:t>   id NUMBER GENERATED ALWAYS AS IDENTITY PRIMARY KEY,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nombre</a:t>
            </a:r>
            <a:r>
              <a:rPr lang="en-US" sz="1300" dirty="0"/>
              <a:t> VARCHAR2(100),</a:t>
            </a:r>
          </a:p>
          <a:p>
            <a:r>
              <a:rPr lang="en-US" sz="1300" dirty="0"/>
              <a:t>   email VARCHAR2(100),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hash_password</a:t>
            </a:r>
            <a:r>
              <a:rPr lang="en-US" sz="1300" dirty="0"/>
              <a:t> VARCHAR2(200) INVISIBLE</a:t>
            </a:r>
          </a:p>
          <a:p>
            <a:r>
              <a:rPr lang="en-US" sz="1300" dirty="0"/>
              <a:t>);</a:t>
            </a:r>
          </a:p>
          <a:p>
            <a:endParaRPr lang="en-US" sz="1300" dirty="0"/>
          </a:p>
          <a:p>
            <a:r>
              <a:rPr lang="en-US" sz="1300" dirty="0"/>
              <a:t>Select * from </a:t>
            </a:r>
            <a:r>
              <a:rPr lang="en-US" sz="1300" dirty="0" err="1"/>
              <a:t>usuarios_web</a:t>
            </a:r>
            <a:r>
              <a:rPr lang="en-US" sz="1300" dirty="0"/>
              <a:t>;</a:t>
            </a:r>
          </a:p>
          <a:p>
            <a:endParaRPr lang="en-US" sz="1300" dirty="0"/>
          </a:p>
          <a:p>
            <a:r>
              <a:rPr lang="en-US" sz="1300" dirty="0"/>
              <a:t>CREATE TABLE </a:t>
            </a:r>
            <a:r>
              <a:rPr lang="en-US" sz="1300" dirty="0" err="1"/>
              <a:t>usuarios_web</a:t>
            </a:r>
            <a:r>
              <a:rPr lang="en-US" sz="1300" dirty="0"/>
              <a:t> (</a:t>
            </a:r>
          </a:p>
          <a:p>
            <a:r>
              <a:rPr lang="en-US" sz="1300" dirty="0"/>
              <a:t>   id NUMBER GENERATED ALWAYS AS IDENTITY PRIMARY KEY,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nombre</a:t>
            </a:r>
            <a:r>
              <a:rPr lang="en-US" sz="1300" dirty="0"/>
              <a:t> VARCHAR2(100),</a:t>
            </a:r>
          </a:p>
          <a:p>
            <a:r>
              <a:rPr lang="en-US" sz="1300" dirty="0"/>
              <a:t>   email VARCHAR2(100),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hash_password</a:t>
            </a:r>
            <a:r>
              <a:rPr lang="en-US" sz="1300" dirty="0"/>
              <a:t> VARCHAR2(200) DEFAULT '</a:t>
            </a:r>
            <a:r>
              <a:rPr lang="en-US" sz="1300" dirty="0" err="1"/>
              <a:t>no_password</a:t>
            </a:r>
            <a:r>
              <a:rPr lang="en-US" sz="1300" dirty="0"/>
              <a:t>' INVISIBLE);</a:t>
            </a:r>
          </a:p>
          <a:p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B7E47E6-1705-5955-A41B-4574EB96617F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Muy útiles para mantener retrocompatibilidad.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Una funcionalidad subestimada: permite ocultar columnas de las consultas por defecto (SELECT *), sin eliminarlas ni afectar compatibilidad.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Usadas junto a defaults </a:t>
            </a:r>
            <a:r>
              <a:rPr lang="es-ES" sz="1600" dirty="0" err="1"/>
              <a:t>values</a:t>
            </a:r>
            <a:r>
              <a:rPr lang="es-ES" sz="1600" dirty="0"/>
              <a:t> para insertar sin tener que nombrar la columna.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Se </a:t>
            </a:r>
            <a:r>
              <a:rPr lang="en-US" sz="1600" dirty="0" err="1"/>
              <a:t>puede</a:t>
            </a:r>
            <a:r>
              <a:rPr lang="en-US" sz="1600" dirty="0"/>
              <a:t> </a:t>
            </a:r>
            <a:r>
              <a:rPr lang="en-US" sz="1600" dirty="0" err="1"/>
              <a:t>hacer</a:t>
            </a:r>
            <a:r>
              <a:rPr lang="en-US" sz="1600" dirty="0"/>
              <a:t> visible: ALTER TABLE </a:t>
            </a:r>
            <a:r>
              <a:rPr lang="en-US" sz="1600" dirty="0" err="1"/>
              <a:t>usuarios</a:t>
            </a:r>
            <a:r>
              <a:rPr lang="en-US" sz="1600" dirty="0"/>
              <a:t> MODIFY (</a:t>
            </a:r>
            <a:r>
              <a:rPr lang="en-US" sz="1600" dirty="0" err="1"/>
              <a:t>hash_password</a:t>
            </a:r>
            <a:r>
              <a:rPr lang="en-US" sz="1600" dirty="0"/>
              <a:t> VISIBLE);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Los ORM (como </a:t>
            </a:r>
            <a:r>
              <a:rPr lang="es-ES" sz="1600" dirty="0" err="1"/>
              <a:t>Hibernate</a:t>
            </a:r>
            <a:r>
              <a:rPr lang="es-ES" sz="1600" dirty="0"/>
              <a:t> o </a:t>
            </a:r>
            <a:r>
              <a:rPr lang="es-ES" sz="1600" dirty="0" err="1"/>
              <a:t>SQLAlchemy</a:t>
            </a:r>
            <a:r>
              <a:rPr lang="es-ES" sz="1600" dirty="0"/>
              <a:t>) ignoran columnas invisibles a menos que se declaren explícitamente.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Campos sensibles, migraciones, columnas técnicas como </a:t>
            </a:r>
            <a:r>
              <a:rPr lang="es-ES" sz="1600" dirty="0" err="1"/>
              <a:t>HASHs</a:t>
            </a:r>
            <a:r>
              <a:rPr lang="es-ES" sz="1600" dirty="0"/>
              <a:t>.</a:t>
            </a:r>
          </a:p>
          <a:p>
            <a:endParaRPr lang="es-ES" dirty="0"/>
          </a:p>
          <a:p>
            <a:pPr marL="539750" lvl="3" indent="0">
              <a:buFont typeface="Arial" pitchFamily="34" charset="0"/>
              <a:buNone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059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C956E-80FA-7C36-7B11-62BE7AE1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DA0B19B-1393-4E8D-02A3-6F8E1752F432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4891ABC-7878-0411-BACD-0893C1CB2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In-</a:t>
            </a:r>
            <a:r>
              <a:rPr lang="es-ES" sz="4200" dirty="0" err="1"/>
              <a:t>Memory</a:t>
            </a:r>
            <a:r>
              <a:rPr lang="es-ES" sz="4200" dirty="0"/>
              <a:t> </a:t>
            </a:r>
            <a:r>
              <a:rPr lang="es-ES" sz="4200" dirty="0" err="1"/>
              <a:t>Column</a:t>
            </a:r>
            <a:r>
              <a:rPr lang="es-ES" sz="4200" dirty="0"/>
              <a:t> Store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32DDD5B-09E8-64C0-5FC2-C8F3CB9A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1EF363E-02F4-2F10-AB21-15B4AB8D68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05019C-446C-0F8C-3F9B-730A79B04740}"/>
              </a:ext>
            </a:extLst>
          </p:cNvPr>
          <p:cNvSpPr txBox="1"/>
          <p:nvPr/>
        </p:nvSpPr>
        <p:spPr>
          <a:xfrm>
            <a:off x="261636" y="1284799"/>
            <a:ext cx="3545633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TABLE </a:t>
            </a:r>
            <a:r>
              <a:rPr lang="en-US" sz="1300" dirty="0" err="1"/>
              <a:t>ventas</a:t>
            </a:r>
            <a:r>
              <a:rPr lang="en-US" sz="1300" dirty="0"/>
              <a:t> (</a:t>
            </a:r>
          </a:p>
          <a:p>
            <a:r>
              <a:rPr lang="en-US" sz="1300" dirty="0"/>
              <a:t>   id NUMBER GENERATED ALWAYS AS IDENTITY,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producto</a:t>
            </a:r>
            <a:r>
              <a:rPr lang="en-US" sz="1300" dirty="0"/>
              <a:t> VARCHAR2(100),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categoria</a:t>
            </a:r>
            <a:r>
              <a:rPr lang="en-US" sz="1300" dirty="0"/>
              <a:t> VARCHAR2(50),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cantidad</a:t>
            </a:r>
            <a:r>
              <a:rPr lang="en-US" sz="1300" dirty="0"/>
              <a:t> NUMBER,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importe</a:t>
            </a:r>
            <a:r>
              <a:rPr lang="en-US" sz="1300" dirty="0"/>
              <a:t> NUMBER,</a:t>
            </a:r>
          </a:p>
          <a:p>
            <a:r>
              <a:rPr lang="en-US" sz="1300" dirty="0"/>
              <a:t>   </a:t>
            </a:r>
            <a:r>
              <a:rPr lang="en-US" sz="1300" dirty="0" err="1"/>
              <a:t>fecha</a:t>
            </a:r>
            <a:r>
              <a:rPr lang="en-US" sz="1300" dirty="0"/>
              <a:t> TIMESTAMP</a:t>
            </a:r>
          </a:p>
          <a:p>
            <a:r>
              <a:rPr lang="en-US" sz="1300" dirty="0"/>
              <a:t>) INMEMORY;</a:t>
            </a:r>
          </a:p>
          <a:p>
            <a:endParaRPr lang="en-US" sz="1300" dirty="0"/>
          </a:p>
          <a:p>
            <a:r>
              <a:rPr lang="en-US" sz="1400" dirty="0"/>
              <a:t>ALTER TABLE </a:t>
            </a:r>
            <a:r>
              <a:rPr lang="en-US" sz="1400" dirty="0" err="1"/>
              <a:t>ventas</a:t>
            </a:r>
            <a:r>
              <a:rPr lang="en-US" sz="1400" dirty="0"/>
              <a:t> INMEMORY PRIORITY HIGH MEMCOMPRESS FOR QUERY;</a:t>
            </a:r>
          </a:p>
          <a:p>
            <a:endParaRPr lang="en-US" sz="1400" dirty="0"/>
          </a:p>
          <a:p>
            <a:r>
              <a:rPr lang="en-US" sz="1400" dirty="0"/>
              <a:t>SELECT </a:t>
            </a:r>
            <a:r>
              <a:rPr lang="en-US" sz="1400" dirty="0" err="1"/>
              <a:t>categoria</a:t>
            </a:r>
            <a:r>
              <a:rPr lang="en-US" sz="1400" dirty="0"/>
              <a:t>, SUM(</a:t>
            </a:r>
            <a:r>
              <a:rPr lang="en-US" sz="1400" dirty="0" err="1"/>
              <a:t>importe</a:t>
            </a:r>
            <a:r>
              <a:rPr lang="en-US" sz="1400" dirty="0"/>
              <a:t>)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ventas</a:t>
            </a:r>
            <a:endParaRPr lang="en-US" sz="1400" dirty="0"/>
          </a:p>
          <a:p>
            <a:r>
              <a:rPr lang="en-US" sz="1400" dirty="0"/>
              <a:t>WHERE </a:t>
            </a:r>
            <a:r>
              <a:rPr lang="en-US" sz="1400" dirty="0" err="1"/>
              <a:t>fecha</a:t>
            </a:r>
            <a:r>
              <a:rPr lang="en-US" sz="1400" dirty="0"/>
              <a:t> &gt; ADD_MONTHS(SYSDATE, -3)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categoria</a:t>
            </a:r>
            <a:r>
              <a:rPr lang="en-US" sz="1400" dirty="0"/>
              <a:t>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69465739-16AA-4F6B-2846-167222FFBEE1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Para desarrolladores que trabajan con </a:t>
            </a:r>
            <a:r>
              <a:rPr lang="es-ES" sz="1600" dirty="0" err="1"/>
              <a:t>reporting</a:t>
            </a:r>
            <a:r>
              <a:rPr lang="es-ES" sz="1600" dirty="0"/>
              <a:t> o </a:t>
            </a:r>
            <a:r>
              <a:rPr lang="es-ES" sz="1600" dirty="0" err="1"/>
              <a:t>dashboards</a:t>
            </a:r>
            <a:r>
              <a:rPr lang="es-ES" sz="1600" dirty="0"/>
              <a:t> analíticos.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Oracle 18c permite almacenar una representación columnar en memoria, optimizada para agregaciones (SUM, AVG, GROUP BY).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Oracle las ejecuta directamente en la representación columnar en RAM, sin tocar </a:t>
            </a:r>
            <a:r>
              <a:rPr lang="es-ES" sz="1600" dirty="0" err="1"/>
              <a:t>disco.Esto</a:t>
            </a:r>
            <a:r>
              <a:rPr lang="es-ES" sz="1600" dirty="0"/>
              <a:t> puede dar mejoras de rendimiento ×10–×100 en agregaciones grandes.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No modifica el modelo lógico. Solo aplica si la instancia tiene INMEMORY_SIZE configurado. Transparente para el desarrollador → funciona igual que una tabla normal.</a:t>
            </a:r>
          </a:p>
          <a:p>
            <a:endParaRPr lang="es-ES" dirty="0"/>
          </a:p>
          <a:p>
            <a:pPr marL="539750" lvl="3" indent="0">
              <a:buFont typeface="Arial" pitchFamily="34" charset="0"/>
              <a:buNone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97777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99B61-4BE7-0DD6-66A7-1C46B968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E6853F5-F25A-63C2-EA11-C403A56AA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n-US" sz="4200" dirty="0" err="1"/>
              <a:t>Tablas</a:t>
            </a:r>
            <a:r>
              <a:rPr lang="en-US" sz="4200" dirty="0"/>
              <a:t> </a:t>
            </a:r>
            <a:r>
              <a:rPr lang="en-US" sz="4200" dirty="0" err="1"/>
              <a:t>temporales</a:t>
            </a:r>
            <a:r>
              <a:rPr lang="en-US" sz="4200" dirty="0"/>
              <a:t> (GLOBAL TEMPORARY TABLE, PRIVATE TEMPORARY TABLE)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7B83737D-69F2-C919-8BD3-7BCB0BF5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AC7E88E-845E-0A9D-54F6-A0753CB8F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9802447B-EC72-0373-99D7-89373AD2F318}"/>
              </a:ext>
            </a:extLst>
          </p:cNvPr>
          <p:cNvSpPr txBox="1">
            <a:spLocks/>
          </p:cNvSpPr>
          <p:nvPr/>
        </p:nvSpPr>
        <p:spPr>
          <a:xfrm>
            <a:off x="468313" y="1306682"/>
            <a:ext cx="8352159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Oracle ofrece dos mecanismos distintos de tablas temporales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Si vamos a utilizar una tabla temporal, es mucho mejor que sea por diseño que utilizar una tabla normal. Control de bloqueos, y ciclo de vida distinto.</a:t>
            </a:r>
          </a:p>
          <a:p>
            <a:endParaRPr lang="es-ES" dirty="0"/>
          </a:p>
          <a:p>
            <a:pPr marL="539750" lvl="3" indent="0">
              <a:buFont typeface="Arial" pitchFamily="34" charset="0"/>
              <a:buNone/>
              <a:defRPr/>
            </a:pPr>
            <a:endParaRPr lang="es-ES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D54E31E-1435-21BE-9AFA-EF1AEC656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194265"/>
              </p:ext>
            </p:extLst>
          </p:nvPr>
        </p:nvGraphicFramePr>
        <p:xfrm>
          <a:off x="1835696" y="3084691"/>
          <a:ext cx="59563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1312752637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29271233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75440339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49804894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b="1" u="none" strike="noStrike" dirty="0">
                          <a:effectLst/>
                        </a:rPr>
                        <a:t>Tipo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b="1" u="none" strike="noStrike" dirty="0">
                          <a:effectLst/>
                        </a:rPr>
                        <a:t>Alcance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b="1" u="none" strike="noStrike" dirty="0">
                          <a:effectLst/>
                        </a:rPr>
                        <a:t>Persistencia de estructura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b="1" u="none" strike="noStrike" dirty="0">
                          <a:effectLst/>
                        </a:rPr>
                        <a:t>Persistencia de datos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73381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GLOBAL TEMPORARY TABLE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Global (visible para todos los usuarios)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Permanente en el diccionario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Temporal por sesión o transacción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60511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PRIVATE TEMPORARY TABLE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Solo visible para la sesión que la crea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Efímera (se borra al cerrar sesión)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Temporal por sesión 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3549325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3A6E1C35-5343-4DD4-D6AA-54557B7D8CE5}"/>
              </a:ext>
            </a:extLst>
          </p:cNvPr>
          <p:cNvSpPr txBox="1"/>
          <p:nvPr/>
        </p:nvSpPr>
        <p:spPr>
          <a:xfrm>
            <a:off x="7343135" y="4731990"/>
            <a:ext cx="177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0" dirty="0">
                <a:solidFill>
                  <a:srgbClr val="FF6A00"/>
                </a:solidFill>
                <a:effectLst/>
                <a:latin typeface="-apple-system"/>
              </a:rPr>
              <a:t>sesion1-tablas-temporales.sql</a:t>
            </a:r>
          </a:p>
        </p:txBody>
      </p:sp>
    </p:spTree>
    <p:extLst>
      <p:ext uri="{BB962C8B-B14F-4D97-AF65-F5344CB8AC3E}">
        <p14:creationId xmlns:p14="http://schemas.microsoft.com/office/powerpoint/2010/main" val="3221216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7F3A-040D-487D-2670-265A4E36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7C72D538-2199-965E-F510-F0EC93C148C1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E78F2A1C-7376-5113-9698-046909FD1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n-US" sz="4200" dirty="0" err="1"/>
              <a:t>Tablas</a:t>
            </a:r>
            <a:r>
              <a:rPr lang="en-US" sz="4200" dirty="0"/>
              <a:t> </a:t>
            </a:r>
            <a:r>
              <a:rPr lang="en-US" sz="4200" dirty="0" err="1"/>
              <a:t>temporales</a:t>
            </a:r>
            <a:r>
              <a:rPr lang="en-US" sz="4200" dirty="0"/>
              <a:t> - GLOBAL TEMPORARY TABLE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5C88EB85-F1F9-E6B3-869D-3085A85C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6DAEFD5-8A02-ABF0-4CAE-58ED129C3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32E1DE7-823C-0384-C963-17843BB1CFC9}"/>
              </a:ext>
            </a:extLst>
          </p:cNvPr>
          <p:cNvSpPr txBox="1"/>
          <p:nvPr/>
        </p:nvSpPr>
        <p:spPr>
          <a:xfrm>
            <a:off x="261636" y="1284799"/>
            <a:ext cx="354563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GLOBAL TEMPORARY TABLE </a:t>
            </a:r>
            <a:r>
              <a:rPr lang="en-US" sz="1300" dirty="0" err="1"/>
              <a:t>tmp_resultados</a:t>
            </a:r>
            <a:r>
              <a:rPr lang="en-US" sz="1300" dirty="0"/>
              <a:t> (</a:t>
            </a:r>
          </a:p>
          <a:p>
            <a:r>
              <a:rPr lang="en-US" sz="1300" dirty="0"/>
              <a:t>   id NUMBER,</a:t>
            </a:r>
          </a:p>
          <a:p>
            <a:r>
              <a:rPr lang="en-US" sz="1300" dirty="0"/>
              <a:t>   valor NUMBER</a:t>
            </a:r>
          </a:p>
          <a:p>
            <a:r>
              <a:rPr lang="en-US" sz="1300" dirty="0"/>
              <a:t>) ON COMMIT DELETE ROWS;</a:t>
            </a:r>
          </a:p>
          <a:p>
            <a:endParaRPr lang="en-US" sz="1300" dirty="0"/>
          </a:p>
          <a:p>
            <a:r>
              <a:rPr lang="en-US" sz="1300" dirty="0"/>
              <a:t>CREATE GLOBAL TEMPORARY TABLE </a:t>
            </a:r>
            <a:r>
              <a:rPr lang="en-US" sz="1300" dirty="0" err="1"/>
              <a:t>tmp_resultados</a:t>
            </a:r>
            <a:r>
              <a:rPr lang="en-US" sz="1300" dirty="0"/>
              <a:t> (</a:t>
            </a:r>
          </a:p>
          <a:p>
            <a:r>
              <a:rPr lang="en-US" sz="1300" dirty="0"/>
              <a:t>   id NUMBER,</a:t>
            </a:r>
          </a:p>
          <a:p>
            <a:r>
              <a:rPr lang="en-US" sz="1300" dirty="0"/>
              <a:t>   valor NUMBER</a:t>
            </a:r>
          </a:p>
          <a:p>
            <a:r>
              <a:rPr lang="en-US" sz="1300" dirty="0"/>
              <a:t>) ON COMMIT PRESERVE ROWS;</a:t>
            </a:r>
          </a:p>
          <a:p>
            <a:endParaRPr lang="en-US" sz="1300" dirty="0"/>
          </a:p>
          <a:p>
            <a:r>
              <a:rPr lang="es-ES" sz="1300" dirty="0"/>
              <a:t>SELECT * FROM </a:t>
            </a:r>
            <a:r>
              <a:rPr lang="es-ES" sz="1300" dirty="0" err="1"/>
              <a:t>tmp_resultados</a:t>
            </a:r>
            <a:r>
              <a:rPr lang="es-ES" sz="1300" dirty="0"/>
              <a:t>;  </a:t>
            </a:r>
            <a:endParaRPr lang="en-US" sz="1300" dirty="0"/>
          </a:p>
          <a:p>
            <a:r>
              <a:rPr lang="es-ES" sz="1300" dirty="0"/>
              <a:t>INSERT INTO </a:t>
            </a:r>
            <a:r>
              <a:rPr lang="es-ES" sz="1300" dirty="0" err="1"/>
              <a:t>tmp_resultados</a:t>
            </a:r>
            <a:r>
              <a:rPr lang="es-ES" sz="1300" dirty="0"/>
              <a:t> VALUES (1, 42);</a:t>
            </a:r>
          </a:p>
          <a:p>
            <a:r>
              <a:rPr lang="es-ES" sz="1300" dirty="0"/>
              <a:t>COMMIT;</a:t>
            </a:r>
          </a:p>
          <a:p>
            <a:r>
              <a:rPr lang="es-ES" sz="1300" dirty="0"/>
              <a:t>SELECT * FROM </a:t>
            </a:r>
            <a:r>
              <a:rPr lang="es-ES" sz="1300" dirty="0" err="1"/>
              <a:t>tmp_resultados</a:t>
            </a:r>
            <a:r>
              <a:rPr lang="es-ES" sz="1300" dirty="0"/>
              <a:t>;  </a:t>
            </a:r>
            <a:endParaRPr lang="en-US" sz="13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EDA49CA3-1945-1AB9-BCC9-7AB1219CC3F4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ON COMMIT DELETE ROWS → los datos se borran al terminar cada transacción.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Alternativa: ON COMMIT PRESERVE ROWS → persiste los datos durante toda la sesión.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Procesamiento intermedio en PL/SQL.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Cálculos </a:t>
            </a:r>
            <a:r>
              <a:rPr lang="es-ES" sz="1600" dirty="0" err="1"/>
              <a:t>batch</a:t>
            </a:r>
            <a:r>
              <a:rPr lang="es-ES" sz="1600" dirty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Pipelines de datos complejos.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Importante: la tabla se crea una sola vez (su estructura es persistente), pero los datos son aislados por sesión.</a:t>
            </a:r>
          </a:p>
          <a:p>
            <a:endParaRPr lang="es-ES" dirty="0"/>
          </a:p>
          <a:p>
            <a:pPr marL="539750" lvl="3" indent="0">
              <a:buFont typeface="Arial" pitchFamily="34" charset="0"/>
              <a:buNone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14065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89F2B-B487-3AFF-E8BF-F77F2184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D7E977B4-B307-9BAF-AF21-459DFDEC02A3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45373697-6667-2B18-603F-26746C9F5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n-US" sz="4200" dirty="0" err="1"/>
              <a:t>Tablas</a:t>
            </a:r>
            <a:r>
              <a:rPr lang="en-US" sz="4200" dirty="0"/>
              <a:t> </a:t>
            </a:r>
            <a:r>
              <a:rPr lang="en-US" sz="4200" dirty="0" err="1"/>
              <a:t>temporales</a:t>
            </a:r>
            <a:r>
              <a:rPr lang="en-US" sz="4200" dirty="0"/>
              <a:t> - PRIVATE TEMPORARY TABLE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65E122E-EF97-9BFD-C50F-FB682EBF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EF816CF1-5595-2FF5-0011-10FCAB484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EEBB75B-40E1-51A0-C2CD-46E2F200C947}"/>
              </a:ext>
            </a:extLst>
          </p:cNvPr>
          <p:cNvSpPr txBox="1"/>
          <p:nvPr/>
        </p:nvSpPr>
        <p:spPr>
          <a:xfrm>
            <a:off x="261636" y="1284799"/>
            <a:ext cx="35456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CREATE PRIVATE TEMPORARY TABLE </a:t>
            </a:r>
            <a:r>
              <a:rPr lang="en-US" sz="1400" dirty="0" err="1"/>
              <a:t>ora$ptt_precios</a:t>
            </a:r>
            <a:r>
              <a:rPr lang="en-US" sz="1400" dirty="0"/>
              <a:t> (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producto</a:t>
            </a:r>
            <a:r>
              <a:rPr lang="en-US" sz="1400" dirty="0"/>
              <a:t> VARCHAR2(100),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precio</a:t>
            </a:r>
            <a:r>
              <a:rPr lang="en-US" sz="1400" dirty="0"/>
              <a:t> NUMBER</a:t>
            </a:r>
          </a:p>
          <a:p>
            <a:r>
              <a:rPr lang="en-US" sz="1400" dirty="0"/>
              <a:t>) ON COMMIT PRESERVE DEFINITION;</a:t>
            </a:r>
          </a:p>
          <a:p>
            <a:endParaRPr lang="en-US" sz="1400" dirty="0"/>
          </a:p>
          <a:p>
            <a:r>
              <a:rPr lang="en-US" sz="1400" dirty="0"/>
              <a:t>INSERT INTO </a:t>
            </a:r>
            <a:r>
              <a:rPr lang="en-US" sz="1400" dirty="0" err="1"/>
              <a:t>ora$ptt_precios</a:t>
            </a:r>
            <a:r>
              <a:rPr lang="en-US" sz="1400" dirty="0"/>
              <a:t> VALUES ('Cámara', 500);</a:t>
            </a:r>
          </a:p>
          <a:p>
            <a:endParaRPr lang="en-US" sz="1400" dirty="0"/>
          </a:p>
          <a:p>
            <a:r>
              <a:rPr lang="en-US" sz="1400" dirty="0"/>
              <a:t>SELECT * FROM </a:t>
            </a:r>
            <a:r>
              <a:rPr lang="en-US" sz="1400" dirty="0" err="1"/>
              <a:t>ora$ptt_precios</a:t>
            </a:r>
            <a:r>
              <a:rPr lang="en-US" sz="1400" dirty="0"/>
              <a:t>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D189730A-2FD7-CAE2-F5B1-891B5B32B3FC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Se crea en tiempo de ejecución, con nombre que empieza por ORA$PTT_, y desaparece automáticamente al finalizar la sesión.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Total aislamiento entre sesiones.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No requiere privilegios de creación permanente.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Ideal para microservicios o procesos en paralelo.</a:t>
            </a:r>
          </a:p>
          <a:p>
            <a:endParaRPr lang="es-ES" dirty="0"/>
          </a:p>
          <a:p>
            <a:pPr marL="539750" lvl="3" indent="0">
              <a:buFont typeface="Arial" pitchFamily="34" charset="0"/>
              <a:buNone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63473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F228-1009-85D1-2B15-4B3BAAFB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7FD7D25-BD48-341C-C19D-FFAD65FD9844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5774342-8DDF-DCCD-8E95-D47B4BDF8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Particionamiento lógico de tablas (PARTITION BY)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A4222F3D-DFF7-498D-108A-DF285B68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BC4153C-F9ED-23F6-5FFE-F36360A0C3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_tradnl" dirty="0"/>
              <a:t>C</a:t>
            </a:r>
            <a:r>
              <a:rPr lang="es-ES" dirty="0" err="1"/>
              <a:t>reación</a:t>
            </a:r>
            <a:r>
              <a:rPr lang="es-ES" dirty="0"/>
              <a:t> de Tablas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31BE7F5-A0C7-EE95-8098-E5F0EA45A6C2}"/>
              </a:ext>
            </a:extLst>
          </p:cNvPr>
          <p:cNvSpPr txBox="1"/>
          <p:nvPr/>
        </p:nvSpPr>
        <p:spPr>
          <a:xfrm>
            <a:off x="261636" y="1375644"/>
            <a:ext cx="3734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TABLE logs (</a:t>
            </a:r>
          </a:p>
          <a:p>
            <a:r>
              <a:rPr lang="en-US" sz="1200" dirty="0"/>
              <a:t>   id NUMBER GENERATED ALWAYS AS IDENTITY,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evento</a:t>
            </a:r>
            <a:r>
              <a:rPr lang="en-US" sz="1200" dirty="0"/>
              <a:t> VARCHAR2(200),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fecha_evento</a:t>
            </a:r>
            <a:r>
              <a:rPr lang="en-US" sz="1200" dirty="0"/>
              <a:t> DATE DEFAULT SYSDATE</a:t>
            </a:r>
          </a:p>
          <a:p>
            <a:r>
              <a:rPr lang="en-US" sz="1200" dirty="0"/>
              <a:t>)</a:t>
            </a:r>
          </a:p>
          <a:p>
            <a:r>
              <a:rPr lang="en-US" sz="1200" dirty="0"/>
              <a:t>PARTITION BY RANGE (</a:t>
            </a:r>
            <a:r>
              <a:rPr lang="en-US" sz="1200" dirty="0" err="1"/>
              <a:t>fecha_evento</a:t>
            </a:r>
            <a:r>
              <a:rPr lang="en-US" sz="1200" dirty="0"/>
              <a:t>) (</a:t>
            </a:r>
          </a:p>
          <a:p>
            <a:r>
              <a:rPr lang="en-US" sz="1200" dirty="0"/>
              <a:t>   PARTITION p_2024 VALUES LESS THAN (TO_DATE('2025-01-01', 'YYYY-MM-DD')),</a:t>
            </a:r>
          </a:p>
          <a:p>
            <a:r>
              <a:rPr lang="en-US" sz="1200" dirty="0"/>
              <a:t>   PARTITION p_2025 VALUES LESS THAN (TO_DATE('2026-01-01', 'YYYY-MM-DD')),</a:t>
            </a:r>
          </a:p>
          <a:p>
            <a:r>
              <a:rPr lang="en-US" sz="1200" dirty="0"/>
              <a:t>   PARTITION </a:t>
            </a:r>
            <a:r>
              <a:rPr lang="en-US" sz="1200" dirty="0" err="1"/>
              <a:t>p_max</a:t>
            </a:r>
            <a:r>
              <a:rPr lang="en-US" sz="1200" dirty="0"/>
              <a:t>  VALUES LESS THAN (MAXVALUE)</a:t>
            </a:r>
          </a:p>
          <a:p>
            <a:r>
              <a:rPr lang="en-US" sz="1200" dirty="0"/>
              <a:t>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1192B54-3448-7DF2-3411-A5535AF78D99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El particionamiento no es solo de </a:t>
            </a:r>
            <a:r>
              <a:rPr lang="es-ES" sz="1600" dirty="0" err="1"/>
              <a:t>DBAs</a:t>
            </a:r>
            <a:r>
              <a:rPr lang="es-ES" sz="1600" dirty="0"/>
              <a:t>: para un desarrollador </a:t>
            </a:r>
            <a:r>
              <a:rPr lang="es-ES" sz="1600" dirty="0" err="1"/>
              <a:t>backend</a:t>
            </a:r>
            <a:r>
              <a:rPr lang="es-ES" sz="1600" dirty="0"/>
              <a:t> que diseña modelos de datos a gran escala, entenderlo cambia el rendimiento y escalabilidad.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Oracle 18c ofrece varios tipos:</a:t>
            </a:r>
          </a:p>
          <a:p>
            <a:pPr marL="877888" lvl="2" indent="-342900"/>
            <a:r>
              <a:rPr lang="es-ES" sz="1400" dirty="0"/>
              <a:t>RANGE → por fechas o valores crecientes.</a:t>
            </a:r>
          </a:p>
          <a:p>
            <a:pPr marL="877888" lvl="2" indent="-342900"/>
            <a:r>
              <a:rPr lang="es-ES" sz="1400" dirty="0"/>
              <a:t>LIST → por categorías.</a:t>
            </a:r>
          </a:p>
          <a:p>
            <a:pPr marL="877888" lvl="2" indent="-342900"/>
            <a:r>
              <a:rPr lang="es-ES" sz="1400" dirty="0"/>
              <a:t>HASH → distribución uniforme.</a:t>
            </a:r>
          </a:p>
          <a:p>
            <a:pPr marL="877888" lvl="2" indent="-342900"/>
            <a:r>
              <a:rPr lang="es-ES" sz="1400" dirty="0"/>
              <a:t>COMPOSITE → combinaciones (</a:t>
            </a:r>
            <a:r>
              <a:rPr lang="es-ES" sz="1400" dirty="0" err="1"/>
              <a:t>e.g</a:t>
            </a:r>
            <a:r>
              <a:rPr lang="es-ES" sz="1400" dirty="0"/>
              <a:t>. RANGE + HASH).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Consultas sobre WHERE </a:t>
            </a:r>
            <a:r>
              <a:rPr lang="es-ES" sz="1600" dirty="0" err="1"/>
              <a:t>fecha_evento</a:t>
            </a:r>
            <a:r>
              <a:rPr lang="es-ES" sz="1600" dirty="0"/>
              <a:t> BETWEEN ... acceden solo a las particiones necesarias.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Eliminación o archivado de datos por año = ALTER TABLE logs DROP PARTITION p_2024;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Inserciones automáticas en la partición correcta (sin </a:t>
            </a:r>
            <a:r>
              <a:rPr lang="es-ES" sz="1600" dirty="0" err="1"/>
              <a:t>triggers</a:t>
            </a:r>
            <a:r>
              <a:rPr lang="es-ES" sz="1600" dirty="0"/>
              <a:t>).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Ideal para tablas de logs, histórico, eventos, auditorías, etc.</a:t>
            </a:r>
          </a:p>
          <a:p>
            <a:pPr marL="539750" lvl="3" indent="0">
              <a:buFont typeface="Arial" pitchFamily="34" charset="0"/>
              <a:buNone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588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1B1C-6B97-F328-43C0-C90225AD8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>
            <a:extLst>
              <a:ext uri="{FF2B5EF4-FFF2-40B4-BE49-F238E27FC236}">
                <a16:creationId xmlns:a16="http://schemas.microsoft.com/office/drawing/2014/main" id="{84ABC812-133C-D41B-FB38-0EEFEFDA9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6" name="5 Marcador de texto">
            <a:extLst>
              <a:ext uri="{FF2B5EF4-FFF2-40B4-BE49-F238E27FC236}">
                <a16:creationId xmlns:a16="http://schemas.microsoft.com/office/drawing/2014/main" id="{B057AC2F-3AE8-4075-F6A3-E7FBBA0497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4957192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69B87-AAFE-DD3E-4BE1-1B97A85D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2B045C7-9362-B673-A83A-127C17CC8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Claves, índices, referencias y </a:t>
            </a:r>
            <a:r>
              <a:rPr lang="es-ES" sz="4400" dirty="0" err="1"/>
              <a:t>checks</a:t>
            </a:r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CFEA31A-80A5-2AD7-8047-7A712B17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4AEE0E3-7DFA-BB06-5B2A-33750B2A55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F145589F-90E4-800D-956E-AC6AF1DBD299}"/>
              </a:ext>
            </a:extLst>
          </p:cNvPr>
          <p:cNvSpPr txBox="1">
            <a:spLocks/>
          </p:cNvSpPr>
          <p:nvPr/>
        </p:nvSpPr>
        <p:spPr>
          <a:xfrm>
            <a:off x="468313" y="1306682"/>
            <a:ext cx="8675687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En Oracle, una restricción (</a:t>
            </a:r>
            <a:r>
              <a:rPr lang="es-ES" sz="1600" dirty="0" err="1"/>
              <a:t>constraint</a:t>
            </a:r>
            <a:r>
              <a:rPr lang="es-ES" sz="1600" dirty="0"/>
              <a:t>) es una regla que impone condiciones sobre los datos de una tabla.</a:t>
            </a:r>
          </a:p>
          <a:p>
            <a:pPr marL="342900" lvl="1" indent="-342900"/>
            <a:r>
              <a:rPr lang="es-ES" sz="1600" dirty="0"/>
              <a:t>Las más comunes relacionadas con integridad de datos son:</a:t>
            </a:r>
          </a:p>
          <a:p>
            <a:pPr marL="877888" lvl="2" indent="-342900"/>
            <a:r>
              <a:rPr lang="es-ES" sz="1400" dirty="0"/>
              <a:t>PRIMARY KEY → identifica de forma única cada fila de una tabla.</a:t>
            </a:r>
          </a:p>
          <a:p>
            <a:pPr marL="877888" lvl="2" indent="-342900"/>
            <a:r>
              <a:rPr lang="es-ES" sz="1400" dirty="0"/>
              <a:t>UNIQUE → garantiza que los valores en una o varias columnas sean únicos.</a:t>
            </a:r>
          </a:p>
          <a:p>
            <a:pPr marL="877888" lvl="2" indent="-342900"/>
            <a:r>
              <a:rPr lang="es-ES" sz="1400" dirty="0"/>
              <a:t>NOT NULL → impide valores nulos.</a:t>
            </a:r>
          </a:p>
          <a:p>
            <a:pPr marL="877888" lvl="2" indent="-342900"/>
            <a:r>
              <a:rPr lang="es-ES" sz="1400" dirty="0"/>
              <a:t>FOREIGN KEY → define relaciones con otras tablas.</a:t>
            </a:r>
          </a:p>
          <a:p>
            <a:pPr marL="877888" lvl="2" indent="-342900"/>
            <a:r>
              <a:rPr lang="es-ES" sz="1400" dirty="0"/>
              <a:t>CHECK → valida condiciones lógicas sobre los datos.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46862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5DB2-1109-7440-394A-5B8660B0C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C3C80E9-63D5-362C-498D-8157E35A3D94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21990BE-CF1D-2570-2D9F-F2F4352A1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Claves primarias (PRIMARY KEY)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9D1C8E5-90B5-58DD-B5AE-AC4FF3C0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A4F9216-1B73-9820-DB92-D07CAF8CAE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EDE77DF-E5B0-ECCF-BA97-C49747DE7FC7}"/>
              </a:ext>
            </a:extLst>
          </p:cNvPr>
          <p:cNvSpPr txBox="1"/>
          <p:nvPr/>
        </p:nvSpPr>
        <p:spPr>
          <a:xfrm>
            <a:off x="261636" y="1375644"/>
            <a:ext cx="37343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TABLE </a:t>
            </a:r>
            <a:r>
              <a:rPr lang="en-US" sz="1200" dirty="0" err="1"/>
              <a:t>empleados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empleado_id</a:t>
            </a:r>
            <a:r>
              <a:rPr lang="en-US" sz="1200" dirty="0"/>
              <a:t> NUMBER PRIMARY KEY,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nombre</a:t>
            </a:r>
            <a:r>
              <a:rPr lang="en-US" sz="1200" dirty="0"/>
              <a:t>      VARCHAR2(100) NOT NULL,</a:t>
            </a:r>
          </a:p>
          <a:p>
            <a:r>
              <a:rPr lang="en-US" sz="1200" dirty="0"/>
              <a:t>    email       VARCHAR2(100),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salario</a:t>
            </a:r>
            <a:r>
              <a:rPr lang="en-US" sz="1200" dirty="0"/>
              <a:t>     NUMBER</a:t>
            </a:r>
          </a:p>
          <a:p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s-ES" sz="1200" dirty="0"/>
              <a:t>--</a:t>
            </a:r>
            <a:r>
              <a:rPr lang="es-ES" sz="1200" dirty="0" err="1"/>
              <a:t>empleado_id</a:t>
            </a:r>
            <a:r>
              <a:rPr lang="es-ES" sz="1200" dirty="0"/>
              <a:t> es la clave primaria.</a:t>
            </a:r>
          </a:p>
          <a:p>
            <a:r>
              <a:rPr lang="es-ES" sz="1200" dirty="0"/>
              <a:t>--Oracle creará automáticamente un índice único en </a:t>
            </a:r>
            <a:r>
              <a:rPr lang="es-ES" sz="1200" dirty="0" err="1"/>
              <a:t>empleado_id</a:t>
            </a:r>
            <a:r>
              <a:rPr lang="es-ES" sz="1200" dirty="0"/>
              <a:t>.</a:t>
            </a:r>
            <a:endParaRPr lang="en-US" sz="12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A512703C-A0F7-18F1-A747-1043696F004E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Cada tabla puede tener una sola clave primaria.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Una clave primaria no admite valores NULL.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Oracle </a:t>
            </a:r>
            <a:r>
              <a:rPr lang="es-ES" sz="1600" b="1" dirty="0"/>
              <a:t>crea automáticamente </a:t>
            </a:r>
            <a:r>
              <a:rPr lang="es-ES" sz="1600" dirty="0"/>
              <a:t>un índice único asociado a la clave primaria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6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436840-A94D-F068-C218-CAD142B4CE23}"/>
              </a:ext>
            </a:extLst>
          </p:cNvPr>
          <p:cNvSpPr txBox="1"/>
          <p:nvPr/>
        </p:nvSpPr>
        <p:spPr>
          <a:xfrm>
            <a:off x="7343135" y="4731990"/>
            <a:ext cx="177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0" dirty="0">
                <a:solidFill>
                  <a:srgbClr val="FF6A00"/>
                </a:solidFill>
                <a:effectLst/>
                <a:latin typeface="-apple-system"/>
              </a:rPr>
              <a:t>sesion1-claves-primarias.sql</a:t>
            </a:r>
          </a:p>
        </p:txBody>
      </p:sp>
    </p:spTree>
    <p:extLst>
      <p:ext uri="{BB962C8B-B14F-4D97-AF65-F5344CB8AC3E}">
        <p14:creationId xmlns:p14="http://schemas.microsoft.com/office/powerpoint/2010/main" val="39804104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C52F4-78BB-B0FD-CF62-762B53C0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248B06C-4C6A-148A-1B98-A580782A5863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61645E9-5198-5F6D-EA36-C72041B48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Clave primaria compuesta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3BFC8CBB-CA62-FF41-4EBE-330F9253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8C31A61-7BF8-CC4D-AD1C-B668A7598A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4E173A-A13F-A3E7-EBE8-97BA507975CA}"/>
              </a:ext>
            </a:extLst>
          </p:cNvPr>
          <p:cNvSpPr txBox="1"/>
          <p:nvPr/>
        </p:nvSpPr>
        <p:spPr>
          <a:xfrm>
            <a:off x="261636" y="1375644"/>
            <a:ext cx="37343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TABLE </a:t>
            </a:r>
            <a:r>
              <a:rPr lang="en-US" sz="1200" dirty="0" err="1"/>
              <a:t>detalle_pedido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pedido_id</a:t>
            </a:r>
            <a:r>
              <a:rPr lang="en-US" sz="1200" dirty="0"/>
              <a:t> NUMBER,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producto_id</a:t>
            </a:r>
            <a:r>
              <a:rPr lang="en-US" sz="1200" dirty="0"/>
              <a:t> NUMBER,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cantidad</a:t>
            </a:r>
            <a:r>
              <a:rPr lang="en-US" sz="1200" dirty="0"/>
              <a:t> NUMBER,</a:t>
            </a:r>
          </a:p>
          <a:p>
            <a:r>
              <a:rPr lang="en-US" sz="1200" dirty="0"/>
              <a:t>    PRIMARY KEY (</a:t>
            </a:r>
            <a:r>
              <a:rPr lang="en-US" sz="1200" dirty="0" err="1"/>
              <a:t>pedido_id</a:t>
            </a:r>
            <a:r>
              <a:rPr lang="en-US" sz="1200" dirty="0"/>
              <a:t>, </a:t>
            </a:r>
            <a:r>
              <a:rPr lang="en-US" sz="1200" dirty="0" err="1"/>
              <a:t>producto_id</a:t>
            </a:r>
            <a:r>
              <a:rPr lang="en-US" sz="1200" dirty="0"/>
              <a:t>)</a:t>
            </a:r>
          </a:p>
          <a:p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s-ES" sz="1200" dirty="0"/>
              <a:t>--Oracle creará un índice compuesto sobre (</a:t>
            </a:r>
            <a:r>
              <a:rPr lang="es-ES" sz="1200" dirty="0" err="1"/>
              <a:t>pedido_id</a:t>
            </a:r>
            <a:r>
              <a:rPr lang="es-ES" sz="1200" dirty="0"/>
              <a:t>, </a:t>
            </a:r>
            <a:r>
              <a:rPr lang="es-ES" sz="1200" dirty="0" err="1"/>
              <a:t>producto_id</a:t>
            </a:r>
            <a:r>
              <a:rPr lang="es-ES" sz="1200" dirty="0"/>
              <a:t>).</a:t>
            </a:r>
          </a:p>
          <a:p>
            <a:endParaRPr lang="en-US" sz="12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3AA22F5-D1A0-FD35-D95C-9E110E26D776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Si una clave única depende de más de una columna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No recomendada para Web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Mejor crear una </a:t>
            </a:r>
            <a:r>
              <a:rPr lang="es-ES" sz="1600" dirty="0" err="1"/>
              <a:t>constraint</a:t>
            </a:r>
            <a:r>
              <a:rPr lang="es-ES" sz="1600" dirty="0"/>
              <a:t> </a:t>
            </a:r>
            <a:r>
              <a:rPr lang="es-ES" sz="1600" dirty="0" err="1"/>
              <a:t>unique</a:t>
            </a:r>
            <a:r>
              <a:rPr lang="es-ES" sz="1600" dirty="0"/>
              <a:t> y un campo IDENTITY</a:t>
            </a:r>
          </a:p>
        </p:txBody>
      </p:sp>
    </p:spTree>
    <p:extLst>
      <p:ext uri="{BB962C8B-B14F-4D97-AF65-F5344CB8AC3E}">
        <p14:creationId xmlns:p14="http://schemas.microsoft.com/office/powerpoint/2010/main" val="31054008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72B6B-7456-3D6F-8DD9-5BF8F5BD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50BA1EB-54E3-98C4-8BB6-619C798864FE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78F190D-09FF-15B4-213F-60D8035B7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Claves únicas (UNIQUE)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AEBAA83-F3ED-F465-CB5A-2B43197F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2D5055B-C451-284C-D592-CE0A20200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66E188C-5F75-C210-199C-1A5FA8D1057A}"/>
              </a:ext>
            </a:extLst>
          </p:cNvPr>
          <p:cNvSpPr txBox="1"/>
          <p:nvPr/>
        </p:nvSpPr>
        <p:spPr>
          <a:xfrm>
            <a:off x="261636" y="1375644"/>
            <a:ext cx="3734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TABLE </a:t>
            </a:r>
            <a:r>
              <a:rPr lang="en-US" sz="1200" dirty="0" err="1"/>
              <a:t>clientes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cliente_id</a:t>
            </a:r>
            <a:r>
              <a:rPr lang="en-US" sz="1200" dirty="0"/>
              <a:t> NUMBER PRIMARY KEY,</a:t>
            </a:r>
          </a:p>
          <a:p>
            <a:r>
              <a:rPr lang="en-US" sz="1200" dirty="0"/>
              <a:t>    email      VARCHAR2(200) UNIQUE,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telefono</a:t>
            </a:r>
            <a:r>
              <a:rPr lang="en-US" sz="1200" dirty="0"/>
              <a:t>   VARCHAR2(20) UNIQUE</a:t>
            </a:r>
          </a:p>
          <a:p>
            <a:r>
              <a:rPr lang="en-US" sz="1200" dirty="0"/>
              <a:t>);</a:t>
            </a:r>
          </a:p>
          <a:p>
            <a:endParaRPr lang="en-US" sz="12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848A98A0-EA7C-4996-F680-114236DC8FAB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Permiten valores NULL.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Se pueden definir varias por tabla.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También crean un índice único, salvo que se especifique lo contrario.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Ejemplo:</a:t>
            </a:r>
          </a:p>
          <a:p>
            <a:pPr marL="877888" lvl="2" indent="-342900"/>
            <a:r>
              <a:rPr lang="es-ES" sz="1400" dirty="0"/>
              <a:t>Email y teléfono deben ser únicos, pero pueden ser nulos.</a:t>
            </a:r>
          </a:p>
          <a:p>
            <a:pPr marL="877888" lvl="2" indent="-342900"/>
            <a:r>
              <a:rPr lang="es-ES" sz="1400" b="1" dirty="0"/>
              <a:t>Si dos clientes no tienen email, Oracle lo permite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01435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08271-DFA3-16A9-2080-A7618FB06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8352983-8DAD-075C-519D-1A08577A95F0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F05AE2E-EA96-47E9-13C4-A4E68B90F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Modificación posterior de restricciones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5C5930A-20B0-D5E9-5500-10DEC4534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2041A15-FCE3-2FAC-1198-B84B1AC9E6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8E14C8E-5B61-9D7D-A850-C7F288C77AB6}"/>
              </a:ext>
            </a:extLst>
          </p:cNvPr>
          <p:cNvSpPr txBox="1"/>
          <p:nvPr/>
        </p:nvSpPr>
        <p:spPr>
          <a:xfrm>
            <a:off x="261636" y="1375644"/>
            <a:ext cx="3734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TABLE </a:t>
            </a:r>
            <a:r>
              <a:rPr lang="en-US" sz="1200" dirty="0" err="1"/>
              <a:t>empleados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empleado_id</a:t>
            </a:r>
            <a:r>
              <a:rPr lang="en-US" sz="1200" dirty="0"/>
              <a:t> NUMBER PRIMARY KEY,</a:t>
            </a:r>
          </a:p>
          <a:p>
            <a:r>
              <a:rPr lang="en-US" sz="1200" dirty="0"/>
              <a:t>    email      VARCHAR2(200) UNIQUE,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telefono</a:t>
            </a:r>
            <a:r>
              <a:rPr lang="en-US" sz="1200" dirty="0"/>
              <a:t>   VARCHAR2(20) UNIQUE</a:t>
            </a:r>
          </a:p>
          <a:p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ALTER TABLE </a:t>
            </a:r>
            <a:r>
              <a:rPr lang="en-US" sz="1200" dirty="0" err="1"/>
              <a:t>empleados</a:t>
            </a:r>
            <a:endParaRPr lang="en-US" sz="1200" dirty="0"/>
          </a:p>
          <a:p>
            <a:r>
              <a:rPr lang="en-US" sz="1200" dirty="0"/>
              <a:t>ADD CONSTRAINT </a:t>
            </a:r>
            <a:r>
              <a:rPr lang="en-US" sz="1200" dirty="0" err="1"/>
              <a:t>emp_email_uk</a:t>
            </a:r>
            <a:r>
              <a:rPr lang="en-US" sz="1200" dirty="0"/>
              <a:t> UNIQUE (email);</a:t>
            </a:r>
          </a:p>
          <a:p>
            <a:endParaRPr lang="en-US" sz="1200" dirty="0"/>
          </a:p>
          <a:p>
            <a:r>
              <a:rPr lang="en-US" sz="1200" dirty="0"/>
              <a:t>ALTER TABLE </a:t>
            </a:r>
            <a:r>
              <a:rPr lang="en-US" sz="1200" dirty="0" err="1"/>
              <a:t>empleados</a:t>
            </a:r>
            <a:endParaRPr lang="en-US" sz="1200" dirty="0"/>
          </a:p>
          <a:p>
            <a:r>
              <a:rPr lang="en-US" sz="1200" dirty="0"/>
              <a:t>DROP CONSTRAINT </a:t>
            </a:r>
            <a:r>
              <a:rPr lang="en-US" sz="1200" dirty="0" err="1"/>
              <a:t>emp_email_uk</a:t>
            </a:r>
            <a:r>
              <a:rPr lang="en-US" sz="1200" dirty="0"/>
              <a:t>;</a:t>
            </a:r>
          </a:p>
          <a:p>
            <a:endParaRPr lang="en-US" sz="12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A1004271-5C60-E066-90AA-DF6A8DD04354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Agregar o eliminar una restricción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4362292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F20FF-8B2E-4657-7560-1115F5D2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A267B3F-8AE4-CBDD-0ECB-5D9CF94A9829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A08738B-CD25-702B-FF1E-3DBFD8FC9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Restricciones diferidas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E2D8290-A380-08D3-822B-46AC43FF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C6A5DF9-385E-6227-D2F5-AB31D0C1EE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1CAD73-CEA1-6519-2EE0-969D8AE6BC55}"/>
              </a:ext>
            </a:extLst>
          </p:cNvPr>
          <p:cNvSpPr txBox="1"/>
          <p:nvPr/>
        </p:nvSpPr>
        <p:spPr>
          <a:xfrm>
            <a:off x="261636" y="1375644"/>
            <a:ext cx="3734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ALTER TABLE </a:t>
            </a:r>
            <a:r>
              <a:rPr lang="en-US" sz="1200" dirty="0" err="1"/>
              <a:t>detalle_pedido</a:t>
            </a:r>
            <a:endParaRPr lang="en-US" sz="1200" dirty="0"/>
          </a:p>
          <a:p>
            <a:r>
              <a:rPr lang="en-US" sz="1200" dirty="0"/>
              <a:t>ADD CONSTRAINT </a:t>
            </a:r>
            <a:r>
              <a:rPr lang="en-US" sz="1200" dirty="0" err="1"/>
              <a:t>detalle_pk</a:t>
            </a:r>
            <a:r>
              <a:rPr lang="en-US" sz="1200" dirty="0"/>
              <a:t> PRIMARY KEY (</a:t>
            </a:r>
            <a:r>
              <a:rPr lang="en-US" sz="1200" dirty="0" err="1"/>
              <a:t>pedido_id</a:t>
            </a:r>
            <a:r>
              <a:rPr lang="en-US" sz="1200" dirty="0"/>
              <a:t>, </a:t>
            </a:r>
            <a:r>
              <a:rPr lang="en-US" sz="1200" dirty="0" err="1"/>
              <a:t>producto_id</a:t>
            </a:r>
            <a:r>
              <a:rPr lang="en-US" sz="1200" dirty="0"/>
              <a:t>)</a:t>
            </a:r>
          </a:p>
          <a:p>
            <a:r>
              <a:rPr lang="en-US" sz="1200" dirty="0"/>
              <a:t>DEFERRABLE INITIALLY DEFERRED;</a:t>
            </a:r>
          </a:p>
          <a:p>
            <a:endParaRPr lang="en-US" sz="1200" dirty="0"/>
          </a:p>
          <a:p>
            <a:r>
              <a:rPr lang="en-US" sz="1200" dirty="0"/>
              <a:t>--Valida a </a:t>
            </a:r>
            <a:r>
              <a:rPr lang="en-US" sz="1200" dirty="0" err="1"/>
              <a:t>nivel</a:t>
            </a:r>
            <a:r>
              <a:rPr lang="en-US" sz="1200" dirty="0"/>
              <a:t> de </a:t>
            </a:r>
            <a:r>
              <a:rPr lang="en-US" sz="1200" dirty="0" err="1"/>
              <a:t>transaccion</a:t>
            </a:r>
            <a:endParaRPr lang="en-US" sz="12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78E30B13-7120-B595-A4B4-934950085407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Por defecto, Oracle verifica las restricciones inmediatamente al ejecutar una sentencia.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Pero pueden hacerse diferidas, es decir, se validan al final de la transacción.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Esto permite, por ejemplo, insertar primero el detalle y luego el pedido, siempre que al final la relación sea válida.</a:t>
            </a:r>
          </a:p>
        </p:txBody>
      </p:sp>
    </p:spTree>
    <p:extLst>
      <p:ext uri="{BB962C8B-B14F-4D97-AF65-F5344CB8AC3E}">
        <p14:creationId xmlns:p14="http://schemas.microsoft.com/office/powerpoint/2010/main" val="25613616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B044-77E1-BDB6-81E6-9D437F50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643DA2E-B6F4-143D-9754-E7A8EC1FD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Buenas prácticas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B86A44E-8ADE-0169-C360-1C425D8A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52275D1-1BCE-BB3D-2CB4-8A2D0DDD42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E6F6613C-E889-125F-A730-8E6F8F2BA24C}"/>
              </a:ext>
            </a:extLst>
          </p:cNvPr>
          <p:cNvSpPr txBox="1">
            <a:spLocks/>
          </p:cNvSpPr>
          <p:nvPr/>
        </p:nvSpPr>
        <p:spPr>
          <a:xfrm>
            <a:off x="564704" y="1306682"/>
            <a:ext cx="8579296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Nombrar las restricciones siguiendo una convención: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 err="1"/>
              <a:t>PK_tabla</a:t>
            </a:r>
            <a:r>
              <a:rPr lang="es-ES" sz="1600" dirty="0"/>
              <a:t>, </a:t>
            </a:r>
            <a:r>
              <a:rPr lang="es-ES" sz="1600" dirty="0" err="1"/>
              <a:t>UK_tabla_columna</a:t>
            </a:r>
            <a:r>
              <a:rPr lang="es-ES" sz="1600" dirty="0"/>
              <a:t>, </a:t>
            </a:r>
            <a:r>
              <a:rPr lang="es-ES" sz="1600" dirty="0" err="1"/>
              <a:t>FK_tabla_columna</a:t>
            </a:r>
            <a:r>
              <a:rPr lang="es-ES" sz="1600" dirty="0"/>
              <a:t>, </a:t>
            </a:r>
            <a:r>
              <a:rPr lang="es-ES" sz="1600" dirty="0" err="1"/>
              <a:t>CHK_tabla_columna</a:t>
            </a:r>
            <a:endParaRPr lang="es-ES" sz="16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No crear índices duplicados a los generados automáticamente por Oracle.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Usar claves numéricas o secuencias (GENERATED BY DEFAULT AS IDENTITY) para claves primarias</a:t>
            </a:r>
          </a:p>
        </p:txBody>
      </p:sp>
    </p:spTree>
    <p:extLst>
      <p:ext uri="{BB962C8B-B14F-4D97-AF65-F5344CB8AC3E}">
        <p14:creationId xmlns:p14="http://schemas.microsoft.com/office/powerpoint/2010/main" val="3239944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62D7-6853-F835-9084-9C3DAA8FB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0160C42-265A-C201-167C-7A3A21BE57FC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EBFB4E86-DB97-FDE5-D31E-5B14EE7DC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Claves foráneas y referencias (FOREIGN KEY / REFERENCES).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5758D4E-7994-5509-8A51-F9B6DB89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533CA38-A9F5-913E-F839-857FE2FB8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91131A4-ACF1-92D1-9ED7-A80996D67F9E}"/>
              </a:ext>
            </a:extLst>
          </p:cNvPr>
          <p:cNvSpPr txBox="1"/>
          <p:nvPr/>
        </p:nvSpPr>
        <p:spPr>
          <a:xfrm>
            <a:off x="261636" y="1375644"/>
            <a:ext cx="37343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TABLE </a:t>
            </a:r>
            <a:r>
              <a:rPr lang="en-US" sz="1200" dirty="0" err="1"/>
              <a:t>pedidos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pedido_id</a:t>
            </a:r>
            <a:r>
              <a:rPr lang="en-US" sz="1200" dirty="0"/>
              <a:t> NUMBER PRIMARY KEY,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cliente_id</a:t>
            </a:r>
            <a:r>
              <a:rPr lang="en-US" sz="1200" dirty="0"/>
              <a:t> NUMBER,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fecha</a:t>
            </a:r>
            <a:r>
              <a:rPr lang="en-US" sz="1200" dirty="0"/>
              <a:t> DATE,</a:t>
            </a:r>
          </a:p>
          <a:p>
            <a:r>
              <a:rPr lang="en-US" sz="1200" dirty="0"/>
              <a:t>    CONSTRAINT </a:t>
            </a:r>
            <a:r>
              <a:rPr lang="en-US" sz="1200" dirty="0" err="1"/>
              <a:t>fk_pedidos_clientes</a:t>
            </a:r>
            <a:endParaRPr lang="en-US" sz="1200" dirty="0"/>
          </a:p>
          <a:p>
            <a:r>
              <a:rPr lang="en-US" sz="1200" dirty="0"/>
              <a:t>        FOREIGN KEY (</a:t>
            </a:r>
            <a:r>
              <a:rPr lang="en-US" sz="1200" dirty="0" err="1"/>
              <a:t>cliente_id</a:t>
            </a:r>
            <a:r>
              <a:rPr lang="en-US" sz="1200" dirty="0"/>
              <a:t>)</a:t>
            </a:r>
          </a:p>
          <a:p>
            <a:r>
              <a:rPr lang="en-US" sz="1200" dirty="0"/>
              <a:t>        REFERENCES </a:t>
            </a:r>
            <a:r>
              <a:rPr lang="en-US" sz="1200" dirty="0" err="1"/>
              <a:t>clientes</a:t>
            </a:r>
            <a:r>
              <a:rPr lang="en-US" sz="1200" dirty="0"/>
              <a:t> (</a:t>
            </a:r>
            <a:r>
              <a:rPr lang="en-US" sz="1200" dirty="0" err="1"/>
              <a:t>cliente_id</a:t>
            </a:r>
            <a:r>
              <a:rPr lang="en-US" sz="1200" dirty="0"/>
              <a:t>)</a:t>
            </a:r>
          </a:p>
          <a:p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s-ES" sz="1200" dirty="0"/>
              <a:t>--clientes es la tabla padre.</a:t>
            </a:r>
          </a:p>
          <a:p>
            <a:r>
              <a:rPr lang="es-ES" sz="1200" dirty="0"/>
              <a:t>--pedidos es la tabla hija.</a:t>
            </a:r>
          </a:p>
          <a:p>
            <a:r>
              <a:rPr lang="es-ES" sz="1200" dirty="0"/>
              <a:t>--No se puede insertar un pedido con un </a:t>
            </a:r>
            <a:r>
              <a:rPr lang="es-ES" sz="1200" dirty="0" err="1"/>
              <a:t>cliente_id</a:t>
            </a:r>
            <a:r>
              <a:rPr lang="es-ES" sz="1200" dirty="0"/>
              <a:t> que no exista en clientes.</a:t>
            </a:r>
            <a:endParaRPr lang="en-US" sz="12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2C22C59B-264E-D31D-7026-BB1F8A80223D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Una clave foránea (FOREIGN KEY) garantiza la integridad referencial entre dos tablas: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Define una relación padre-hijo.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El valor en la tabla hija debe existir previamente en la tabla padre.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Evita inconsistencias, como tener pedidos sin cliente asociado..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Permite al modelador mostrar las relaciones</a:t>
            </a:r>
          </a:p>
        </p:txBody>
      </p:sp>
    </p:spTree>
    <p:extLst>
      <p:ext uri="{BB962C8B-B14F-4D97-AF65-F5344CB8AC3E}">
        <p14:creationId xmlns:p14="http://schemas.microsoft.com/office/powerpoint/2010/main" val="28310538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540C6-F7B6-C324-A06D-98FE224C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9859DD0-BBE3-DE55-A044-F284FE537826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9850988-BA82-055F-CBD4-5AD6B8038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Acciones sobre claves foráneas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D00422D-499C-8F2F-83F3-D0738A19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429754EE-6AB8-4CE1-3EC6-15AF894DBC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1CD1DB-7411-FB27-3376-2220D3977253}"/>
              </a:ext>
            </a:extLst>
          </p:cNvPr>
          <p:cNvSpPr txBox="1"/>
          <p:nvPr/>
        </p:nvSpPr>
        <p:spPr>
          <a:xfrm>
            <a:off x="261636" y="1375644"/>
            <a:ext cx="37343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TABLE </a:t>
            </a:r>
            <a:r>
              <a:rPr lang="en-US" sz="1200" dirty="0" err="1"/>
              <a:t>pedidos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pedido_id</a:t>
            </a:r>
            <a:r>
              <a:rPr lang="en-US" sz="1200" dirty="0"/>
              <a:t> NUMBER PRIMARY KEY,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cliente_id</a:t>
            </a:r>
            <a:r>
              <a:rPr lang="en-US" sz="1200" dirty="0"/>
              <a:t> NUMBER,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fecha</a:t>
            </a:r>
            <a:r>
              <a:rPr lang="en-US" sz="1200" dirty="0"/>
              <a:t> DATE,</a:t>
            </a:r>
          </a:p>
          <a:p>
            <a:r>
              <a:rPr lang="en-US" sz="1200" dirty="0"/>
              <a:t>    CONSTRAINT </a:t>
            </a:r>
            <a:r>
              <a:rPr lang="en-US" sz="1200" dirty="0" err="1"/>
              <a:t>fk_pedidos_clientes</a:t>
            </a:r>
            <a:endParaRPr lang="en-US" sz="1200" dirty="0"/>
          </a:p>
          <a:p>
            <a:r>
              <a:rPr lang="en-US" sz="1200" dirty="0"/>
              <a:t>        FOREIGN KEY (</a:t>
            </a:r>
            <a:r>
              <a:rPr lang="en-US" sz="1200" dirty="0" err="1"/>
              <a:t>cliente_id</a:t>
            </a:r>
            <a:r>
              <a:rPr lang="en-US" sz="1200" dirty="0"/>
              <a:t>)</a:t>
            </a:r>
          </a:p>
          <a:p>
            <a:r>
              <a:rPr lang="en-US" sz="1200" dirty="0"/>
              <a:t>        REFERENCES </a:t>
            </a:r>
            <a:r>
              <a:rPr lang="en-US" sz="1200" dirty="0" err="1"/>
              <a:t>clientes</a:t>
            </a:r>
            <a:r>
              <a:rPr lang="en-US" sz="1200" dirty="0"/>
              <a:t> (</a:t>
            </a:r>
            <a:r>
              <a:rPr lang="en-US" sz="1200" dirty="0" err="1"/>
              <a:t>cliente_id</a:t>
            </a:r>
            <a:r>
              <a:rPr lang="en-US" sz="1200" dirty="0"/>
              <a:t>)</a:t>
            </a:r>
          </a:p>
          <a:p>
            <a:r>
              <a:rPr lang="en-US" sz="1200" dirty="0"/>
              <a:t>        ON DELETE CASCADE</a:t>
            </a:r>
          </a:p>
          <a:p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n-US" sz="1200" dirty="0" err="1"/>
              <a:t>Diferida</a:t>
            </a:r>
            <a:endParaRPr lang="en-US" sz="1200" dirty="0"/>
          </a:p>
          <a:p>
            <a:r>
              <a:rPr lang="en-US" sz="1200" dirty="0"/>
              <a:t>ALTER TABLE </a:t>
            </a:r>
            <a:r>
              <a:rPr lang="en-US" sz="1200" dirty="0" err="1"/>
              <a:t>pedidos</a:t>
            </a:r>
            <a:endParaRPr lang="en-US" sz="1200" dirty="0"/>
          </a:p>
          <a:p>
            <a:r>
              <a:rPr lang="en-US" sz="1200" dirty="0"/>
              <a:t>ADD CONSTRAINT </a:t>
            </a:r>
            <a:r>
              <a:rPr lang="en-US" sz="1200" dirty="0" err="1"/>
              <a:t>fk_pedidos_clientes</a:t>
            </a:r>
            <a:endParaRPr lang="en-US" sz="1200" dirty="0"/>
          </a:p>
          <a:p>
            <a:r>
              <a:rPr lang="en-US" sz="1200" dirty="0"/>
              <a:t>FOREIGN KEY (</a:t>
            </a:r>
            <a:r>
              <a:rPr lang="en-US" sz="1200" dirty="0" err="1"/>
              <a:t>cliente_id</a:t>
            </a:r>
            <a:r>
              <a:rPr lang="en-US" sz="1200" dirty="0"/>
              <a:t>)</a:t>
            </a:r>
          </a:p>
          <a:p>
            <a:r>
              <a:rPr lang="en-US" sz="1200" dirty="0"/>
              <a:t>REFERENCES </a:t>
            </a:r>
            <a:r>
              <a:rPr lang="en-US" sz="1200" dirty="0" err="1"/>
              <a:t>clientes</a:t>
            </a:r>
            <a:r>
              <a:rPr lang="en-US" sz="1200" dirty="0"/>
              <a:t> (</a:t>
            </a:r>
            <a:r>
              <a:rPr lang="en-US" sz="1200" dirty="0" err="1"/>
              <a:t>cliente_id</a:t>
            </a:r>
            <a:r>
              <a:rPr lang="en-US" sz="1200" dirty="0"/>
              <a:t>)</a:t>
            </a:r>
          </a:p>
          <a:p>
            <a:r>
              <a:rPr lang="en-US" sz="1200" dirty="0"/>
              <a:t>DEFERRABLE INITIALLY DEFERRED;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9E721658-B950-20B9-1B0B-C6E12A4235EA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Al igual que las claves primarias, las foráneas también pueden ser </a:t>
            </a:r>
            <a:r>
              <a:rPr lang="es-ES" sz="1600" b="1" dirty="0"/>
              <a:t>diferidas</a:t>
            </a:r>
            <a:r>
              <a:rPr lang="es-ES" sz="1600" dirty="0"/>
              <a:t>, es decir, se validan al final de la transacción.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Oracle permite definir el comportamiento cuando la fila referenciada se elimina.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856DF3B-BB44-244A-6C82-0ECAFD2DB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967446"/>
              </p:ext>
            </p:extLst>
          </p:nvPr>
        </p:nvGraphicFramePr>
        <p:xfrm>
          <a:off x="4854612" y="2859782"/>
          <a:ext cx="32512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528721504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415974638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Opción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Descripción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98596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ON DELETE CASCADE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Si se borra el padre, se borran los hijos automáticamente.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279989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ON DELETE SET NULL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Si se borra el padre, el valor en el hijo se convierte en </a:t>
                      </a:r>
                      <a:r>
                        <a:rPr lang="es-ES" sz="1000" u="none" strike="noStrike" dirty="0">
                          <a:effectLst/>
                        </a:rPr>
                        <a:t>NULL</a:t>
                      </a:r>
                      <a:r>
                        <a:rPr lang="es-ES" sz="1100" u="none" strike="noStrike" dirty="0">
                          <a:effectLst/>
                        </a:rPr>
                        <a:t>.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824652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(sin opción)</a:t>
                      </a:r>
                      <a:endParaRPr lang="es-ES" sz="110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No se permite borrar si existen hijos relacionados.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753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9770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71D8-8D71-CAE3-44E8-F406E19F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BEF922E-7263-52DE-E4B4-497EB5AC70B3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A99CD8F-29E8-CEAB-9E8C-C8212BB00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Índices en claves foráneas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31C9FF1-FEF0-1D2A-C10B-FAC2ED5E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C809632-18A4-FDA2-DEC8-4332577D56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114E8D7-5046-A483-0AC1-E1D87D343AA7}"/>
              </a:ext>
            </a:extLst>
          </p:cNvPr>
          <p:cNvSpPr txBox="1"/>
          <p:nvPr/>
        </p:nvSpPr>
        <p:spPr>
          <a:xfrm>
            <a:off x="261636" y="1375644"/>
            <a:ext cx="37343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INDEX </a:t>
            </a:r>
            <a:r>
              <a:rPr lang="en-US" sz="1200" dirty="0" err="1"/>
              <a:t>idx_pedidos_cliente_id</a:t>
            </a:r>
            <a:r>
              <a:rPr lang="en-US" sz="1200" dirty="0"/>
              <a:t> ON </a:t>
            </a:r>
            <a:r>
              <a:rPr lang="en-US" sz="1200" dirty="0" err="1"/>
              <a:t>pedidos</a:t>
            </a:r>
            <a:r>
              <a:rPr lang="en-US" sz="1200" dirty="0"/>
              <a:t> (</a:t>
            </a:r>
            <a:r>
              <a:rPr lang="en-US" sz="1200" dirty="0" err="1"/>
              <a:t>cliente_id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s-ES" sz="1200" dirty="0"/>
              <a:t>Verificar las restricciones definidas</a:t>
            </a:r>
            <a:endParaRPr lang="en-US" sz="1200" dirty="0"/>
          </a:p>
          <a:p>
            <a:r>
              <a:rPr lang="en-US" sz="1200" dirty="0"/>
              <a:t>SELECT </a:t>
            </a:r>
            <a:r>
              <a:rPr lang="en-US" sz="1200" dirty="0" err="1"/>
              <a:t>constraint_name</a:t>
            </a:r>
            <a:r>
              <a:rPr lang="en-US" sz="1200" dirty="0"/>
              <a:t>, </a:t>
            </a:r>
            <a:r>
              <a:rPr lang="en-US" sz="1200" dirty="0" err="1"/>
              <a:t>constraint_type</a:t>
            </a:r>
            <a:r>
              <a:rPr lang="en-US" sz="1200" dirty="0"/>
              <a:t>, </a:t>
            </a:r>
            <a:r>
              <a:rPr lang="en-US" sz="1200" dirty="0" err="1"/>
              <a:t>table_name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user_constraints</a:t>
            </a:r>
            <a:endParaRPr lang="en-US" sz="1200" dirty="0"/>
          </a:p>
          <a:p>
            <a:r>
              <a:rPr lang="en-US" sz="1200" dirty="0"/>
              <a:t>WHERE </a:t>
            </a:r>
            <a:r>
              <a:rPr lang="en-US" sz="1200" dirty="0" err="1"/>
              <a:t>constraint_type</a:t>
            </a:r>
            <a:r>
              <a:rPr lang="en-US" sz="1200" dirty="0"/>
              <a:t> = 'R’;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s-ES" sz="1200" dirty="0"/>
              <a:t>Verificar columnas asociadas</a:t>
            </a:r>
            <a:endParaRPr lang="en-US" sz="1200" dirty="0"/>
          </a:p>
          <a:p>
            <a:r>
              <a:rPr lang="en-US" sz="1200" dirty="0"/>
              <a:t>SELECT </a:t>
            </a:r>
            <a:r>
              <a:rPr lang="en-US" sz="1200" dirty="0" err="1"/>
              <a:t>constraint_name</a:t>
            </a:r>
            <a:r>
              <a:rPr lang="en-US" sz="1200" dirty="0"/>
              <a:t>, </a:t>
            </a:r>
            <a:r>
              <a:rPr lang="en-US" sz="1200" dirty="0" err="1"/>
              <a:t>column_name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user_cons_columns</a:t>
            </a:r>
            <a:endParaRPr lang="en-US" sz="1200" dirty="0"/>
          </a:p>
          <a:p>
            <a:r>
              <a:rPr lang="en-US" sz="1200" dirty="0"/>
              <a:t>WHERE </a:t>
            </a:r>
            <a:r>
              <a:rPr lang="en-US" sz="1200" dirty="0" err="1"/>
              <a:t>table_name</a:t>
            </a:r>
            <a:r>
              <a:rPr lang="en-US" sz="1200" dirty="0"/>
              <a:t> = 'PEDIDOS';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BE2DDC2F-688C-82EB-81A2-1F23050ABA50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Oracle no crea automáticamente índices sobre columnas con FOREIGN </a:t>
            </a:r>
            <a:r>
              <a:rPr lang="es-ES" sz="1600" dirty="0" err="1"/>
              <a:t>KEY,pero</a:t>
            </a:r>
            <a:r>
              <a:rPr lang="es-ES" sz="1600" dirty="0"/>
              <a:t> es buena práctica hacerlo para evitar bloqueos y mejorar rendimiento en:</a:t>
            </a:r>
          </a:p>
          <a:p>
            <a:pPr marL="877888" lvl="2" indent="-342900"/>
            <a:r>
              <a:rPr lang="es-ES" sz="1400" dirty="0"/>
              <a:t>Eliminaciones (DELETE) del padre.</a:t>
            </a:r>
          </a:p>
          <a:p>
            <a:pPr marL="877888" lvl="2" indent="-342900"/>
            <a:r>
              <a:rPr lang="es-ES" sz="1400" dirty="0"/>
              <a:t>Actualizaciones o consultas que filtren por la clave foránea.</a:t>
            </a:r>
          </a:p>
        </p:txBody>
      </p:sp>
    </p:spTree>
    <p:extLst>
      <p:ext uri="{BB962C8B-B14F-4D97-AF65-F5344CB8AC3E}">
        <p14:creationId xmlns:p14="http://schemas.microsoft.com/office/powerpoint/2010/main" val="19447965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61380-4515-8BBF-E70E-BAD95C58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BA45F3CA-A2A2-57C2-3909-05ADEC16FCD3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0B49D7A-8B1C-76DB-B340-B1369C5B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Eliminación y modificación de claves foráneas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76778025-F336-08DA-730C-1CD3F351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CF6CA39-91CB-55D7-092D-64020E4649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DB1EFD0-C46E-DD6E-3459-D636E1BED53E}"/>
              </a:ext>
            </a:extLst>
          </p:cNvPr>
          <p:cNvSpPr txBox="1"/>
          <p:nvPr/>
        </p:nvSpPr>
        <p:spPr>
          <a:xfrm>
            <a:off x="261636" y="1375644"/>
            <a:ext cx="37343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--</a:t>
            </a:r>
            <a:r>
              <a:rPr lang="es-ES" sz="1200" dirty="0"/>
              <a:t>Eliminar una restricción:</a:t>
            </a:r>
          </a:p>
          <a:p>
            <a:r>
              <a:rPr lang="es-ES" sz="1200" dirty="0"/>
              <a:t>ALTER TABLE pedidos DROP CONSTRAINT </a:t>
            </a:r>
            <a:r>
              <a:rPr lang="es-ES" sz="1200" dirty="0" err="1"/>
              <a:t>fk_pedidos_clientes</a:t>
            </a:r>
            <a:r>
              <a:rPr lang="es-ES" sz="1200" dirty="0"/>
              <a:t>;</a:t>
            </a:r>
          </a:p>
          <a:p>
            <a:endParaRPr lang="es-ES" sz="1200" dirty="0"/>
          </a:p>
          <a:p>
            <a:r>
              <a:rPr lang="es-ES" sz="1200" dirty="0"/>
              <a:t>--Agregar una nueva</a:t>
            </a:r>
          </a:p>
          <a:p>
            <a:r>
              <a:rPr lang="en-US" sz="1200" dirty="0"/>
              <a:t>ALTER TABLE </a:t>
            </a:r>
            <a:r>
              <a:rPr lang="en-US" sz="1200" dirty="0" err="1"/>
              <a:t>pedidos</a:t>
            </a:r>
            <a:endParaRPr lang="en-US" sz="1200" dirty="0"/>
          </a:p>
          <a:p>
            <a:r>
              <a:rPr lang="en-US" sz="1200" dirty="0"/>
              <a:t>ADD CONSTRAINT </a:t>
            </a:r>
            <a:r>
              <a:rPr lang="en-US" sz="1200" dirty="0" err="1"/>
              <a:t>fk_pedidos_clientes</a:t>
            </a:r>
            <a:endParaRPr lang="en-US" sz="1200" dirty="0"/>
          </a:p>
          <a:p>
            <a:r>
              <a:rPr lang="en-US" sz="1200" dirty="0"/>
              <a:t>FOREIGN KEY (</a:t>
            </a:r>
            <a:r>
              <a:rPr lang="en-US" sz="1200" dirty="0" err="1"/>
              <a:t>cliente_id</a:t>
            </a:r>
            <a:r>
              <a:rPr lang="en-US" sz="1200" dirty="0"/>
              <a:t>)</a:t>
            </a:r>
          </a:p>
          <a:p>
            <a:r>
              <a:rPr lang="en-US" sz="1200" dirty="0"/>
              <a:t>REFERENCES </a:t>
            </a:r>
            <a:r>
              <a:rPr lang="en-US" sz="1200" dirty="0" err="1"/>
              <a:t>clientes</a:t>
            </a:r>
            <a:r>
              <a:rPr lang="en-US" sz="1200" dirty="0"/>
              <a:t> (</a:t>
            </a:r>
            <a:r>
              <a:rPr lang="en-US" sz="1200" dirty="0" err="1"/>
              <a:t>cliente_id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SELECT p.*</a:t>
            </a:r>
          </a:p>
          <a:p>
            <a:r>
              <a:rPr lang="en-US" sz="1200" dirty="0"/>
              <a:t>FROM </a:t>
            </a:r>
            <a:r>
              <a:rPr lang="en-US" sz="1200" dirty="0" err="1"/>
              <a:t>pedidos</a:t>
            </a:r>
            <a:r>
              <a:rPr lang="en-US" sz="1200" dirty="0"/>
              <a:t> p</a:t>
            </a:r>
          </a:p>
          <a:p>
            <a:r>
              <a:rPr lang="en-US" sz="1200" dirty="0"/>
              <a:t>LEFT JOIN </a:t>
            </a:r>
            <a:r>
              <a:rPr lang="en-US" sz="1200" dirty="0" err="1"/>
              <a:t>clientes</a:t>
            </a:r>
            <a:r>
              <a:rPr lang="en-US" sz="1200" dirty="0"/>
              <a:t> c ON </a:t>
            </a:r>
            <a:r>
              <a:rPr lang="en-US" sz="1200" dirty="0" err="1"/>
              <a:t>p.cliente_id</a:t>
            </a:r>
            <a:r>
              <a:rPr lang="en-US" sz="1200" dirty="0"/>
              <a:t> = </a:t>
            </a:r>
            <a:r>
              <a:rPr lang="en-US" sz="1200" dirty="0" err="1"/>
              <a:t>c.cliente_id</a:t>
            </a:r>
            <a:endParaRPr lang="en-US" sz="1200" dirty="0"/>
          </a:p>
          <a:p>
            <a:r>
              <a:rPr lang="en-US" sz="1200" dirty="0"/>
              <a:t>WHERE </a:t>
            </a:r>
            <a:r>
              <a:rPr lang="en-US" sz="1200" dirty="0" err="1"/>
              <a:t>c.cliente_id</a:t>
            </a:r>
            <a:r>
              <a:rPr lang="en-US" sz="1200" dirty="0"/>
              <a:t> IS NULL;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938FDD6E-3B39-BD4F-FE39-634767A8E94D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Importante - Detección de registros huérfanos.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Siempre que modifiquemos o trabajemos con relaciones.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Si las relaciones no se definieron correctamente, puede haber filas en la tabla hija sin correspondencia en la tabla padre.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6713654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849DB-E711-E997-4C03-7FC51B10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5A10E6C-FA2C-5D10-8763-F81616E7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Índices en Oracle </a:t>
            </a:r>
            <a:r>
              <a:rPr lang="es-ES" sz="4400" dirty="0" err="1"/>
              <a:t>Database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5FA3CA6-C6FC-520A-4490-8A19218F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9A43EB5-AADE-0E08-CEBF-CD51408ADB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7775258-3265-95E7-BA40-23E331C96524}"/>
              </a:ext>
            </a:extLst>
          </p:cNvPr>
          <p:cNvSpPr txBox="1">
            <a:spLocks/>
          </p:cNvSpPr>
          <p:nvPr/>
        </p:nvSpPr>
        <p:spPr>
          <a:xfrm>
            <a:off x="457200" y="1306682"/>
            <a:ext cx="868680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Comprender cómo funcionan los </a:t>
            </a:r>
            <a:r>
              <a:rPr lang="es-ES" sz="1600" b="1" dirty="0"/>
              <a:t>índices</a:t>
            </a:r>
            <a:r>
              <a:rPr lang="es-ES" sz="1600" dirty="0"/>
              <a:t>, cuándo usarlos, cómo afectan las operaciones DML y cómo aprovecharlos para optimizar consultas sin degradar el rendimiento en inserciones y actualizaciones.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400" dirty="0"/>
              <a:t>Un </a:t>
            </a:r>
            <a:r>
              <a:rPr lang="es-ES" sz="1400" b="1" dirty="0"/>
              <a:t>índice</a:t>
            </a:r>
            <a:r>
              <a:rPr lang="es-ES" sz="1400" dirty="0"/>
              <a:t> es una estructura de datos (normalmente un </a:t>
            </a:r>
            <a:r>
              <a:rPr lang="es-ES" sz="1400" b="1" dirty="0"/>
              <a:t>árbol B*</a:t>
            </a:r>
            <a:r>
              <a:rPr lang="es-ES" sz="1400" dirty="0"/>
              <a:t> o </a:t>
            </a:r>
            <a:r>
              <a:rPr lang="es-ES" sz="1400" b="1" dirty="0"/>
              <a:t>bitmap</a:t>
            </a:r>
            <a:r>
              <a:rPr lang="es-ES" sz="1400" dirty="0"/>
              <a:t>) que Oracle utiliza para </a:t>
            </a:r>
            <a:r>
              <a:rPr lang="es-ES" sz="1400" b="1" dirty="0"/>
              <a:t>acelerar el acceso a filas</a:t>
            </a:r>
            <a:r>
              <a:rPr lang="es-ES" sz="1400" dirty="0"/>
              <a:t> de una tabla.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400" dirty="0"/>
              <a:t>Piensa en el índice de un libro: no es el contenido completo, sino una referencia que permite encontrar rápidamente un tema.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9EA6F67-2DF1-3211-B0D3-B3F4E30AF9C0}"/>
              </a:ext>
            </a:extLst>
          </p:cNvPr>
          <p:cNvSpPr txBox="1"/>
          <p:nvPr/>
        </p:nvSpPr>
        <p:spPr>
          <a:xfrm>
            <a:off x="7343135" y="4731990"/>
            <a:ext cx="177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0" dirty="0">
                <a:solidFill>
                  <a:srgbClr val="FF6A00"/>
                </a:solidFill>
                <a:effectLst/>
                <a:latin typeface="-apple-system"/>
              </a:rPr>
              <a:t>sesion1-indices.sql</a:t>
            </a:r>
          </a:p>
        </p:txBody>
      </p:sp>
    </p:spTree>
    <p:extLst>
      <p:ext uri="{BB962C8B-B14F-4D97-AF65-F5344CB8AC3E}">
        <p14:creationId xmlns:p14="http://schemas.microsoft.com/office/powerpoint/2010/main" val="42438890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7C28-EF41-EABA-69CB-F043C52A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1F84A14-4B7A-533C-0528-5EDFEF3C34C2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D4323BF9-0CBB-A2F4-755B-9DB0CAE6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Creación de índices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F2B1E69E-DC25-315A-8A97-C09D7D67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5093033-AACB-19B6-64A7-98155B24D5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0894FF-5FB8-31FD-8C2A-BE933B2D8521}"/>
              </a:ext>
            </a:extLst>
          </p:cNvPr>
          <p:cNvSpPr txBox="1"/>
          <p:nvPr/>
        </p:nvSpPr>
        <p:spPr>
          <a:xfrm>
            <a:off x="261636" y="1375644"/>
            <a:ext cx="37343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--</a:t>
            </a:r>
            <a:r>
              <a:rPr lang="es-ES" sz="1200" dirty="0"/>
              <a:t>Índice simple</a:t>
            </a:r>
          </a:p>
          <a:p>
            <a:r>
              <a:rPr lang="es-ES" sz="1200" dirty="0"/>
              <a:t>CREATE INDEX </a:t>
            </a:r>
            <a:r>
              <a:rPr lang="es-ES" sz="1200" dirty="0" err="1"/>
              <a:t>idx_empleados_nombre</a:t>
            </a:r>
            <a:endParaRPr lang="es-ES" sz="1200" dirty="0"/>
          </a:p>
          <a:p>
            <a:r>
              <a:rPr lang="es-ES" sz="1200" dirty="0"/>
              <a:t>ON empleados (nombre);</a:t>
            </a:r>
          </a:p>
          <a:p>
            <a:endParaRPr lang="es-ES" sz="1200" dirty="0"/>
          </a:p>
          <a:p>
            <a:r>
              <a:rPr lang="es-ES" sz="1200" dirty="0"/>
              <a:t>--Acelera búsquedas del tipo</a:t>
            </a:r>
          </a:p>
          <a:p>
            <a:r>
              <a:rPr lang="en-US" sz="1200" dirty="0"/>
              <a:t>SELECT * FROM </a:t>
            </a:r>
            <a:r>
              <a:rPr lang="en-US" sz="1200" dirty="0" err="1"/>
              <a:t>empleados</a:t>
            </a:r>
            <a:r>
              <a:rPr lang="en-US" sz="1200" dirty="0"/>
              <a:t> WHERE </a:t>
            </a:r>
            <a:r>
              <a:rPr lang="en-US" sz="1200" dirty="0" err="1"/>
              <a:t>nombre</a:t>
            </a:r>
            <a:r>
              <a:rPr lang="en-US" sz="1200" dirty="0"/>
              <a:t> = 'Laura’;</a:t>
            </a:r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s-ES" sz="1200" dirty="0"/>
              <a:t>Índice compuesto</a:t>
            </a:r>
          </a:p>
          <a:p>
            <a:r>
              <a:rPr lang="en-US" sz="1200" dirty="0"/>
              <a:t>CREATE INDEX </a:t>
            </a:r>
            <a:r>
              <a:rPr lang="en-US" sz="1200" dirty="0" err="1"/>
              <a:t>idx_empleados_departamento_salario</a:t>
            </a:r>
            <a:endParaRPr lang="en-US" sz="1200" dirty="0"/>
          </a:p>
          <a:p>
            <a:r>
              <a:rPr lang="en-US" sz="1200" dirty="0"/>
              <a:t>ON </a:t>
            </a:r>
            <a:r>
              <a:rPr lang="en-US" sz="1200" dirty="0" err="1"/>
              <a:t>empleados</a:t>
            </a:r>
            <a:r>
              <a:rPr lang="en-US" sz="1200" dirty="0"/>
              <a:t> (</a:t>
            </a:r>
            <a:r>
              <a:rPr lang="en-US" sz="1200" dirty="0" err="1"/>
              <a:t>departamento_id</a:t>
            </a:r>
            <a:r>
              <a:rPr lang="en-US" sz="1200" dirty="0"/>
              <a:t>, </a:t>
            </a:r>
            <a:r>
              <a:rPr lang="en-US" sz="1200" dirty="0" err="1"/>
              <a:t>salario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n-US" sz="1200" dirty="0" err="1"/>
              <a:t>Útil</a:t>
            </a:r>
            <a:r>
              <a:rPr lang="en-US" sz="1200" dirty="0"/>
              <a:t> </a:t>
            </a:r>
            <a:r>
              <a:rPr lang="en-US" sz="1200" dirty="0" err="1"/>
              <a:t>cuando</a:t>
            </a:r>
            <a:r>
              <a:rPr lang="en-US" sz="1200" dirty="0"/>
              <a:t> se filtra </a:t>
            </a:r>
            <a:r>
              <a:rPr lang="en-US" sz="1200" dirty="0" err="1"/>
              <a:t>por</a:t>
            </a:r>
            <a:r>
              <a:rPr lang="en-US" sz="1200" dirty="0"/>
              <a:t> ambas columnas, o </a:t>
            </a:r>
            <a:r>
              <a:rPr lang="en-US" sz="1200" dirty="0" err="1"/>
              <a:t>por</a:t>
            </a:r>
            <a:r>
              <a:rPr lang="en-US" sz="1200" dirty="0"/>
              <a:t> la </a:t>
            </a:r>
            <a:r>
              <a:rPr lang="en-US" sz="1200" dirty="0" err="1"/>
              <a:t>primera</a:t>
            </a:r>
            <a:endParaRPr lang="en-US" sz="1200" dirty="0"/>
          </a:p>
          <a:p>
            <a:r>
              <a:rPr lang="en-US" sz="1200" dirty="0"/>
              <a:t>WHERE </a:t>
            </a:r>
            <a:r>
              <a:rPr lang="en-US" sz="1200" dirty="0" err="1"/>
              <a:t>departamento_id</a:t>
            </a:r>
            <a:r>
              <a:rPr lang="en-US" sz="1200" dirty="0"/>
              <a:t> = 10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F3448B47-30A3-8B30-6DDE-7913F7043315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Crea un índice B-</a:t>
            </a:r>
            <a:r>
              <a:rPr lang="es-ES" sz="1600" dirty="0" err="1"/>
              <a:t>tree</a:t>
            </a:r>
            <a:r>
              <a:rPr lang="es-ES" sz="1600" dirty="0"/>
              <a:t> sobre la columna nombre.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Índices compuestos, se deben usar idealmente todas las columnas.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Se puede consultar por la primera,  por las dos primeras…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7465607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EF51D-B4DD-C61C-B8E2-3441A9D3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287FEFA-3185-E503-5177-2D617F01971A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2EFBF67-F982-1534-8F90-CB2DBDF65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Creación de índices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AC4F20F-6318-2A62-17DC-DB7468F5A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0C194C2-6753-780B-135D-E9501818E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4EDB64F-5BE8-307D-1E2C-37D34E826B0D}"/>
              </a:ext>
            </a:extLst>
          </p:cNvPr>
          <p:cNvSpPr txBox="1"/>
          <p:nvPr/>
        </p:nvSpPr>
        <p:spPr>
          <a:xfrm>
            <a:off x="261636" y="1375644"/>
            <a:ext cx="37343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--</a:t>
            </a:r>
            <a:r>
              <a:rPr lang="es-ES" sz="1200" dirty="0"/>
              <a:t>Índice simple</a:t>
            </a:r>
          </a:p>
          <a:p>
            <a:r>
              <a:rPr lang="es-ES" sz="1200" dirty="0"/>
              <a:t>CREATE INDEX </a:t>
            </a:r>
            <a:r>
              <a:rPr lang="es-ES" sz="1200" dirty="0" err="1"/>
              <a:t>idx_empleados_nombre</a:t>
            </a:r>
            <a:endParaRPr lang="es-ES" sz="1200" dirty="0"/>
          </a:p>
          <a:p>
            <a:r>
              <a:rPr lang="es-ES" sz="1200" dirty="0"/>
              <a:t>ON empleados (nombre);</a:t>
            </a:r>
          </a:p>
          <a:p>
            <a:endParaRPr lang="es-ES" sz="1200" dirty="0"/>
          </a:p>
          <a:p>
            <a:r>
              <a:rPr lang="es-ES" sz="1200" dirty="0"/>
              <a:t>--Acelera búsquedas del tipo</a:t>
            </a:r>
          </a:p>
          <a:p>
            <a:r>
              <a:rPr lang="en-US" sz="1200" dirty="0"/>
              <a:t>SELECT * FROM </a:t>
            </a:r>
            <a:r>
              <a:rPr lang="en-US" sz="1200" dirty="0" err="1"/>
              <a:t>empleados</a:t>
            </a:r>
            <a:r>
              <a:rPr lang="en-US" sz="1200" dirty="0"/>
              <a:t> WHERE </a:t>
            </a:r>
            <a:r>
              <a:rPr lang="en-US" sz="1200" dirty="0" err="1"/>
              <a:t>nombre</a:t>
            </a:r>
            <a:r>
              <a:rPr lang="en-US" sz="1200" dirty="0"/>
              <a:t> = 'Laura’;</a:t>
            </a:r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s-ES" sz="1200" dirty="0"/>
              <a:t>Índice compuesto</a:t>
            </a:r>
          </a:p>
          <a:p>
            <a:r>
              <a:rPr lang="en-US" sz="1200" dirty="0"/>
              <a:t>CREATE INDEX </a:t>
            </a:r>
            <a:r>
              <a:rPr lang="en-US" sz="1200" dirty="0" err="1"/>
              <a:t>idx_empleados_departamento_salario</a:t>
            </a:r>
            <a:endParaRPr lang="en-US" sz="1200" dirty="0"/>
          </a:p>
          <a:p>
            <a:r>
              <a:rPr lang="en-US" sz="1200" dirty="0"/>
              <a:t>ON </a:t>
            </a:r>
            <a:r>
              <a:rPr lang="en-US" sz="1200" dirty="0" err="1"/>
              <a:t>empleados</a:t>
            </a:r>
            <a:r>
              <a:rPr lang="en-US" sz="1200" dirty="0"/>
              <a:t> (</a:t>
            </a:r>
            <a:r>
              <a:rPr lang="en-US" sz="1200" dirty="0" err="1"/>
              <a:t>departamento_id</a:t>
            </a:r>
            <a:r>
              <a:rPr lang="en-US" sz="1200" dirty="0"/>
              <a:t>, </a:t>
            </a:r>
            <a:r>
              <a:rPr lang="en-US" sz="1200" dirty="0" err="1"/>
              <a:t>salario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n-US" sz="1200" dirty="0" err="1"/>
              <a:t>Útil</a:t>
            </a:r>
            <a:r>
              <a:rPr lang="en-US" sz="1200" dirty="0"/>
              <a:t> </a:t>
            </a:r>
            <a:r>
              <a:rPr lang="en-US" sz="1200" dirty="0" err="1"/>
              <a:t>cuando</a:t>
            </a:r>
            <a:r>
              <a:rPr lang="en-US" sz="1200" dirty="0"/>
              <a:t> se filtra </a:t>
            </a:r>
            <a:r>
              <a:rPr lang="en-US" sz="1200" dirty="0" err="1"/>
              <a:t>por</a:t>
            </a:r>
            <a:r>
              <a:rPr lang="en-US" sz="1200" dirty="0"/>
              <a:t> ambas columnas, o </a:t>
            </a:r>
            <a:r>
              <a:rPr lang="en-US" sz="1200" dirty="0" err="1"/>
              <a:t>por</a:t>
            </a:r>
            <a:r>
              <a:rPr lang="en-US" sz="1200" dirty="0"/>
              <a:t> la </a:t>
            </a:r>
            <a:r>
              <a:rPr lang="en-US" sz="1200" dirty="0" err="1"/>
              <a:t>primera</a:t>
            </a:r>
            <a:endParaRPr lang="en-US" sz="1200" dirty="0"/>
          </a:p>
          <a:p>
            <a:r>
              <a:rPr lang="en-US" sz="1200" dirty="0"/>
              <a:t>WHERE </a:t>
            </a:r>
            <a:r>
              <a:rPr lang="en-US" sz="1200" dirty="0" err="1"/>
              <a:t>departamento_id</a:t>
            </a:r>
            <a:r>
              <a:rPr lang="en-US" sz="1200" dirty="0"/>
              <a:t> = 10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0B986617-056B-A095-1BB4-AE61784B49DC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Crea un índice B-</a:t>
            </a:r>
            <a:r>
              <a:rPr lang="es-ES" sz="1600" dirty="0" err="1"/>
              <a:t>tree</a:t>
            </a:r>
            <a:r>
              <a:rPr lang="es-ES" sz="1600" dirty="0"/>
              <a:t> sobre la columna nombre.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Índices compuestos, se deben usar idealmente todas las columnas.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Se puede consultar por la primera,  por las dos primeras…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Cuando se crea automáticamente:</a:t>
            </a:r>
            <a:endParaRPr lang="es-ES" sz="14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92C1CF3-14B5-737D-4296-71A9343E6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353711"/>
              </p:ext>
            </p:extLst>
          </p:nvPr>
        </p:nvGraphicFramePr>
        <p:xfrm>
          <a:off x="4355976" y="3507854"/>
          <a:ext cx="3733800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0853">
                  <a:extLst>
                    <a:ext uri="{9D8B030D-6E8A-4147-A177-3AD203B41FA5}">
                      <a16:colId xmlns:a16="http://schemas.microsoft.com/office/drawing/2014/main" val="1020688299"/>
                    </a:ext>
                  </a:extLst>
                </a:gridCol>
                <a:gridCol w="1741594">
                  <a:extLst>
                    <a:ext uri="{9D8B030D-6E8A-4147-A177-3AD203B41FA5}">
                      <a16:colId xmlns:a16="http://schemas.microsoft.com/office/drawing/2014/main" val="3298445535"/>
                    </a:ext>
                  </a:extLst>
                </a:gridCol>
                <a:gridCol w="761353">
                  <a:extLst>
                    <a:ext uri="{9D8B030D-6E8A-4147-A177-3AD203B41FA5}">
                      <a16:colId xmlns:a16="http://schemas.microsoft.com/office/drawing/2014/main" val="2659755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Tipo de restricción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Crea índice automático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Tipo de índice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401866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PRIMARY KEY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 Sí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Único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67289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UNIQUE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 Sí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Único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81432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FOREIGN KEY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 No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—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9403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862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5F62-8D0D-2E6C-5506-42835ADD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B84BBBC-D210-7FD8-0D94-2CA705BAA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Tipos de Índice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CC52481-9923-7C35-A8C3-1BA8C4BF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A1984BB-25B4-0220-3F35-F1AEE8C9DF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D0E01AB-3EEA-1135-BD8B-77E941DE4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76962"/>
              </p:ext>
            </p:extLst>
          </p:nvPr>
        </p:nvGraphicFramePr>
        <p:xfrm>
          <a:off x="2123728" y="1797242"/>
          <a:ext cx="4724399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626">
                  <a:extLst>
                    <a:ext uri="{9D8B030D-6E8A-4147-A177-3AD203B41FA5}">
                      <a16:colId xmlns:a16="http://schemas.microsoft.com/office/drawing/2014/main" val="2343159473"/>
                    </a:ext>
                  </a:extLst>
                </a:gridCol>
                <a:gridCol w="1741904">
                  <a:extLst>
                    <a:ext uri="{9D8B030D-6E8A-4147-A177-3AD203B41FA5}">
                      <a16:colId xmlns:a16="http://schemas.microsoft.com/office/drawing/2014/main" val="3379337709"/>
                    </a:ext>
                  </a:extLst>
                </a:gridCol>
                <a:gridCol w="1979869">
                  <a:extLst>
                    <a:ext uri="{9D8B030D-6E8A-4147-A177-3AD203B41FA5}">
                      <a16:colId xmlns:a16="http://schemas.microsoft.com/office/drawing/2014/main" val="274176854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b="1" u="none" strike="noStrike" dirty="0">
                          <a:effectLst/>
                        </a:rPr>
                        <a:t>Tipo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b="1" u="none" strike="noStrike" dirty="0">
                          <a:effectLst/>
                        </a:rPr>
                        <a:t>Descripción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100" b="1" u="none" strike="noStrike" dirty="0">
                          <a:effectLst/>
                        </a:rPr>
                        <a:t>Uso típico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685401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B-tree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Estructura por defecto (balanceada, ordenada).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Consultas por igualdad o rango.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64840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Bitmap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Usa bits para representar valores.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Columnas con pocos valores distintos (baja cardinalidad).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557723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Unique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Variante del B-tree que impide duplicados.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Claves únicas.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892473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Function-based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Indexa el resultado de una función.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Búsquedas con funciones (</a:t>
                      </a:r>
                      <a:r>
                        <a:rPr lang="es-ES" sz="1000" u="none" strike="noStrike">
                          <a:effectLst/>
                        </a:rPr>
                        <a:t>UPPER(nombre)</a:t>
                      </a:r>
                      <a:r>
                        <a:rPr lang="es-ES" sz="1100" u="none" strike="noStrike">
                          <a:effectLst/>
                        </a:rPr>
                        <a:t>).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810201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Reverse Key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Invierte los bytes de la clave.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Evita contención en secuencias de inserciones.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615715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Clustered / IOT</a:t>
                      </a:r>
                      <a:endParaRPr lang="es-E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Datos y índice en la misma estructura.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Tablas pequeñas o de acceso directo.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0636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3172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F0834-1160-5446-8B81-56470D0E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0F4FAE1-B7AA-FFC4-338A-7D0CE3FB1A54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A712E524-E10D-8EFF-C340-6C0949489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Índices </a:t>
            </a:r>
            <a:r>
              <a:rPr lang="es-ES" sz="4400" i="1" dirty="0" err="1"/>
              <a:t>function-based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D6D16FB-D62C-29A4-87EA-FE56DF0B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0592575-761E-CEFB-E8D7-45F73CCDD4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46D274-5180-A880-2C0A-1D9269E1BF76}"/>
              </a:ext>
            </a:extLst>
          </p:cNvPr>
          <p:cNvSpPr txBox="1"/>
          <p:nvPr/>
        </p:nvSpPr>
        <p:spPr>
          <a:xfrm>
            <a:off x="261636" y="1375644"/>
            <a:ext cx="3734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INDEX </a:t>
            </a:r>
            <a:r>
              <a:rPr lang="en-US" sz="1200" dirty="0" err="1"/>
              <a:t>idx_emp_upper_nombre</a:t>
            </a:r>
            <a:endParaRPr lang="en-US" sz="1200" dirty="0"/>
          </a:p>
          <a:p>
            <a:r>
              <a:rPr lang="en-US" sz="1200" dirty="0"/>
              <a:t>ON </a:t>
            </a:r>
            <a:r>
              <a:rPr lang="en-US" sz="1200" dirty="0" err="1"/>
              <a:t>empleados</a:t>
            </a:r>
            <a:r>
              <a:rPr lang="en-US" sz="1200" dirty="0"/>
              <a:t> (UPPER(</a:t>
            </a:r>
            <a:r>
              <a:rPr lang="en-US" sz="1200" dirty="0" err="1"/>
              <a:t>nombre</a:t>
            </a:r>
            <a:r>
              <a:rPr lang="en-US" sz="1200" dirty="0"/>
              <a:t>));</a:t>
            </a:r>
          </a:p>
          <a:p>
            <a:endParaRPr lang="en-US" sz="1200" dirty="0"/>
          </a:p>
          <a:p>
            <a:r>
              <a:rPr lang="en-US" sz="1200" dirty="0"/>
              <a:t>--Se </a:t>
            </a:r>
            <a:r>
              <a:rPr lang="en-US" sz="1200" dirty="0" err="1"/>
              <a:t>utiliza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</a:p>
          <a:p>
            <a:r>
              <a:rPr lang="en-US" sz="1200" dirty="0"/>
              <a:t>SELECT * FROM </a:t>
            </a:r>
            <a:r>
              <a:rPr lang="en-US" sz="1200" dirty="0" err="1"/>
              <a:t>empleados</a:t>
            </a:r>
            <a:r>
              <a:rPr lang="en-US" sz="1200" dirty="0"/>
              <a:t> WHERE UPPER(</a:t>
            </a:r>
            <a:r>
              <a:rPr lang="en-US" sz="1200" dirty="0" err="1"/>
              <a:t>nombre</a:t>
            </a:r>
            <a:r>
              <a:rPr lang="en-US" sz="1200" dirty="0"/>
              <a:t>) = 'MARTA';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8C0EC9DD-2637-92D8-792B-598237A56791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Permiten indexar expresiones o resultados de funciones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400" dirty="0"/>
              <a:t>Tener permisos QUERY REWRITE.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400" dirty="0"/>
              <a:t>Las funciones deben ser deterministas.</a:t>
            </a:r>
          </a:p>
        </p:txBody>
      </p:sp>
    </p:spTree>
    <p:extLst>
      <p:ext uri="{BB962C8B-B14F-4D97-AF65-F5344CB8AC3E}">
        <p14:creationId xmlns:p14="http://schemas.microsoft.com/office/powerpoint/2010/main" val="4330250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D405-6C86-1DD4-9680-0D58F238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5A35C4-EC40-FC36-2BF8-0E0D92A47AB5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79342CA-76C4-C6F6-5EC6-84C9410E1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Índices bitmap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96373CB-72C1-2CF2-361C-9D156319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59757A8-45B9-FD8D-1096-8FBC3D0155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02223C-FA84-3246-A703-C588F4307DD9}"/>
              </a:ext>
            </a:extLst>
          </p:cNvPr>
          <p:cNvSpPr txBox="1"/>
          <p:nvPr/>
        </p:nvSpPr>
        <p:spPr>
          <a:xfrm>
            <a:off x="261636" y="1375644"/>
            <a:ext cx="3734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BITMAP INDEX </a:t>
            </a:r>
            <a:r>
              <a:rPr lang="en-US" sz="1200" dirty="0" err="1"/>
              <a:t>idx_emp_departamento</a:t>
            </a:r>
            <a:endParaRPr lang="en-US" sz="1200" dirty="0"/>
          </a:p>
          <a:p>
            <a:r>
              <a:rPr lang="en-US" sz="1200" dirty="0"/>
              <a:t>ON </a:t>
            </a:r>
            <a:r>
              <a:rPr lang="en-US" sz="1200" dirty="0" err="1"/>
              <a:t>empleados</a:t>
            </a:r>
            <a:r>
              <a:rPr lang="en-US" sz="1200" dirty="0"/>
              <a:t> (</a:t>
            </a:r>
            <a:r>
              <a:rPr lang="en-US" sz="1200" dirty="0" err="1"/>
              <a:t>departamento_id</a:t>
            </a:r>
            <a:r>
              <a:rPr lang="en-US" sz="1200" dirty="0"/>
              <a:t>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C6FF5B07-F039-D0D2-662D-36B14D40A965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Útiles cuando una columna tiene pocos valores posibles (ej. sexo, estado civil, categoría).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En lugar de guardar cada valor, Oracle guarda un bitmap indicando qué filas tienen ese valor.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400" dirty="0"/>
              <a:t>No recomendados para tablas con muchas actualizaciones concurrentes — ideales para entornos de data </a:t>
            </a:r>
            <a:r>
              <a:rPr lang="es-ES" sz="1400" dirty="0" err="1"/>
              <a:t>warehouse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60203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FEBE-0F14-931B-4464-BC953D45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00BDFCC-F809-76CE-0DBD-9EBCE278363F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2F51398-7956-12D4-7799-6310319B6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Mantenimiento y análisis de índices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FEAE49A-59D3-5C56-7459-1E6F3304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ADD1FB4-FBEC-1BDB-C667-F4BD7BBB8B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A1E74C3-008B-A2CF-CE78-F8D3394F744F}"/>
              </a:ext>
            </a:extLst>
          </p:cNvPr>
          <p:cNvSpPr txBox="1"/>
          <p:nvPr/>
        </p:nvSpPr>
        <p:spPr>
          <a:xfrm>
            <a:off x="261636" y="1375644"/>
            <a:ext cx="37343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--Ver indices</a:t>
            </a:r>
          </a:p>
          <a:p>
            <a:r>
              <a:rPr lang="en-US" sz="1200" dirty="0"/>
              <a:t>SELECT </a:t>
            </a:r>
            <a:r>
              <a:rPr lang="en-US" sz="1200" dirty="0" err="1"/>
              <a:t>index_name</a:t>
            </a:r>
            <a:r>
              <a:rPr lang="en-US" sz="1200" dirty="0"/>
              <a:t>, </a:t>
            </a:r>
            <a:r>
              <a:rPr lang="en-US" sz="1200" dirty="0" err="1"/>
              <a:t>index_type</a:t>
            </a:r>
            <a:r>
              <a:rPr lang="en-US" sz="1200" dirty="0"/>
              <a:t>, </a:t>
            </a:r>
            <a:r>
              <a:rPr lang="en-US" sz="1200" dirty="0" err="1"/>
              <a:t>table_name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user_indexes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--Ver columnas</a:t>
            </a:r>
          </a:p>
          <a:p>
            <a:r>
              <a:rPr lang="en-US" sz="1200" dirty="0"/>
              <a:t>SELECT </a:t>
            </a:r>
            <a:r>
              <a:rPr lang="en-US" sz="1200" dirty="0" err="1"/>
              <a:t>index_name</a:t>
            </a:r>
            <a:r>
              <a:rPr lang="en-US" sz="1200" dirty="0"/>
              <a:t>, </a:t>
            </a:r>
            <a:r>
              <a:rPr lang="en-US" sz="1200" dirty="0" err="1"/>
              <a:t>column_name</a:t>
            </a:r>
            <a:r>
              <a:rPr lang="en-US" sz="1200" dirty="0"/>
              <a:t>, </a:t>
            </a:r>
            <a:r>
              <a:rPr lang="en-US" sz="1200" dirty="0" err="1"/>
              <a:t>column_position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user_ind_columns</a:t>
            </a:r>
            <a:endParaRPr lang="en-US" sz="1200" dirty="0"/>
          </a:p>
          <a:p>
            <a:r>
              <a:rPr lang="en-US" sz="1200" dirty="0"/>
              <a:t>WHERE </a:t>
            </a:r>
            <a:r>
              <a:rPr lang="en-US" sz="1200" dirty="0" err="1"/>
              <a:t>table_name</a:t>
            </a:r>
            <a:r>
              <a:rPr lang="en-US" sz="1200" dirty="0"/>
              <a:t> = 'EMPLEADOS’;</a:t>
            </a:r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n-US" sz="1200" dirty="0" err="1"/>
              <a:t>Recompilar</a:t>
            </a:r>
            <a:r>
              <a:rPr lang="en-US" sz="1200" dirty="0"/>
              <a:t> </a:t>
            </a:r>
            <a:r>
              <a:rPr lang="en-US" sz="1200" dirty="0" err="1"/>
              <a:t>Indice</a:t>
            </a:r>
            <a:endParaRPr lang="en-US" sz="1200" dirty="0"/>
          </a:p>
          <a:p>
            <a:r>
              <a:rPr lang="en-US" sz="1200" dirty="0"/>
              <a:t>ALTER INDEX </a:t>
            </a:r>
            <a:r>
              <a:rPr lang="en-US" sz="1200" dirty="0" err="1"/>
              <a:t>idx_empleados_nombre</a:t>
            </a:r>
            <a:r>
              <a:rPr lang="en-US" sz="1200" dirty="0"/>
              <a:t> REBUILD;</a:t>
            </a:r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n-US" sz="1200" dirty="0" err="1"/>
              <a:t>Eliminar</a:t>
            </a:r>
            <a:endParaRPr lang="en-US" sz="1200" dirty="0"/>
          </a:p>
          <a:p>
            <a:r>
              <a:rPr lang="es-ES" sz="1200" dirty="0"/>
              <a:t>DROP INDEX </a:t>
            </a:r>
            <a:r>
              <a:rPr lang="es-ES" sz="1200" dirty="0" err="1"/>
              <a:t>idx_empleados_nombre</a:t>
            </a:r>
            <a:r>
              <a:rPr lang="es-ES" sz="1200" dirty="0"/>
              <a:t>;</a:t>
            </a:r>
          </a:p>
          <a:p>
            <a:endParaRPr lang="en-US" sz="12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122D4678-BFD5-FC9A-57FF-260E41748587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Cuando no usar índices</a:t>
            </a:r>
          </a:p>
          <a:p>
            <a:pPr marL="877888" lvl="2" indent="-342900"/>
            <a:r>
              <a:rPr lang="es-ES" sz="1400" dirty="0"/>
              <a:t>En tablas muy pequeñas (Oracle hace full table </a:t>
            </a:r>
            <a:r>
              <a:rPr lang="es-ES" sz="1400" dirty="0" err="1"/>
              <a:t>scan</a:t>
            </a:r>
            <a:r>
              <a:rPr lang="es-ES" sz="1400" dirty="0"/>
              <a:t> más rápido).</a:t>
            </a:r>
          </a:p>
          <a:p>
            <a:pPr marL="877888" lvl="2" indent="-342900"/>
            <a:r>
              <a:rPr lang="es-ES" sz="1400" dirty="0"/>
              <a:t>En columnas con baja selectividad (pocos valores distintos).</a:t>
            </a:r>
          </a:p>
          <a:p>
            <a:pPr marL="877888" lvl="2" indent="-342900"/>
            <a:r>
              <a:rPr lang="es-ES" sz="1400" dirty="0"/>
              <a:t>En columnas que cambian constantemente (inserciones/</a:t>
            </a:r>
            <a:r>
              <a:rPr lang="es-ES" sz="1400" dirty="0" err="1"/>
              <a:t>updates</a:t>
            </a:r>
            <a:r>
              <a:rPr lang="es-ES" sz="1400" dirty="0"/>
              <a:t> frecuentes).</a:t>
            </a:r>
          </a:p>
          <a:p>
            <a:pPr marL="877888" lvl="2" indent="-342900"/>
            <a:r>
              <a:rPr lang="es-ES" sz="1400" dirty="0"/>
              <a:t>Cuando el índice no cubre la cláusula WHERE (Oracle lo ignorará).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6786419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BFAB-EB23-80FC-A49E-CF109EAB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1C4F5A2-1152-027E-ACC7-F25D70C4FBD0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6298A7A-907B-E0FE-3371-150EC943F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Cómo Oracle usa los índices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DA73F6D-A2D8-3863-103C-429C16C3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9A0DA50-A0C0-B901-C44E-61C7D386C1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5CA1A3E-7EAF-A541-EDAE-F95CFE7403D1}"/>
              </a:ext>
            </a:extLst>
          </p:cNvPr>
          <p:cNvSpPr txBox="1"/>
          <p:nvPr/>
        </p:nvSpPr>
        <p:spPr>
          <a:xfrm>
            <a:off x="261636" y="1375644"/>
            <a:ext cx="37343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--Ver indices EXPLAIN PLAN </a:t>
            </a:r>
          </a:p>
          <a:p>
            <a:r>
              <a:rPr lang="en-US" sz="1200" dirty="0"/>
              <a:t>EXPLAIN PLAN FOR</a:t>
            </a:r>
          </a:p>
          <a:p>
            <a:r>
              <a:rPr lang="en-US" sz="1200" dirty="0"/>
              <a:t>SELECT * FROM </a:t>
            </a:r>
            <a:r>
              <a:rPr lang="en-US" sz="1200" dirty="0" err="1"/>
              <a:t>empleados</a:t>
            </a:r>
            <a:r>
              <a:rPr lang="en-US" sz="1200" dirty="0"/>
              <a:t> WHERE </a:t>
            </a:r>
            <a:r>
              <a:rPr lang="en-US" sz="1200" dirty="0" err="1"/>
              <a:t>nombre</a:t>
            </a:r>
            <a:r>
              <a:rPr lang="en-US" sz="1200" dirty="0"/>
              <a:t> = 'Laura';</a:t>
            </a:r>
          </a:p>
          <a:p>
            <a:endParaRPr lang="en-US" sz="1200" dirty="0"/>
          </a:p>
          <a:p>
            <a:r>
              <a:rPr lang="en-US" sz="1200" dirty="0"/>
              <a:t>SELECT * FROM TABLE(DBMS_XPLAN.DISPLAY);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997BD14-DFDE-581E-872D-36A58777B5B3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Miramos el plan de ejecución: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Nos muestra el índice que está usando.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8238CB-1F08-2D93-2F7B-EBB23D606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1900728"/>
            <a:ext cx="3855640" cy="98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682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6B05C-3CD9-076C-108C-1E009C35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5CA9A028-671D-D6C0-6C89-1C88CCB9061D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EC44479-CCC4-36B4-5DEF-B5F53BDD4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 err="1"/>
              <a:t>CHECKs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6362BDE-54B1-457F-B788-96348951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D6269D4-59F7-0E6C-3D97-7997991E21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735394-0735-20E6-E492-0E646552E4F3}"/>
              </a:ext>
            </a:extLst>
          </p:cNvPr>
          <p:cNvSpPr txBox="1"/>
          <p:nvPr/>
        </p:nvSpPr>
        <p:spPr>
          <a:xfrm>
            <a:off x="261636" y="1375644"/>
            <a:ext cx="37343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CONSTRAINT </a:t>
            </a:r>
            <a:r>
              <a:rPr lang="fr-FR" sz="1200" dirty="0" err="1"/>
              <a:t>nombre_constraint</a:t>
            </a:r>
            <a:r>
              <a:rPr lang="fr-FR" sz="1200" dirty="0"/>
              <a:t> CHECK (</a:t>
            </a:r>
            <a:r>
              <a:rPr lang="fr-FR" sz="1200" dirty="0" err="1"/>
              <a:t>condición</a:t>
            </a:r>
            <a:r>
              <a:rPr lang="fr-FR" sz="1200" dirty="0"/>
              <a:t>)</a:t>
            </a:r>
          </a:p>
          <a:p>
            <a:endParaRPr lang="fr-FR" sz="1200" dirty="0"/>
          </a:p>
          <a:p>
            <a:endParaRPr lang="en-US" sz="1200" dirty="0"/>
          </a:p>
          <a:p>
            <a:r>
              <a:rPr lang="en-US" sz="1200" dirty="0"/>
              <a:t>--</a:t>
            </a:r>
            <a:r>
              <a:rPr lang="en-US" sz="1200" dirty="0" err="1"/>
              <a:t>Ejemplo</a:t>
            </a:r>
            <a:endParaRPr lang="en-US" sz="1200" dirty="0"/>
          </a:p>
          <a:p>
            <a:r>
              <a:rPr lang="en-US" sz="1200" dirty="0"/>
              <a:t>CREATE TABLE </a:t>
            </a:r>
            <a:r>
              <a:rPr lang="en-US" sz="1200" dirty="0" err="1"/>
              <a:t>empleados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empleado_id</a:t>
            </a:r>
            <a:r>
              <a:rPr lang="en-US" sz="1200" dirty="0"/>
              <a:t> NUMBER PRIMARY KEY,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nombre</a:t>
            </a:r>
            <a:r>
              <a:rPr lang="en-US" sz="1200" dirty="0"/>
              <a:t> VARCHAR2(100) NOT NULL,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salario</a:t>
            </a:r>
            <a:r>
              <a:rPr lang="en-US" sz="1200" dirty="0"/>
              <a:t> NUMBER CHECK (</a:t>
            </a:r>
            <a:r>
              <a:rPr lang="en-US" sz="1200" dirty="0" err="1"/>
              <a:t>salario</a:t>
            </a:r>
            <a:r>
              <a:rPr lang="en-US" sz="1200" dirty="0"/>
              <a:t> &gt; 0)</a:t>
            </a:r>
          </a:p>
          <a:p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ALTER TABLE </a:t>
            </a:r>
            <a:r>
              <a:rPr lang="en-US" sz="1200" dirty="0" err="1"/>
              <a:t>empleados</a:t>
            </a:r>
            <a:endParaRPr lang="en-US" sz="1200" dirty="0"/>
          </a:p>
          <a:p>
            <a:r>
              <a:rPr lang="en-US" sz="1200" dirty="0"/>
              <a:t>ADD CONSTRAINT </a:t>
            </a:r>
            <a:r>
              <a:rPr lang="en-US" sz="1200" dirty="0" err="1"/>
              <a:t>chk_salario_def</a:t>
            </a:r>
            <a:endParaRPr lang="en-US" sz="1200" dirty="0"/>
          </a:p>
          <a:p>
            <a:r>
              <a:rPr lang="en-US" sz="1200" dirty="0"/>
              <a:t>CHECK (</a:t>
            </a:r>
            <a:r>
              <a:rPr lang="en-US" sz="1200" dirty="0" err="1"/>
              <a:t>salario</a:t>
            </a:r>
            <a:r>
              <a:rPr lang="en-US" sz="1200" dirty="0"/>
              <a:t> &gt; 0)</a:t>
            </a:r>
          </a:p>
          <a:p>
            <a:r>
              <a:rPr lang="en-US" sz="1200" dirty="0"/>
              <a:t>DEFERRABLE INITIALLY DEFERRED;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1A859B5E-D65F-DA05-D497-7D73995A537A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Una restricción CHECK valida que los valores de una o varias columnas cumplan una condición lógica.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Si la condición no se cumple, Oracle rechaza la operación INSERT o UPDATE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La condición puede incluir:</a:t>
            </a:r>
          </a:p>
          <a:p>
            <a:pPr marL="877888" lvl="2" indent="-342900"/>
            <a:r>
              <a:rPr lang="es-ES" sz="1400" dirty="0"/>
              <a:t>Operadores de comparación (=, &gt;, &lt;, &gt;=, &lt;=, !=)</a:t>
            </a:r>
          </a:p>
          <a:p>
            <a:pPr marL="877888" lvl="2" indent="-342900"/>
            <a:r>
              <a:rPr lang="es-ES" sz="1400" dirty="0"/>
              <a:t>Operadores lógicos (AND, OR, NOT)</a:t>
            </a:r>
          </a:p>
          <a:p>
            <a:pPr marL="877888" lvl="2" indent="-342900"/>
            <a:r>
              <a:rPr lang="es-ES" sz="1400" dirty="0"/>
              <a:t>Funciones deterministas (LENGTH, UPPER, INSTR, etc.)</a:t>
            </a:r>
          </a:p>
          <a:p>
            <a:pPr marL="877888" lvl="2" indent="-342900"/>
            <a:r>
              <a:rPr lang="es-ES" sz="1400" dirty="0"/>
              <a:t>Rangos o listas (IN, BETWEEN)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Oracle permite que las restricciones CHECK también sean diferidas (verificadas al final de la transacción).</a:t>
            </a:r>
          </a:p>
        </p:txBody>
      </p:sp>
    </p:spTree>
    <p:extLst>
      <p:ext uri="{BB962C8B-B14F-4D97-AF65-F5344CB8AC3E}">
        <p14:creationId xmlns:p14="http://schemas.microsoft.com/office/powerpoint/2010/main" val="14467023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CC6AC-57FE-5B3E-822A-D7A76F62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7B7E0D04-198B-EA45-1D7A-2D52F33360F0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AD6BC08-3D24-85B3-6F17-08F72A708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 err="1"/>
              <a:t>CHECKs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68E5AA8-F0D5-E665-72A0-B8EBAB1B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FDCED18-8542-48D6-EFAC-2CD190B607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4B5FD2C-5834-C61B-FEB9-211EE3EFDE6B}"/>
              </a:ext>
            </a:extLst>
          </p:cNvPr>
          <p:cNvSpPr txBox="1"/>
          <p:nvPr/>
        </p:nvSpPr>
        <p:spPr>
          <a:xfrm>
            <a:off x="261636" y="1375644"/>
            <a:ext cx="37343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CREATE TABLE descuentos (</a:t>
            </a:r>
          </a:p>
          <a:p>
            <a:r>
              <a:rPr lang="es-ES" sz="1200" dirty="0"/>
              <a:t>    id NUMBER PRIMARY KEY,</a:t>
            </a:r>
          </a:p>
          <a:p>
            <a:r>
              <a:rPr lang="es-ES" sz="1200" dirty="0"/>
              <a:t>    tipo VARCHAR2(10),</a:t>
            </a:r>
          </a:p>
          <a:p>
            <a:r>
              <a:rPr lang="es-ES" sz="1200" dirty="0"/>
              <a:t>    porcentaje NUMBER,</a:t>
            </a:r>
          </a:p>
          <a:p>
            <a:r>
              <a:rPr lang="es-ES" sz="1200" dirty="0"/>
              <a:t>    CONSTRAINT </a:t>
            </a:r>
            <a:r>
              <a:rPr lang="es-ES" sz="1200" dirty="0" err="1"/>
              <a:t>chk_tipo_porcentaje</a:t>
            </a:r>
            <a:endParaRPr lang="es-ES" sz="1200" dirty="0"/>
          </a:p>
          <a:p>
            <a:r>
              <a:rPr lang="es-ES" sz="1200" dirty="0"/>
              <a:t>        CHECK (</a:t>
            </a:r>
          </a:p>
          <a:p>
            <a:r>
              <a:rPr lang="es-ES" sz="1200" dirty="0"/>
              <a:t>            (tipo = 'NORMAL' AND porcentaje &lt;= 20)</a:t>
            </a:r>
          </a:p>
          <a:p>
            <a:r>
              <a:rPr lang="es-ES" sz="1200" dirty="0"/>
              <a:t>            OR (tipo = 'PREMIUM' AND porcentaje &lt;= 50)</a:t>
            </a:r>
          </a:p>
          <a:p>
            <a:r>
              <a:rPr lang="es-ES" sz="1200" dirty="0"/>
              <a:t>        )</a:t>
            </a:r>
          </a:p>
          <a:p>
            <a:r>
              <a:rPr lang="es-ES" sz="1200" dirty="0"/>
              <a:t>);</a:t>
            </a:r>
          </a:p>
          <a:p>
            <a:endParaRPr lang="es-ES" sz="1200" dirty="0"/>
          </a:p>
          <a:p>
            <a:endParaRPr lang="es-ES" sz="1200" dirty="0"/>
          </a:p>
          <a:p>
            <a:r>
              <a:rPr lang="es-ES" sz="1200" dirty="0"/>
              <a:t>--Consultar </a:t>
            </a:r>
            <a:r>
              <a:rPr lang="es-ES" sz="1200" dirty="0" err="1"/>
              <a:t>checks</a:t>
            </a:r>
            <a:endParaRPr lang="es-ES" sz="1200" dirty="0"/>
          </a:p>
          <a:p>
            <a:r>
              <a:rPr lang="en-US" sz="1200" dirty="0"/>
              <a:t>SELECT </a:t>
            </a:r>
            <a:r>
              <a:rPr lang="en-US" sz="1200" dirty="0" err="1"/>
              <a:t>constraint_name</a:t>
            </a:r>
            <a:r>
              <a:rPr lang="en-US" sz="1200" dirty="0"/>
              <a:t>, </a:t>
            </a:r>
            <a:r>
              <a:rPr lang="en-US" sz="1200" dirty="0" err="1"/>
              <a:t>search_condition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user_constraints</a:t>
            </a:r>
            <a:endParaRPr lang="en-US" sz="1200" dirty="0"/>
          </a:p>
          <a:p>
            <a:r>
              <a:rPr lang="en-US" sz="1200" dirty="0"/>
              <a:t>WHERE </a:t>
            </a:r>
            <a:r>
              <a:rPr lang="en-US" sz="1200" dirty="0" err="1"/>
              <a:t>table_name</a:t>
            </a:r>
            <a:r>
              <a:rPr lang="en-US" sz="1200" dirty="0"/>
              <a:t> = ‘DESCUENTOS’ AND </a:t>
            </a:r>
            <a:r>
              <a:rPr lang="en-US" sz="1200" dirty="0" err="1"/>
              <a:t>constraint_type</a:t>
            </a:r>
            <a:r>
              <a:rPr lang="en-US" sz="1200" dirty="0"/>
              <a:t> = 'C';</a:t>
            </a:r>
            <a:endParaRPr lang="es-ES" sz="12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53CD7A8B-AA0B-D1F5-C9D5-E7F031FD1876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Restricciones CHECK sobre múltiples columnas dentro de la misma tabla</a:t>
            </a:r>
          </a:p>
        </p:txBody>
      </p:sp>
    </p:spTree>
    <p:extLst>
      <p:ext uri="{BB962C8B-B14F-4D97-AF65-F5344CB8AC3E}">
        <p14:creationId xmlns:p14="http://schemas.microsoft.com/office/powerpoint/2010/main" val="16804768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4F505-6018-D87B-1C3E-8279D5D6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3A76EA4-D074-9AAC-0972-CF4929B95312}"/>
              </a:ext>
            </a:extLst>
          </p:cNvPr>
          <p:cNvSpPr/>
          <p:nvPr/>
        </p:nvSpPr>
        <p:spPr>
          <a:xfrm>
            <a:off x="323528" y="1283523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4BA2697B-48C6-F6DA-86C5-7A3816EB9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 err="1"/>
              <a:t>CHECKs</a:t>
            </a:r>
            <a:r>
              <a:rPr lang="es-ES" sz="4400" dirty="0"/>
              <a:t> Ejemplos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3D340D2-A65C-8F6C-8366-2CF4F1D2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FC1CBCE-5073-DB87-F708-8BCB2110A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6A680AC-C6CC-D18C-6E79-5B43BADE6AEC}"/>
              </a:ext>
            </a:extLst>
          </p:cNvPr>
          <p:cNvSpPr txBox="1"/>
          <p:nvPr/>
        </p:nvSpPr>
        <p:spPr>
          <a:xfrm>
            <a:off x="323528" y="1383561"/>
            <a:ext cx="37343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--Rango de valores numéricos</a:t>
            </a:r>
          </a:p>
          <a:p>
            <a:r>
              <a:rPr lang="en-US" sz="1200" dirty="0"/>
              <a:t>CREATE TABLE </a:t>
            </a:r>
            <a:r>
              <a:rPr lang="en-US" sz="1200" dirty="0" err="1"/>
              <a:t>productos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producto_id</a:t>
            </a:r>
            <a:r>
              <a:rPr lang="en-US" sz="1200" dirty="0"/>
              <a:t> NUMBER PRIMARY KEY,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precio</a:t>
            </a:r>
            <a:r>
              <a:rPr lang="en-US" sz="1200" dirty="0"/>
              <a:t> NUMBER,</a:t>
            </a:r>
          </a:p>
          <a:p>
            <a:r>
              <a:rPr lang="en-US" sz="1200" dirty="0"/>
              <a:t>    CONSTRAINT </a:t>
            </a:r>
            <a:r>
              <a:rPr lang="en-US" sz="1200" dirty="0" err="1"/>
              <a:t>chk_precio_positivo</a:t>
            </a:r>
            <a:r>
              <a:rPr lang="en-US" sz="1200" dirty="0"/>
              <a:t> CHECK (</a:t>
            </a:r>
            <a:r>
              <a:rPr lang="en-US" sz="1200" dirty="0" err="1"/>
              <a:t>precio</a:t>
            </a:r>
            <a:r>
              <a:rPr lang="en-US" sz="1200" dirty="0"/>
              <a:t> &gt;= 0)</a:t>
            </a:r>
          </a:p>
          <a:p>
            <a:r>
              <a:rPr lang="en-US" sz="1200" dirty="0"/>
              <a:t>);</a:t>
            </a:r>
            <a:endParaRPr lang="es-ES" sz="1200" dirty="0"/>
          </a:p>
          <a:p>
            <a:endParaRPr lang="es-ES" sz="1200" dirty="0"/>
          </a:p>
          <a:p>
            <a:r>
              <a:rPr lang="es-ES" sz="1200" dirty="0"/>
              <a:t>--Valores permitidos</a:t>
            </a:r>
          </a:p>
          <a:p>
            <a:r>
              <a:rPr lang="es-ES" sz="1200" dirty="0"/>
              <a:t>CREATE TABLE pedidos (</a:t>
            </a:r>
          </a:p>
          <a:p>
            <a:r>
              <a:rPr lang="es-ES" sz="1200" dirty="0"/>
              <a:t>    </a:t>
            </a:r>
            <a:r>
              <a:rPr lang="es-ES" sz="1200" dirty="0" err="1"/>
              <a:t>pedido_id</a:t>
            </a:r>
            <a:r>
              <a:rPr lang="es-ES" sz="1200" dirty="0"/>
              <a:t> NUMBER PRIMARY KEY,</a:t>
            </a:r>
          </a:p>
          <a:p>
            <a:r>
              <a:rPr lang="es-ES" sz="1200" dirty="0"/>
              <a:t>    estado VARCHAR2(20),</a:t>
            </a:r>
          </a:p>
          <a:p>
            <a:r>
              <a:rPr lang="es-ES" sz="1200" dirty="0"/>
              <a:t>    CONSTRAINT </a:t>
            </a:r>
            <a:r>
              <a:rPr lang="es-ES" sz="1200" dirty="0" err="1"/>
              <a:t>chk_estado_valido</a:t>
            </a:r>
            <a:r>
              <a:rPr lang="es-ES" sz="1200" dirty="0"/>
              <a:t> CHECK (estado IN ('PENDIENTE', 'ENVIADO', 'CANCELADO'))</a:t>
            </a:r>
          </a:p>
          <a:p>
            <a:r>
              <a:rPr lang="es-ES" sz="1200" dirty="0"/>
              <a:t>);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858032-0C91-80C2-2F2A-3529C8F388C7}"/>
              </a:ext>
            </a:extLst>
          </p:cNvPr>
          <p:cNvSpPr/>
          <p:nvPr/>
        </p:nvSpPr>
        <p:spPr>
          <a:xfrm>
            <a:off x="4716016" y="1246993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CBEF8E-594A-9BDE-62F3-5A1EDB666451}"/>
              </a:ext>
            </a:extLst>
          </p:cNvPr>
          <p:cNvSpPr txBox="1"/>
          <p:nvPr/>
        </p:nvSpPr>
        <p:spPr>
          <a:xfrm>
            <a:off x="4716016" y="1347031"/>
            <a:ext cx="37343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--Validación formato </a:t>
            </a:r>
          </a:p>
          <a:p>
            <a:r>
              <a:rPr lang="en-US" sz="1200" dirty="0"/>
              <a:t>CREATE TABLE </a:t>
            </a:r>
            <a:r>
              <a:rPr lang="en-US" sz="1200" dirty="0" err="1"/>
              <a:t>usuarios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usuario_id</a:t>
            </a:r>
            <a:r>
              <a:rPr lang="en-US" sz="1200" dirty="0"/>
              <a:t> NUMBER PRIMARY KEY,</a:t>
            </a:r>
          </a:p>
          <a:p>
            <a:r>
              <a:rPr lang="en-US" sz="1200" dirty="0"/>
              <a:t>    email VARCHAR2(100),</a:t>
            </a:r>
          </a:p>
          <a:p>
            <a:r>
              <a:rPr lang="en-US" sz="1200" dirty="0"/>
              <a:t>    CONSTRAINT </a:t>
            </a:r>
            <a:r>
              <a:rPr lang="en-US" sz="1200" dirty="0" err="1"/>
              <a:t>chk_email_formato</a:t>
            </a:r>
            <a:r>
              <a:rPr lang="en-US" sz="1200" dirty="0"/>
              <a:t> CHECK (INSTR(email, '@') &gt; 1)</a:t>
            </a:r>
          </a:p>
          <a:p>
            <a:r>
              <a:rPr lang="en-US" sz="1200" dirty="0"/>
              <a:t>);</a:t>
            </a:r>
          </a:p>
          <a:p>
            <a:endParaRPr lang="es-ES" sz="1200" dirty="0"/>
          </a:p>
          <a:p>
            <a:r>
              <a:rPr lang="es-ES" sz="1200" dirty="0"/>
              <a:t>--Con </a:t>
            </a:r>
            <a:r>
              <a:rPr lang="es-ES" sz="1200" dirty="0" err="1"/>
              <a:t>Regex</a:t>
            </a:r>
            <a:endParaRPr lang="es-ES" sz="1200" dirty="0"/>
          </a:p>
          <a:p>
            <a:r>
              <a:rPr lang="en-US" sz="1200" dirty="0"/>
              <a:t>CREATE TABLE </a:t>
            </a:r>
            <a:r>
              <a:rPr lang="en-US" sz="1200" dirty="0" err="1"/>
              <a:t>usuarios</a:t>
            </a:r>
            <a:r>
              <a:rPr lang="en-US" sz="1200" dirty="0"/>
              <a:t> (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usuario_id</a:t>
            </a:r>
            <a:r>
              <a:rPr lang="en-US" sz="1200" dirty="0"/>
              <a:t> NUMBER GENERATED BY DEFAULT AS IDENTITY PRIMARY KEY,</a:t>
            </a:r>
          </a:p>
          <a:p>
            <a:r>
              <a:rPr lang="en-US" sz="1200" dirty="0"/>
              <a:t>    email VARCHAR2(100) NOT NULL,</a:t>
            </a:r>
          </a:p>
          <a:p>
            <a:r>
              <a:rPr lang="en-US" sz="1200" dirty="0"/>
              <a:t>    CONSTRAINT </a:t>
            </a:r>
            <a:r>
              <a:rPr lang="en-US" sz="1200" dirty="0" err="1"/>
              <a:t>chk_email_formato</a:t>
            </a:r>
            <a:endParaRPr lang="en-US" sz="1200" dirty="0"/>
          </a:p>
          <a:p>
            <a:r>
              <a:rPr lang="en-US" sz="1200" dirty="0"/>
              <a:t>        CHECK (REGEXP_LIKE(email, '^[A-Za-z0-9._%+-]+@[A-Za-z0-9.-]+\.[A-Za-z]{2,}$'))</a:t>
            </a:r>
          </a:p>
          <a:p>
            <a:r>
              <a:rPr lang="en-US" sz="12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349416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AE491-B6CE-6C90-90ED-AC6B3F8A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8FF7D00-E860-AE13-D8C1-E895DFA2BF09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4A01D6B0-1E90-F0B9-E8D5-2E8A44DE9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 err="1"/>
              <a:t>CHECKs</a:t>
            </a:r>
            <a:r>
              <a:rPr lang="es-ES" sz="4400" dirty="0"/>
              <a:t> con funciones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7BFA838-7D99-F2B7-9A14-4A7468C2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912845D-EA04-854F-A78A-3EB7CAF63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8E5228-C8F8-1435-5902-F9B1BFCFFF0E}"/>
              </a:ext>
            </a:extLst>
          </p:cNvPr>
          <p:cNvSpPr txBox="1"/>
          <p:nvPr/>
        </p:nvSpPr>
        <p:spPr>
          <a:xfrm>
            <a:off x="261636" y="1375644"/>
            <a:ext cx="37343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CREATE OR REPLACE FUNCTION </a:t>
            </a:r>
            <a:r>
              <a:rPr lang="en-US" sz="1200" dirty="0" err="1"/>
              <a:t>es_email_valido</a:t>
            </a:r>
            <a:r>
              <a:rPr lang="en-US" sz="1200" dirty="0"/>
              <a:t>(</a:t>
            </a:r>
            <a:r>
              <a:rPr lang="en-US" sz="1200" dirty="0" err="1"/>
              <a:t>p_email</a:t>
            </a:r>
            <a:r>
              <a:rPr lang="en-US" sz="1200" dirty="0"/>
              <a:t> VARCHAR2)</a:t>
            </a:r>
          </a:p>
          <a:p>
            <a:r>
              <a:rPr lang="en-US" sz="1200" dirty="0"/>
              <a:t>RETURN NUMBER DETERMINISTIC IS</a:t>
            </a:r>
          </a:p>
          <a:p>
            <a:r>
              <a:rPr lang="en-US" sz="1200" dirty="0"/>
              <a:t>BEGIN</a:t>
            </a:r>
          </a:p>
          <a:p>
            <a:r>
              <a:rPr lang="en-US" sz="1200" dirty="0"/>
              <a:t>    IF REGEXP_LIKE(</a:t>
            </a:r>
            <a:r>
              <a:rPr lang="en-US" sz="1200" dirty="0" err="1"/>
              <a:t>p_email</a:t>
            </a:r>
            <a:r>
              <a:rPr lang="en-US" sz="1200" dirty="0"/>
              <a:t>, '^[A-Za-z0-9._%+-]+@[A-Za-z0-9.-]+\.[A-Za-z]{2,}$') THEN</a:t>
            </a:r>
          </a:p>
          <a:p>
            <a:r>
              <a:rPr lang="en-US" sz="1200" dirty="0"/>
              <a:t>        RETURN 1;</a:t>
            </a:r>
          </a:p>
          <a:p>
            <a:r>
              <a:rPr lang="en-US" sz="1200" dirty="0"/>
              <a:t>    ELSE</a:t>
            </a:r>
          </a:p>
          <a:p>
            <a:r>
              <a:rPr lang="en-US" sz="1200" dirty="0"/>
              <a:t>        RETURN 0;</a:t>
            </a:r>
          </a:p>
          <a:p>
            <a:r>
              <a:rPr lang="en-US" sz="1200" dirty="0"/>
              <a:t>    END IF;</a:t>
            </a:r>
          </a:p>
          <a:p>
            <a:r>
              <a:rPr lang="en-US" sz="1200" dirty="0"/>
              <a:t>END;</a:t>
            </a:r>
          </a:p>
          <a:p>
            <a:r>
              <a:rPr lang="en-US" sz="1200" dirty="0"/>
              <a:t>/</a:t>
            </a:r>
            <a:endParaRPr lang="es-ES" sz="1200" dirty="0"/>
          </a:p>
          <a:p>
            <a:endParaRPr lang="es-ES" sz="1200" dirty="0"/>
          </a:p>
          <a:p>
            <a:r>
              <a:rPr lang="es-ES" sz="1200" dirty="0"/>
              <a:t>CREATE TABLE </a:t>
            </a:r>
            <a:r>
              <a:rPr lang="es-ES" sz="1200" dirty="0" err="1"/>
              <a:t>usuarios_func</a:t>
            </a:r>
            <a:r>
              <a:rPr lang="es-ES" sz="1200" dirty="0"/>
              <a:t> (</a:t>
            </a:r>
          </a:p>
          <a:p>
            <a:r>
              <a:rPr lang="es-ES" sz="1200" dirty="0"/>
              <a:t>    </a:t>
            </a:r>
            <a:r>
              <a:rPr lang="es-ES" sz="1200" dirty="0" err="1"/>
              <a:t>usuario_id</a:t>
            </a:r>
            <a:r>
              <a:rPr lang="es-ES" sz="1200" dirty="0"/>
              <a:t> NUMBER GENERATED BY DEFAULT AS IDENTITY PRIMARY KEY,</a:t>
            </a:r>
          </a:p>
          <a:p>
            <a:r>
              <a:rPr lang="es-ES" sz="1200" dirty="0"/>
              <a:t>    email VARCHAR2(100) NOT NULL,</a:t>
            </a:r>
          </a:p>
          <a:p>
            <a:r>
              <a:rPr lang="es-ES" sz="1200" dirty="0"/>
              <a:t>    CONSTRAINT </a:t>
            </a:r>
            <a:r>
              <a:rPr lang="es-ES" sz="1200" dirty="0" err="1"/>
              <a:t>chk_email_valido</a:t>
            </a:r>
            <a:r>
              <a:rPr lang="es-ES" sz="1200" dirty="0"/>
              <a:t> CHECK (</a:t>
            </a:r>
            <a:r>
              <a:rPr lang="es-ES" sz="1200" dirty="0" err="1"/>
              <a:t>es_email_valido</a:t>
            </a:r>
            <a:r>
              <a:rPr lang="es-ES" sz="1200" dirty="0"/>
              <a:t>(email) = 1));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1214182-9CA6-9FAF-8E54-20C7C6BDAEE0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Oracle permite usar funciones deterministas en restricciones CHECK,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Pero hay reglas importantes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Requisitos:</a:t>
            </a:r>
          </a:p>
          <a:p>
            <a:pPr marL="877888" lvl="2" indent="-342900"/>
            <a:r>
              <a:rPr lang="es-ES" sz="1400" dirty="0"/>
              <a:t>La función debe estar definida en el esquema (no anónima).</a:t>
            </a:r>
          </a:p>
          <a:p>
            <a:pPr marL="877888" lvl="2" indent="-342900"/>
            <a:r>
              <a:rPr lang="es-ES" sz="1400" dirty="0"/>
              <a:t>Debe ser pura: no puede modificar datos ni depender de valores externos.</a:t>
            </a:r>
          </a:p>
          <a:p>
            <a:pPr marL="877888" lvl="2" indent="-342900"/>
            <a:r>
              <a:rPr lang="es-ES" sz="1400" dirty="0"/>
              <a:t>Debe estar marcada como DETERMINISTIC (Oracle la puede cachear).</a:t>
            </a:r>
          </a:p>
        </p:txBody>
      </p:sp>
    </p:spTree>
    <p:extLst>
      <p:ext uri="{BB962C8B-B14F-4D97-AF65-F5344CB8AC3E}">
        <p14:creationId xmlns:p14="http://schemas.microsoft.com/office/powerpoint/2010/main" val="37355113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664F5-2A1F-4044-5D26-4962D204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B4F973A0-DD88-F66A-E1C3-D168D997D362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407C482-76A5-9467-4A5D-C87880483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Modificación y eliminación de </a:t>
            </a:r>
            <a:r>
              <a:rPr lang="es-ES" sz="4400" dirty="0" err="1"/>
              <a:t>CHECKs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F76707FA-C00A-36B3-1F28-87DE5E6F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1C5CE44-5975-25F9-CDCE-C721332743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Claves, índices, referencias y </a:t>
            </a:r>
            <a:r>
              <a:rPr lang="es-ES" dirty="0" err="1"/>
              <a:t>checks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3ACDC61-7413-E0C5-ADCB-5D35505EC123}"/>
              </a:ext>
            </a:extLst>
          </p:cNvPr>
          <p:cNvSpPr txBox="1"/>
          <p:nvPr/>
        </p:nvSpPr>
        <p:spPr>
          <a:xfrm>
            <a:off x="261636" y="1375644"/>
            <a:ext cx="37343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--</a:t>
            </a:r>
            <a:r>
              <a:rPr lang="fr-FR" sz="1200" dirty="0" err="1"/>
              <a:t>Añadir</a:t>
            </a:r>
            <a:r>
              <a:rPr lang="fr-FR" sz="1200" dirty="0"/>
              <a:t> un check</a:t>
            </a:r>
          </a:p>
          <a:p>
            <a:r>
              <a:rPr lang="fr-FR" sz="1200" dirty="0"/>
              <a:t>ALTER TABLE </a:t>
            </a:r>
            <a:r>
              <a:rPr lang="fr-FR" sz="1200" dirty="0" err="1"/>
              <a:t>empleados</a:t>
            </a:r>
            <a:endParaRPr lang="fr-FR" sz="1200" dirty="0"/>
          </a:p>
          <a:p>
            <a:r>
              <a:rPr lang="fr-FR" sz="1200" dirty="0"/>
              <a:t>ADD CONSTRAINT </a:t>
            </a:r>
            <a:r>
              <a:rPr lang="fr-FR" sz="1200" dirty="0" err="1"/>
              <a:t>chk_nombre_longitud</a:t>
            </a:r>
            <a:r>
              <a:rPr lang="fr-FR" sz="1200" dirty="0"/>
              <a:t> CHECK (LENGTH(nombre) &gt;= 3);</a:t>
            </a:r>
          </a:p>
          <a:p>
            <a:endParaRPr lang="fr-FR" sz="1200" dirty="0"/>
          </a:p>
          <a:p>
            <a:r>
              <a:rPr lang="en-US" sz="1200" dirty="0"/>
              <a:t>--</a:t>
            </a:r>
            <a:r>
              <a:rPr lang="en-US" sz="1200" dirty="0" err="1"/>
              <a:t>Eliminar</a:t>
            </a:r>
            <a:r>
              <a:rPr lang="en-US" sz="1200" dirty="0"/>
              <a:t> un check</a:t>
            </a:r>
          </a:p>
          <a:p>
            <a:r>
              <a:rPr lang="fr-FR" sz="1200" dirty="0"/>
              <a:t>ALTER TABLE </a:t>
            </a:r>
            <a:r>
              <a:rPr lang="fr-FR" sz="1200" dirty="0" err="1"/>
              <a:t>empleados</a:t>
            </a:r>
            <a:r>
              <a:rPr lang="fr-FR" sz="1200" dirty="0"/>
              <a:t> DROP CONSTRAINT </a:t>
            </a:r>
            <a:r>
              <a:rPr lang="fr-FR" sz="1200" dirty="0" err="1"/>
              <a:t>chk_nombre_longitud</a:t>
            </a:r>
            <a:r>
              <a:rPr lang="fr-FR" sz="1200" dirty="0"/>
              <a:t>;</a:t>
            </a:r>
          </a:p>
          <a:p>
            <a:endParaRPr lang="fr-FR" sz="1200" dirty="0"/>
          </a:p>
          <a:p>
            <a:r>
              <a:rPr lang="fr-FR" sz="1200" dirty="0"/>
              <a:t>--</a:t>
            </a:r>
            <a:r>
              <a:rPr lang="fr-FR" sz="1200" dirty="0" err="1"/>
              <a:t>Desactivar</a:t>
            </a:r>
            <a:endParaRPr lang="fr-FR" sz="1200" dirty="0"/>
          </a:p>
          <a:p>
            <a:r>
              <a:rPr lang="fr-FR" sz="1200" dirty="0"/>
              <a:t>ALTER TABLE </a:t>
            </a:r>
            <a:r>
              <a:rPr lang="fr-FR" sz="1200" dirty="0" err="1"/>
              <a:t>empleados</a:t>
            </a:r>
            <a:r>
              <a:rPr lang="fr-FR" sz="1200" dirty="0"/>
              <a:t> DISABLE CONSTRAINT </a:t>
            </a:r>
            <a:r>
              <a:rPr lang="fr-FR" sz="1200" dirty="0" err="1"/>
              <a:t>chk_nombre_longitud</a:t>
            </a:r>
            <a:r>
              <a:rPr lang="fr-FR" sz="1200" dirty="0"/>
              <a:t>;</a:t>
            </a:r>
          </a:p>
          <a:p>
            <a:endParaRPr lang="fr-FR" sz="1200" dirty="0"/>
          </a:p>
          <a:p>
            <a:r>
              <a:rPr lang="fr-FR" sz="1200" dirty="0"/>
              <a:t>--</a:t>
            </a:r>
            <a:r>
              <a:rPr lang="fr-FR" sz="1200" dirty="0" err="1"/>
              <a:t>Activar</a:t>
            </a:r>
            <a:endParaRPr lang="fr-FR" sz="1200" dirty="0"/>
          </a:p>
          <a:p>
            <a:r>
              <a:rPr lang="fr-FR" sz="1200" dirty="0"/>
              <a:t>ALTER TABLE </a:t>
            </a:r>
            <a:r>
              <a:rPr lang="fr-FR" sz="1200" dirty="0" err="1"/>
              <a:t>empleados</a:t>
            </a:r>
            <a:r>
              <a:rPr lang="fr-FR" sz="1200" dirty="0"/>
              <a:t> ENABLE CONSTRAINT </a:t>
            </a:r>
            <a:r>
              <a:rPr lang="fr-FR" sz="1200" dirty="0" err="1"/>
              <a:t>chk_nombre_longitud</a:t>
            </a:r>
            <a:r>
              <a:rPr lang="fr-FR" sz="1200" dirty="0"/>
              <a:t>;</a:t>
            </a:r>
            <a:endParaRPr lang="en-US" sz="12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B3E9E8A1-4D21-AA59-5518-0DEB7CDD80E9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785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/>
              <a:t>Buenas prácticas con CHECK</a:t>
            </a:r>
          </a:p>
          <a:p>
            <a:pPr marL="877888" lvl="2" indent="-342900"/>
            <a:r>
              <a:rPr lang="es-ES" sz="1400" dirty="0"/>
              <a:t>Haz que la base de datos valide la lógica crítica, no solo la aplicación.</a:t>
            </a:r>
          </a:p>
          <a:p>
            <a:pPr marL="877888" lvl="2" indent="-342900"/>
            <a:r>
              <a:rPr lang="es-ES" sz="1400" dirty="0"/>
              <a:t>Usa nombres descriptivos para las restricciones.</a:t>
            </a:r>
          </a:p>
          <a:p>
            <a:pPr marL="877888" lvl="2" indent="-342900"/>
            <a:r>
              <a:rPr lang="es-ES" sz="1400" dirty="0"/>
              <a:t>Evita funciones no deterministas (SYSDATE, DBMS_RANDOM, etc.).</a:t>
            </a:r>
          </a:p>
          <a:p>
            <a:pPr marL="877888" lvl="2" indent="-342900"/>
            <a:r>
              <a:rPr lang="es-ES" sz="1400" dirty="0"/>
              <a:t>Documenta las reglas en la definición del esquema.</a:t>
            </a:r>
          </a:p>
          <a:p>
            <a:pPr marL="877888" lvl="2" indent="-342900"/>
            <a:r>
              <a:rPr lang="es-ES" sz="1400" dirty="0"/>
              <a:t>No abuses de CHECK si la validación depende de otras tablas (usa </a:t>
            </a:r>
            <a:r>
              <a:rPr lang="es-ES" sz="1400" dirty="0" err="1"/>
              <a:t>triggers</a:t>
            </a:r>
            <a:r>
              <a:rPr lang="es-ES" sz="1400" dirty="0"/>
              <a:t> o integridad referencial en su lugar).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0506E6-F75B-4C70-285B-097F76E3FCC8}"/>
              </a:ext>
            </a:extLst>
          </p:cNvPr>
          <p:cNvSpPr txBox="1"/>
          <p:nvPr/>
        </p:nvSpPr>
        <p:spPr>
          <a:xfrm>
            <a:off x="7343135" y="4731990"/>
            <a:ext cx="177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0" dirty="0">
                <a:solidFill>
                  <a:srgbClr val="FF6A00"/>
                </a:solidFill>
                <a:effectLst/>
                <a:latin typeface="-apple-system"/>
              </a:rPr>
              <a:t>sesion1-checks.sql</a:t>
            </a:r>
          </a:p>
        </p:txBody>
      </p:sp>
    </p:spTree>
    <p:extLst>
      <p:ext uri="{BB962C8B-B14F-4D97-AF65-F5344CB8AC3E}">
        <p14:creationId xmlns:p14="http://schemas.microsoft.com/office/powerpoint/2010/main" val="24456764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illa TICARUM 2017 v1.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TICARUM 2017 v1.1</Template>
  <TotalTime>4379</TotalTime>
  <Words>7692</Words>
  <Application>Microsoft Office PowerPoint</Application>
  <PresentationFormat>Presentación en pantalla (16:9)</PresentationFormat>
  <Paragraphs>1122</Paragraphs>
  <Slides>75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75</vt:i4>
      </vt:variant>
    </vt:vector>
  </HeadingPairs>
  <TitlesOfParts>
    <vt:vector size="86" baseType="lpstr">
      <vt:lpstr>-apple-system</vt:lpstr>
      <vt:lpstr>Aptos Narrow</vt:lpstr>
      <vt:lpstr>Arial</vt:lpstr>
      <vt:lpstr>Arial Unicode MS</vt:lpstr>
      <vt:lpstr>Calibri</vt:lpstr>
      <vt:lpstr>Calibri Light</vt:lpstr>
      <vt:lpstr>Courier New</vt:lpstr>
      <vt:lpstr>inherit</vt:lpstr>
      <vt:lpstr>Segoe UI</vt:lpstr>
      <vt:lpstr>ui-monospace</vt:lpstr>
      <vt:lpstr>Plantilla TICARUM 2017 v1.0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Oracle SQL Developer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Creación de tablas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Claves, índices, referencias y checks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¡Muchas Gracias!</vt:lpstr>
    </vt:vector>
  </TitlesOfParts>
  <Company>Universidad de Murcia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MUNUERA RUIZ</dc:creator>
  <cp:lastModifiedBy>PEDRO MUNUERA RUIZ</cp:lastModifiedBy>
  <cp:revision>52</cp:revision>
  <dcterms:created xsi:type="dcterms:W3CDTF">2025-10-27T20:26:45Z</dcterms:created>
  <dcterms:modified xsi:type="dcterms:W3CDTF">2025-11-10T14:39:55Z</dcterms:modified>
</cp:coreProperties>
</file>