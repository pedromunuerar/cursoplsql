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5" r:id="rId3"/>
    <p:sldId id="266" r:id="rId4"/>
    <p:sldId id="258" r:id="rId5"/>
    <p:sldId id="263" r:id="rId6"/>
    <p:sldId id="306" r:id="rId7"/>
    <p:sldId id="308" r:id="rId8"/>
    <p:sldId id="309" r:id="rId9"/>
    <p:sldId id="325" r:id="rId10"/>
    <p:sldId id="326" r:id="rId11"/>
    <p:sldId id="327" r:id="rId12"/>
    <p:sldId id="328" r:id="rId13"/>
    <p:sldId id="329" r:id="rId14"/>
    <p:sldId id="310" r:id="rId15"/>
    <p:sldId id="311" r:id="rId16"/>
    <p:sldId id="312" r:id="rId17"/>
    <p:sldId id="313" r:id="rId18"/>
    <p:sldId id="314" r:id="rId19"/>
    <p:sldId id="315" r:id="rId20"/>
    <p:sldId id="321" r:id="rId21"/>
    <p:sldId id="322" r:id="rId22"/>
    <p:sldId id="323" r:id="rId23"/>
    <p:sldId id="324" r:id="rId24"/>
    <p:sldId id="317" r:id="rId25"/>
    <p:sldId id="316" r:id="rId26"/>
    <p:sldId id="318" r:id="rId27"/>
    <p:sldId id="319" r:id="rId28"/>
    <p:sldId id="320" r:id="rId29"/>
    <p:sldId id="330" r:id="rId30"/>
    <p:sldId id="331" r:id="rId31"/>
    <p:sldId id="332" r:id="rId32"/>
    <p:sldId id="259" r:id="rId33"/>
  </p:sldIdLst>
  <p:sldSz cx="9144000" cy="5143500" type="screen16x9"/>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B00"/>
    <a:srgbClr val="FF6A00"/>
    <a:srgbClr val="F26D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19" autoAdjust="0"/>
  </p:normalViewPr>
  <p:slideViewPr>
    <p:cSldViewPr>
      <p:cViewPr varScale="1">
        <p:scale>
          <a:sx n="117" d="100"/>
          <a:sy n="117" d="100"/>
        </p:scale>
        <p:origin x="1434" y="10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413A81-F6F4-48F1-9240-6625495FC0FC}" type="datetimeFigureOut">
              <a:rPr lang="es-ES" smtClean="0"/>
              <a:pPr/>
              <a:t>18/11/2025</a:t>
            </a:fld>
            <a:endParaRPr lang="es-ES"/>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80AE22-138E-4CE0-8F43-3DD4BBCBCB7D}" type="slidenum">
              <a:rPr lang="es-ES" smtClean="0"/>
              <a:pPr/>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580AE22-138E-4CE0-8F43-3DD4BBCBCB7D}" type="slidenum">
              <a:rPr lang="es-ES" smtClean="0"/>
              <a:pPr/>
              <a:t>5</a:t>
            </a:fld>
            <a:endParaRPr lang="es-ES"/>
          </a:p>
        </p:txBody>
      </p:sp>
    </p:spTree>
    <p:extLst>
      <p:ext uri="{BB962C8B-B14F-4D97-AF65-F5344CB8AC3E}">
        <p14:creationId xmlns:p14="http://schemas.microsoft.com/office/powerpoint/2010/main" val="2458780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51CBC-1686-183C-E426-6A0F3B0BEF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2EBE11-FFA4-7A50-C973-5F7AECDE6D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582B26-C08E-EFC6-0C60-74816EDC23A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607C78C-95C2-33D8-122D-07F10FCA48B1}"/>
              </a:ext>
            </a:extLst>
          </p:cNvPr>
          <p:cNvSpPr>
            <a:spLocks noGrp="1"/>
          </p:cNvSpPr>
          <p:nvPr>
            <p:ph type="sldNum" sz="quarter" idx="5"/>
          </p:nvPr>
        </p:nvSpPr>
        <p:spPr/>
        <p:txBody>
          <a:bodyPr/>
          <a:lstStyle/>
          <a:p>
            <a:fld id="{E580AE22-138E-4CE0-8F43-3DD4BBCBCB7D}" type="slidenum">
              <a:rPr lang="es-ES" smtClean="0"/>
              <a:pPr/>
              <a:t>7</a:t>
            </a:fld>
            <a:endParaRPr lang="es-ES"/>
          </a:p>
        </p:txBody>
      </p:sp>
    </p:spTree>
    <p:extLst>
      <p:ext uri="{BB962C8B-B14F-4D97-AF65-F5344CB8AC3E}">
        <p14:creationId xmlns:p14="http://schemas.microsoft.com/office/powerpoint/2010/main" val="652496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64024-AFBF-3AC7-2FD8-FA9809D195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51A967-AF3F-5009-5E10-E474EE43D1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F6029D-6A89-21E8-6C39-FB561A8FE9B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CAB7021-2C9E-D4BC-1034-00B56CA08697}"/>
              </a:ext>
            </a:extLst>
          </p:cNvPr>
          <p:cNvSpPr>
            <a:spLocks noGrp="1"/>
          </p:cNvSpPr>
          <p:nvPr>
            <p:ph type="sldNum" sz="quarter" idx="5"/>
          </p:nvPr>
        </p:nvSpPr>
        <p:spPr/>
        <p:txBody>
          <a:bodyPr/>
          <a:lstStyle/>
          <a:p>
            <a:fld id="{E580AE22-138E-4CE0-8F43-3DD4BBCBCB7D}" type="slidenum">
              <a:rPr lang="es-ES" smtClean="0"/>
              <a:pPr/>
              <a:t>9</a:t>
            </a:fld>
            <a:endParaRPr lang="es-ES"/>
          </a:p>
        </p:txBody>
      </p:sp>
    </p:spTree>
    <p:extLst>
      <p:ext uri="{BB962C8B-B14F-4D97-AF65-F5344CB8AC3E}">
        <p14:creationId xmlns:p14="http://schemas.microsoft.com/office/powerpoint/2010/main" val="1906094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580AE22-138E-4CE0-8F43-3DD4BBCBCB7D}" type="slidenum">
              <a:rPr lang="es-ES" smtClean="0"/>
              <a:pPr/>
              <a:t>11</a:t>
            </a:fld>
            <a:endParaRPr lang="es-ES"/>
          </a:p>
        </p:txBody>
      </p:sp>
    </p:spTree>
    <p:extLst>
      <p:ext uri="{BB962C8B-B14F-4D97-AF65-F5344CB8AC3E}">
        <p14:creationId xmlns:p14="http://schemas.microsoft.com/office/powerpoint/2010/main" val="3401651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8E48B-B9DE-0CE5-3A5B-8B8A432A6A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31E815-820C-40ED-C42D-D7DB30F1E2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78DA68-7517-8BD9-0D5C-31067D2363E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DB5E982-39B8-A5E9-9B87-4C21354482E7}"/>
              </a:ext>
            </a:extLst>
          </p:cNvPr>
          <p:cNvSpPr>
            <a:spLocks noGrp="1"/>
          </p:cNvSpPr>
          <p:nvPr>
            <p:ph type="sldNum" sz="quarter" idx="5"/>
          </p:nvPr>
        </p:nvSpPr>
        <p:spPr/>
        <p:txBody>
          <a:bodyPr/>
          <a:lstStyle/>
          <a:p>
            <a:fld id="{E580AE22-138E-4CE0-8F43-3DD4BBCBCB7D}" type="slidenum">
              <a:rPr lang="es-ES" smtClean="0"/>
              <a:pPr/>
              <a:t>14</a:t>
            </a:fld>
            <a:endParaRPr lang="es-ES"/>
          </a:p>
        </p:txBody>
      </p:sp>
    </p:spTree>
    <p:extLst>
      <p:ext uri="{BB962C8B-B14F-4D97-AF65-F5344CB8AC3E}">
        <p14:creationId xmlns:p14="http://schemas.microsoft.com/office/powerpoint/2010/main" val="3288424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14ADE-300A-5915-5D20-99EFE79F56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7A05A3-8487-21F3-8202-993C4804DD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7B1B10-8C1D-FE6D-6FE1-71172E093C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E41DFF7-EAF9-87F0-3172-2D3AD77B8E40}"/>
              </a:ext>
            </a:extLst>
          </p:cNvPr>
          <p:cNvSpPr>
            <a:spLocks noGrp="1"/>
          </p:cNvSpPr>
          <p:nvPr>
            <p:ph type="sldNum" sz="quarter" idx="5"/>
          </p:nvPr>
        </p:nvSpPr>
        <p:spPr/>
        <p:txBody>
          <a:bodyPr/>
          <a:lstStyle/>
          <a:p>
            <a:fld id="{E580AE22-138E-4CE0-8F43-3DD4BBCBCB7D}" type="slidenum">
              <a:rPr lang="es-ES" smtClean="0"/>
              <a:pPr/>
              <a:t>16</a:t>
            </a:fld>
            <a:endParaRPr lang="es-ES"/>
          </a:p>
        </p:txBody>
      </p:sp>
    </p:spTree>
    <p:extLst>
      <p:ext uri="{BB962C8B-B14F-4D97-AF65-F5344CB8AC3E}">
        <p14:creationId xmlns:p14="http://schemas.microsoft.com/office/powerpoint/2010/main" val="2774433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C1AC2-2579-73FE-8738-A90F9A7C5D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015182-196C-2EE3-1F0B-101917FB8A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CF1F77-D9FC-E054-083D-4701B7E0F44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E0F00F4-469C-17C3-51AF-B55CAEF587EC}"/>
              </a:ext>
            </a:extLst>
          </p:cNvPr>
          <p:cNvSpPr>
            <a:spLocks noGrp="1"/>
          </p:cNvSpPr>
          <p:nvPr>
            <p:ph type="sldNum" sz="quarter" idx="5"/>
          </p:nvPr>
        </p:nvSpPr>
        <p:spPr/>
        <p:txBody>
          <a:bodyPr/>
          <a:lstStyle/>
          <a:p>
            <a:fld id="{E580AE22-138E-4CE0-8F43-3DD4BBCBCB7D}" type="slidenum">
              <a:rPr lang="es-ES" smtClean="0"/>
              <a:pPr/>
              <a:t>18</a:t>
            </a:fld>
            <a:endParaRPr lang="es-ES"/>
          </a:p>
        </p:txBody>
      </p:sp>
    </p:spTree>
    <p:extLst>
      <p:ext uri="{BB962C8B-B14F-4D97-AF65-F5344CB8AC3E}">
        <p14:creationId xmlns:p14="http://schemas.microsoft.com/office/powerpoint/2010/main" val="1374413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76B86-3236-31ED-BBD6-71ADE05588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77E69D-6888-D704-6E26-0D270BC0A9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FDCDF8-1DBB-6C75-CD1D-B533BB47083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DC0AB06-151C-08D4-40D0-13A36B32C3BE}"/>
              </a:ext>
            </a:extLst>
          </p:cNvPr>
          <p:cNvSpPr>
            <a:spLocks noGrp="1"/>
          </p:cNvSpPr>
          <p:nvPr>
            <p:ph type="sldNum" sz="quarter" idx="5"/>
          </p:nvPr>
        </p:nvSpPr>
        <p:spPr/>
        <p:txBody>
          <a:bodyPr/>
          <a:lstStyle/>
          <a:p>
            <a:fld id="{E580AE22-138E-4CE0-8F43-3DD4BBCBCB7D}" type="slidenum">
              <a:rPr lang="es-ES" smtClean="0"/>
              <a:pPr/>
              <a:t>20</a:t>
            </a:fld>
            <a:endParaRPr lang="es-ES"/>
          </a:p>
        </p:txBody>
      </p:sp>
    </p:spTree>
    <p:extLst>
      <p:ext uri="{BB962C8B-B14F-4D97-AF65-F5344CB8AC3E}">
        <p14:creationId xmlns:p14="http://schemas.microsoft.com/office/powerpoint/2010/main" val="1256965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FD13B-BB9F-D4D3-8C45-13D5EE6BC8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0374E7-DBD2-54BF-9DBB-CF23147387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B43CE7-93DD-6E19-384E-7753CE4AFBA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591F14F-04B0-A079-59B7-61F35FA3DF89}"/>
              </a:ext>
            </a:extLst>
          </p:cNvPr>
          <p:cNvSpPr>
            <a:spLocks noGrp="1"/>
          </p:cNvSpPr>
          <p:nvPr>
            <p:ph type="sldNum" sz="quarter" idx="5"/>
          </p:nvPr>
        </p:nvSpPr>
        <p:spPr/>
        <p:txBody>
          <a:bodyPr/>
          <a:lstStyle/>
          <a:p>
            <a:fld id="{E580AE22-138E-4CE0-8F43-3DD4BBCBCB7D}" type="slidenum">
              <a:rPr lang="es-ES" smtClean="0"/>
              <a:pPr/>
              <a:t>22</a:t>
            </a:fld>
            <a:endParaRPr lang="es-ES"/>
          </a:p>
        </p:txBody>
      </p:sp>
    </p:spTree>
    <p:extLst>
      <p:ext uri="{BB962C8B-B14F-4D97-AF65-F5344CB8AC3E}">
        <p14:creationId xmlns:p14="http://schemas.microsoft.com/office/powerpoint/2010/main" val="588281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781AC-E7F2-C5DC-431C-48A527941D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64E013-C8B5-C623-6EAF-43867644A9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360EFA-0802-DF91-E4C7-7000604F9E3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A2A2D5E-5379-9730-BC3D-461C115EFDB5}"/>
              </a:ext>
            </a:extLst>
          </p:cNvPr>
          <p:cNvSpPr>
            <a:spLocks noGrp="1"/>
          </p:cNvSpPr>
          <p:nvPr>
            <p:ph type="sldNum" sz="quarter" idx="5"/>
          </p:nvPr>
        </p:nvSpPr>
        <p:spPr/>
        <p:txBody>
          <a:bodyPr/>
          <a:lstStyle/>
          <a:p>
            <a:fld id="{E580AE22-138E-4CE0-8F43-3DD4BBCBCB7D}" type="slidenum">
              <a:rPr lang="es-ES" smtClean="0"/>
              <a:pPr/>
              <a:t>23</a:t>
            </a:fld>
            <a:endParaRPr lang="es-ES"/>
          </a:p>
        </p:txBody>
      </p:sp>
    </p:spTree>
    <p:extLst>
      <p:ext uri="{BB962C8B-B14F-4D97-AF65-F5344CB8AC3E}">
        <p14:creationId xmlns:p14="http://schemas.microsoft.com/office/powerpoint/2010/main" val="1058441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8F29-7900-C516-22FD-47FAEC9D7A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D13936-9E1C-5DDC-A641-B8AFA22F88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27FCA2-BCD9-89E4-BB9C-2EBA4B2FD84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EB856B-B10B-E10A-D582-F7488157324E}"/>
              </a:ext>
            </a:extLst>
          </p:cNvPr>
          <p:cNvSpPr>
            <a:spLocks noGrp="1"/>
          </p:cNvSpPr>
          <p:nvPr>
            <p:ph type="sldNum" sz="quarter" idx="5"/>
          </p:nvPr>
        </p:nvSpPr>
        <p:spPr/>
        <p:txBody>
          <a:bodyPr/>
          <a:lstStyle/>
          <a:p>
            <a:fld id="{E580AE22-138E-4CE0-8F43-3DD4BBCBCB7D}" type="slidenum">
              <a:rPr lang="es-ES" smtClean="0"/>
              <a:pPr/>
              <a:t>24</a:t>
            </a:fld>
            <a:endParaRPr lang="es-ES"/>
          </a:p>
        </p:txBody>
      </p:sp>
    </p:spTree>
    <p:extLst>
      <p:ext uri="{BB962C8B-B14F-4D97-AF65-F5344CB8AC3E}">
        <p14:creationId xmlns:p14="http://schemas.microsoft.com/office/powerpoint/2010/main" val="538392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33B4-7FDC-4D10-98CB-DC9859526E4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E88662-44D3-F7A1-F21F-6DE5601A56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29CEE26-388E-5945-CBCC-A353AC0A040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F8E5D03-2D26-2614-E313-BAEC21912C51}"/>
              </a:ext>
            </a:extLst>
          </p:cNvPr>
          <p:cNvSpPr>
            <a:spLocks noGrp="1"/>
          </p:cNvSpPr>
          <p:nvPr>
            <p:ph type="sldNum" sz="quarter" idx="5"/>
          </p:nvPr>
        </p:nvSpPr>
        <p:spPr/>
        <p:txBody>
          <a:bodyPr/>
          <a:lstStyle/>
          <a:p>
            <a:fld id="{E580AE22-138E-4CE0-8F43-3DD4BBCBCB7D}" type="slidenum">
              <a:rPr lang="es-ES" smtClean="0"/>
              <a:pPr/>
              <a:t>30</a:t>
            </a:fld>
            <a:endParaRPr lang="es-ES"/>
          </a:p>
        </p:txBody>
      </p:sp>
    </p:spTree>
    <p:extLst>
      <p:ext uri="{BB962C8B-B14F-4D97-AF65-F5344CB8AC3E}">
        <p14:creationId xmlns:p14="http://schemas.microsoft.com/office/powerpoint/2010/main" val="394155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ortada - 1 sencilla">
    <p:spTree>
      <p:nvGrpSpPr>
        <p:cNvPr id="1" name=""/>
        <p:cNvGrpSpPr/>
        <p:nvPr/>
      </p:nvGrpSpPr>
      <p:grpSpPr>
        <a:xfrm>
          <a:off x="0" y="0"/>
          <a:ext cx="0" cy="0"/>
          <a:chOff x="0" y="0"/>
          <a:chExt cx="0" cy="0"/>
        </a:xfrm>
      </p:grpSpPr>
      <p:sp>
        <p:nvSpPr>
          <p:cNvPr id="7" name="6 Rectángulo"/>
          <p:cNvSpPr/>
          <p:nvPr userDrawn="1"/>
        </p:nvSpPr>
        <p:spPr>
          <a:xfrm>
            <a:off x="0" y="1995686"/>
            <a:ext cx="9144000" cy="3147814"/>
          </a:xfrm>
          <a:prstGeom prst="rect">
            <a:avLst/>
          </a:prstGeom>
          <a:solidFill>
            <a:srgbClr val="FF6B00">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ctrTitle" hasCustomPrompt="1"/>
          </p:nvPr>
        </p:nvSpPr>
        <p:spPr>
          <a:xfrm>
            <a:off x="251520" y="411511"/>
            <a:ext cx="7772400" cy="720080"/>
          </a:xfrm>
        </p:spPr>
        <p:txBody>
          <a:bodyPr>
            <a:noAutofit/>
          </a:bodyPr>
          <a:lstStyle>
            <a:lvl1pPr algn="l">
              <a:defRPr sz="4000">
                <a:solidFill>
                  <a:srgbClr val="FF6B00"/>
                </a:solidFill>
              </a:defRPr>
            </a:lvl1pPr>
          </a:lstStyle>
          <a:p>
            <a:r>
              <a:rPr lang="es-ES" dirty="0"/>
              <a:t>Título de la presentación</a:t>
            </a:r>
          </a:p>
        </p:txBody>
      </p:sp>
      <p:sp>
        <p:nvSpPr>
          <p:cNvPr id="3" name="2 Subtítulo"/>
          <p:cNvSpPr>
            <a:spLocks noGrp="1"/>
          </p:cNvSpPr>
          <p:nvPr>
            <p:ph type="subTitle" idx="1"/>
          </p:nvPr>
        </p:nvSpPr>
        <p:spPr>
          <a:xfrm>
            <a:off x="251520" y="1131590"/>
            <a:ext cx="7776864" cy="576064"/>
          </a:xfrm>
        </p:spPr>
        <p:txBody>
          <a:bodyPr>
            <a:noAutofit/>
          </a:bodyPr>
          <a:lstStyle>
            <a:lvl1pPr marL="0" indent="0" algn="l">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 dirty="0"/>
          </a:p>
        </p:txBody>
      </p:sp>
      <p:pic>
        <p:nvPicPr>
          <p:cNvPr id="6" name="5 Imagen" descr="TICARUM_larga-abajo_blanco-naranja_web_72dpi_transparente.png"/>
          <p:cNvPicPr>
            <a:picLocks noChangeAspect="1"/>
          </p:cNvPicPr>
          <p:nvPr userDrawn="1"/>
        </p:nvPicPr>
        <p:blipFill>
          <a:blip r:embed="rId2" cstate="print"/>
          <a:stretch>
            <a:fillRect/>
          </a:stretch>
        </p:blipFill>
        <p:spPr>
          <a:xfrm>
            <a:off x="6732240" y="3939902"/>
            <a:ext cx="2123728" cy="92297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Portada - 2">
    <p:spTree>
      <p:nvGrpSpPr>
        <p:cNvPr id="1" name=""/>
        <p:cNvGrpSpPr/>
        <p:nvPr/>
      </p:nvGrpSpPr>
      <p:grpSpPr>
        <a:xfrm>
          <a:off x="0" y="0"/>
          <a:ext cx="0" cy="0"/>
          <a:chOff x="0" y="0"/>
          <a:chExt cx="0" cy="0"/>
        </a:xfrm>
      </p:grpSpPr>
      <p:pic>
        <p:nvPicPr>
          <p:cNvPr id="16386" name="Picture 2" descr="Resultado de imagen de network background"/>
          <p:cNvPicPr>
            <a:picLocks noChangeAspect="1" noChangeArrowheads="1"/>
          </p:cNvPicPr>
          <p:nvPr userDrawn="1"/>
        </p:nvPicPr>
        <p:blipFill>
          <a:blip r:embed="rId2" cstate="print">
            <a:duotone>
              <a:prstClr val="black"/>
              <a:schemeClr val="accent6">
                <a:tint val="45000"/>
                <a:satMod val="400000"/>
              </a:schemeClr>
            </a:duotone>
          </a:blip>
          <a:stretch>
            <a:fillRect/>
          </a:stretch>
        </p:blipFill>
        <p:spPr bwMode="auto">
          <a:xfrm>
            <a:off x="0" y="0"/>
            <a:ext cx="9144000" cy="5143500"/>
          </a:xfrm>
          <a:prstGeom prst="rect">
            <a:avLst/>
          </a:prstGeom>
          <a:noFill/>
          <a:ln>
            <a:noFill/>
          </a:ln>
        </p:spPr>
      </p:pic>
      <p:sp>
        <p:nvSpPr>
          <p:cNvPr id="9" name="8 Rectángulo"/>
          <p:cNvSpPr/>
          <p:nvPr userDrawn="1"/>
        </p:nvSpPr>
        <p:spPr>
          <a:xfrm>
            <a:off x="0" y="0"/>
            <a:ext cx="9144000" cy="1995686"/>
          </a:xfrm>
          <a:prstGeom prst="rect">
            <a:avLst/>
          </a:prstGeom>
          <a:solidFill>
            <a:schemeClr val="bg1">
              <a:alpha val="9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userDrawn="1"/>
        </p:nvSpPr>
        <p:spPr>
          <a:xfrm>
            <a:off x="0" y="1995686"/>
            <a:ext cx="9144000" cy="3147814"/>
          </a:xfrm>
          <a:prstGeom prst="rect">
            <a:avLst/>
          </a:prstGeom>
          <a:solidFill>
            <a:srgbClr val="FF6B00">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ctrTitle" hasCustomPrompt="1"/>
          </p:nvPr>
        </p:nvSpPr>
        <p:spPr>
          <a:xfrm>
            <a:off x="251520" y="411511"/>
            <a:ext cx="7772400" cy="720080"/>
          </a:xfrm>
        </p:spPr>
        <p:txBody>
          <a:bodyPr>
            <a:noAutofit/>
          </a:bodyPr>
          <a:lstStyle>
            <a:lvl1pPr algn="l">
              <a:defRPr sz="4000">
                <a:solidFill>
                  <a:srgbClr val="FF6B00"/>
                </a:solidFill>
              </a:defRPr>
            </a:lvl1pPr>
          </a:lstStyle>
          <a:p>
            <a:r>
              <a:rPr lang="es-ES" dirty="0"/>
              <a:t>Título de la presentación</a:t>
            </a:r>
          </a:p>
        </p:txBody>
      </p:sp>
      <p:sp>
        <p:nvSpPr>
          <p:cNvPr id="3" name="2 Subtítulo"/>
          <p:cNvSpPr>
            <a:spLocks noGrp="1"/>
          </p:cNvSpPr>
          <p:nvPr>
            <p:ph type="subTitle" idx="1"/>
          </p:nvPr>
        </p:nvSpPr>
        <p:spPr>
          <a:xfrm>
            <a:off x="251520" y="1131590"/>
            <a:ext cx="7776864" cy="576064"/>
          </a:xfrm>
        </p:spPr>
        <p:txBody>
          <a:bodyPr>
            <a:noAutofit/>
          </a:bodyPr>
          <a:lstStyle>
            <a:lvl1pPr marL="0" indent="0" algn="l">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 dirty="0"/>
          </a:p>
        </p:txBody>
      </p:sp>
      <p:pic>
        <p:nvPicPr>
          <p:cNvPr id="6" name="5 Imagen" descr="TICARUM_larga-abajo_blanco-naranja_web_72dpi_transparente.png"/>
          <p:cNvPicPr>
            <a:picLocks noChangeAspect="1"/>
          </p:cNvPicPr>
          <p:nvPr userDrawn="1"/>
        </p:nvPicPr>
        <p:blipFill>
          <a:blip r:embed="rId3" cstate="print"/>
          <a:stretch>
            <a:fillRect/>
          </a:stretch>
        </p:blipFill>
        <p:spPr>
          <a:xfrm>
            <a:off x="6732240" y="3939902"/>
            <a:ext cx="2123728" cy="9229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7" name="6 Rectángulo"/>
          <p:cNvSpPr/>
          <p:nvPr userDrawn="1"/>
        </p:nvSpPr>
        <p:spPr>
          <a:xfrm>
            <a:off x="0" y="4227934"/>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Marcador de posición de imagen"/>
          <p:cNvSpPr>
            <a:spLocks noGrp="1"/>
          </p:cNvSpPr>
          <p:nvPr>
            <p:ph type="pic" sz="quarter" idx="10"/>
          </p:nvPr>
        </p:nvSpPr>
        <p:spPr>
          <a:xfrm>
            <a:off x="0" y="0"/>
            <a:ext cx="9144000" cy="4227934"/>
          </a:xfrm>
        </p:spPr>
        <p:txBody>
          <a:bodyPr anchor="ctr">
            <a:normAutofit/>
          </a:bodyPr>
          <a:lstStyle>
            <a:lvl1pPr algn="ctr">
              <a:buFontTx/>
              <a:buNone/>
              <a:defRPr sz="1600" i="1">
                <a:solidFill>
                  <a:srgbClr val="F26D28"/>
                </a:solidFill>
              </a:defRPr>
            </a:lvl1pPr>
          </a:lstStyle>
          <a:p>
            <a:r>
              <a:rPr lang="es-ES"/>
              <a:t>Haga clic en el icono para agregar una imagen</a:t>
            </a:r>
            <a:endParaRPr lang="es-ES" dirty="0"/>
          </a:p>
        </p:txBody>
      </p:sp>
      <p:sp>
        <p:nvSpPr>
          <p:cNvPr id="2" name="1 Título"/>
          <p:cNvSpPr>
            <a:spLocks noGrp="1"/>
          </p:cNvSpPr>
          <p:nvPr>
            <p:ph type="ctrTitle" hasCustomPrompt="1"/>
          </p:nvPr>
        </p:nvSpPr>
        <p:spPr>
          <a:xfrm>
            <a:off x="251520" y="411510"/>
            <a:ext cx="5760640" cy="1440159"/>
          </a:xfrm>
          <a:solidFill>
            <a:srgbClr val="FF6B00"/>
          </a:solidFill>
        </p:spPr>
        <p:txBody>
          <a:bodyPr>
            <a:noAutofit/>
          </a:bodyPr>
          <a:lstStyle>
            <a:lvl1pPr algn="l">
              <a:defRPr sz="4000">
                <a:solidFill>
                  <a:schemeClr val="bg1"/>
                </a:solidFill>
              </a:defRPr>
            </a:lvl1pPr>
          </a:lstStyle>
          <a:p>
            <a:r>
              <a:rPr lang="es-ES" dirty="0"/>
              <a:t>Título de la presentación con imagen de fondo</a:t>
            </a:r>
          </a:p>
        </p:txBody>
      </p:sp>
      <p:pic>
        <p:nvPicPr>
          <p:cNvPr id="6" name="5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cabezado de sección">
    <p:bg>
      <p:bgPr>
        <a:solidFill>
          <a:srgbClr val="FF6B00"/>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1187624" y="1347614"/>
            <a:ext cx="6048672" cy="1872208"/>
          </a:xfrm>
        </p:spPr>
        <p:txBody>
          <a:bodyPr anchor="t">
            <a:noAutofit/>
          </a:bodyPr>
          <a:lstStyle>
            <a:lvl1pPr algn="l">
              <a:defRPr sz="3600" b="1" cap="none">
                <a:solidFill>
                  <a:schemeClr val="bg1"/>
                </a:solidFill>
              </a:defRPr>
            </a:lvl1pPr>
          </a:lstStyle>
          <a:p>
            <a:r>
              <a:rPr lang="es-ES" dirty="0"/>
              <a:t>Subtítulo de la Presentación</a:t>
            </a:r>
          </a:p>
        </p:txBody>
      </p:sp>
      <p:sp>
        <p:nvSpPr>
          <p:cNvPr id="13" name="12 Marcador de texto"/>
          <p:cNvSpPr>
            <a:spLocks noGrp="1"/>
          </p:cNvSpPr>
          <p:nvPr>
            <p:ph type="body" sz="quarter" idx="10" hasCustomPrompt="1"/>
          </p:nvPr>
        </p:nvSpPr>
        <p:spPr>
          <a:xfrm>
            <a:off x="1043608" y="195486"/>
            <a:ext cx="1296764" cy="1512515"/>
          </a:xfrm>
        </p:spPr>
        <p:txBody>
          <a:bodyPr>
            <a:noAutofit/>
          </a:bodyPr>
          <a:lstStyle>
            <a:lvl1pPr>
              <a:buNone/>
              <a:defRPr sz="8000">
                <a:solidFill>
                  <a:schemeClr val="bg1"/>
                </a:solidFill>
                <a:latin typeface="Calibri Light" pitchFamily="34" charset="0"/>
              </a:defRPr>
            </a:lvl1pPr>
          </a:lstStyle>
          <a:p>
            <a:pPr lvl="0"/>
            <a:r>
              <a:rPr lang="es-ES" dirty="0"/>
              <a:t>1</a:t>
            </a:r>
          </a:p>
        </p:txBody>
      </p:sp>
      <p:pic>
        <p:nvPicPr>
          <p:cNvPr id="5" name="4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lvl1pPr marL="0" indent="0">
              <a:buNone/>
              <a:defRPr sz="2400">
                <a:solidFill>
                  <a:srgbClr val="FF6B00"/>
                </a:solidFill>
              </a:defRPr>
            </a:lvl1pPr>
            <a:lvl2pPr marL="0" indent="0">
              <a:buNone/>
              <a:defRPr>
                <a:solidFill>
                  <a:schemeClr val="bg1">
                    <a:lumMod val="50000"/>
                  </a:schemeClr>
                </a:solidFill>
              </a:defRPr>
            </a:lvl2pPr>
            <a:lvl3pPr marL="534988" indent="-266700">
              <a:buClr>
                <a:srgbClr val="FF6A00"/>
              </a:buClr>
              <a:defRPr>
                <a:solidFill>
                  <a:schemeClr val="bg1">
                    <a:lumMod val="50000"/>
                  </a:schemeClr>
                </a:solidFill>
              </a:defRPr>
            </a:lvl3pPr>
            <a:lvl4pPr marL="808038" indent="-268288">
              <a:buClr>
                <a:srgbClr val="FF6A00"/>
              </a:buClr>
              <a:defRPr>
                <a:solidFill>
                  <a:schemeClr val="bg1">
                    <a:lumMod val="50000"/>
                  </a:schemeClr>
                </a:solidFill>
              </a:defRPr>
            </a:lvl4pPr>
            <a:lvl5pPr marL="13414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6" name="5 Marcador de número de diapositiva"/>
          <p:cNvSpPr>
            <a:spLocks noGrp="1"/>
          </p:cNvSpPr>
          <p:nvPr>
            <p:ph type="sldNum" sz="quarter" idx="12"/>
          </p:nvPr>
        </p:nvSpPr>
        <p:spPr/>
        <p:txBody>
          <a:bodyPr/>
          <a:lstStyle/>
          <a:p>
            <a:fld id="{14749D68-D688-459C-87BB-C604575B0110}" type="slidenum">
              <a:rPr lang="es-ES" smtClean="0"/>
              <a:pPr/>
              <a:t>‹Nº›</a:t>
            </a:fld>
            <a:endParaRPr lang="es-ES" dirty="0"/>
          </a:p>
        </p:txBody>
      </p:sp>
      <p:sp>
        <p:nvSpPr>
          <p:cNvPr id="13" name="12 Rectángulo"/>
          <p:cNvSpPr/>
          <p:nvPr userDrawn="1"/>
        </p:nvSpPr>
        <p:spPr>
          <a:xfrm>
            <a:off x="0" y="0"/>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 Título"/>
          <p:cNvSpPr>
            <a:spLocks noGrp="1"/>
          </p:cNvSpPr>
          <p:nvPr>
            <p:ph type="title" hasCustomPrompt="1"/>
          </p:nvPr>
        </p:nvSpPr>
        <p:spPr>
          <a:xfrm>
            <a:off x="457200" y="195486"/>
            <a:ext cx="6923112" cy="216024"/>
          </a:xfrm>
        </p:spPr>
        <p:txBody>
          <a:bodyPr>
            <a:noAutofit/>
          </a:bodyPr>
          <a:lstStyle>
            <a:lvl1pPr algn="l">
              <a:defRPr sz="1600">
                <a:solidFill>
                  <a:schemeClr val="bg1"/>
                </a:solidFill>
              </a:defRPr>
            </a:lvl1pPr>
          </a:lstStyle>
          <a:p>
            <a:r>
              <a:rPr lang="es-ES" dirty="0"/>
              <a:t>TÍTULO DE LA PRESENTACIÓN</a:t>
            </a:r>
          </a:p>
        </p:txBody>
      </p:sp>
      <p:pic>
        <p:nvPicPr>
          <p:cNvPr id="15" name="14 Imagen" descr="TICARUM_corta_blanco-naranja_web_72dpi_transparente.png"/>
          <p:cNvPicPr>
            <a:picLocks noChangeAspect="1"/>
          </p:cNvPicPr>
          <p:nvPr userDrawn="1"/>
        </p:nvPicPr>
        <p:blipFill>
          <a:blip r:embed="rId2" cstate="print"/>
          <a:stretch>
            <a:fillRect/>
          </a:stretch>
        </p:blipFill>
        <p:spPr>
          <a:xfrm>
            <a:off x="7380312" y="339502"/>
            <a:ext cx="1503909" cy="454824"/>
          </a:xfrm>
          <a:prstGeom prst="rect">
            <a:avLst/>
          </a:prstGeom>
        </p:spPr>
      </p:pic>
      <p:sp>
        <p:nvSpPr>
          <p:cNvPr id="16" name="11 Marcador de texto"/>
          <p:cNvSpPr>
            <a:spLocks noGrp="1"/>
          </p:cNvSpPr>
          <p:nvPr>
            <p:ph type="body" sz="quarter" idx="14" hasCustomPrompt="1"/>
          </p:nvPr>
        </p:nvSpPr>
        <p:spPr>
          <a:xfrm>
            <a:off x="468313" y="411510"/>
            <a:ext cx="6911975" cy="288032"/>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kumimoji="0" lang="es-ES" sz="2400" b="1" i="0" u="none" strike="noStrike" kern="1200" cap="none" spc="0" normalizeH="0" baseline="0" noProof="0" smtClean="0">
                <a:ln>
                  <a:noFill/>
                </a:ln>
                <a:solidFill>
                  <a:schemeClr val="bg1"/>
                </a:solidFill>
                <a:effectLst/>
                <a:uLnTx/>
                <a:uFillTx/>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1600" b="1" i="0" u="none" strike="noStrike" kern="1200" cap="none" spc="0" normalizeH="0" baseline="0" noProof="0" dirty="0">
                <a:ln>
                  <a:noFill/>
                </a:ln>
                <a:solidFill>
                  <a:schemeClr val="bg1"/>
                </a:solidFill>
                <a:effectLst/>
                <a:uLnTx/>
                <a:uFillTx/>
                <a:latin typeface="+mj-lt"/>
                <a:ea typeface="+mj-ea"/>
                <a:cs typeface="+mj-cs"/>
              </a:rPr>
              <a:t>SUBTÍTULO DE LA PRESENTACIÓN</a:t>
            </a:r>
          </a:p>
          <a:p>
            <a:pPr lvl="0"/>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11" name="5 Marcador de número de diapositiva"/>
          <p:cNvSpPr>
            <a:spLocks noGrp="1"/>
          </p:cNvSpPr>
          <p:nvPr>
            <p:ph type="sldNum" sz="quarter" idx="12"/>
          </p:nvPr>
        </p:nvSpPr>
        <p:spPr>
          <a:xfrm>
            <a:off x="6553200" y="4767263"/>
            <a:ext cx="2133600" cy="273844"/>
          </a:xfrm>
        </p:spPr>
        <p:txBody>
          <a:bodyPr/>
          <a:lstStyle/>
          <a:p>
            <a:fld id="{14749D68-D688-459C-87BB-C604575B0110}" type="slidenum">
              <a:rPr lang="es-ES" smtClean="0"/>
              <a:pPr/>
              <a:t>‹Nº›</a:t>
            </a:fld>
            <a:endParaRPr lang="es-ES" dirty="0"/>
          </a:p>
        </p:txBody>
      </p:sp>
      <p:sp>
        <p:nvSpPr>
          <p:cNvPr id="15" name="2 Marcador de contenido"/>
          <p:cNvSpPr>
            <a:spLocks noGrp="1"/>
          </p:cNvSpPr>
          <p:nvPr>
            <p:ph idx="10"/>
          </p:nvPr>
        </p:nvSpPr>
        <p:spPr>
          <a:xfrm>
            <a:off x="457200" y="1196950"/>
            <a:ext cx="4042792" cy="3391024"/>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tabLst>
                <a:tab pos="355600" algn="l"/>
              </a:tabLst>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16" name="2 Marcador de contenido"/>
          <p:cNvSpPr>
            <a:spLocks noGrp="1"/>
          </p:cNvSpPr>
          <p:nvPr>
            <p:ph idx="14"/>
          </p:nvPr>
        </p:nvSpPr>
        <p:spPr>
          <a:xfrm>
            <a:off x="4644008" y="1193000"/>
            <a:ext cx="4032448" cy="3394974"/>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19" name="18 Rectángulo"/>
          <p:cNvSpPr/>
          <p:nvPr userDrawn="1"/>
        </p:nvSpPr>
        <p:spPr>
          <a:xfrm>
            <a:off x="0" y="0"/>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1 Título"/>
          <p:cNvSpPr>
            <a:spLocks noGrp="1"/>
          </p:cNvSpPr>
          <p:nvPr>
            <p:ph type="title" hasCustomPrompt="1"/>
          </p:nvPr>
        </p:nvSpPr>
        <p:spPr>
          <a:xfrm>
            <a:off x="457200" y="195486"/>
            <a:ext cx="6923112" cy="216024"/>
          </a:xfrm>
        </p:spPr>
        <p:txBody>
          <a:bodyPr>
            <a:noAutofit/>
          </a:bodyPr>
          <a:lstStyle>
            <a:lvl1pPr algn="l">
              <a:defRPr sz="1600">
                <a:solidFill>
                  <a:schemeClr val="bg1"/>
                </a:solidFill>
              </a:defRPr>
            </a:lvl1pPr>
          </a:lstStyle>
          <a:p>
            <a:r>
              <a:rPr lang="es-ES" dirty="0"/>
              <a:t>TÍTULO DE LA PRESENTACIÓN</a:t>
            </a:r>
          </a:p>
        </p:txBody>
      </p:sp>
      <p:pic>
        <p:nvPicPr>
          <p:cNvPr id="21" name="20 Imagen" descr="TICARUM_corta_blanco-naranja_web_72dpi_transparente.png"/>
          <p:cNvPicPr>
            <a:picLocks noChangeAspect="1"/>
          </p:cNvPicPr>
          <p:nvPr userDrawn="1"/>
        </p:nvPicPr>
        <p:blipFill>
          <a:blip r:embed="rId2" cstate="print"/>
          <a:stretch>
            <a:fillRect/>
          </a:stretch>
        </p:blipFill>
        <p:spPr>
          <a:xfrm>
            <a:off x="7380312" y="339502"/>
            <a:ext cx="1503909" cy="454824"/>
          </a:xfrm>
          <a:prstGeom prst="rect">
            <a:avLst/>
          </a:prstGeom>
        </p:spPr>
      </p:pic>
      <p:sp>
        <p:nvSpPr>
          <p:cNvPr id="22" name="11 Marcador de texto"/>
          <p:cNvSpPr>
            <a:spLocks noGrp="1"/>
          </p:cNvSpPr>
          <p:nvPr>
            <p:ph type="body" sz="quarter" idx="15" hasCustomPrompt="1"/>
          </p:nvPr>
        </p:nvSpPr>
        <p:spPr>
          <a:xfrm>
            <a:off x="468313" y="411510"/>
            <a:ext cx="6911975" cy="288032"/>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kumimoji="0" lang="es-ES" sz="2400" b="1" i="0" u="none" strike="noStrike" kern="1200" cap="none" spc="0" normalizeH="0" baseline="0" noProof="0" smtClean="0">
                <a:ln>
                  <a:noFill/>
                </a:ln>
                <a:solidFill>
                  <a:schemeClr val="bg1"/>
                </a:solidFill>
                <a:effectLst/>
                <a:uLnTx/>
                <a:uFillTx/>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1600" b="1" i="0" u="none" strike="noStrike" kern="1200" cap="none" spc="0" normalizeH="0" baseline="0" noProof="0" dirty="0">
                <a:ln>
                  <a:noFill/>
                </a:ln>
                <a:solidFill>
                  <a:schemeClr val="bg1"/>
                </a:solidFill>
                <a:effectLst/>
                <a:uLnTx/>
                <a:uFillTx/>
                <a:latin typeface="+mj-lt"/>
                <a:ea typeface="+mj-ea"/>
                <a:cs typeface="+mj-cs"/>
              </a:rPr>
              <a:t>SUBTÍTULO DE LA PRESENTACIÓN</a:t>
            </a:r>
          </a:p>
          <a:p>
            <a:pPr lvl="0"/>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3" name="2 Marcador de texto"/>
          <p:cNvSpPr>
            <a:spLocks noGrp="1"/>
          </p:cNvSpPr>
          <p:nvPr>
            <p:ph type="body" idx="1" hasCustomPrompt="1"/>
          </p:nvPr>
        </p:nvSpPr>
        <p:spPr>
          <a:xfrm>
            <a:off x="457200" y="1151335"/>
            <a:ext cx="4040188" cy="479822"/>
          </a:xfrm>
        </p:spPr>
        <p:txBody>
          <a:bodyPr anchor="b">
            <a:noAutofit/>
          </a:bodyPr>
          <a:lstStyle>
            <a:lvl1pPr marL="0" indent="0">
              <a:buNone/>
              <a:defRPr sz="2400" b="1">
                <a:solidFill>
                  <a:srgbClr val="FF6B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Cabecera 1</a:t>
            </a:r>
          </a:p>
        </p:txBody>
      </p:sp>
      <p:sp>
        <p:nvSpPr>
          <p:cNvPr id="5" name="4 Marcador de texto"/>
          <p:cNvSpPr>
            <a:spLocks noGrp="1"/>
          </p:cNvSpPr>
          <p:nvPr>
            <p:ph type="body" sz="quarter" idx="3" hasCustomPrompt="1"/>
          </p:nvPr>
        </p:nvSpPr>
        <p:spPr>
          <a:xfrm>
            <a:off x="4645026" y="1151335"/>
            <a:ext cx="4041775" cy="479822"/>
          </a:xfrm>
        </p:spPr>
        <p:txBody>
          <a:bodyPr anchor="b">
            <a:noAutofit/>
          </a:bodyPr>
          <a:lstStyle>
            <a:lvl1pPr marL="0" indent="0">
              <a:buNone/>
              <a:defRPr sz="2400" b="1">
                <a:solidFill>
                  <a:srgbClr val="FF6B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Cabecera 2</a:t>
            </a:r>
          </a:p>
        </p:txBody>
      </p:sp>
      <p:sp>
        <p:nvSpPr>
          <p:cNvPr id="13" name="5 Marcador de número de diapositiva"/>
          <p:cNvSpPr>
            <a:spLocks noGrp="1"/>
          </p:cNvSpPr>
          <p:nvPr>
            <p:ph type="sldNum" sz="quarter" idx="12"/>
          </p:nvPr>
        </p:nvSpPr>
        <p:spPr>
          <a:xfrm>
            <a:off x="6553200" y="4767263"/>
            <a:ext cx="2133600" cy="273844"/>
          </a:xfrm>
        </p:spPr>
        <p:txBody>
          <a:bodyPr/>
          <a:lstStyle/>
          <a:p>
            <a:fld id="{14749D68-D688-459C-87BB-C604575B0110}" type="slidenum">
              <a:rPr lang="es-ES" smtClean="0"/>
              <a:pPr/>
              <a:t>‹Nº›</a:t>
            </a:fld>
            <a:endParaRPr lang="es-ES" dirty="0"/>
          </a:p>
        </p:txBody>
      </p:sp>
      <p:sp>
        <p:nvSpPr>
          <p:cNvPr id="17" name="16 Rectángulo"/>
          <p:cNvSpPr/>
          <p:nvPr userDrawn="1"/>
        </p:nvSpPr>
        <p:spPr>
          <a:xfrm>
            <a:off x="0" y="0"/>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1 Título"/>
          <p:cNvSpPr>
            <a:spLocks noGrp="1"/>
          </p:cNvSpPr>
          <p:nvPr>
            <p:ph type="title" hasCustomPrompt="1"/>
          </p:nvPr>
        </p:nvSpPr>
        <p:spPr>
          <a:xfrm>
            <a:off x="457200" y="195486"/>
            <a:ext cx="6923112" cy="216024"/>
          </a:xfrm>
        </p:spPr>
        <p:txBody>
          <a:bodyPr>
            <a:noAutofit/>
          </a:bodyPr>
          <a:lstStyle>
            <a:lvl1pPr algn="l">
              <a:defRPr sz="1600">
                <a:solidFill>
                  <a:schemeClr val="bg1"/>
                </a:solidFill>
              </a:defRPr>
            </a:lvl1pPr>
          </a:lstStyle>
          <a:p>
            <a:r>
              <a:rPr lang="es-ES" dirty="0"/>
              <a:t>TÍTULO DE LA PRESENTACIÓN</a:t>
            </a:r>
          </a:p>
        </p:txBody>
      </p:sp>
      <p:pic>
        <p:nvPicPr>
          <p:cNvPr id="19" name="18 Imagen" descr="TICARUM_corta_blanco-naranja_web_72dpi_transparente.png"/>
          <p:cNvPicPr>
            <a:picLocks noChangeAspect="1"/>
          </p:cNvPicPr>
          <p:nvPr userDrawn="1"/>
        </p:nvPicPr>
        <p:blipFill>
          <a:blip r:embed="rId2" cstate="print"/>
          <a:stretch>
            <a:fillRect/>
          </a:stretch>
        </p:blipFill>
        <p:spPr>
          <a:xfrm>
            <a:off x="7380312" y="339502"/>
            <a:ext cx="1503909" cy="454824"/>
          </a:xfrm>
          <a:prstGeom prst="rect">
            <a:avLst/>
          </a:prstGeom>
        </p:spPr>
      </p:pic>
      <p:sp>
        <p:nvSpPr>
          <p:cNvPr id="20" name="11 Marcador de texto"/>
          <p:cNvSpPr>
            <a:spLocks noGrp="1"/>
          </p:cNvSpPr>
          <p:nvPr>
            <p:ph type="body" sz="quarter" idx="14" hasCustomPrompt="1"/>
          </p:nvPr>
        </p:nvSpPr>
        <p:spPr>
          <a:xfrm>
            <a:off x="468313" y="411510"/>
            <a:ext cx="6911975" cy="288032"/>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kumimoji="0" lang="es-ES" sz="2400" b="1" i="0" u="none" strike="noStrike" kern="1200" cap="none" spc="0" normalizeH="0" baseline="0" noProof="0" smtClean="0">
                <a:ln>
                  <a:noFill/>
                </a:ln>
                <a:solidFill>
                  <a:schemeClr val="bg1"/>
                </a:solidFill>
                <a:effectLst/>
                <a:uLnTx/>
                <a:uFillTx/>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1600" b="1" i="0" u="none" strike="noStrike" kern="1200" cap="none" spc="0" normalizeH="0" baseline="0" noProof="0" dirty="0">
                <a:ln>
                  <a:noFill/>
                </a:ln>
                <a:solidFill>
                  <a:schemeClr val="bg1"/>
                </a:solidFill>
                <a:effectLst/>
                <a:uLnTx/>
                <a:uFillTx/>
                <a:latin typeface="+mj-lt"/>
                <a:ea typeface="+mj-ea"/>
                <a:cs typeface="+mj-cs"/>
              </a:rPr>
              <a:t>SUBTÍTULO DE LA PRESENTACIÓN</a:t>
            </a:r>
          </a:p>
          <a:p>
            <a:pPr lvl="0"/>
            <a:endParaRPr lang="es-ES" dirty="0"/>
          </a:p>
        </p:txBody>
      </p:sp>
      <p:sp>
        <p:nvSpPr>
          <p:cNvPr id="21" name="2 Marcador de contenido"/>
          <p:cNvSpPr>
            <a:spLocks noGrp="1"/>
          </p:cNvSpPr>
          <p:nvPr>
            <p:ph idx="10"/>
          </p:nvPr>
        </p:nvSpPr>
        <p:spPr>
          <a:xfrm>
            <a:off x="457200" y="1635646"/>
            <a:ext cx="4042792" cy="2952328"/>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tabLst>
                <a:tab pos="355600" algn="l"/>
              </a:tabLst>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22" name="2 Marcador de contenido"/>
          <p:cNvSpPr>
            <a:spLocks noGrp="1"/>
          </p:cNvSpPr>
          <p:nvPr>
            <p:ph idx="15"/>
          </p:nvPr>
        </p:nvSpPr>
        <p:spPr>
          <a:xfrm>
            <a:off x="4644008" y="1632206"/>
            <a:ext cx="4032448" cy="2955767"/>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8" name="7 Rectángulo"/>
          <p:cNvSpPr/>
          <p:nvPr userDrawn="1"/>
        </p:nvSpPr>
        <p:spPr>
          <a:xfrm>
            <a:off x="0" y="0"/>
            <a:ext cx="3059832" cy="51435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title"/>
          </p:nvPr>
        </p:nvSpPr>
        <p:spPr>
          <a:xfrm>
            <a:off x="457201" y="204787"/>
            <a:ext cx="2386607" cy="871538"/>
          </a:xfrm>
        </p:spPr>
        <p:txBody>
          <a:bodyPr anchor="b"/>
          <a:lstStyle>
            <a:lvl1pPr algn="l">
              <a:defRPr sz="2000" b="1">
                <a:solidFill>
                  <a:schemeClr val="bg1"/>
                </a:solidFill>
              </a:defRPr>
            </a:lvl1pPr>
          </a:lstStyle>
          <a:p>
            <a:r>
              <a:rPr lang="es-ES"/>
              <a:t>Haga clic para modificar el estilo de título del patrón</a:t>
            </a:r>
            <a:endParaRPr lang="es-ES" dirty="0"/>
          </a:p>
        </p:txBody>
      </p:sp>
      <p:sp>
        <p:nvSpPr>
          <p:cNvPr id="4" name="3 Marcador de texto"/>
          <p:cNvSpPr>
            <a:spLocks noGrp="1"/>
          </p:cNvSpPr>
          <p:nvPr>
            <p:ph type="body" sz="half" idx="2"/>
          </p:nvPr>
        </p:nvSpPr>
        <p:spPr>
          <a:xfrm>
            <a:off x="457201" y="1076326"/>
            <a:ext cx="2386607" cy="3518297"/>
          </a:xfrm>
        </p:spPr>
        <p:txBody>
          <a:bodyPr/>
          <a:lstStyle>
            <a:lvl1pPr marL="0" indent="0">
              <a:buNone/>
              <a:defRPr sz="1400">
                <a:solidFill>
                  <a:schemeClr val="accent6">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6 Marcador de número de diapositiva"/>
          <p:cNvSpPr>
            <a:spLocks noGrp="1"/>
          </p:cNvSpPr>
          <p:nvPr>
            <p:ph type="sldNum" sz="quarter" idx="12"/>
          </p:nvPr>
        </p:nvSpPr>
        <p:spPr/>
        <p:txBody>
          <a:bodyPr/>
          <a:lstStyle/>
          <a:p>
            <a:fld id="{14749D68-D688-459C-87BB-C604575B0110}" type="slidenum">
              <a:rPr lang="es-ES" smtClean="0"/>
              <a:pPr/>
              <a:t>‹Nº›</a:t>
            </a:fld>
            <a:endParaRPr lang="es-ES"/>
          </a:p>
        </p:txBody>
      </p:sp>
      <p:pic>
        <p:nvPicPr>
          <p:cNvPr id="9" name="8 Imagen" descr="TICARUM_corta_blanco-naranja_web_72dpi_transparente.png"/>
          <p:cNvPicPr>
            <a:picLocks noChangeAspect="1"/>
          </p:cNvPicPr>
          <p:nvPr userDrawn="1"/>
        </p:nvPicPr>
        <p:blipFill>
          <a:blip r:embed="rId2" cstate="print"/>
          <a:stretch>
            <a:fillRect/>
          </a:stretch>
        </p:blipFill>
        <p:spPr>
          <a:xfrm>
            <a:off x="827584" y="4421182"/>
            <a:ext cx="1503909" cy="454824"/>
          </a:xfrm>
          <a:prstGeom prst="rect">
            <a:avLst/>
          </a:prstGeom>
        </p:spPr>
      </p:pic>
      <p:sp>
        <p:nvSpPr>
          <p:cNvPr id="10" name="2 Marcador de contenido"/>
          <p:cNvSpPr>
            <a:spLocks noGrp="1"/>
          </p:cNvSpPr>
          <p:nvPr>
            <p:ph idx="1"/>
          </p:nvPr>
        </p:nvSpPr>
        <p:spPr>
          <a:xfrm>
            <a:off x="3275856" y="195486"/>
            <a:ext cx="5410944" cy="4399137"/>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534988" indent="-266700">
              <a:buClr>
                <a:srgbClr val="FF6A00"/>
              </a:buClr>
              <a:defRPr>
                <a:solidFill>
                  <a:schemeClr val="bg1">
                    <a:lumMod val="50000"/>
                  </a:schemeClr>
                </a:solidFill>
              </a:defRPr>
            </a:lvl3pPr>
            <a:lvl4pPr marL="808038" indent="-268288">
              <a:buClr>
                <a:srgbClr val="FF6A00"/>
              </a:buClr>
              <a:defRPr>
                <a:solidFill>
                  <a:schemeClr val="bg1">
                    <a:lumMod val="50000"/>
                  </a:schemeClr>
                </a:solidFill>
              </a:defRPr>
            </a:lvl4pPr>
            <a:lvl5pPr marL="13414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solidFill>
          <a:srgbClr val="FF6B00"/>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1792288" y="3600450"/>
            <a:ext cx="5486400" cy="425054"/>
          </a:xfrm>
        </p:spPr>
        <p:txBody>
          <a:bodyPr anchor="b"/>
          <a:lstStyle>
            <a:lvl1pPr algn="l">
              <a:defRPr sz="2400" b="1" baseline="0">
                <a:solidFill>
                  <a:schemeClr val="bg1"/>
                </a:solidFill>
              </a:defRPr>
            </a:lvl1pPr>
          </a:lstStyle>
          <a:p>
            <a:r>
              <a:rPr lang="es-ES" dirty="0"/>
              <a:t>Título sección</a:t>
            </a:r>
          </a:p>
        </p:txBody>
      </p:sp>
      <p:sp>
        <p:nvSpPr>
          <p:cNvPr id="3" name="2 Marcador de posición de imagen"/>
          <p:cNvSpPr>
            <a:spLocks noGrp="1"/>
          </p:cNvSpPr>
          <p:nvPr>
            <p:ph type="pic" idx="1" hasCustomPrompt="1"/>
          </p:nvPr>
        </p:nvSpPr>
        <p:spPr>
          <a:xfrm>
            <a:off x="1792288" y="459581"/>
            <a:ext cx="5486400" cy="3086100"/>
          </a:xfrm>
        </p:spPr>
        <p:txBody>
          <a:bodyPr>
            <a:normAutofit/>
          </a:bodyPr>
          <a:lstStyle>
            <a:lvl1pPr marL="0" indent="0">
              <a:buNone/>
              <a:defRPr sz="1800" i="1">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Imagen</a:t>
            </a:r>
          </a:p>
        </p:txBody>
      </p:sp>
      <p:sp>
        <p:nvSpPr>
          <p:cNvPr id="4" name="3 Marcador de texto"/>
          <p:cNvSpPr>
            <a:spLocks noGrp="1"/>
          </p:cNvSpPr>
          <p:nvPr>
            <p:ph type="body" sz="half" idx="2" hasCustomPrompt="1"/>
          </p:nvPr>
        </p:nvSpPr>
        <p:spPr>
          <a:xfrm>
            <a:off x="1792288" y="4025503"/>
            <a:ext cx="5486400" cy="603647"/>
          </a:xfrm>
        </p:spPr>
        <p:txBody>
          <a:bodyPr/>
          <a:lstStyle>
            <a:lvl1pPr marL="0" indent="0">
              <a:buNone/>
              <a:defRPr sz="1400">
                <a:solidFill>
                  <a:schemeClr val="accent6">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dirty="0"/>
              <a:t>Subtítulo sección</a:t>
            </a:r>
          </a:p>
        </p:txBody>
      </p:sp>
      <p:pic>
        <p:nvPicPr>
          <p:cNvPr id="6" name="5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raportada">
    <p:bg>
      <p:bgPr>
        <a:solidFill>
          <a:srgbClr val="FF6B00"/>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1835696" y="627534"/>
            <a:ext cx="5486400" cy="1381746"/>
          </a:xfrm>
        </p:spPr>
        <p:txBody>
          <a:bodyPr anchor="b"/>
          <a:lstStyle>
            <a:lvl1pPr algn="l">
              <a:defRPr sz="2800" b="1">
                <a:solidFill>
                  <a:schemeClr val="bg1"/>
                </a:solidFill>
              </a:defRPr>
            </a:lvl1pPr>
          </a:lstStyle>
          <a:p>
            <a:r>
              <a:rPr lang="es-ES" dirty="0"/>
              <a:t>Título Despedida</a:t>
            </a:r>
          </a:p>
        </p:txBody>
      </p:sp>
      <p:sp>
        <p:nvSpPr>
          <p:cNvPr id="4" name="3 Marcador de texto"/>
          <p:cNvSpPr>
            <a:spLocks noGrp="1"/>
          </p:cNvSpPr>
          <p:nvPr>
            <p:ph type="body" sz="half" idx="2" hasCustomPrompt="1"/>
          </p:nvPr>
        </p:nvSpPr>
        <p:spPr>
          <a:xfrm>
            <a:off x="1835696" y="1995686"/>
            <a:ext cx="5486400" cy="603647"/>
          </a:xfrm>
        </p:spPr>
        <p:txBody>
          <a:bodyPr/>
          <a:lstStyle>
            <a:lvl1pPr marL="0" indent="0">
              <a:buNone/>
              <a:defRPr sz="1400">
                <a:solidFill>
                  <a:schemeClr val="accent6">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dirty="0"/>
              <a:t>Subtítulo despedida</a:t>
            </a:r>
          </a:p>
        </p:txBody>
      </p:sp>
      <p:sp>
        <p:nvSpPr>
          <p:cNvPr id="6" name="2 Marcador de posición de imagen"/>
          <p:cNvSpPr>
            <a:spLocks noGrp="1"/>
          </p:cNvSpPr>
          <p:nvPr>
            <p:ph type="pic" idx="1" hasCustomPrompt="1"/>
          </p:nvPr>
        </p:nvSpPr>
        <p:spPr>
          <a:xfrm>
            <a:off x="1835696" y="2859782"/>
            <a:ext cx="1152128" cy="1152128"/>
          </a:xfrm>
          <a:ln>
            <a:solidFill>
              <a:schemeClr val="accent6">
                <a:lumMod val="40000"/>
                <a:lumOff val="60000"/>
              </a:schemeClr>
            </a:solidFill>
          </a:ln>
        </p:spPr>
        <p:txBody>
          <a:bodyPr>
            <a:normAutofit/>
          </a:bodyPr>
          <a:lstStyle>
            <a:lvl1pPr marL="0" indent="0">
              <a:buNone/>
              <a:defRPr sz="1200" i="1">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Autor</a:t>
            </a:r>
          </a:p>
        </p:txBody>
      </p:sp>
      <p:sp>
        <p:nvSpPr>
          <p:cNvPr id="10" name="9 Marcador de texto"/>
          <p:cNvSpPr>
            <a:spLocks noGrp="1"/>
          </p:cNvSpPr>
          <p:nvPr>
            <p:ph type="body" sz="quarter" idx="10" hasCustomPrompt="1"/>
          </p:nvPr>
        </p:nvSpPr>
        <p:spPr>
          <a:xfrm>
            <a:off x="2987675" y="2859088"/>
            <a:ext cx="4321175" cy="1152525"/>
          </a:xfrm>
          <a:noFill/>
          <a:ln>
            <a:solidFill>
              <a:schemeClr val="accent6">
                <a:lumMod val="40000"/>
                <a:lumOff val="60000"/>
              </a:schemeClr>
            </a:solidFill>
          </a:ln>
        </p:spPr>
        <p:txBody>
          <a:bodyPr anchor="ctr">
            <a:normAutofit/>
          </a:bodyPr>
          <a:lstStyle>
            <a:lvl1pPr>
              <a:buNone/>
              <a:defRPr sz="1600">
                <a:solidFill>
                  <a:schemeClr val="accent6">
                    <a:lumMod val="60000"/>
                    <a:lumOff val="40000"/>
                  </a:schemeClr>
                </a:solidFill>
              </a:defRPr>
            </a:lvl1pPr>
          </a:lstStyle>
          <a:p>
            <a:pPr lvl="0"/>
            <a:r>
              <a:rPr lang="es-ES" dirty="0"/>
              <a:t>&lt;Nombre y apellidos&gt;</a:t>
            </a:r>
          </a:p>
          <a:p>
            <a:pPr lvl="0"/>
            <a:r>
              <a:rPr lang="es-ES" dirty="0"/>
              <a:t>&lt;Email&gt;</a:t>
            </a:r>
          </a:p>
          <a:p>
            <a:pPr lvl="0"/>
            <a:r>
              <a:rPr lang="es-ES" dirty="0"/>
              <a:t>&lt;Teléfono&gt;</a:t>
            </a:r>
          </a:p>
        </p:txBody>
      </p:sp>
      <p:pic>
        <p:nvPicPr>
          <p:cNvPr id="8" name="7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05979"/>
            <a:ext cx="8229600" cy="857250"/>
          </a:xfrm>
          <a:prstGeom prst="rect">
            <a:avLst/>
          </a:prstGeom>
        </p:spPr>
        <p:txBody>
          <a:bodyPr vert="horz" lIns="91440" tIns="45720" rIns="91440" bIns="45720" rtlCol="0" anchor="ctr">
            <a:noAutofit/>
          </a:bodyPr>
          <a:lstStyle/>
          <a:p>
            <a:r>
              <a:rPr lang="es-ES" dirty="0"/>
              <a:t>Haga clic para modificar el estilo de título del patrón</a:t>
            </a:r>
          </a:p>
        </p:txBody>
      </p:sp>
      <p:sp>
        <p:nvSpPr>
          <p:cNvPr id="3" name="2 Marcador de texto"/>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3 Marcador de fecha"/>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F83015D-F054-4B71-BB12-316A6A9541BC}" type="datetimeFigureOut">
              <a:rPr lang="es-ES" smtClean="0"/>
              <a:pPr/>
              <a:t>18/11/2025</a:t>
            </a:fld>
            <a:endParaRPr lang="es-ES"/>
          </a:p>
        </p:txBody>
      </p:sp>
      <p:sp>
        <p:nvSpPr>
          <p:cNvPr id="5" name="4 Marcador de pie de página"/>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4749D68-D688-459C-87BB-C604575B0110}"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2" r:id="rId1"/>
    <p:sldLayoutId id="2147483649" r:id="rId2"/>
    <p:sldLayoutId id="2147483660" r:id="rId3"/>
    <p:sldLayoutId id="2147483651" r:id="rId4"/>
    <p:sldLayoutId id="2147483650" r:id="rId5"/>
    <p:sldLayoutId id="2147483652" r:id="rId6"/>
    <p:sldLayoutId id="2147483653" r:id="rId7"/>
    <p:sldLayoutId id="2147483656" r:id="rId8"/>
    <p:sldLayoutId id="2147483657" r:id="rId9"/>
    <p:sldLayoutId id="2147483661" r:id="rId10"/>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51520" y="411510"/>
            <a:ext cx="7772400" cy="1152128"/>
          </a:xfrm>
        </p:spPr>
        <p:txBody>
          <a:bodyPr/>
          <a:lstStyle/>
          <a:p>
            <a:r>
              <a:rPr lang="es-ES" b="1" dirty="0"/>
              <a:t>Análisis y optimización de consultas en Oracle SQL y PL/SQL </a:t>
            </a:r>
            <a:endParaRPr lang="es-ES" dirty="0"/>
          </a:p>
        </p:txBody>
      </p:sp>
      <p:sp>
        <p:nvSpPr>
          <p:cNvPr id="4" name="4 Título">
            <a:extLst>
              <a:ext uri="{FF2B5EF4-FFF2-40B4-BE49-F238E27FC236}">
                <a16:creationId xmlns:a16="http://schemas.microsoft.com/office/drawing/2014/main" id="{CEA2CD2E-B90F-5078-3BEF-98753350D0D8}"/>
              </a:ext>
            </a:extLst>
          </p:cNvPr>
          <p:cNvSpPr txBox="1">
            <a:spLocks/>
          </p:cNvSpPr>
          <p:nvPr/>
        </p:nvSpPr>
        <p:spPr>
          <a:xfrm>
            <a:off x="252028" y="2067694"/>
            <a:ext cx="2880320" cy="72008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a:solidFill>
                  <a:srgbClr val="FF6B00"/>
                </a:solidFill>
                <a:latin typeface="+mj-lt"/>
                <a:ea typeface="+mj-ea"/>
                <a:cs typeface="+mj-cs"/>
              </a:defRPr>
            </a:lvl1pPr>
          </a:lstStyle>
          <a:p>
            <a:r>
              <a:rPr lang="es-ES" dirty="0">
                <a:solidFill>
                  <a:schemeClr val="bg1"/>
                </a:solidFill>
              </a:rPr>
              <a:t>Sesión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90AA-A36D-0698-1CFD-B91FCF9FF0B8}"/>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CD4D17EB-BB9C-75A1-58BF-CB459A47A457}"/>
              </a:ext>
            </a:extLst>
          </p:cNvPr>
          <p:cNvSpPr>
            <a:spLocks noGrp="1"/>
          </p:cNvSpPr>
          <p:nvPr>
            <p:ph idx="1"/>
          </p:nvPr>
        </p:nvSpPr>
        <p:spPr/>
        <p:txBody>
          <a:bodyPr/>
          <a:lstStyle/>
          <a:p>
            <a:r>
              <a:rPr lang="es-ES" dirty="0"/>
              <a:t>Sesiones</a:t>
            </a:r>
          </a:p>
          <a:p>
            <a:pPr lvl="2"/>
            <a:r>
              <a:rPr lang="es-ES" dirty="0"/>
              <a:t>Sesión 1 – Conexión y diseño de tablas (2h)</a:t>
            </a:r>
          </a:p>
          <a:p>
            <a:pPr lvl="2"/>
            <a:r>
              <a:rPr lang="es-ES" dirty="0"/>
              <a:t>Sesión 2 – Insertar y consultar datos (2h)</a:t>
            </a:r>
          </a:p>
          <a:p>
            <a:pPr lvl="2"/>
            <a:r>
              <a:rPr lang="es-ES" dirty="0"/>
              <a:t>Sesión 3 – Fundamentos de PL/SQL (2h)</a:t>
            </a:r>
          </a:p>
          <a:p>
            <a:pPr lvl="2"/>
            <a:r>
              <a:rPr lang="es-ES" b="1" dirty="0"/>
              <a:t>Sesión 4 – Procedimientos, funciones y paquetes (2h)</a:t>
            </a:r>
          </a:p>
          <a:p>
            <a:pPr lvl="2"/>
            <a:r>
              <a:rPr lang="es-ES" dirty="0"/>
              <a:t>Sesión 5 – Cursores y operaciones en bloque (2h)</a:t>
            </a:r>
          </a:p>
          <a:p>
            <a:pPr lvl="2"/>
            <a:r>
              <a:rPr lang="es-ES" dirty="0"/>
              <a:t>Sesión 6 – Optimización de consultas (3h)</a:t>
            </a:r>
          </a:p>
          <a:p>
            <a:pPr lvl="2"/>
            <a:r>
              <a:rPr lang="es-ES" dirty="0"/>
              <a:t>Sesión 7 – </a:t>
            </a:r>
            <a:r>
              <a:rPr lang="es-ES" dirty="0" err="1"/>
              <a:t>Triggers</a:t>
            </a:r>
            <a:r>
              <a:rPr lang="es-ES" dirty="0"/>
              <a:t> (1h)</a:t>
            </a:r>
          </a:p>
          <a:p>
            <a:pPr lvl="2"/>
            <a:endParaRPr lang="es-ES" dirty="0"/>
          </a:p>
          <a:p>
            <a:pPr lvl="2"/>
            <a:endParaRPr lang="es-ES" dirty="0"/>
          </a:p>
        </p:txBody>
      </p:sp>
      <p:sp>
        <p:nvSpPr>
          <p:cNvPr id="4" name="3 Título">
            <a:extLst>
              <a:ext uri="{FF2B5EF4-FFF2-40B4-BE49-F238E27FC236}">
                <a16:creationId xmlns:a16="http://schemas.microsoft.com/office/drawing/2014/main" id="{E1DB2940-3159-AA88-2A46-762F55B41D4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EC34DE5-E61C-8A31-4D73-BAFA907511CF}"/>
              </a:ext>
            </a:extLst>
          </p:cNvPr>
          <p:cNvSpPr>
            <a:spLocks noGrp="1"/>
          </p:cNvSpPr>
          <p:nvPr>
            <p:ph type="body" sz="quarter" idx="14"/>
          </p:nvPr>
        </p:nvSpPr>
        <p:spPr/>
        <p:txBody>
          <a:bodyPr>
            <a:normAutofit fontScale="62500" lnSpcReduction="20000"/>
          </a:bodyPr>
          <a:lstStyle/>
          <a:p>
            <a:r>
              <a:rPr lang="es-ES" dirty="0" err="1"/>
              <a:t>Indice</a:t>
            </a:r>
            <a:r>
              <a:rPr lang="es-ES" dirty="0"/>
              <a:t> Curso</a:t>
            </a:r>
          </a:p>
        </p:txBody>
      </p:sp>
    </p:spTree>
    <p:extLst>
      <p:ext uri="{BB962C8B-B14F-4D97-AF65-F5344CB8AC3E}">
        <p14:creationId xmlns:p14="http://schemas.microsoft.com/office/powerpoint/2010/main" val="4206735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E6A2-AB82-D079-EEE9-CFE683B127A5}"/>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00695829-FF1C-F669-F93A-C5974D0C6F28}"/>
              </a:ext>
            </a:extLst>
          </p:cNvPr>
          <p:cNvSpPr>
            <a:spLocks noGrp="1"/>
          </p:cNvSpPr>
          <p:nvPr>
            <p:ph idx="1"/>
          </p:nvPr>
        </p:nvSpPr>
        <p:spPr/>
        <p:txBody>
          <a:bodyPr/>
          <a:lstStyle/>
          <a:p>
            <a:r>
              <a:rPr lang="es-ES" dirty="0"/>
              <a:t>Sesión 4</a:t>
            </a:r>
          </a:p>
          <a:p>
            <a:pPr lvl="2"/>
            <a:r>
              <a:rPr lang="es-ES" dirty="0"/>
              <a:t>Comprender la creación y uso de procedimientos almacenados.</a:t>
            </a:r>
          </a:p>
          <a:p>
            <a:pPr lvl="2"/>
            <a:r>
              <a:rPr lang="es-ES" dirty="0"/>
              <a:t>Dominar el desarrollo de funciones con retorno de valores.</a:t>
            </a:r>
          </a:p>
          <a:p>
            <a:pPr lvl="2"/>
            <a:r>
              <a:rPr lang="es-ES" dirty="0"/>
              <a:t>Gestionar eficientemente los parámetros IN, OUT e IN-OUT.</a:t>
            </a:r>
          </a:p>
          <a:p>
            <a:pPr lvl="2"/>
            <a:r>
              <a:rPr lang="es-ES" dirty="0"/>
              <a:t>Implementar paquetes para organizar código PL/SQL.</a:t>
            </a:r>
          </a:p>
          <a:p>
            <a:pPr lvl="2"/>
            <a:r>
              <a:rPr lang="es-ES" dirty="0"/>
              <a:t>Aplicar mejores prácticas en el diseño de subprogramas.</a:t>
            </a:r>
          </a:p>
        </p:txBody>
      </p:sp>
      <p:sp>
        <p:nvSpPr>
          <p:cNvPr id="4" name="3 Título">
            <a:extLst>
              <a:ext uri="{FF2B5EF4-FFF2-40B4-BE49-F238E27FC236}">
                <a16:creationId xmlns:a16="http://schemas.microsoft.com/office/drawing/2014/main" id="{1A9B2BE7-9B0C-4A6B-A3FA-1246DCF69436}"/>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3BE311FF-4CE5-2CFD-96D8-D9DCF7AA221F}"/>
              </a:ext>
            </a:extLst>
          </p:cNvPr>
          <p:cNvSpPr>
            <a:spLocks noGrp="1"/>
          </p:cNvSpPr>
          <p:nvPr>
            <p:ph type="body" sz="quarter" idx="14"/>
          </p:nvPr>
        </p:nvSpPr>
        <p:spPr/>
        <p:txBody>
          <a:bodyPr>
            <a:normAutofit fontScale="62500" lnSpcReduction="20000"/>
          </a:bodyPr>
          <a:lstStyle/>
          <a:p>
            <a:r>
              <a:rPr lang="es-ES" dirty="0" err="1"/>
              <a:t>Indice</a:t>
            </a:r>
            <a:r>
              <a:rPr lang="es-ES" dirty="0"/>
              <a:t> Sesión 1</a:t>
            </a:r>
          </a:p>
        </p:txBody>
      </p:sp>
    </p:spTree>
    <p:extLst>
      <p:ext uri="{BB962C8B-B14F-4D97-AF65-F5344CB8AC3E}">
        <p14:creationId xmlns:p14="http://schemas.microsoft.com/office/powerpoint/2010/main" val="4276708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r>
              <a:rPr lang="es-ES" dirty="0"/>
              <a:t>Procedimientos, funciones y paquetes</a:t>
            </a:r>
          </a:p>
        </p:txBody>
      </p:sp>
      <p:sp>
        <p:nvSpPr>
          <p:cNvPr id="6" name="5 Marcador de texto"/>
          <p:cNvSpPr>
            <a:spLocks noGrp="1"/>
          </p:cNvSpPr>
          <p:nvPr>
            <p:ph type="body" sz="quarter" idx="10"/>
          </p:nvPr>
        </p:nvSpPr>
        <p:spPr/>
        <p:txBody>
          <a:bodyPr/>
          <a:lstStyle/>
          <a:p>
            <a:r>
              <a:rPr lang="es-ES" dirty="0"/>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40E7A-4878-C245-DB0B-EE247F0D89D9}"/>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916F86DC-1442-640D-0BF1-32AC10520FB6}"/>
              </a:ext>
            </a:extLst>
          </p:cNvPr>
          <p:cNvSpPr>
            <a:spLocks noGrp="1"/>
          </p:cNvSpPr>
          <p:nvPr>
            <p:ph idx="1"/>
          </p:nvPr>
        </p:nvSpPr>
        <p:spPr>
          <a:xfrm>
            <a:off x="457200" y="915566"/>
            <a:ext cx="8229600" cy="3816425"/>
          </a:xfrm>
        </p:spPr>
        <p:txBody>
          <a:bodyPr>
            <a:normAutofit/>
          </a:bodyPr>
          <a:lstStyle/>
          <a:p>
            <a:r>
              <a:rPr lang="es-ES" dirty="0"/>
              <a:t>Crear procedimientos (CREATE PROCEDURE)</a:t>
            </a:r>
            <a:endParaRPr lang="es-ES" sz="1600" dirty="0"/>
          </a:p>
          <a:p>
            <a:pPr lvl="1"/>
            <a:r>
              <a:rPr lang="es-ES" sz="1600" dirty="0"/>
              <a:t>Los procedimientos almacenados son bloques de código PL/SQL con nombre que ejecutan una tarea específica. Se crean con CREATE PROCEDURE y pueden contener lógica compleja, manipulación de datos y control de flujo. No retornan valores pero pueden modificar parámetros OUT.</a:t>
            </a:r>
          </a:p>
          <a:p>
            <a:pPr lvl="1"/>
            <a:r>
              <a:rPr lang="es-ES" sz="1600" dirty="0"/>
              <a:t>Los procedimientos permiten modularizar el código y reutilizar lógica de negocio. Pueden aceptar parámetros de entrada, salida o ambos. Son ideales para operaciones que no requieren retornar un valor pero sí ejecutar acciones en la base de datos.</a:t>
            </a:r>
          </a:p>
          <a:p>
            <a:pPr lvl="1"/>
            <a:endParaRPr lang="es-ES" sz="1600" dirty="0"/>
          </a:p>
          <a:p>
            <a:pPr lvl="1"/>
            <a:r>
              <a:rPr lang="es-ES" sz="1600" dirty="0"/>
              <a:t>¿Lógica en BD o en Java sobre WebLogic?</a:t>
            </a:r>
          </a:p>
          <a:p>
            <a:pPr lvl="1"/>
            <a:r>
              <a:rPr lang="es-ES" sz="1600" dirty="0"/>
              <a:t>Opinión: trata de lanzar un proceso que necesite 2.000.000 de registros en WebLogic.   </a:t>
            </a:r>
          </a:p>
        </p:txBody>
      </p:sp>
      <p:sp>
        <p:nvSpPr>
          <p:cNvPr id="4" name="3 Título">
            <a:extLst>
              <a:ext uri="{FF2B5EF4-FFF2-40B4-BE49-F238E27FC236}">
                <a16:creationId xmlns:a16="http://schemas.microsoft.com/office/drawing/2014/main" id="{92F88460-32FD-ABB0-5F03-576BB368F4D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EED6F9B-CAA9-639B-6FEB-986F79A5DDF6}"/>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2734281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6369-A869-8C14-CE09-AF72CB39F4EF}"/>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3D9DF16D-AB8C-FD2F-2276-0DCFB055AFAF}"/>
              </a:ext>
            </a:extLst>
          </p:cNvPr>
          <p:cNvSpPr/>
          <p:nvPr/>
        </p:nvSpPr>
        <p:spPr>
          <a:xfrm>
            <a:off x="261636" y="1275606"/>
            <a:ext cx="366229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2E0B999-5ED7-25CD-644E-0E9B731CF656}"/>
              </a:ext>
            </a:extLst>
          </p:cNvPr>
          <p:cNvSpPr>
            <a:spLocks noGrp="1"/>
          </p:cNvSpPr>
          <p:nvPr>
            <p:ph idx="1"/>
          </p:nvPr>
        </p:nvSpPr>
        <p:spPr>
          <a:xfrm>
            <a:off x="457200" y="915567"/>
            <a:ext cx="8579296" cy="360040"/>
          </a:xfrm>
        </p:spPr>
        <p:txBody>
          <a:bodyPr>
            <a:normAutofit fontScale="47500" lnSpcReduction="20000"/>
          </a:bodyPr>
          <a:lstStyle/>
          <a:p>
            <a:r>
              <a:rPr lang="es-ES" sz="4400" dirty="0"/>
              <a:t>Crear procedimientos (CREATE PROCEDURE)</a:t>
            </a:r>
            <a:endParaRPr lang="es-ES" sz="3200" dirty="0"/>
          </a:p>
          <a:p>
            <a:pPr marL="539750" lvl="3" indent="0">
              <a:buNone/>
              <a:defRPr/>
            </a:pPr>
            <a:endParaRPr lang="es-ES" dirty="0"/>
          </a:p>
        </p:txBody>
      </p:sp>
      <p:sp>
        <p:nvSpPr>
          <p:cNvPr id="4" name="3 Título">
            <a:extLst>
              <a:ext uri="{FF2B5EF4-FFF2-40B4-BE49-F238E27FC236}">
                <a16:creationId xmlns:a16="http://schemas.microsoft.com/office/drawing/2014/main" id="{9EF7F341-61EF-63D2-1F98-D2C4C67B23F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3F5462A-B82F-7038-0F62-46058931CDE7}"/>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7F95D7AB-DB55-2E7D-CBB1-93F675AF390F}"/>
              </a:ext>
            </a:extLst>
          </p:cNvPr>
          <p:cNvSpPr txBox="1"/>
          <p:nvPr/>
        </p:nvSpPr>
        <p:spPr>
          <a:xfrm>
            <a:off x="261636" y="1320007"/>
            <a:ext cx="3545633" cy="3908762"/>
          </a:xfrm>
          <a:prstGeom prst="rect">
            <a:avLst/>
          </a:prstGeom>
          <a:noFill/>
        </p:spPr>
        <p:txBody>
          <a:bodyPr wrap="square">
            <a:spAutoFit/>
          </a:bodyPr>
          <a:lstStyle/>
          <a:p>
            <a:r>
              <a:rPr lang="en-US" sz="1300" dirty="0"/>
              <a:t>CREATE OR REPLACE PROCEDURE </a:t>
            </a:r>
            <a:r>
              <a:rPr lang="en-US" sz="1300" dirty="0" err="1"/>
              <a:t>aumentar_salario</a:t>
            </a:r>
            <a:r>
              <a:rPr lang="en-US" sz="1300" dirty="0"/>
              <a:t> (</a:t>
            </a:r>
          </a:p>
          <a:p>
            <a:r>
              <a:rPr lang="en-US" sz="1300" dirty="0"/>
              <a:t>    </a:t>
            </a:r>
            <a:r>
              <a:rPr lang="en-US" sz="1300" dirty="0" err="1"/>
              <a:t>p_empleado_id</a:t>
            </a:r>
            <a:r>
              <a:rPr lang="en-US" sz="1300" dirty="0"/>
              <a:t> IN NUMBER,</a:t>
            </a:r>
          </a:p>
          <a:p>
            <a:r>
              <a:rPr lang="en-US" sz="1300" dirty="0"/>
              <a:t>    </a:t>
            </a:r>
            <a:r>
              <a:rPr lang="en-US" sz="1300" dirty="0" err="1"/>
              <a:t>p_porcentaje</a:t>
            </a:r>
            <a:r>
              <a:rPr lang="en-US" sz="1300" dirty="0"/>
              <a:t> IN NUMBER</a:t>
            </a:r>
          </a:p>
          <a:p>
            <a:r>
              <a:rPr lang="en-US" sz="1300" dirty="0"/>
              <a:t>) IS</a:t>
            </a:r>
          </a:p>
          <a:p>
            <a:r>
              <a:rPr lang="en-US" sz="1300" dirty="0"/>
              <a:t>BEGIN</a:t>
            </a:r>
          </a:p>
          <a:p>
            <a:r>
              <a:rPr lang="en-US" sz="1300" dirty="0"/>
              <a:t>    UPDATE </a:t>
            </a:r>
            <a:r>
              <a:rPr lang="en-US" sz="1300" dirty="0" err="1"/>
              <a:t>empleados</a:t>
            </a:r>
            <a:r>
              <a:rPr lang="en-US" sz="1300" dirty="0"/>
              <a:t> </a:t>
            </a:r>
          </a:p>
          <a:p>
            <a:r>
              <a:rPr lang="en-US" sz="1300" dirty="0"/>
              <a:t>    SET </a:t>
            </a:r>
            <a:r>
              <a:rPr lang="en-US" sz="1300" dirty="0" err="1"/>
              <a:t>salario</a:t>
            </a:r>
            <a:r>
              <a:rPr lang="en-US" sz="1300" dirty="0"/>
              <a:t> = </a:t>
            </a:r>
            <a:r>
              <a:rPr lang="en-US" sz="1300" dirty="0" err="1"/>
              <a:t>salario</a:t>
            </a:r>
            <a:r>
              <a:rPr lang="en-US" sz="1300" dirty="0"/>
              <a:t> * (1 + </a:t>
            </a:r>
            <a:r>
              <a:rPr lang="en-US" sz="1300" dirty="0" err="1"/>
              <a:t>p_porcentaje</a:t>
            </a:r>
            <a:r>
              <a:rPr lang="en-US" sz="1300" dirty="0"/>
              <a:t>/100)</a:t>
            </a:r>
          </a:p>
          <a:p>
            <a:r>
              <a:rPr lang="en-US" sz="1300" dirty="0"/>
              <a:t>    WHERE </a:t>
            </a:r>
            <a:r>
              <a:rPr lang="en-US" sz="1300" dirty="0" err="1"/>
              <a:t>empleado_id</a:t>
            </a:r>
            <a:r>
              <a:rPr lang="en-US" sz="1300" dirty="0"/>
              <a:t> = </a:t>
            </a:r>
            <a:r>
              <a:rPr lang="en-US" sz="1300" dirty="0" err="1"/>
              <a:t>p_empleado_id</a:t>
            </a:r>
            <a:r>
              <a:rPr lang="en-US" sz="1300" dirty="0"/>
              <a:t>;</a:t>
            </a:r>
          </a:p>
          <a:p>
            <a:r>
              <a:rPr lang="en-US" sz="1300" dirty="0"/>
              <a:t>    </a:t>
            </a:r>
          </a:p>
          <a:p>
            <a:r>
              <a:rPr lang="en-US" sz="1300" dirty="0"/>
              <a:t>    COMMIT;</a:t>
            </a:r>
          </a:p>
          <a:p>
            <a:r>
              <a:rPr lang="en-US" sz="1300" dirty="0"/>
              <a:t>    DBMS_OUTPUT.PUT_LINE('Salario </a:t>
            </a:r>
            <a:r>
              <a:rPr lang="en-US" sz="1300" dirty="0" err="1"/>
              <a:t>actualizado</a:t>
            </a:r>
            <a:r>
              <a:rPr lang="en-US" sz="1300" dirty="0"/>
              <a:t> </a:t>
            </a:r>
            <a:r>
              <a:rPr lang="en-US" sz="1300" dirty="0" err="1"/>
              <a:t>correctamente</a:t>
            </a:r>
            <a:r>
              <a:rPr lang="en-US" sz="1300" dirty="0"/>
              <a:t>');</a:t>
            </a:r>
          </a:p>
          <a:p>
            <a:r>
              <a:rPr lang="en-US" sz="1300" dirty="0"/>
              <a:t>EXCEPTION</a:t>
            </a:r>
          </a:p>
          <a:p>
            <a:r>
              <a:rPr lang="en-US" sz="1300" dirty="0"/>
              <a:t>    WHEN NO_DATA_FOUND THEN</a:t>
            </a:r>
          </a:p>
          <a:p>
            <a:r>
              <a:rPr lang="en-US" sz="1300" dirty="0"/>
              <a:t>        DBMS_OUTPUT.PUT_LINE('Empleado no </a:t>
            </a:r>
            <a:r>
              <a:rPr lang="en-US" sz="1300" dirty="0" err="1"/>
              <a:t>encontrado</a:t>
            </a:r>
            <a:r>
              <a:rPr lang="en-US" sz="1300" dirty="0"/>
              <a:t>');</a:t>
            </a:r>
          </a:p>
          <a:p>
            <a:r>
              <a:rPr lang="en-US" sz="1300" dirty="0"/>
              <a:t>END </a:t>
            </a:r>
            <a:r>
              <a:rPr lang="en-US" sz="1300" dirty="0" err="1"/>
              <a:t>aumentar_salario</a:t>
            </a:r>
            <a:r>
              <a:rPr lang="en-US" sz="1300" dirty="0"/>
              <a:t>;</a:t>
            </a:r>
          </a:p>
          <a:p>
            <a:endParaRPr lang="en-US" sz="1400" dirty="0"/>
          </a:p>
        </p:txBody>
      </p:sp>
      <p:sp>
        <p:nvSpPr>
          <p:cNvPr id="9" name="4 Marcador de contenido">
            <a:extLst>
              <a:ext uri="{FF2B5EF4-FFF2-40B4-BE49-F238E27FC236}">
                <a16:creationId xmlns:a16="http://schemas.microsoft.com/office/drawing/2014/main" id="{3B7E47E6-1705-5955-A41B-4574EB96617F}"/>
              </a:ext>
            </a:extLst>
          </p:cNvPr>
          <p:cNvSpPr txBox="1">
            <a:spLocks/>
          </p:cNvSpPr>
          <p:nvPr/>
        </p:nvSpPr>
        <p:spPr>
          <a:xfrm>
            <a:off x="3971490" y="1306682"/>
            <a:ext cx="5172510"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CREATE PROCEDURE</a:t>
            </a:r>
          </a:p>
          <a:p>
            <a:pPr marL="342900" lvl="1" indent="-342900">
              <a:buFont typeface="Arial" panose="020B0604020202020204" pitchFamily="34" charset="0"/>
              <a:buChar char="•"/>
            </a:pPr>
            <a:r>
              <a:rPr lang="es-ES" sz="1800" dirty="0" err="1"/>
              <a:t>Parametros</a:t>
            </a:r>
            <a:endParaRPr lang="es-ES" sz="1800" dirty="0"/>
          </a:p>
          <a:p>
            <a:pPr marL="342900" lvl="1" indent="-342900">
              <a:buFont typeface="Arial" panose="020B0604020202020204" pitchFamily="34" charset="0"/>
              <a:buChar char="•"/>
            </a:pPr>
            <a:r>
              <a:rPr lang="es-ES" sz="1800" dirty="0"/>
              <a:t>Bloque/Bloques anidados</a:t>
            </a:r>
          </a:p>
          <a:p>
            <a:pPr marL="342900" lvl="1" indent="-342900">
              <a:buFont typeface="Arial" panose="020B0604020202020204" pitchFamily="34" charset="0"/>
              <a:buChar char="•"/>
            </a:pPr>
            <a:r>
              <a:rPr lang="es-ES" sz="1800" dirty="0"/>
              <a:t>No necesita el primer DECLARE, después del IS se pueden declarar variables internas.</a:t>
            </a:r>
          </a:p>
          <a:p>
            <a:pPr marL="539750" lvl="3" indent="0">
              <a:buFont typeface="Arial" pitchFamily="34" charset="0"/>
              <a:buNone/>
              <a:defRPr/>
            </a:pPr>
            <a:endParaRPr lang="es-ES" dirty="0"/>
          </a:p>
        </p:txBody>
      </p:sp>
    </p:spTree>
    <p:extLst>
      <p:ext uri="{BB962C8B-B14F-4D97-AF65-F5344CB8AC3E}">
        <p14:creationId xmlns:p14="http://schemas.microsoft.com/office/powerpoint/2010/main" val="274705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724F2-3E91-A980-C242-16319B9064FC}"/>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D59B6B55-1B75-F5DC-C939-5E295C82AC93}"/>
              </a:ext>
            </a:extLst>
          </p:cNvPr>
          <p:cNvSpPr>
            <a:spLocks noGrp="1"/>
          </p:cNvSpPr>
          <p:nvPr>
            <p:ph idx="1"/>
          </p:nvPr>
        </p:nvSpPr>
        <p:spPr>
          <a:xfrm>
            <a:off x="457200" y="915566"/>
            <a:ext cx="8229600" cy="3816425"/>
          </a:xfrm>
        </p:spPr>
        <p:txBody>
          <a:bodyPr>
            <a:normAutofit/>
          </a:bodyPr>
          <a:lstStyle/>
          <a:p>
            <a:r>
              <a:rPr lang="es-ES" dirty="0"/>
              <a:t>Crear funciones (CREATE FUNCTION) con RETURN</a:t>
            </a:r>
          </a:p>
          <a:p>
            <a:pPr lvl="1"/>
            <a:r>
              <a:rPr lang="es-ES" sz="1600" dirty="0"/>
              <a:t>Las funciones son similares a los procedimientos pero deben retornar un valor usando la cláusula RETURN. Se crean con CREATE FUNCTION y son útiles para cálculos y transformaciones de datos. El tipo de dato de retorno debe especificarse en la declaración.</a:t>
            </a:r>
          </a:p>
          <a:p>
            <a:pPr lvl="1"/>
            <a:endParaRPr lang="es-ES" sz="1600" dirty="0"/>
          </a:p>
          <a:p>
            <a:pPr lvl="1"/>
            <a:r>
              <a:rPr lang="es-ES" sz="1600" dirty="0"/>
              <a:t>A diferencia de los procedimientos, las funciones pueden usarse en expresiones SQL. Siempre deben contener una sentencia RETURN que devuelva un valor del tipo especificado. Son ideales para operaciones que producen un resultado específico.</a:t>
            </a:r>
          </a:p>
        </p:txBody>
      </p:sp>
      <p:sp>
        <p:nvSpPr>
          <p:cNvPr id="4" name="3 Título">
            <a:extLst>
              <a:ext uri="{FF2B5EF4-FFF2-40B4-BE49-F238E27FC236}">
                <a16:creationId xmlns:a16="http://schemas.microsoft.com/office/drawing/2014/main" id="{238AF553-2C7B-C38F-ABC3-0803A04D069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29DF259-9150-E521-BF3A-68427F9EEC9A}"/>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1393284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B488A-277D-249F-7697-7152643EFDD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147C3D51-EAEF-B2C3-2DB1-252FAB6B0C78}"/>
              </a:ext>
            </a:extLst>
          </p:cNvPr>
          <p:cNvSpPr/>
          <p:nvPr/>
        </p:nvSpPr>
        <p:spPr>
          <a:xfrm>
            <a:off x="261636" y="1275606"/>
            <a:ext cx="510245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CE54A3F5-2D55-84AC-652E-520D9A76AAA4}"/>
              </a:ext>
            </a:extLst>
          </p:cNvPr>
          <p:cNvSpPr>
            <a:spLocks noGrp="1"/>
          </p:cNvSpPr>
          <p:nvPr>
            <p:ph idx="1"/>
          </p:nvPr>
        </p:nvSpPr>
        <p:spPr>
          <a:xfrm>
            <a:off x="457200" y="915567"/>
            <a:ext cx="8579296" cy="360040"/>
          </a:xfrm>
        </p:spPr>
        <p:txBody>
          <a:bodyPr>
            <a:normAutofit fontScale="47500" lnSpcReduction="20000"/>
          </a:bodyPr>
          <a:lstStyle/>
          <a:p>
            <a:r>
              <a:rPr lang="es-ES" sz="4400" dirty="0"/>
              <a:t>Crear funciones (CREATE FUNCTION) con RETURN</a:t>
            </a:r>
          </a:p>
          <a:p>
            <a:pPr marL="539750" lvl="3" indent="0">
              <a:buNone/>
              <a:defRPr/>
            </a:pPr>
            <a:endParaRPr lang="es-ES" dirty="0"/>
          </a:p>
        </p:txBody>
      </p:sp>
      <p:sp>
        <p:nvSpPr>
          <p:cNvPr id="4" name="3 Título">
            <a:extLst>
              <a:ext uri="{FF2B5EF4-FFF2-40B4-BE49-F238E27FC236}">
                <a16:creationId xmlns:a16="http://schemas.microsoft.com/office/drawing/2014/main" id="{CE78061F-FE72-8CFD-04DD-665CEF50F4FD}"/>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1C43DB9-300E-9080-D46E-A39FFD134F0A}"/>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4DFCFCF5-1420-1FDC-52CD-E9871CDAD2CB}"/>
              </a:ext>
            </a:extLst>
          </p:cNvPr>
          <p:cNvSpPr txBox="1"/>
          <p:nvPr/>
        </p:nvSpPr>
        <p:spPr>
          <a:xfrm>
            <a:off x="333644" y="1320007"/>
            <a:ext cx="4598396" cy="3693319"/>
          </a:xfrm>
          <a:prstGeom prst="rect">
            <a:avLst/>
          </a:prstGeom>
          <a:noFill/>
        </p:spPr>
        <p:txBody>
          <a:bodyPr wrap="square">
            <a:spAutoFit/>
          </a:bodyPr>
          <a:lstStyle/>
          <a:p>
            <a:r>
              <a:rPr lang="en-US" sz="1300" dirty="0"/>
              <a:t>CREATE OR REPLACE FUNCTION </a:t>
            </a:r>
            <a:r>
              <a:rPr lang="en-US" sz="1300" dirty="0" err="1"/>
              <a:t>calcular_bono</a:t>
            </a:r>
            <a:r>
              <a:rPr lang="en-US" sz="1300" dirty="0"/>
              <a:t> (</a:t>
            </a:r>
          </a:p>
          <a:p>
            <a:r>
              <a:rPr lang="en-US" sz="1300" dirty="0"/>
              <a:t>    </a:t>
            </a:r>
            <a:r>
              <a:rPr lang="en-US" sz="1300" dirty="0" err="1"/>
              <a:t>p_empleado_id</a:t>
            </a:r>
            <a:r>
              <a:rPr lang="en-US" sz="1300" dirty="0"/>
              <a:t> IN NUMBER,</a:t>
            </a:r>
          </a:p>
          <a:p>
            <a:r>
              <a:rPr lang="en-US" sz="1300" dirty="0"/>
              <a:t>    </a:t>
            </a:r>
            <a:r>
              <a:rPr lang="en-US" sz="1300" dirty="0" err="1"/>
              <a:t>p_ventas_mes</a:t>
            </a:r>
            <a:r>
              <a:rPr lang="en-US" sz="1300" dirty="0"/>
              <a:t> IN NUMBER</a:t>
            </a:r>
          </a:p>
          <a:p>
            <a:r>
              <a:rPr lang="en-US" sz="1300" dirty="0"/>
              <a:t>) RETURN NUMBER</a:t>
            </a:r>
          </a:p>
          <a:p>
            <a:r>
              <a:rPr lang="en-US" sz="1300" dirty="0"/>
              <a:t>IS</a:t>
            </a:r>
          </a:p>
          <a:p>
            <a:r>
              <a:rPr lang="en-US" sz="1300" dirty="0"/>
              <a:t>    </a:t>
            </a:r>
            <a:r>
              <a:rPr lang="en-US" sz="1300" dirty="0" err="1"/>
              <a:t>v_salario_base</a:t>
            </a:r>
            <a:r>
              <a:rPr lang="en-US" sz="1300" dirty="0"/>
              <a:t> NUMBER;</a:t>
            </a:r>
          </a:p>
          <a:p>
            <a:r>
              <a:rPr lang="en-US" sz="1300" dirty="0"/>
              <a:t>    </a:t>
            </a:r>
            <a:r>
              <a:rPr lang="en-US" sz="1300" dirty="0" err="1"/>
              <a:t>v_bono</a:t>
            </a:r>
            <a:r>
              <a:rPr lang="en-US" sz="1300" dirty="0"/>
              <a:t> NUMBER;</a:t>
            </a:r>
          </a:p>
          <a:p>
            <a:r>
              <a:rPr lang="en-US" sz="1300" dirty="0"/>
              <a:t>BEGIN</a:t>
            </a:r>
          </a:p>
          <a:p>
            <a:r>
              <a:rPr lang="en-US" sz="1300" dirty="0"/>
              <a:t>    SELECT </a:t>
            </a:r>
            <a:r>
              <a:rPr lang="en-US" sz="1300" dirty="0" err="1"/>
              <a:t>salario</a:t>
            </a:r>
            <a:r>
              <a:rPr lang="en-US" sz="1300" dirty="0"/>
              <a:t> INTO </a:t>
            </a:r>
            <a:r>
              <a:rPr lang="en-US" sz="1300" dirty="0" err="1"/>
              <a:t>v_salario_base</a:t>
            </a:r>
            <a:endParaRPr lang="en-US" sz="1300" dirty="0"/>
          </a:p>
          <a:p>
            <a:r>
              <a:rPr lang="en-US" sz="1300" dirty="0"/>
              <a:t>    FROM </a:t>
            </a:r>
            <a:r>
              <a:rPr lang="en-US" sz="1300" dirty="0" err="1"/>
              <a:t>empleados</a:t>
            </a:r>
            <a:r>
              <a:rPr lang="en-US" sz="1300" dirty="0"/>
              <a:t> </a:t>
            </a:r>
          </a:p>
          <a:p>
            <a:r>
              <a:rPr lang="en-US" sz="1300" dirty="0"/>
              <a:t>    WHERE </a:t>
            </a:r>
            <a:r>
              <a:rPr lang="en-US" sz="1300" dirty="0" err="1"/>
              <a:t>empleado_id</a:t>
            </a:r>
            <a:r>
              <a:rPr lang="en-US" sz="1300" dirty="0"/>
              <a:t> = </a:t>
            </a:r>
            <a:r>
              <a:rPr lang="en-US" sz="1300" dirty="0" err="1"/>
              <a:t>p_empleado_id</a:t>
            </a:r>
            <a:r>
              <a:rPr lang="en-US" sz="1300" dirty="0"/>
              <a:t>;</a:t>
            </a:r>
          </a:p>
          <a:p>
            <a:r>
              <a:rPr lang="en-US" sz="1300" dirty="0"/>
              <a:t>    </a:t>
            </a:r>
          </a:p>
          <a:p>
            <a:r>
              <a:rPr lang="en-US" sz="1300" dirty="0"/>
              <a:t>    </a:t>
            </a:r>
            <a:r>
              <a:rPr lang="en-US" sz="1300" dirty="0" err="1"/>
              <a:t>v_bono</a:t>
            </a:r>
            <a:r>
              <a:rPr lang="en-US" sz="1300" dirty="0"/>
              <a:t> := </a:t>
            </a:r>
            <a:r>
              <a:rPr lang="en-US" sz="1300" dirty="0" err="1"/>
              <a:t>v_salario_base</a:t>
            </a:r>
            <a:r>
              <a:rPr lang="en-US" sz="1300" dirty="0"/>
              <a:t> * 0.10 + (</a:t>
            </a:r>
            <a:r>
              <a:rPr lang="en-US" sz="1300" dirty="0" err="1"/>
              <a:t>p_ventas_mes</a:t>
            </a:r>
            <a:r>
              <a:rPr lang="en-US" sz="1300" dirty="0"/>
              <a:t> * 0.05);</a:t>
            </a:r>
          </a:p>
          <a:p>
            <a:r>
              <a:rPr lang="en-US" sz="1300" dirty="0"/>
              <a:t>    </a:t>
            </a:r>
            <a:r>
              <a:rPr lang="en-US" sz="1300" b="1" dirty="0"/>
              <a:t>RETURN</a:t>
            </a:r>
            <a:r>
              <a:rPr lang="en-US" sz="1300" dirty="0"/>
              <a:t> </a:t>
            </a:r>
            <a:r>
              <a:rPr lang="en-US" sz="1300" dirty="0" err="1"/>
              <a:t>v_bono</a:t>
            </a:r>
            <a:r>
              <a:rPr lang="en-US" sz="1300" dirty="0"/>
              <a:t>;</a:t>
            </a:r>
          </a:p>
          <a:p>
            <a:r>
              <a:rPr lang="en-US" sz="1300" dirty="0"/>
              <a:t>EXCEPTION</a:t>
            </a:r>
          </a:p>
          <a:p>
            <a:r>
              <a:rPr lang="en-US" sz="1300" dirty="0"/>
              <a:t>    WHEN NO_DATA_FOUND THEN</a:t>
            </a:r>
          </a:p>
          <a:p>
            <a:r>
              <a:rPr lang="en-US" sz="1300" dirty="0"/>
              <a:t>        </a:t>
            </a:r>
            <a:r>
              <a:rPr lang="en-US" sz="1300" b="1" dirty="0"/>
              <a:t>RETURN</a:t>
            </a:r>
            <a:r>
              <a:rPr lang="en-US" sz="1300" dirty="0"/>
              <a:t> 0;</a:t>
            </a:r>
          </a:p>
          <a:p>
            <a:r>
              <a:rPr lang="en-US" sz="1300" dirty="0"/>
              <a:t>END </a:t>
            </a:r>
            <a:r>
              <a:rPr lang="en-US" sz="1300" dirty="0" err="1"/>
              <a:t>calcular_bono</a:t>
            </a:r>
            <a:r>
              <a:rPr lang="en-US" sz="1300" dirty="0"/>
              <a:t>;</a:t>
            </a:r>
            <a:endParaRPr lang="en-US" sz="1400" dirty="0"/>
          </a:p>
        </p:txBody>
      </p:sp>
      <p:sp>
        <p:nvSpPr>
          <p:cNvPr id="9" name="4 Marcador de contenido">
            <a:extLst>
              <a:ext uri="{FF2B5EF4-FFF2-40B4-BE49-F238E27FC236}">
                <a16:creationId xmlns:a16="http://schemas.microsoft.com/office/drawing/2014/main" id="{672068DE-96BE-85D5-614D-44598E1A2920}"/>
              </a:ext>
            </a:extLst>
          </p:cNvPr>
          <p:cNvSpPr txBox="1">
            <a:spLocks/>
          </p:cNvSpPr>
          <p:nvPr/>
        </p:nvSpPr>
        <p:spPr>
          <a:xfrm>
            <a:off x="5481708" y="1306682"/>
            <a:ext cx="3662292"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CREATE FUNCTION </a:t>
            </a:r>
          </a:p>
          <a:p>
            <a:pPr marL="342900" lvl="1" indent="-342900">
              <a:buFont typeface="Arial" panose="020B0604020202020204" pitchFamily="34" charset="0"/>
              <a:buChar char="•"/>
            </a:pPr>
            <a:r>
              <a:rPr lang="es-ES" sz="1800" dirty="0" err="1"/>
              <a:t>Parametros</a:t>
            </a:r>
            <a:endParaRPr lang="es-ES" sz="1800" dirty="0"/>
          </a:p>
          <a:p>
            <a:pPr marL="342900" lvl="1" indent="-342900">
              <a:buFont typeface="Arial" panose="020B0604020202020204" pitchFamily="34" charset="0"/>
              <a:buChar char="•"/>
            </a:pPr>
            <a:r>
              <a:rPr lang="es-ES" sz="1800" dirty="0"/>
              <a:t>Bloque/Bloques anidados</a:t>
            </a:r>
          </a:p>
          <a:p>
            <a:pPr marL="342900" lvl="1" indent="-342900">
              <a:buFont typeface="Arial" panose="020B0604020202020204" pitchFamily="34" charset="0"/>
              <a:buChar char="•"/>
            </a:pPr>
            <a:r>
              <a:rPr lang="es-ES" sz="1800" dirty="0"/>
              <a:t>No necesita el primer DECLARE, después del IS se pueden declarar variables internas.</a:t>
            </a:r>
          </a:p>
          <a:p>
            <a:pPr marL="342900" lvl="1" indent="-342900">
              <a:buFont typeface="Arial" panose="020B0604020202020204" pitchFamily="34" charset="0"/>
              <a:buChar char="•"/>
            </a:pPr>
            <a:r>
              <a:rPr lang="es-ES" sz="1800" dirty="0"/>
              <a:t>Necesitamos RETURN</a:t>
            </a:r>
          </a:p>
          <a:p>
            <a:pPr marL="342900" lvl="1" indent="-342900">
              <a:buFont typeface="Arial" panose="020B0604020202020204" pitchFamily="34" charset="0"/>
              <a:buChar char="•"/>
            </a:pPr>
            <a:r>
              <a:rPr lang="es-ES" sz="1800" dirty="0"/>
              <a:t>No poner parámetros OUT</a:t>
            </a:r>
          </a:p>
          <a:p>
            <a:pPr marL="539750" lvl="3" indent="0">
              <a:buFont typeface="Arial" pitchFamily="34" charset="0"/>
              <a:buNone/>
              <a:defRPr/>
            </a:pPr>
            <a:endParaRPr lang="es-ES" dirty="0"/>
          </a:p>
        </p:txBody>
      </p:sp>
    </p:spTree>
    <p:extLst>
      <p:ext uri="{BB962C8B-B14F-4D97-AF65-F5344CB8AC3E}">
        <p14:creationId xmlns:p14="http://schemas.microsoft.com/office/powerpoint/2010/main" val="296008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10BA-0CBA-17BA-07C2-8014605EC203}"/>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FB0F5EE3-C059-1EA0-1675-799EDF09EBE6}"/>
              </a:ext>
            </a:extLst>
          </p:cNvPr>
          <p:cNvSpPr>
            <a:spLocks noGrp="1"/>
          </p:cNvSpPr>
          <p:nvPr>
            <p:ph idx="1"/>
          </p:nvPr>
        </p:nvSpPr>
        <p:spPr>
          <a:xfrm>
            <a:off x="457200" y="915566"/>
            <a:ext cx="8229600" cy="3816425"/>
          </a:xfrm>
        </p:spPr>
        <p:txBody>
          <a:bodyPr>
            <a:normAutofit/>
          </a:bodyPr>
          <a:lstStyle/>
          <a:p>
            <a:r>
              <a:rPr lang="es-ES" dirty="0"/>
              <a:t>Optimizar funciones (CREATE FUNCTION) con RETURN</a:t>
            </a:r>
          </a:p>
        </p:txBody>
      </p:sp>
      <p:sp>
        <p:nvSpPr>
          <p:cNvPr id="4" name="3 Título">
            <a:extLst>
              <a:ext uri="{FF2B5EF4-FFF2-40B4-BE49-F238E27FC236}">
                <a16:creationId xmlns:a16="http://schemas.microsoft.com/office/drawing/2014/main" id="{3EC4620D-F19B-7829-B4C2-CDA77AE2089F}"/>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1310093-EED5-2841-FB39-D42D24D197B2}"/>
              </a:ext>
            </a:extLst>
          </p:cNvPr>
          <p:cNvSpPr>
            <a:spLocks noGrp="1"/>
          </p:cNvSpPr>
          <p:nvPr>
            <p:ph type="body" sz="quarter" idx="14"/>
          </p:nvPr>
        </p:nvSpPr>
        <p:spPr/>
        <p:txBody>
          <a:bodyPr>
            <a:normAutofit fontScale="62500" lnSpcReduction="20000"/>
          </a:bodyPr>
          <a:lstStyle/>
          <a:p>
            <a:r>
              <a:rPr lang="es-ES" dirty="0"/>
              <a:t>Procedimientos, funciones y paquetes</a:t>
            </a:r>
          </a:p>
        </p:txBody>
      </p:sp>
      <p:graphicFrame>
        <p:nvGraphicFramePr>
          <p:cNvPr id="2" name="Tabla 1">
            <a:extLst>
              <a:ext uri="{FF2B5EF4-FFF2-40B4-BE49-F238E27FC236}">
                <a16:creationId xmlns:a16="http://schemas.microsoft.com/office/drawing/2014/main" id="{F5F268C7-2B4E-6D65-7E3F-E0A4CCA914C6}"/>
              </a:ext>
            </a:extLst>
          </p:cNvPr>
          <p:cNvGraphicFramePr>
            <a:graphicFrameLocks noGrp="1"/>
          </p:cNvGraphicFramePr>
          <p:nvPr>
            <p:extLst>
              <p:ext uri="{D42A27DB-BD31-4B8C-83A1-F6EECF244321}">
                <p14:modId xmlns:p14="http://schemas.microsoft.com/office/powerpoint/2010/main" val="4063818464"/>
              </p:ext>
            </p:extLst>
          </p:nvPr>
        </p:nvGraphicFramePr>
        <p:xfrm>
          <a:off x="1475656" y="2067694"/>
          <a:ext cx="6019800" cy="1885950"/>
        </p:xfrm>
        <a:graphic>
          <a:graphicData uri="http://schemas.openxmlformats.org/drawingml/2006/table">
            <a:tbl>
              <a:tblPr>
                <a:tableStyleId>{5C22544A-7EE6-4342-B048-85BDC9FD1C3A}</a:tableStyleId>
              </a:tblPr>
              <a:tblGrid>
                <a:gridCol w="2006600">
                  <a:extLst>
                    <a:ext uri="{9D8B030D-6E8A-4147-A177-3AD203B41FA5}">
                      <a16:colId xmlns:a16="http://schemas.microsoft.com/office/drawing/2014/main" val="3801361143"/>
                    </a:ext>
                  </a:extLst>
                </a:gridCol>
                <a:gridCol w="2006600">
                  <a:extLst>
                    <a:ext uri="{9D8B030D-6E8A-4147-A177-3AD203B41FA5}">
                      <a16:colId xmlns:a16="http://schemas.microsoft.com/office/drawing/2014/main" val="3293949539"/>
                    </a:ext>
                  </a:extLst>
                </a:gridCol>
                <a:gridCol w="2006600">
                  <a:extLst>
                    <a:ext uri="{9D8B030D-6E8A-4147-A177-3AD203B41FA5}">
                      <a16:colId xmlns:a16="http://schemas.microsoft.com/office/drawing/2014/main" val="2081415058"/>
                    </a:ext>
                  </a:extLst>
                </a:gridCol>
              </a:tblGrid>
              <a:tr h="209550">
                <a:tc>
                  <a:txBody>
                    <a:bodyPr/>
                    <a:lstStyle/>
                    <a:p>
                      <a:pPr algn="l" fontAlgn="ctr">
                        <a:buNone/>
                      </a:pPr>
                      <a:r>
                        <a:rPr lang="es-ES" sz="1100" b="1" u="none" strike="noStrike">
                          <a:effectLst/>
                        </a:rPr>
                        <a:t>Opción</a:t>
                      </a:r>
                      <a:endParaRPr lang="es-ES" sz="1100" b="1"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b="1" u="none" strike="noStrike">
                          <a:effectLst/>
                        </a:rPr>
                        <a:t>Cuándo usar</a:t>
                      </a:r>
                      <a:endParaRPr lang="es-ES" sz="1100" b="1"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b="1" u="none" strike="noStrike" dirty="0">
                          <a:effectLst/>
                        </a:rPr>
                        <a:t>Ventaja</a:t>
                      </a:r>
                      <a:endParaRPr lang="es-ES" sz="1100" b="1" i="0" u="none" strike="noStrike" dirty="0">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3345314933"/>
                  </a:ext>
                </a:extLst>
              </a:tr>
              <a:tr h="419100">
                <a:tc>
                  <a:txBody>
                    <a:bodyPr/>
                    <a:lstStyle/>
                    <a:p>
                      <a:pPr algn="l" fontAlgn="ctr">
                        <a:buNone/>
                      </a:pPr>
                      <a:r>
                        <a:rPr lang="es-ES" sz="1100" b="1" u="none" strike="noStrike">
                          <a:effectLst/>
                        </a:rPr>
                        <a:t>DETERMINISTIC</a:t>
                      </a:r>
                      <a:endParaRPr lang="es-ES" sz="1100" b="1"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Cálculos matemáticos, conversiones</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Reutiliza resultados en misma transacción</a:t>
                      </a:r>
                      <a:endParaRPr lang="es-ES" sz="1100" b="0" i="0" u="none" strike="noStrike">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2517854079"/>
                  </a:ext>
                </a:extLst>
              </a:tr>
              <a:tr h="419100">
                <a:tc>
                  <a:txBody>
                    <a:bodyPr/>
                    <a:lstStyle/>
                    <a:p>
                      <a:pPr algn="l" fontAlgn="ctr">
                        <a:buNone/>
                      </a:pPr>
                      <a:r>
                        <a:rPr lang="es-ES" sz="1100" b="1" u="none" strike="noStrike">
                          <a:effectLst/>
                        </a:rPr>
                        <a:t>RESULT_CACHE</a:t>
                      </a:r>
                      <a:endParaRPr lang="es-ES" sz="1100" b="1"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Consultas costosas, datos poco cambiantes</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Cache entre sesiones y transacciones</a:t>
                      </a:r>
                      <a:endParaRPr lang="es-ES" sz="1100" b="0" i="0" u="none" strike="noStrike">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4128816990"/>
                  </a:ext>
                </a:extLst>
              </a:tr>
              <a:tr h="419100">
                <a:tc>
                  <a:txBody>
                    <a:bodyPr/>
                    <a:lstStyle/>
                    <a:p>
                      <a:pPr algn="l" fontAlgn="ctr">
                        <a:buNone/>
                      </a:pPr>
                      <a:r>
                        <a:rPr lang="es-ES" sz="1100" b="1" u="none" strike="noStrike">
                          <a:effectLst/>
                        </a:rPr>
                        <a:t>PARALLEL_ENABLE</a:t>
                      </a:r>
                      <a:endParaRPr lang="es-ES" sz="1100" b="1"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Procesamiento masivo de datos</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Ejecución paralela en SQL</a:t>
                      </a:r>
                      <a:endParaRPr lang="es-ES" sz="1100" b="0" i="0" u="none" strike="noStrike">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24880357"/>
                  </a:ext>
                </a:extLst>
              </a:tr>
              <a:tr h="419100">
                <a:tc>
                  <a:txBody>
                    <a:bodyPr/>
                    <a:lstStyle/>
                    <a:p>
                      <a:pPr algn="l" fontAlgn="ctr">
                        <a:buNone/>
                      </a:pPr>
                      <a:r>
                        <a:rPr lang="es-ES" sz="1100" b="1" u="none" strike="noStrike" dirty="0">
                          <a:effectLst/>
                        </a:rPr>
                        <a:t>PIPELINED</a:t>
                      </a:r>
                      <a:endParaRPr lang="es-ES" sz="1100" b="1" i="0" u="none" strike="noStrike" dirty="0">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Retornar múltiples filas</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dirty="0">
                          <a:effectLst/>
                        </a:rPr>
                        <a:t>Mejor performance que colecciones</a:t>
                      </a:r>
                      <a:endParaRPr lang="es-ES" sz="1100" b="0" i="0" u="none" strike="noStrike" dirty="0">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3623511663"/>
                  </a:ext>
                </a:extLst>
              </a:tr>
            </a:tbl>
          </a:graphicData>
        </a:graphic>
      </p:graphicFrame>
    </p:spTree>
    <p:extLst>
      <p:ext uri="{BB962C8B-B14F-4D97-AF65-F5344CB8AC3E}">
        <p14:creationId xmlns:p14="http://schemas.microsoft.com/office/powerpoint/2010/main" val="1019972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13844-D73D-C0F2-CDFC-3155EC1B147A}"/>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F03E8EF5-FD91-A7EB-6097-26FE3A0EAF49}"/>
              </a:ext>
            </a:extLst>
          </p:cNvPr>
          <p:cNvSpPr/>
          <p:nvPr/>
        </p:nvSpPr>
        <p:spPr>
          <a:xfrm>
            <a:off x="261636" y="1275606"/>
            <a:ext cx="510245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C605ECB6-A5FB-12CC-B483-DE17DB3A6C35}"/>
              </a:ext>
            </a:extLst>
          </p:cNvPr>
          <p:cNvSpPr>
            <a:spLocks noGrp="1"/>
          </p:cNvSpPr>
          <p:nvPr>
            <p:ph idx="1"/>
          </p:nvPr>
        </p:nvSpPr>
        <p:spPr>
          <a:xfrm>
            <a:off x="457200" y="915567"/>
            <a:ext cx="8579296" cy="360040"/>
          </a:xfrm>
        </p:spPr>
        <p:txBody>
          <a:bodyPr>
            <a:normAutofit fontScale="47500" lnSpcReduction="20000"/>
          </a:bodyPr>
          <a:lstStyle/>
          <a:p>
            <a:r>
              <a:rPr lang="es-ES" sz="4400" dirty="0"/>
              <a:t>Optimizar funciones - DETERMINISTIC</a:t>
            </a:r>
            <a:endParaRPr lang="es-ES" dirty="0"/>
          </a:p>
        </p:txBody>
      </p:sp>
      <p:sp>
        <p:nvSpPr>
          <p:cNvPr id="4" name="3 Título">
            <a:extLst>
              <a:ext uri="{FF2B5EF4-FFF2-40B4-BE49-F238E27FC236}">
                <a16:creationId xmlns:a16="http://schemas.microsoft.com/office/drawing/2014/main" id="{72D192C5-B9F9-D537-20A7-24B51C262D44}"/>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6DE32DA-E985-5036-AA69-21B33ACA3010}"/>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7B0EE7DA-566A-7040-EF82-C3227E974EDC}"/>
              </a:ext>
            </a:extLst>
          </p:cNvPr>
          <p:cNvSpPr txBox="1"/>
          <p:nvPr/>
        </p:nvSpPr>
        <p:spPr>
          <a:xfrm>
            <a:off x="333644" y="1320007"/>
            <a:ext cx="4598396" cy="1292662"/>
          </a:xfrm>
          <a:prstGeom prst="rect">
            <a:avLst/>
          </a:prstGeom>
          <a:noFill/>
        </p:spPr>
        <p:txBody>
          <a:bodyPr wrap="square">
            <a:spAutoFit/>
          </a:bodyPr>
          <a:lstStyle/>
          <a:p>
            <a:r>
              <a:rPr lang="en-US" sz="1300" dirty="0"/>
              <a:t>CREATE OR REPLACE FUNCTION </a:t>
            </a:r>
            <a:r>
              <a:rPr lang="en-US" sz="1300" dirty="0" err="1"/>
              <a:t>calcular_iva</a:t>
            </a:r>
            <a:r>
              <a:rPr lang="en-US" sz="1300" dirty="0"/>
              <a:t>(</a:t>
            </a:r>
            <a:r>
              <a:rPr lang="en-US" sz="1300" dirty="0" err="1"/>
              <a:t>precio</a:t>
            </a:r>
            <a:r>
              <a:rPr lang="en-US" sz="1300" dirty="0"/>
              <a:t> NUMBER) </a:t>
            </a:r>
          </a:p>
          <a:p>
            <a:r>
              <a:rPr lang="en-US" sz="1300" dirty="0"/>
              <a:t>RETURN NUMBER DETERMINISTIC IS</a:t>
            </a:r>
          </a:p>
          <a:p>
            <a:r>
              <a:rPr lang="en-US" sz="1300" dirty="0"/>
              <a:t>BEGIN</a:t>
            </a:r>
          </a:p>
          <a:p>
            <a:r>
              <a:rPr lang="en-US" sz="1300" dirty="0"/>
              <a:t>    RETURN </a:t>
            </a:r>
            <a:r>
              <a:rPr lang="en-US" sz="1300" dirty="0" err="1"/>
              <a:t>precio</a:t>
            </a:r>
            <a:r>
              <a:rPr lang="en-US" sz="1300" dirty="0"/>
              <a:t> * 0.21;</a:t>
            </a:r>
          </a:p>
          <a:p>
            <a:r>
              <a:rPr lang="en-US" sz="1300" dirty="0"/>
              <a:t>END;</a:t>
            </a:r>
          </a:p>
          <a:p>
            <a:r>
              <a:rPr lang="en-US" sz="1300" dirty="0"/>
              <a:t>/</a:t>
            </a:r>
            <a:endParaRPr lang="en-US" sz="1400" dirty="0"/>
          </a:p>
        </p:txBody>
      </p:sp>
      <p:sp>
        <p:nvSpPr>
          <p:cNvPr id="9" name="4 Marcador de contenido">
            <a:extLst>
              <a:ext uri="{FF2B5EF4-FFF2-40B4-BE49-F238E27FC236}">
                <a16:creationId xmlns:a16="http://schemas.microsoft.com/office/drawing/2014/main" id="{2C14D6A4-F0B3-F8E9-8736-1265617E5479}"/>
              </a:ext>
            </a:extLst>
          </p:cNvPr>
          <p:cNvSpPr txBox="1">
            <a:spLocks/>
          </p:cNvSpPr>
          <p:nvPr/>
        </p:nvSpPr>
        <p:spPr>
          <a:xfrm>
            <a:off x="5481708" y="1306682"/>
            <a:ext cx="3662292"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Requisitos: La función siempre retorna el mismo resultado para los mismos parámetros de entrada.</a:t>
            </a:r>
            <a:endParaRPr lang="es-ES" dirty="0"/>
          </a:p>
        </p:txBody>
      </p:sp>
    </p:spTree>
    <p:extLst>
      <p:ext uri="{BB962C8B-B14F-4D97-AF65-F5344CB8AC3E}">
        <p14:creationId xmlns:p14="http://schemas.microsoft.com/office/powerpoint/2010/main" val="1394572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17236-93C7-4895-42BB-5CC0F4801A82}"/>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E91B80D6-432B-27BD-5C30-CC7914EAFC13}"/>
              </a:ext>
            </a:extLst>
          </p:cNvPr>
          <p:cNvSpPr/>
          <p:nvPr/>
        </p:nvSpPr>
        <p:spPr>
          <a:xfrm>
            <a:off x="261636" y="1275606"/>
            <a:ext cx="510245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75883E5-D2BD-E0F7-6B32-80982C55AB74}"/>
              </a:ext>
            </a:extLst>
          </p:cNvPr>
          <p:cNvSpPr>
            <a:spLocks noGrp="1"/>
          </p:cNvSpPr>
          <p:nvPr>
            <p:ph idx="1"/>
          </p:nvPr>
        </p:nvSpPr>
        <p:spPr>
          <a:xfrm>
            <a:off x="457200" y="915567"/>
            <a:ext cx="8579296" cy="360040"/>
          </a:xfrm>
        </p:spPr>
        <p:txBody>
          <a:bodyPr>
            <a:normAutofit fontScale="47500" lnSpcReduction="20000"/>
          </a:bodyPr>
          <a:lstStyle/>
          <a:p>
            <a:r>
              <a:rPr lang="es-ES" sz="4400" dirty="0"/>
              <a:t>Optimizar funciones - RESULT_CACHE</a:t>
            </a:r>
            <a:endParaRPr lang="es-ES" dirty="0"/>
          </a:p>
        </p:txBody>
      </p:sp>
      <p:sp>
        <p:nvSpPr>
          <p:cNvPr id="4" name="3 Título">
            <a:extLst>
              <a:ext uri="{FF2B5EF4-FFF2-40B4-BE49-F238E27FC236}">
                <a16:creationId xmlns:a16="http://schemas.microsoft.com/office/drawing/2014/main" id="{015E72F2-BFD5-91BD-7422-A96886336A9E}"/>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5ADAC700-2F52-5DFD-C6C8-520B4EFF111B}"/>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951DB2E9-F0D0-1945-2D5B-1CC5C28F1582}"/>
              </a:ext>
            </a:extLst>
          </p:cNvPr>
          <p:cNvSpPr txBox="1"/>
          <p:nvPr/>
        </p:nvSpPr>
        <p:spPr>
          <a:xfrm>
            <a:off x="333644" y="1320007"/>
            <a:ext cx="4598396" cy="2092881"/>
          </a:xfrm>
          <a:prstGeom prst="rect">
            <a:avLst/>
          </a:prstGeom>
          <a:noFill/>
        </p:spPr>
        <p:txBody>
          <a:bodyPr wrap="square">
            <a:spAutoFit/>
          </a:bodyPr>
          <a:lstStyle/>
          <a:p>
            <a:r>
              <a:rPr lang="en-US" sz="1300" dirty="0"/>
              <a:t>CREATE OR REPLACE FUNCTION </a:t>
            </a:r>
            <a:r>
              <a:rPr lang="en-US" sz="1300" dirty="0" err="1"/>
              <a:t>obtener_nombre_empleado</a:t>
            </a:r>
            <a:r>
              <a:rPr lang="en-US" sz="1300" dirty="0"/>
              <a:t>(</a:t>
            </a:r>
            <a:r>
              <a:rPr lang="en-US" sz="1300" dirty="0" err="1"/>
              <a:t>id_emp</a:t>
            </a:r>
            <a:r>
              <a:rPr lang="en-US" sz="1300" dirty="0"/>
              <a:t> NUMBER) </a:t>
            </a:r>
          </a:p>
          <a:p>
            <a:r>
              <a:rPr lang="en-US" sz="1300" dirty="0"/>
              <a:t>RETURN VARCHAR2 RESULT_CACHE IS</a:t>
            </a:r>
          </a:p>
          <a:p>
            <a:r>
              <a:rPr lang="en-US" sz="1300" dirty="0"/>
              <a:t>    </a:t>
            </a:r>
            <a:r>
              <a:rPr lang="en-US" sz="1300" dirty="0" err="1"/>
              <a:t>nombre</a:t>
            </a:r>
            <a:r>
              <a:rPr lang="en-US" sz="1300" dirty="0"/>
              <a:t> VARCHAR2(100);</a:t>
            </a:r>
          </a:p>
          <a:p>
            <a:r>
              <a:rPr lang="en-US" sz="1300" dirty="0"/>
              <a:t>BEGIN</a:t>
            </a:r>
          </a:p>
          <a:p>
            <a:r>
              <a:rPr lang="en-US" sz="1300" dirty="0"/>
              <a:t>    SELECT </a:t>
            </a:r>
            <a:r>
              <a:rPr lang="en-US" sz="1300" dirty="0" err="1"/>
              <a:t>first_name</a:t>
            </a:r>
            <a:r>
              <a:rPr lang="en-US" sz="1300" dirty="0"/>
              <a:t> INTO </a:t>
            </a:r>
            <a:r>
              <a:rPr lang="en-US" sz="1300" dirty="0" err="1"/>
              <a:t>nombre</a:t>
            </a:r>
            <a:r>
              <a:rPr lang="en-US" sz="1300" dirty="0"/>
              <a:t> </a:t>
            </a:r>
          </a:p>
          <a:p>
            <a:r>
              <a:rPr lang="en-US" sz="1300" dirty="0"/>
              <a:t>    FROM employees WHERE </a:t>
            </a:r>
            <a:r>
              <a:rPr lang="en-US" sz="1300" dirty="0" err="1"/>
              <a:t>employee_id</a:t>
            </a:r>
            <a:r>
              <a:rPr lang="en-US" sz="1300" dirty="0"/>
              <a:t> = </a:t>
            </a:r>
            <a:r>
              <a:rPr lang="en-US" sz="1300" dirty="0" err="1"/>
              <a:t>id_emp</a:t>
            </a:r>
            <a:r>
              <a:rPr lang="en-US" sz="1300" dirty="0"/>
              <a:t>;</a:t>
            </a:r>
          </a:p>
          <a:p>
            <a:r>
              <a:rPr lang="en-US" sz="1300" dirty="0"/>
              <a:t>    RETURN </a:t>
            </a:r>
            <a:r>
              <a:rPr lang="en-US" sz="1300" dirty="0" err="1"/>
              <a:t>nombre</a:t>
            </a:r>
            <a:r>
              <a:rPr lang="en-US" sz="1300" dirty="0"/>
              <a:t>;</a:t>
            </a:r>
          </a:p>
          <a:p>
            <a:r>
              <a:rPr lang="en-US" sz="1300" dirty="0"/>
              <a:t>END;</a:t>
            </a:r>
          </a:p>
          <a:p>
            <a:r>
              <a:rPr lang="en-US" sz="1300" dirty="0"/>
              <a:t>/</a:t>
            </a:r>
            <a:endParaRPr lang="en-US" sz="1400" dirty="0"/>
          </a:p>
        </p:txBody>
      </p:sp>
      <p:sp>
        <p:nvSpPr>
          <p:cNvPr id="9" name="4 Marcador de contenido">
            <a:extLst>
              <a:ext uri="{FF2B5EF4-FFF2-40B4-BE49-F238E27FC236}">
                <a16:creationId xmlns:a16="http://schemas.microsoft.com/office/drawing/2014/main" id="{D49E98EF-0996-AA48-AF0A-56D6040A6378}"/>
              </a:ext>
            </a:extLst>
          </p:cNvPr>
          <p:cNvSpPr txBox="1">
            <a:spLocks/>
          </p:cNvSpPr>
          <p:nvPr/>
        </p:nvSpPr>
        <p:spPr>
          <a:xfrm>
            <a:off x="5481708" y="1306682"/>
            <a:ext cx="3662292"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Requisitos: La función es costosa y se llama frecuentemente con los mismos parámetros.</a:t>
            </a:r>
            <a:endParaRPr lang="es-ES" dirty="0"/>
          </a:p>
        </p:txBody>
      </p:sp>
      <p:sp>
        <p:nvSpPr>
          <p:cNvPr id="2" name="CuadroTexto 1">
            <a:extLst>
              <a:ext uri="{FF2B5EF4-FFF2-40B4-BE49-F238E27FC236}">
                <a16:creationId xmlns:a16="http://schemas.microsoft.com/office/drawing/2014/main" id="{F0BD4C64-9CBE-92D1-C109-B4C9B74D0216}"/>
              </a:ext>
            </a:extLst>
          </p:cNvPr>
          <p:cNvSpPr txBox="1"/>
          <p:nvPr/>
        </p:nvSpPr>
        <p:spPr>
          <a:xfrm>
            <a:off x="6372200" y="4731990"/>
            <a:ext cx="2745013" cy="246221"/>
          </a:xfrm>
          <a:prstGeom prst="rect">
            <a:avLst/>
          </a:prstGeom>
          <a:noFill/>
        </p:spPr>
        <p:txBody>
          <a:bodyPr wrap="square">
            <a:spAutoFit/>
          </a:bodyPr>
          <a:lstStyle/>
          <a:p>
            <a:r>
              <a:rPr lang="es-ES" sz="1000" dirty="0">
                <a:solidFill>
                  <a:srgbClr val="FF6A00"/>
                </a:solidFill>
                <a:latin typeface="-apple-system"/>
              </a:rPr>
              <a:t>session4-calcular_complejo_result-cache.sql.sql</a:t>
            </a:r>
            <a:endParaRPr lang="es-ES" dirty="0">
              <a:solidFill>
                <a:srgbClr val="FF6A00"/>
              </a:solidFill>
            </a:endParaRPr>
          </a:p>
        </p:txBody>
      </p:sp>
    </p:spTree>
    <p:extLst>
      <p:ext uri="{BB962C8B-B14F-4D97-AF65-F5344CB8AC3E}">
        <p14:creationId xmlns:p14="http://schemas.microsoft.com/office/powerpoint/2010/main" val="823303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77AC8-CAAB-F8FF-726F-0B14CB778DE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BD43AFD7-2A6A-9D9C-AE9C-BC2DE9F2783E}"/>
              </a:ext>
            </a:extLst>
          </p:cNvPr>
          <p:cNvSpPr/>
          <p:nvPr/>
        </p:nvSpPr>
        <p:spPr>
          <a:xfrm>
            <a:off x="261636" y="1275606"/>
            <a:ext cx="510245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C2445266-8AB5-2CF1-ED98-BE93D7C2DD3C}"/>
              </a:ext>
            </a:extLst>
          </p:cNvPr>
          <p:cNvSpPr>
            <a:spLocks noGrp="1"/>
          </p:cNvSpPr>
          <p:nvPr>
            <p:ph idx="1"/>
          </p:nvPr>
        </p:nvSpPr>
        <p:spPr>
          <a:xfrm>
            <a:off x="457200" y="915567"/>
            <a:ext cx="8579296" cy="360040"/>
          </a:xfrm>
        </p:spPr>
        <p:txBody>
          <a:bodyPr>
            <a:normAutofit fontScale="47500" lnSpcReduction="20000"/>
          </a:bodyPr>
          <a:lstStyle/>
          <a:p>
            <a:r>
              <a:rPr lang="es-ES" sz="4400" dirty="0"/>
              <a:t>Optimizar funciones - PARALLEL_ENABLE</a:t>
            </a:r>
            <a:endParaRPr lang="es-ES" dirty="0"/>
          </a:p>
        </p:txBody>
      </p:sp>
      <p:sp>
        <p:nvSpPr>
          <p:cNvPr id="4" name="3 Título">
            <a:extLst>
              <a:ext uri="{FF2B5EF4-FFF2-40B4-BE49-F238E27FC236}">
                <a16:creationId xmlns:a16="http://schemas.microsoft.com/office/drawing/2014/main" id="{81A949F6-55A7-B27A-6B94-F1690A9C803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CE412A8-19FF-3885-CE74-B953AED6675E}"/>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063C9906-D7EC-B0F7-B399-BAED222DFB6A}"/>
              </a:ext>
            </a:extLst>
          </p:cNvPr>
          <p:cNvSpPr txBox="1"/>
          <p:nvPr/>
        </p:nvSpPr>
        <p:spPr>
          <a:xfrm>
            <a:off x="333644" y="1320007"/>
            <a:ext cx="4598396" cy="1492716"/>
          </a:xfrm>
          <a:prstGeom prst="rect">
            <a:avLst/>
          </a:prstGeom>
          <a:noFill/>
        </p:spPr>
        <p:txBody>
          <a:bodyPr wrap="square">
            <a:spAutoFit/>
          </a:bodyPr>
          <a:lstStyle/>
          <a:p>
            <a:r>
              <a:rPr lang="en-US" sz="1300" dirty="0"/>
              <a:t>CREATE OR REPLACE FUNCTION </a:t>
            </a:r>
            <a:r>
              <a:rPr lang="en-US" sz="1300" dirty="0" err="1"/>
              <a:t>procesar_salario</a:t>
            </a:r>
            <a:r>
              <a:rPr lang="en-US" sz="1300" dirty="0"/>
              <a:t>(</a:t>
            </a:r>
            <a:r>
              <a:rPr lang="en-US" sz="1300" dirty="0" err="1"/>
              <a:t>salario</a:t>
            </a:r>
            <a:r>
              <a:rPr lang="en-US" sz="1300" dirty="0"/>
              <a:t> NUMBER) </a:t>
            </a:r>
          </a:p>
          <a:p>
            <a:r>
              <a:rPr lang="en-US" sz="1300" dirty="0"/>
              <a:t>RETURN NUMBER PARALLEL_ENABLE IS</a:t>
            </a:r>
          </a:p>
          <a:p>
            <a:r>
              <a:rPr lang="en-US" sz="1300" dirty="0"/>
              <a:t>BEGIN</a:t>
            </a:r>
          </a:p>
          <a:p>
            <a:r>
              <a:rPr lang="en-US" sz="1300" dirty="0"/>
              <a:t>    RETURN </a:t>
            </a:r>
            <a:r>
              <a:rPr lang="en-US" sz="1300" dirty="0" err="1"/>
              <a:t>salario</a:t>
            </a:r>
            <a:r>
              <a:rPr lang="en-US" sz="1300" dirty="0"/>
              <a:t> * 1.10; -- </a:t>
            </a:r>
            <a:r>
              <a:rPr lang="en-US" sz="1300" dirty="0" err="1"/>
              <a:t>Aumento</a:t>
            </a:r>
            <a:r>
              <a:rPr lang="en-US" sz="1300" dirty="0"/>
              <a:t> del 10%</a:t>
            </a:r>
          </a:p>
          <a:p>
            <a:r>
              <a:rPr lang="en-US" sz="1300" dirty="0"/>
              <a:t>END;</a:t>
            </a:r>
          </a:p>
          <a:p>
            <a:r>
              <a:rPr lang="en-US" sz="1300" dirty="0"/>
              <a:t>/</a:t>
            </a:r>
            <a:endParaRPr lang="en-US" sz="1400" dirty="0"/>
          </a:p>
        </p:txBody>
      </p:sp>
      <p:sp>
        <p:nvSpPr>
          <p:cNvPr id="9" name="4 Marcador de contenido">
            <a:extLst>
              <a:ext uri="{FF2B5EF4-FFF2-40B4-BE49-F238E27FC236}">
                <a16:creationId xmlns:a16="http://schemas.microsoft.com/office/drawing/2014/main" id="{2908C856-0BFC-9BC0-B2AF-EA52E398F035}"/>
              </a:ext>
            </a:extLst>
          </p:cNvPr>
          <p:cNvSpPr txBox="1">
            <a:spLocks/>
          </p:cNvSpPr>
          <p:nvPr/>
        </p:nvSpPr>
        <p:spPr>
          <a:xfrm>
            <a:off x="5481708" y="1306682"/>
            <a:ext cx="3662292" cy="3569323"/>
          </a:xfrm>
          <a:prstGeom prst="rect">
            <a:avLst/>
          </a:prstGeom>
        </p:spPr>
        <p:txBody>
          <a:bodyPr vert="horz" lIns="91440" tIns="45720" rIns="91440" bIns="45720" rtlCol="0">
            <a:normAutofit fontScale="92500" lnSpcReduction="2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Requisitos: La función puede ejecutarse en paralelo en operaciones SQL.</a:t>
            </a:r>
          </a:p>
          <a:p>
            <a:pPr marL="342900" lvl="1" indent="-342900">
              <a:buFont typeface="Arial" panose="020B0604020202020204" pitchFamily="34" charset="0"/>
              <a:buChar char="•"/>
            </a:pPr>
            <a:r>
              <a:rPr lang="es-ES" sz="1800" dirty="0"/>
              <a:t>PARALLEL_ENABLE funciona mejor en consultas que procesan MUCHOS registros</a:t>
            </a:r>
          </a:p>
          <a:p>
            <a:pPr marL="342900" lvl="1" indent="-342900">
              <a:buFont typeface="Arial" panose="020B0604020202020204" pitchFamily="34" charset="0"/>
              <a:buChar char="•"/>
            </a:pPr>
            <a:r>
              <a:rPr lang="es-ES" sz="1800" dirty="0"/>
              <a:t>DETERMINISTIC ayuda cuando se repiten mismos parámetros</a:t>
            </a:r>
          </a:p>
          <a:p>
            <a:pPr marL="342900" lvl="1" indent="-342900">
              <a:buFont typeface="Arial" panose="020B0604020202020204" pitchFamily="34" charset="0"/>
              <a:buChar char="•"/>
            </a:pPr>
            <a:r>
              <a:rPr lang="es-ES" sz="1800" dirty="0"/>
              <a:t>El </a:t>
            </a:r>
            <a:r>
              <a:rPr lang="es-ES" sz="1800" dirty="0" err="1"/>
              <a:t>hint</a:t>
            </a:r>
            <a:r>
              <a:rPr lang="es-ES" sz="1800" dirty="0"/>
              <a:t> /*+ PARALLEL(N) */ fuerza el número de procesos paralelos</a:t>
            </a:r>
          </a:p>
          <a:p>
            <a:pPr marL="342900" lvl="1" indent="-342900">
              <a:buFont typeface="Arial" panose="020B0604020202020204" pitchFamily="34" charset="0"/>
              <a:buChar char="•"/>
            </a:pPr>
            <a:r>
              <a:rPr lang="es-ES" sz="1800" dirty="0"/>
              <a:t>¿Pueden mezclarse? ¡SÍ! Una función puede ser PARALLEL_ENABLE DETERMINISTIC combinando ambas optimizaciones.</a:t>
            </a:r>
          </a:p>
          <a:p>
            <a:pPr marL="342900" lvl="1" indent="-342900">
              <a:buFont typeface="Arial" panose="020B0604020202020204" pitchFamily="34" charset="0"/>
              <a:buChar char="•"/>
            </a:pPr>
            <a:endParaRPr lang="es-ES" sz="1800" dirty="0"/>
          </a:p>
        </p:txBody>
      </p:sp>
      <p:sp>
        <p:nvSpPr>
          <p:cNvPr id="2" name="CuadroTexto 1">
            <a:extLst>
              <a:ext uri="{FF2B5EF4-FFF2-40B4-BE49-F238E27FC236}">
                <a16:creationId xmlns:a16="http://schemas.microsoft.com/office/drawing/2014/main" id="{F515BD6A-843D-93BB-0D0D-2D9CF72C977C}"/>
              </a:ext>
            </a:extLst>
          </p:cNvPr>
          <p:cNvSpPr txBox="1"/>
          <p:nvPr/>
        </p:nvSpPr>
        <p:spPr>
          <a:xfrm>
            <a:off x="7343135" y="4731990"/>
            <a:ext cx="1774078" cy="246221"/>
          </a:xfrm>
          <a:prstGeom prst="rect">
            <a:avLst/>
          </a:prstGeom>
          <a:noFill/>
        </p:spPr>
        <p:txBody>
          <a:bodyPr wrap="square">
            <a:spAutoFit/>
          </a:bodyPr>
          <a:lstStyle/>
          <a:p>
            <a:r>
              <a:rPr lang="es-ES" sz="1000" dirty="0">
                <a:solidFill>
                  <a:srgbClr val="FF6A00"/>
                </a:solidFill>
                <a:latin typeface="-apple-system"/>
              </a:rPr>
              <a:t>sesion4-function-parallel.sql</a:t>
            </a:r>
            <a:endParaRPr lang="es-ES" dirty="0">
              <a:solidFill>
                <a:srgbClr val="FF6A00"/>
              </a:solidFill>
            </a:endParaRPr>
          </a:p>
        </p:txBody>
      </p:sp>
    </p:spTree>
    <p:extLst>
      <p:ext uri="{BB962C8B-B14F-4D97-AF65-F5344CB8AC3E}">
        <p14:creationId xmlns:p14="http://schemas.microsoft.com/office/powerpoint/2010/main" val="421535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36D0A-F483-1F40-1999-EEF33F3B625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DB30E526-16E4-6009-9D7B-046D2D9E068A}"/>
              </a:ext>
            </a:extLst>
          </p:cNvPr>
          <p:cNvSpPr/>
          <p:nvPr/>
        </p:nvSpPr>
        <p:spPr>
          <a:xfrm>
            <a:off x="261636" y="1275606"/>
            <a:ext cx="510245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879ECFE-40DB-6725-D8F0-32869BACDBFF}"/>
              </a:ext>
            </a:extLst>
          </p:cNvPr>
          <p:cNvSpPr>
            <a:spLocks noGrp="1"/>
          </p:cNvSpPr>
          <p:nvPr>
            <p:ph idx="1"/>
          </p:nvPr>
        </p:nvSpPr>
        <p:spPr>
          <a:xfrm>
            <a:off x="457200" y="915567"/>
            <a:ext cx="8579296" cy="360040"/>
          </a:xfrm>
        </p:spPr>
        <p:txBody>
          <a:bodyPr>
            <a:normAutofit fontScale="47500" lnSpcReduction="20000"/>
          </a:bodyPr>
          <a:lstStyle/>
          <a:p>
            <a:r>
              <a:rPr lang="es-ES" sz="4400" dirty="0"/>
              <a:t>Optimizar funciones - PIPELINED (Para funciones que retornan múltiples filas)</a:t>
            </a:r>
            <a:endParaRPr lang="es-ES" dirty="0"/>
          </a:p>
        </p:txBody>
      </p:sp>
      <p:sp>
        <p:nvSpPr>
          <p:cNvPr id="4" name="3 Título">
            <a:extLst>
              <a:ext uri="{FF2B5EF4-FFF2-40B4-BE49-F238E27FC236}">
                <a16:creationId xmlns:a16="http://schemas.microsoft.com/office/drawing/2014/main" id="{8CEEA7CF-9835-0114-00E1-94F267462884}"/>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B449EB0-8147-1C8A-C37F-FA5B04554C1E}"/>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9209A541-FC38-8BDA-1781-610ED85F8A8E}"/>
              </a:ext>
            </a:extLst>
          </p:cNvPr>
          <p:cNvSpPr txBox="1"/>
          <p:nvPr/>
        </p:nvSpPr>
        <p:spPr>
          <a:xfrm>
            <a:off x="333644" y="1320007"/>
            <a:ext cx="4598396" cy="2292935"/>
          </a:xfrm>
          <a:prstGeom prst="rect">
            <a:avLst/>
          </a:prstGeom>
          <a:noFill/>
        </p:spPr>
        <p:txBody>
          <a:bodyPr wrap="square">
            <a:spAutoFit/>
          </a:bodyPr>
          <a:lstStyle/>
          <a:p>
            <a:r>
              <a:rPr lang="en-US" sz="1300" dirty="0"/>
              <a:t>CREATE OR REPLACE FUNCTION </a:t>
            </a:r>
            <a:r>
              <a:rPr lang="en-US" sz="1300" dirty="0" err="1"/>
              <a:t>obtener_empleados_depto</a:t>
            </a:r>
            <a:r>
              <a:rPr lang="en-US" sz="1300" dirty="0"/>
              <a:t>(</a:t>
            </a:r>
            <a:r>
              <a:rPr lang="en-US" sz="1300" dirty="0" err="1"/>
              <a:t>id_dept</a:t>
            </a:r>
            <a:r>
              <a:rPr lang="en-US" sz="1300" dirty="0"/>
              <a:t> NUMBER) </a:t>
            </a:r>
          </a:p>
          <a:p>
            <a:r>
              <a:rPr lang="en-US" sz="1300" dirty="0"/>
              <a:t>RETURN </a:t>
            </a:r>
            <a:r>
              <a:rPr lang="en-US" sz="1300" dirty="0" err="1"/>
              <a:t>empleados_t</a:t>
            </a:r>
            <a:r>
              <a:rPr lang="en-US" sz="1300" dirty="0"/>
              <a:t> PIPELINED IS</a:t>
            </a:r>
          </a:p>
          <a:p>
            <a:r>
              <a:rPr lang="en-US" sz="1300" dirty="0"/>
              <a:t>BEGIN</a:t>
            </a:r>
          </a:p>
          <a:p>
            <a:r>
              <a:rPr lang="en-US" sz="1300" dirty="0"/>
              <a:t>    FOR emp IN (SELECT * FROM employees WHERE </a:t>
            </a:r>
            <a:r>
              <a:rPr lang="en-US" sz="1300" dirty="0" err="1"/>
              <a:t>department_id</a:t>
            </a:r>
            <a:r>
              <a:rPr lang="en-US" sz="1300" dirty="0"/>
              <a:t> = </a:t>
            </a:r>
            <a:r>
              <a:rPr lang="en-US" sz="1300" dirty="0" err="1"/>
              <a:t>id_dept</a:t>
            </a:r>
            <a:r>
              <a:rPr lang="en-US" sz="1300" dirty="0"/>
              <a:t>) LOOP</a:t>
            </a:r>
          </a:p>
          <a:p>
            <a:r>
              <a:rPr lang="en-US" sz="1300" dirty="0"/>
              <a:t>        PIPE ROW(emp);</a:t>
            </a:r>
          </a:p>
          <a:p>
            <a:r>
              <a:rPr lang="en-US" sz="1300" dirty="0"/>
              <a:t>    END LOOP;</a:t>
            </a:r>
          </a:p>
          <a:p>
            <a:r>
              <a:rPr lang="en-US" sz="1300" dirty="0"/>
              <a:t>    RETURN;</a:t>
            </a:r>
          </a:p>
          <a:p>
            <a:r>
              <a:rPr lang="en-US" sz="1300" dirty="0"/>
              <a:t>END;</a:t>
            </a:r>
          </a:p>
          <a:p>
            <a:r>
              <a:rPr lang="en-US" sz="1300" dirty="0"/>
              <a:t>/</a:t>
            </a:r>
            <a:endParaRPr lang="en-US" sz="1400" dirty="0"/>
          </a:p>
        </p:txBody>
      </p:sp>
      <p:sp>
        <p:nvSpPr>
          <p:cNvPr id="9" name="4 Marcador de contenido">
            <a:extLst>
              <a:ext uri="{FF2B5EF4-FFF2-40B4-BE49-F238E27FC236}">
                <a16:creationId xmlns:a16="http://schemas.microsoft.com/office/drawing/2014/main" id="{C06AF8B1-6381-65AB-0487-1251C29742B7}"/>
              </a:ext>
            </a:extLst>
          </p:cNvPr>
          <p:cNvSpPr txBox="1">
            <a:spLocks/>
          </p:cNvSpPr>
          <p:nvPr/>
        </p:nvSpPr>
        <p:spPr>
          <a:xfrm>
            <a:off x="5481708" y="1306682"/>
            <a:ext cx="3662292"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Requisitos: La función retorna una colección de datos.</a:t>
            </a:r>
          </a:p>
          <a:p>
            <a:pPr marL="342900" lvl="1" indent="-342900">
              <a:buFont typeface="Arial" panose="020B0604020202020204" pitchFamily="34" charset="0"/>
              <a:buChar char="•"/>
            </a:pPr>
            <a:r>
              <a:rPr lang="es-ES" sz="1800" dirty="0"/>
              <a:t>Ojo que se puede utilizar en el FROM de una </a:t>
            </a:r>
            <a:r>
              <a:rPr lang="es-ES" sz="1800" dirty="0" err="1"/>
              <a:t>Query</a:t>
            </a:r>
            <a:endParaRPr lang="es-ES" sz="1800" dirty="0"/>
          </a:p>
        </p:txBody>
      </p:sp>
      <p:sp>
        <p:nvSpPr>
          <p:cNvPr id="2" name="CuadroTexto 1">
            <a:extLst>
              <a:ext uri="{FF2B5EF4-FFF2-40B4-BE49-F238E27FC236}">
                <a16:creationId xmlns:a16="http://schemas.microsoft.com/office/drawing/2014/main" id="{D574C181-4945-E581-F16E-1D298CDF10E1}"/>
              </a:ext>
            </a:extLst>
          </p:cNvPr>
          <p:cNvSpPr txBox="1"/>
          <p:nvPr/>
        </p:nvSpPr>
        <p:spPr>
          <a:xfrm>
            <a:off x="7343135" y="4731990"/>
            <a:ext cx="1774078" cy="246221"/>
          </a:xfrm>
          <a:prstGeom prst="rect">
            <a:avLst/>
          </a:prstGeom>
          <a:noFill/>
        </p:spPr>
        <p:txBody>
          <a:bodyPr wrap="square">
            <a:spAutoFit/>
          </a:bodyPr>
          <a:lstStyle/>
          <a:p>
            <a:r>
              <a:rPr lang="es-ES" sz="1000" dirty="0">
                <a:solidFill>
                  <a:srgbClr val="FF6A00"/>
                </a:solidFill>
                <a:latin typeface="-apple-system"/>
              </a:rPr>
              <a:t>sesion4-function-pipelined.sql</a:t>
            </a:r>
            <a:endParaRPr lang="es-ES" dirty="0">
              <a:solidFill>
                <a:srgbClr val="FF6A00"/>
              </a:solidFill>
            </a:endParaRPr>
          </a:p>
        </p:txBody>
      </p:sp>
    </p:spTree>
    <p:extLst>
      <p:ext uri="{BB962C8B-B14F-4D97-AF65-F5344CB8AC3E}">
        <p14:creationId xmlns:p14="http://schemas.microsoft.com/office/powerpoint/2010/main" val="3439717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A300A-B7E9-ADED-8AAB-BEE57EFC3331}"/>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A3B5007B-6617-7AB2-EE4A-D545D5484DB9}"/>
              </a:ext>
            </a:extLst>
          </p:cNvPr>
          <p:cNvSpPr>
            <a:spLocks noGrp="1"/>
          </p:cNvSpPr>
          <p:nvPr>
            <p:ph idx="1"/>
          </p:nvPr>
        </p:nvSpPr>
        <p:spPr>
          <a:xfrm>
            <a:off x="457200" y="915566"/>
            <a:ext cx="8229600" cy="3816425"/>
          </a:xfrm>
        </p:spPr>
        <p:txBody>
          <a:bodyPr>
            <a:normAutofit/>
          </a:bodyPr>
          <a:lstStyle/>
          <a:p>
            <a:r>
              <a:rPr lang="en-US" dirty="0"/>
              <a:t>Uso de </a:t>
            </a:r>
            <a:r>
              <a:rPr lang="en-US" dirty="0" err="1"/>
              <a:t>parámetros</a:t>
            </a:r>
            <a:r>
              <a:rPr lang="en-US" dirty="0"/>
              <a:t>: IN, OUT, IN-OUT</a:t>
            </a:r>
          </a:p>
          <a:p>
            <a:pPr lvl="1"/>
            <a:r>
              <a:rPr lang="es-ES" sz="1600" dirty="0" err="1"/>
              <a:t>ALos</a:t>
            </a:r>
            <a:r>
              <a:rPr lang="es-ES" sz="1600" dirty="0"/>
              <a:t> parámetros definen cómo se pasan los valores a los subprogramas. IN es el modo por defecto y permite pasar valores al subprograma. OUT permite retornar valores desde el subprograma. IN OUT combina ambas funcionalidades.</a:t>
            </a:r>
          </a:p>
          <a:p>
            <a:pPr lvl="1"/>
            <a:r>
              <a:rPr lang="es-ES" sz="1600" dirty="0"/>
              <a:t>Los parámetros OUT deben ser variables en el llamador, no valores literales. Los parámetros IN OUT son útiles cuando necesitas modificar un valor existente. Es importante entender estas diferencias para diseñar interfaces efectivas.</a:t>
            </a:r>
          </a:p>
          <a:p>
            <a:pPr lvl="1"/>
            <a:endParaRPr lang="es-ES" sz="1600" dirty="0"/>
          </a:p>
        </p:txBody>
      </p:sp>
      <p:sp>
        <p:nvSpPr>
          <p:cNvPr id="4" name="3 Título">
            <a:extLst>
              <a:ext uri="{FF2B5EF4-FFF2-40B4-BE49-F238E27FC236}">
                <a16:creationId xmlns:a16="http://schemas.microsoft.com/office/drawing/2014/main" id="{81B5E409-F094-BC31-F538-E66602F58ED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2BE94B0F-B3FA-9D23-817D-1248D72EA1AC}"/>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1595940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302A6-D16B-26F4-4FF4-6E92C9A1AC3A}"/>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FA7FA6E3-3B52-A20E-80EC-90A4C5740441}"/>
              </a:ext>
            </a:extLst>
          </p:cNvPr>
          <p:cNvSpPr/>
          <p:nvPr/>
        </p:nvSpPr>
        <p:spPr>
          <a:xfrm>
            <a:off x="261636" y="1275606"/>
            <a:ext cx="4238356"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12530C0C-7768-2248-0F05-01E9993312A2}"/>
              </a:ext>
            </a:extLst>
          </p:cNvPr>
          <p:cNvSpPr>
            <a:spLocks noGrp="1"/>
          </p:cNvSpPr>
          <p:nvPr>
            <p:ph idx="1"/>
          </p:nvPr>
        </p:nvSpPr>
        <p:spPr>
          <a:xfrm>
            <a:off x="457200" y="915567"/>
            <a:ext cx="8579296" cy="360040"/>
          </a:xfrm>
        </p:spPr>
        <p:txBody>
          <a:bodyPr>
            <a:normAutofit fontScale="47500" lnSpcReduction="20000"/>
          </a:bodyPr>
          <a:lstStyle/>
          <a:p>
            <a:r>
              <a:rPr lang="en-US" sz="4400" dirty="0"/>
              <a:t>Uso de </a:t>
            </a:r>
            <a:r>
              <a:rPr lang="en-US" sz="4400" dirty="0" err="1"/>
              <a:t>parámetros</a:t>
            </a:r>
            <a:r>
              <a:rPr lang="en-US" sz="4400" dirty="0"/>
              <a:t>: IN, OUT, IN-OUT</a:t>
            </a:r>
          </a:p>
          <a:p>
            <a:pPr marL="539750" lvl="3" indent="0">
              <a:buNone/>
              <a:defRPr/>
            </a:pPr>
            <a:endParaRPr lang="es-ES" dirty="0"/>
          </a:p>
        </p:txBody>
      </p:sp>
      <p:sp>
        <p:nvSpPr>
          <p:cNvPr id="4" name="3 Título">
            <a:extLst>
              <a:ext uri="{FF2B5EF4-FFF2-40B4-BE49-F238E27FC236}">
                <a16:creationId xmlns:a16="http://schemas.microsoft.com/office/drawing/2014/main" id="{46587884-47E0-9500-5118-3DC135B2AE5D}"/>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D0F0942B-DFD3-B466-3C25-751EDFBF904B}"/>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53C98993-32BA-123E-2721-CF8C20D3DD1E}"/>
              </a:ext>
            </a:extLst>
          </p:cNvPr>
          <p:cNvSpPr txBox="1"/>
          <p:nvPr/>
        </p:nvSpPr>
        <p:spPr>
          <a:xfrm>
            <a:off x="333644" y="1320007"/>
            <a:ext cx="4238356" cy="3693319"/>
          </a:xfrm>
          <a:prstGeom prst="rect">
            <a:avLst/>
          </a:prstGeom>
          <a:noFill/>
        </p:spPr>
        <p:txBody>
          <a:bodyPr wrap="square">
            <a:spAutoFit/>
          </a:bodyPr>
          <a:lstStyle/>
          <a:p>
            <a:r>
              <a:rPr lang="en-US" sz="1300" dirty="0"/>
              <a:t>CREATE OR REPLACE PROCEDURE </a:t>
            </a:r>
            <a:r>
              <a:rPr lang="en-US" sz="1300" dirty="0" err="1"/>
              <a:t>obtener_info_empleado</a:t>
            </a:r>
            <a:r>
              <a:rPr lang="en-US" sz="1300" dirty="0"/>
              <a:t> (</a:t>
            </a:r>
          </a:p>
          <a:p>
            <a:r>
              <a:rPr lang="en-US" sz="1300" dirty="0"/>
              <a:t>    </a:t>
            </a:r>
            <a:r>
              <a:rPr lang="en-US" sz="1300" dirty="0" err="1"/>
              <a:t>p_empleado_id</a:t>
            </a:r>
            <a:r>
              <a:rPr lang="en-US" sz="1300" dirty="0"/>
              <a:t> IN NUMBER,</a:t>
            </a:r>
          </a:p>
          <a:p>
            <a:r>
              <a:rPr lang="en-US" sz="1300" dirty="0"/>
              <a:t>    </a:t>
            </a:r>
            <a:r>
              <a:rPr lang="en-US" sz="1300" dirty="0" err="1"/>
              <a:t>p_salario</a:t>
            </a:r>
            <a:r>
              <a:rPr lang="en-US" sz="1300" dirty="0"/>
              <a:t> OUT NUMBER,</a:t>
            </a:r>
          </a:p>
          <a:p>
            <a:r>
              <a:rPr lang="en-US" sz="1300" dirty="0"/>
              <a:t>    </a:t>
            </a:r>
            <a:r>
              <a:rPr lang="en-US" sz="1300" dirty="0" err="1"/>
              <a:t>p_departamento</a:t>
            </a:r>
            <a:r>
              <a:rPr lang="en-US" sz="1300" dirty="0"/>
              <a:t> IN OUT VARCHAR2</a:t>
            </a:r>
          </a:p>
          <a:p>
            <a:r>
              <a:rPr lang="en-US" sz="1300" dirty="0"/>
              <a:t>) IS</a:t>
            </a:r>
          </a:p>
          <a:p>
            <a:r>
              <a:rPr lang="en-US" sz="1300" dirty="0"/>
              <a:t>BEGIN</a:t>
            </a:r>
          </a:p>
          <a:p>
            <a:r>
              <a:rPr lang="en-US" sz="1300" dirty="0"/>
              <a:t>    SELECT </a:t>
            </a:r>
            <a:r>
              <a:rPr lang="en-US" sz="1300" dirty="0" err="1"/>
              <a:t>salario</a:t>
            </a:r>
            <a:r>
              <a:rPr lang="en-US" sz="1300" dirty="0"/>
              <a:t>, </a:t>
            </a:r>
            <a:r>
              <a:rPr lang="en-US" sz="1300" dirty="0" err="1"/>
              <a:t>departamento</a:t>
            </a:r>
            <a:endParaRPr lang="en-US" sz="1300" dirty="0"/>
          </a:p>
          <a:p>
            <a:r>
              <a:rPr lang="en-US" sz="1300" dirty="0"/>
              <a:t>    INTO </a:t>
            </a:r>
            <a:r>
              <a:rPr lang="en-US" sz="1300" dirty="0" err="1"/>
              <a:t>p_salario</a:t>
            </a:r>
            <a:r>
              <a:rPr lang="en-US" sz="1300" dirty="0"/>
              <a:t>, </a:t>
            </a:r>
            <a:r>
              <a:rPr lang="en-US" sz="1300" dirty="0" err="1"/>
              <a:t>p_departamento</a:t>
            </a:r>
            <a:endParaRPr lang="en-US" sz="1300" dirty="0"/>
          </a:p>
          <a:p>
            <a:r>
              <a:rPr lang="en-US" sz="1300" dirty="0"/>
              <a:t>    FROM </a:t>
            </a:r>
            <a:r>
              <a:rPr lang="en-US" sz="1300" dirty="0" err="1"/>
              <a:t>empleados</a:t>
            </a:r>
            <a:endParaRPr lang="en-US" sz="1300" dirty="0"/>
          </a:p>
          <a:p>
            <a:r>
              <a:rPr lang="en-US" sz="1300" dirty="0"/>
              <a:t>    WHERE </a:t>
            </a:r>
            <a:r>
              <a:rPr lang="en-US" sz="1300" dirty="0" err="1"/>
              <a:t>empleado_id</a:t>
            </a:r>
            <a:r>
              <a:rPr lang="en-US" sz="1300" dirty="0"/>
              <a:t> = </a:t>
            </a:r>
            <a:r>
              <a:rPr lang="en-US" sz="1300" dirty="0" err="1"/>
              <a:t>p_empleado_id</a:t>
            </a:r>
            <a:r>
              <a:rPr lang="en-US" sz="1300" dirty="0"/>
              <a:t>;</a:t>
            </a:r>
          </a:p>
          <a:p>
            <a:r>
              <a:rPr lang="en-US" sz="1300" dirty="0"/>
              <a:t>    </a:t>
            </a:r>
          </a:p>
          <a:p>
            <a:r>
              <a:rPr lang="en-US" sz="1300" dirty="0"/>
              <a:t>    -- </a:t>
            </a:r>
            <a:r>
              <a:rPr lang="en-US" sz="1300" dirty="0" err="1"/>
              <a:t>Modificar</a:t>
            </a:r>
            <a:r>
              <a:rPr lang="en-US" sz="1300" dirty="0"/>
              <a:t> </a:t>
            </a:r>
            <a:r>
              <a:rPr lang="en-US" sz="1300" dirty="0" err="1"/>
              <a:t>el</a:t>
            </a:r>
            <a:r>
              <a:rPr lang="en-US" sz="1300" dirty="0"/>
              <a:t> </a:t>
            </a:r>
            <a:r>
              <a:rPr lang="en-US" sz="1300" dirty="0" err="1"/>
              <a:t>departamento</a:t>
            </a:r>
            <a:r>
              <a:rPr lang="en-US" sz="1300" dirty="0"/>
              <a:t> (IN OUT)</a:t>
            </a:r>
          </a:p>
          <a:p>
            <a:r>
              <a:rPr lang="en-US" sz="1300" dirty="0"/>
              <a:t>    </a:t>
            </a:r>
            <a:r>
              <a:rPr lang="en-US" sz="1300" dirty="0" err="1"/>
              <a:t>p_departamento</a:t>
            </a:r>
            <a:r>
              <a:rPr lang="en-US" sz="1300" dirty="0"/>
              <a:t> := UPPER(</a:t>
            </a:r>
            <a:r>
              <a:rPr lang="en-US" sz="1300" dirty="0" err="1"/>
              <a:t>p_departamento</a:t>
            </a:r>
            <a:r>
              <a:rPr lang="en-US" sz="1300" dirty="0"/>
              <a:t>);</a:t>
            </a:r>
          </a:p>
          <a:p>
            <a:r>
              <a:rPr lang="en-US" sz="1300" dirty="0"/>
              <a:t>    </a:t>
            </a:r>
          </a:p>
          <a:p>
            <a:r>
              <a:rPr lang="en-US" sz="1300" dirty="0"/>
              <a:t>EXCEPTION</a:t>
            </a:r>
          </a:p>
          <a:p>
            <a:r>
              <a:rPr lang="en-US" sz="1300" dirty="0"/>
              <a:t>    WHEN NO_DATA_FOUND THEN</a:t>
            </a:r>
          </a:p>
          <a:p>
            <a:r>
              <a:rPr lang="en-US" sz="1300" dirty="0"/>
              <a:t>        </a:t>
            </a:r>
            <a:r>
              <a:rPr lang="en-US" sz="1300" dirty="0" err="1"/>
              <a:t>p_salario</a:t>
            </a:r>
            <a:r>
              <a:rPr lang="en-US" sz="1300" dirty="0"/>
              <a:t> := 0;</a:t>
            </a:r>
          </a:p>
          <a:p>
            <a:r>
              <a:rPr lang="en-US" sz="1300" dirty="0"/>
              <a:t>END </a:t>
            </a:r>
            <a:r>
              <a:rPr lang="en-US" sz="1300" dirty="0" err="1"/>
              <a:t>obtener_info_empleado</a:t>
            </a:r>
            <a:r>
              <a:rPr lang="en-US" sz="1300" dirty="0"/>
              <a:t>;</a:t>
            </a:r>
            <a:endParaRPr lang="en-US" sz="1400" dirty="0"/>
          </a:p>
        </p:txBody>
      </p:sp>
      <p:sp>
        <p:nvSpPr>
          <p:cNvPr id="2" name="Rectángulo 1">
            <a:extLst>
              <a:ext uri="{FF2B5EF4-FFF2-40B4-BE49-F238E27FC236}">
                <a16:creationId xmlns:a16="http://schemas.microsoft.com/office/drawing/2014/main" id="{66DDCA9F-3C9B-DA5F-58A7-5542B6DE2C0E}"/>
              </a:ext>
            </a:extLst>
          </p:cNvPr>
          <p:cNvSpPr/>
          <p:nvPr/>
        </p:nvSpPr>
        <p:spPr>
          <a:xfrm>
            <a:off x="4638745" y="1275605"/>
            <a:ext cx="4238356"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3" name="CuadroTexto 2">
            <a:extLst>
              <a:ext uri="{FF2B5EF4-FFF2-40B4-BE49-F238E27FC236}">
                <a16:creationId xmlns:a16="http://schemas.microsoft.com/office/drawing/2014/main" id="{DDBC97DB-B7A3-5A89-4B02-94370D0B1BCD}"/>
              </a:ext>
            </a:extLst>
          </p:cNvPr>
          <p:cNvSpPr txBox="1"/>
          <p:nvPr/>
        </p:nvSpPr>
        <p:spPr>
          <a:xfrm>
            <a:off x="4726850" y="1320007"/>
            <a:ext cx="4238356" cy="1892826"/>
          </a:xfrm>
          <a:prstGeom prst="rect">
            <a:avLst/>
          </a:prstGeom>
          <a:noFill/>
        </p:spPr>
        <p:txBody>
          <a:bodyPr wrap="square">
            <a:spAutoFit/>
          </a:bodyPr>
          <a:lstStyle/>
          <a:p>
            <a:r>
              <a:rPr lang="en-US" sz="1300" dirty="0"/>
              <a:t>-- </a:t>
            </a:r>
            <a:r>
              <a:rPr lang="en-US" sz="1300" dirty="0" err="1"/>
              <a:t>Ejemplo</a:t>
            </a:r>
            <a:r>
              <a:rPr lang="en-US" sz="1300" dirty="0"/>
              <a:t> de </a:t>
            </a:r>
            <a:r>
              <a:rPr lang="en-US" sz="1300" dirty="0" err="1"/>
              <a:t>llamada</a:t>
            </a:r>
            <a:endParaRPr lang="en-US" sz="1300" dirty="0"/>
          </a:p>
          <a:p>
            <a:r>
              <a:rPr lang="en-US" sz="1300" dirty="0"/>
              <a:t>DECLARE</a:t>
            </a:r>
          </a:p>
          <a:p>
            <a:r>
              <a:rPr lang="en-US" sz="1300" dirty="0"/>
              <a:t>    </a:t>
            </a:r>
            <a:r>
              <a:rPr lang="en-US" sz="1300" dirty="0" err="1"/>
              <a:t>v_salario</a:t>
            </a:r>
            <a:r>
              <a:rPr lang="en-US" sz="1300" dirty="0"/>
              <a:t> NUMBER;</a:t>
            </a:r>
          </a:p>
          <a:p>
            <a:r>
              <a:rPr lang="en-US" sz="1300" dirty="0"/>
              <a:t>    </a:t>
            </a:r>
            <a:r>
              <a:rPr lang="en-US" sz="1300" dirty="0" err="1"/>
              <a:t>v_dept</a:t>
            </a:r>
            <a:r>
              <a:rPr lang="en-US" sz="1300" dirty="0"/>
              <a:t> VARCHAR2(50) := 'Ventas';</a:t>
            </a:r>
          </a:p>
          <a:p>
            <a:r>
              <a:rPr lang="en-US" sz="1300" dirty="0"/>
              <a:t>BEGIN</a:t>
            </a:r>
          </a:p>
          <a:p>
            <a:r>
              <a:rPr lang="en-US" sz="1300" dirty="0"/>
              <a:t>    </a:t>
            </a:r>
            <a:r>
              <a:rPr lang="en-US" sz="1300" dirty="0" err="1"/>
              <a:t>obtener_info_empleado</a:t>
            </a:r>
            <a:r>
              <a:rPr lang="en-US" sz="1300" dirty="0"/>
              <a:t>(100, </a:t>
            </a:r>
            <a:r>
              <a:rPr lang="en-US" sz="1300" dirty="0" err="1"/>
              <a:t>v_salario</a:t>
            </a:r>
            <a:r>
              <a:rPr lang="en-US" sz="1300" dirty="0"/>
              <a:t>, </a:t>
            </a:r>
            <a:r>
              <a:rPr lang="en-US" sz="1300" dirty="0" err="1"/>
              <a:t>v_dept</a:t>
            </a:r>
            <a:r>
              <a:rPr lang="en-US" sz="1300" dirty="0"/>
              <a:t>);</a:t>
            </a:r>
          </a:p>
          <a:p>
            <a:r>
              <a:rPr lang="en-US" sz="1300" dirty="0"/>
              <a:t>    DBMS_OUTPUT.PUT_LINE('Salario: ' || </a:t>
            </a:r>
            <a:r>
              <a:rPr lang="en-US" sz="1300" dirty="0" err="1"/>
              <a:t>v_salario</a:t>
            </a:r>
            <a:r>
              <a:rPr lang="en-US" sz="1300" dirty="0"/>
              <a:t>);</a:t>
            </a:r>
          </a:p>
          <a:p>
            <a:r>
              <a:rPr lang="en-US" sz="1300" dirty="0"/>
              <a:t>    DBMS_OUTPUT.PUT_LINE('Departamento: ' || </a:t>
            </a:r>
            <a:r>
              <a:rPr lang="en-US" sz="1300" dirty="0" err="1"/>
              <a:t>v_dept</a:t>
            </a:r>
            <a:r>
              <a:rPr lang="en-US" sz="1300" dirty="0"/>
              <a:t>);</a:t>
            </a:r>
          </a:p>
          <a:p>
            <a:r>
              <a:rPr lang="en-US" sz="1300" dirty="0"/>
              <a:t>END;</a:t>
            </a:r>
            <a:endParaRPr lang="en-US" sz="1400" dirty="0"/>
          </a:p>
        </p:txBody>
      </p:sp>
    </p:spTree>
    <p:extLst>
      <p:ext uri="{BB962C8B-B14F-4D97-AF65-F5344CB8AC3E}">
        <p14:creationId xmlns:p14="http://schemas.microsoft.com/office/powerpoint/2010/main" val="736083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023A6-87DC-AF80-0E1C-4CE5CA97DE86}"/>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C3E5DADA-7058-F9B2-4900-E06E454B77C5}"/>
              </a:ext>
            </a:extLst>
          </p:cNvPr>
          <p:cNvSpPr>
            <a:spLocks noGrp="1"/>
          </p:cNvSpPr>
          <p:nvPr>
            <p:ph idx="1"/>
          </p:nvPr>
        </p:nvSpPr>
        <p:spPr>
          <a:xfrm>
            <a:off x="457200" y="915566"/>
            <a:ext cx="8229600" cy="3816425"/>
          </a:xfrm>
        </p:spPr>
        <p:txBody>
          <a:bodyPr>
            <a:normAutofit/>
          </a:bodyPr>
          <a:lstStyle/>
          <a:p>
            <a:r>
              <a:rPr lang="es-ES" dirty="0"/>
              <a:t>Introducción a paquetes (PACKAGE y PACKAGE BODY)</a:t>
            </a:r>
          </a:p>
          <a:p>
            <a:pPr lvl="1"/>
            <a:r>
              <a:rPr lang="es-ES" sz="1600" dirty="0"/>
              <a:t>Los paquetes son agrupaciones lógicas de procedimientos, funciones, variables y otros objetos PL/SQL relacionados. Constan de dos partes: la especificación (PACKAGE) que declara lo público, y el cuerpo (PACKAGE BODY) que implementa la lógica.</a:t>
            </a:r>
          </a:p>
          <a:p>
            <a:pPr lvl="1"/>
            <a:endParaRPr lang="es-ES" sz="1600" dirty="0"/>
          </a:p>
          <a:p>
            <a:pPr lvl="1"/>
            <a:r>
              <a:rPr lang="es-ES" sz="1600" dirty="0"/>
              <a:t>Los paquetes mejoran la organización del código y el rendimiento mediante la carga en memoria. La especificación define la interfaz pública, mientras que el cuerpo puede contener elementos privados. Facilitan el mantenimiento y la encapsulación de funcionalidades relacionadas.</a:t>
            </a:r>
          </a:p>
        </p:txBody>
      </p:sp>
      <p:sp>
        <p:nvSpPr>
          <p:cNvPr id="4" name="3 Título">
            <a:extLst>
              <a:ext uri="{FF2B5EF4-FFF2-40B4-BE49-F238E27FC236}">
                <a16:creationId xmlns:a16="http://schemas.microsoft.com/office/drawing/2014/main" id="{8FA14D8D-BCC3-3FBE-AB58-5E98D5D391AD}"/>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43C4E2B4-7184-2BCE-FBD7-8AE05E051271}"/>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1492249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A552A-1FAA-4504-6E16-3B44467E9198}"/>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0F08AA9D-5504-F067-A734-F807E6DD44EC}"/>
              </a:ext>
            </a:extLst>
          </p:cNvPr>
          <p:cNvSpPr/>
          <p:nvPr/>
        </p:nvSpPr>
        <p:spPr>
          <a:xfrm>
            <a:off x="261636" y="1275606"/>
            <a:ext cx="4238356"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9EB377AB-0A8F-4C3B-746E-8D6BDB738444}"/>
              </a:ext>
            </a:extLst>
          </p:cNvPr>
          <p:cNvSpPr>
            <a:spLocks noGrp="1"/>
          </p:cNvSpPr>
          <p:nvPr>
            <p:ph idx="1"/>
          </p:nvPr>
        </p:nvSpPr>
        <p:spPr>
          <a:xfrm>
            <a:off x="457200" y="915567"/>
            <a:ext cx="8579296" cy="360040"/>
          </a:xfrm>
        </p:spPr>
        <p:txBody>
          <a:bodyPr>
            <a:normAutofit fontScale="47500" lnSpcReduction="20000"/>
          </a:bodyPr>
          <a:lstStyle/>
          <a:p>
            <a:r>
              <a:rPr lang="es-ES" sz="4400" dirty="0"/>
              <a:t>Introducción a paquetes (PACKAGE y PACKAGE BODY)</a:t>
            </a:r>
          </a:p>
          <a:p>
            <a:pPr marL="539750" lvl="3" indent="0">
              <a:buNone/>
              <a:defRPr/>
            </a:pPr>
            <a:endParaRPr lang="es-ES" dirty="0"/>
          </a:p>
        </p:txBody>
      </p:sp>
      <p:sp>
        <p:nvSpPr>
          <p:cNvPr id="4" name="3 Título">
            <a:extLst>
              <a:ext uri="{FF2B5EF4-FFF2-40B4-BE49-F238E27FC236}">
                <a16:creationId xmlns:a16="http://schemas.microsoft.com/office/drawing/2014/main" id="{CB3B5632-CA17-B31B-6939-A476980AC39C}"/>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A560625-05E0-F523-D087-9EE50E34C44F}"/>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D5D9E4A1-F5B8-C05B-251A-2FEDB4AE58CB}"/>
              </a:ext>
            </a:extLst>
          </p:cNvPr>
          <p:cNvSpPr txBox="1"/>
          <p:nvPr/>
        </p:nvSpPr>
        <p:spPr>
          <a:xfrm>
            <a:off x="333644" y="1320007"/>
            <a:ext cx="4238356" cy="3493264"/>
          </a:xfrm>
          <a:prstGeom prst="rect">
            <a:avLst/>
          </a:prstGeom>
          <a:noFill/>
        </p:spPr>
        <p:txBody>
          <a:bodyPr wrap="square">
            <a:spAutoFit/>
          </a:bodyPr>
          <a:lstStyle/>
          <a:p>
            <a:r>
              <a:rPr lang="en-US" sz="1300" dirty="0"/>
              <a:t>-- </a:t>
            </a:r>
            <a:r>
              <a:rPr lang="en-US" sz="1300" dirty="0" err="1"/>
              <a:t>Especificación</a:t>
            </a:r>
            <a:r>
              <a:rPr lang="en-US" sz="1300" dirty="0"/>
              <a:t> del </a:t>
            </a:r>
            <a:r>
              <a:rPr lang="en-US" sz="1300" dirty="0" err="1"/>
              <a:t>paquete</a:t>
            </a:r>
            <a:r>
              <a:rPr lang="en-US" sz="1300" dirty="0"/>
              <a:t> (PACKAGE)</a:t>
            </a:r>
          </a:p>
          <a:p>
            <a:r>
              <a:rPr lang="en-US" sz="1300" dirty="0"/>
              <a:t>CREATE OR REPLACE PACKAGE </a:t>
            </a:r>
            <a:r>
              <a:rPr lang="en-US" sz="1300" dirty="0" err="1"/>
              <a:t>gestion_empleados</a:t>
            </a:r>
            <a:r>
              <a:rPr lang="en-US" sz="1300" dirty="0"/>
              <a:t> AS</a:t>
            </a:r>
          </a:p>
          <a:p>
            <a:r>
              <a:rPr lang="en-US" sz="1300" dirty="0"/>
              <a:t>    -- Variable </a:t>
            </a:r>
            <a:r>
              <a:rPr lang="en-US" sz="1300" dirty="0" err="1"/>
              <a:t>pública</a:t>
            </a:r>
            <a:endParaRPr lang="en-US" sz="1300" dirty="0"/>
          </a:p>
          <a:p>
            <a:r>
              <a:rPr lang="en-US" sz="1300" dirty="0"/>
              <a:t>    </a:t>
            </a:r>
            <a:r>
              <a:rPr lang="en-US" sz="1300" dirty="0" err="1"/>
              <a:t>g_empresa</a:t>
            </a:r>
            <a:r>
              <a:rPr lang="en-US" sz="1300" dirty="0"/>
              <a:t> CONSTANT VARCHAR2(50) := 'TICARUM S.L.U.';</a:t>
            </a:r>
          </a:p>
          <a:p>
            <a:r>
              <a:rPr lang="en-US" sz="1300" dirty="0"/>
              <a:t>    -- </a:t>
            </a:r>
            <a:r>
              <a:rPr lang="en-US" sz="1300" dirty="0" err="1"/>
              <a:t>Procedimiento</a:t>
            </a:r>
            <a:r>
              <a:rPr lang="en-US" sz="1300" dirty="0"/>
              <a:t> </a:t>
            </a:r>
            <a:r>
              <a:rPr lang="en-US" sz="1300" dirty="0" err="1"/>
              <a:t>público</a:t>
            </a:r>
            <a:endParaRPr lang="en-US" sz="1300" dirty="0"/>
          </a:p>
          <a:p>
            <a:r>
              <a:rPr lang="en-US" sz="1300" dirty="0"/>
              <a:t>    PROCEDURE </a:t>
            </a:r>
            <a:r>
              <a:rPr lang="en-US" sz="1300" dirty="0" err="1"/>
              <a:t>contratar_empleado</a:t>
            </a:r>
            <a:r>
              <a:rPr lang="en-US" sz="1300" dirty="0"/>
              <a:t> (</a:t>
            </a:r>
          </a:p>
          <a:p>
            <a:r>
              <a:rPr lang="en-US" sz="1300" dirty="0"/>
              <a:t>        </a:t>
            </a:r>
            <a:r>
              <a:rPr lang="en-US" sz="1300" dirty="0" err="1"/>
              <a:t>p_nombre</a:t>
            </a:r>
            <a:r>
              <a:rPr lang="en-US" sz="1300" dirty="0"/>
              <a:t> VARCHAR2,</a:t>
            </a:r>
          </a:p>
          <a:p>
            <a:r>
              <a:rPr lang="en-US" sz="1300" dirty="0"/>
              <a:t>        </a:t>
            </a:r>
            <a:r>
              <a:rPr lang="en-US" sz="1300" dirty="0" err="1"/>
              <a:t>p_salario</a:t>
            </a:r>
            <a:r>
              <a:rPr lang="en-US" sz="1300" dirty="0"/>
              <a:t> NUMBER,</a:t>
            </a:r>
          </a:p>
          <a:p>
            <a:r>
              <a:rPr lang="en-US" sz="1300" dirty="0"/>
              <a:t>        </a:t>
            </a:r>
            <a:r>
              <a:rPr lang="en-US" sz="1300" dirty="0" err="1"/>
              <a:t>p_departamento</a:t>
            </a:r>
            <a:r>
              <a:rPr lang="en-US" sz="1300" dirty="0"/>
              <a:t> VARCHAR2</a:t>
            </a:r>
          </a:p>
          <a:p>
            <a:r>
              <a:rPr lang="en-US" sz="1300" dirty="0"/>
              <a:t>    );</a:t>
            </a:r>
          </a:p>
          <a:p>
            <a:r>
              <a:rPr lang="en-US" sz="1300" dirty="0"/>
              <a:t>    </a:t>
            </a:r>
          </a:p>
          <a:p>
            <a:r>
              <a:rPr lang="en-US" sz="1300" dirty="0"/>
              <a:t>    -- </a:t>
            </a:r>
            <a:r>
              <a:rPr lang="en-US" sz="1300" dirty="0" err="1"/>
              <a:t>Función</a:t>
            </a:r>
            <a:r>
              <a:rPr lang="en-US" sz="1300" dirty="0"/>
              <a:t> </a:t>
            </a:r>
            <a:r>
              <a:rPr lang="en-US" sz="1300" dirty="0" err="1"/>
              <a:t>pública</a:t>
            </a:r>
            <a:endParaRPr lang="en-US" sz="1300" dirty="0"/>
          </a:p>
          <a:p>
            <a:r>
              <a:rPr lang="en-US" sz="1300" dirty="0"/>
              <a:t>    FUNCTION </a:t>
            </a:r>
            <a:r>
              <a:rPr lang="en-US" sz="1300" dirty="0" err="1"/>
              <a:t>calcular_antiguedad</a:t>
            </a:r>
            <a:r>
              <a:rPr lang="en-US" sz="1300" dirty="0"/>
              <a:t> (</a:t>
            </a:r>
          </a:p>
          <a:p>
            <a:r>
              <a:rPr lang="en-US" sz="1300" dirty="0"/>
              <a:t>        </a:t>
            </a:r>
            <a:r>
              <a:rPr lang="en-US" sz="1300" dirty="0" err="1"/>
              <a:t>p_empleado_id</a:t>
            </a:r>
            <a:r>
              <a:rPr lang="en-US" sz="1300" dirty="0"/>
              <a:t> NUMBER</a:t>
            </a:r>
          </a:p>
          <a:p>
            <a:r>
              <a:rPr lang="en-US" sz="1300" dirty="0"/>
              <a:t>    ) RETURN NUMBER;</a:t>
            </a:r>
          </a:p>
          <a:p>
            <a:r>
              <a:rPr lang="en-US" sz="1300" dirty="0"/>
              <a:t>END </a:t>
            </a:r>
            <a:r>
              <a:rPr lang="en-US" sz="1300" dirty="0" err="1"/>
              <a:t>gestion_empleados</a:t>
            </a:r>
            <a:r>
              <a:rPr lang="en-US" sz="1300" dirty="0"/>
              <a:t>;</a:t>
            </a:r>
            <a:endParaRPr lang="en-US" sz="1400" dirty="0"/>
          </a:p>
        </p:txBody>
      </p:sp>
      <p:sp>
        <p:nvSpPr>
          <p:cNvPr id="2" name="Rectángulo 1">
            <a:extLst>
              <a:ext uri="{FF2B5EF4-FFF2-40B4-BE49-F238E27FC236}">
                <a16:creationId xmlns:a16="http://schemas.microsoft.com/office/drawing/2014/main" id="{806A8F33-BE1D-584C-3CD5-8F248CA89A5D}"/>
              </a:ext>
            </a:extLst>
          </p:cNvPr>
          <p:cNvSpPr/>
          <p:nvPr/>
        </p:nvSpPr>
        <p:spPr>
          <a:xfrm>
            <a:off x="4638745" y="1275605"/>
            <a:ext cx="4238356"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3" name="CuadroTexto 2">
            <a:extLst>
              <a:ext uri="{FF2B5EF4-FFF2-40B4-BE49-F238E27FC236}">
                <a16:creationId xmlns:a16="http://schemas.microsoft.com/office/drawing/2014/main" id="{54F54D1D-97D3-303A-01CF-61410709FAB7}"/>
              </a:ext>
            </a:extLst>
          </p:cNvPr>
          <p:cNvSpPr txBox="1"/>
          <p:nvPr/>
        </p:nvSpPr>
        <p:spPr>
          <a:xfrm>
            <a:off x="4726850" y="1320007"/>
            <a:ext cx="4238356" cy="3477875"/>
          </a:xfrm>
          <a:prstGeom prst="rect">
            <a:avLst/>
          </a:prstGeom>
          <a:noFill/>
        </p:spPr>
        <p:txBody>
          <a:bodyPr wrap="square">
            <a:spAutoFit/>
          </a:bodyPr>
          <a:lstStyle/>
          <a:p>
            <a:r>
              <a:rPr lang="en-US" sz="1000" dirty="0"/>
              <a:t>CREATE OR REPLACE PACKAGE BODY </a:t>
            </a:r>
            <a:r>
              <a:rPr lang="en-US" sz="1000" dirty="0" err="1"/>
              <a:t>gestion_empleados</a:t>
            </a:r>
            <a:r>
              <a:rPr lang="en-US" sz="1000" dirty="0"/>
              <a:t> AS</a:t>
            </a:r>
          </a:p>
          <a:p>
            <a:r>
              <a:rPr lang="en-US" sz="1000" dirty="0" err="1"/>
              <a:t>v_total_empleados</a:t>
            </a:r>
            <a:r>
              <a:rPr lang="en-US" sz="1000" dirty="0"/>
              <a:t> NUMBER := 0;  -- Variable </a:t>
            </a:r>
            <a:r>
              <a:rPr lang="en-US" sz="1000" dirty="0" err="1"/>
              <a:t>privada</a:t>
            </a:r>
            <a:endParaRPr lang="en-US" sz="1000" dirty="0"/>
          </a:p>
          <a:p>
            <a:endParaRPr lang="en-US" sz="1000" dirty="0"/>
          </a:p>
          <a:p>
            <a:r>
              <a:rPr lang="en-US" sz="1000" dirty="0"/>
              <a:t>FUNCTION </a:t>
            </a:r>
            <a:r>
              <a:rPr lang="en-US" sz="1000" dirty="0" err="1"/>
              <a:t>validar_salario</a:t>
            </a:r>
            <a:r>
              <a:rPr lang="en-US" sz="1000" dirty="0"/>
              <a:t> (-- </a:t>
            </a:r>
            <a:r>
              <a:rPr lang="en-US" sz="1000" dirty="0" err="1"/>
              <a:t>Función</a:t>
            </a:r>
            <a:r>
              <a:rPr lang="en-US" sz="1000" dirty="0"/>
              <a:t> </a:t>
            </a:r>
            <a:r>
              <a:rPr lang="en-US" sz="1000" dirty="0" err="1"/>
              <a:t>privada</a:t>
            </a:r>
            <a:r>
              <a:rPr lang="en-US" sz="1000" dirty="0"/>
              <a:t> (solo visible </a:t>
            </a:r>
            <a:r>
              <a:rPr lang="en-US" sz="1000" dirty="0" err="1"/>
              <a:t>dentro</a:t>
            </a:r>
            <a:r>
              <a:rPr lang="en-US" sz="1000" dirty="0"/>
              <a:t> del </a:t>
            </a:r>
            <a:r>
              <a:rPr lang="en-US" sz="1000" dirty="0" err="1"/>
              <a:t>paquete</a:t>
            </a:r>
            <a:r>
              <a:rPr lang="en-US" sz="1000" dirty="0"/>
              <a:t>)</a:t>
            </a:r>
          </a:p>
          <a:p>
            <a:r>
              <a:rPr lang="en-US" sz="1000" dirty="0"/>
              <a:t>        </a:t>
            </a:r>
            <a:r>
              <a:rPr lang="en-US" sz="1000" dirty="0" err="1"/>
              <a:t>p_salario</a:t>
            </a:r>
            <a:r>
              <a:rPr lang="en-US" sz="1000" dirty="0"/>
              <a:t> NUMBER</a:t>
            </a:r>
          </a:p>
          <a:p>
            <a:r>
              <a:rPr lang="en-US" sz="1000" dirty="0"/>
              <a:t>    ) RETURN BOOLEAN IS</a:t>
            </a:r>
          </a:p>
          <a:p>
            <a:r>
              <a:rPr lang="en-US" sz="1000" dirty="0"/>
              <a:t>    BEGIN</a:t>
            </a:r>
          </a:p>
          <a:p>
            <a:r>
              <a:rPr lang="en-US" sz="1000" dirty="0"/>
              <a:t>        RETURN </a:t>
            </a:r>
            <a:r>
              <a:rPr lang="en-US" sz="1000" dirty="0" err="1"/>
              <a:t>p_salario</a:t>
            </a:r>
            <a:r>
              <a:rPr lang="en-US" sz="1000" dirty="0"/>
              <a:t> &gt; 0;</a:t>
            </a:r>
          </a:p>
          <a:p>
            <a:r>
              <a:rPr lang="en-US" sz="1000" dirty="0"/>
              <a:t>    END </a:t>
            </a:r>
            <a:r>
              <a:rPr lang="en-US" sz="1000" dirty="0" err="1"/>
              <a:t>validar_salario</a:t>
            </a:r>
            <a:r>
              <a:rPr lang="en-US" sz="1000" dirty="0"/>
              <a:t>;</a:t>
            </a:r>
          </a:p>
          <a:p>
            <a:endParaRPr lang="en-US" sz="1000" dirty="0"/>
          </a:p>
          <a:p>
            <a:r>
              <a:rPr lang="en-US" sz="1000" dirty="0"/>
              <a:t>    -- </a:t>
            </a:r>
            <a:r>
              <a:rPr lang="en-US" sz="1000" dirty="0" err="1"/>
              <a:t>Implementación</a:t>
            </a:r>
            <a:r>
              <a:rPr lang="en-US" sz="1000" dirty="0"/>
              <a:t> del </a:t>
            </a:r>
            <a:r>
              <a:rPr lang="en-US" sz="1000" dirty="0" err="1"/>
              <a:t>procedimiento</a:t>
            </a:r>
            <a:r>
              <a:rPr lang="en-US" sz="1000" dirty="0"/>
              <a:t> </a:t>
            </a:r>
          </a:p>
          <a:p>
            <a:r>
              <a:rPr lang="en-US" sz="1000" dirty="0"/>
              <a:t>PROCEDURE </a:t>
            </a:r>
            <a:r>
              <a:rPr lang="en-US" sz="1000" dirty="0" err="1"/>
              <a:t>contratar_empleado</a:t>
            </a:r>
            <a:r>
              <a:rPr lang="en-US" sz="1000" dirty="0"/>
              <a:t> (</a:t>
            </a:r>
          </a:p>
          <a:p>
            <a:r>
              <a:rPr lang="en-US" sz="1000" dirty="0"/>
              <a:t>        </a:t>
            </a:r>
            <a:r>
              <a:rPr lang="en-US" sz="1000" dirty="0" err="1"/>
              <a:t>p_nombre</a:t>
            </a:r>
            <a:r>
              <a:rPr lang="en-US" sz="1000" dirty="0"/>
              <a:t> VARCHAR2,</a:t>
            </a:r>
          </a:p>
          <a:p>
            <a:r>
              <a:rPr lang="en-US" sz="1000" dirty="0"/>
              <a:t>        </a:t>
            </a:r>
            <a:r>
              <a:rPr lang="en-US" sz="1000" dirty="0" err="1"/>
              <a:t>p_salario</a:t>
            </a:r>
            <a:r>
              <a:rPr lang="en-US" sz="1000" dirty="0"/>
              <a:t> NUMBER,</a:t>
            </a:r>
          </a:p>
          <a:p>
            <a:r>
              <a:rPr lang="en-US" sz="1000" dirty="0"/>
              <a:t>        </a:t>
            </a:r>
            <a:r>
              <a:rPr lang="en-US" sz="1000" dirty="0" err="1"/>
              <a:t>p_departamento</a:t>
            </a:r>
            <a:r>
              <a:rPr lang="en-US" sz="1000" dirty="0"/>
              <a:t> VARCHAR2</a:t>
            </a:r>
          </a:p>
          <a:p>
            <a:r>
              <a:rPr lang="en-US" sz="1000" dirty="0"/>
              <a:t>    ) IS</a:t>
            </a:r>
          </a:p>
          <a:p>
            <a:r>
              <a:rPr lang="en-US" sz="1000" dirty="0"/>
              <a:t>    BEGIN</a:t>
            </a:r>
          </a:p>
          <a:p>
            <a:r>
              <a:rPr lang="en-US" sz="1000" dirty="0"/>
              <a:t>        …</a:t>
            </a:r>
          </a:p>
          <a:p>
            <a:r>
              <a:rPr lang="en-US" sz="1000" dirty="0"/>
              <a:t>    END </a:t>
            </a:r>
            <a:r>
              <a:rPr lang="en-US" sz="1000" dirty="0" err="1"/>
              <a:t>contratar_empleado</a:t>
            </a:r>
            <a:r>
              <a:rPr lang="en-US" sz="1000" dirty="0"/>
              <a:t>;</a:t>
            </a:r>
          </a:p>
          <a:p>
            <a:r>
              <a:rPr lang="en-US" sz="1000" dirty="0"/>
              <a:t>    …</a:t>
            </a:r>
          </a:p>
          <a:p>
            <a:r>
              <a:rPr lang="en-US" sz="1000" dirty="0"/>
              <a:t>END </a:t>
            </a:r>
            <a:r>
              <a:rPr lang="en-US" sz="1000" dirty="0" err="1"/>
              <a:t>gestion_empleados</a:t>
            </a:r>
            <a:r>
              <a:rPr lang="en-US" sz="1000" dirty="0"/>
              <a:t>;</a:t>
            </a:r>
          </a:p>
          <a:p>
            <a:r>
              <a:rPr lang="en-US" sz="1000" dirty="0"/>
              <a:t>/</a:t>
            </a:r>
          </a:p>
        </p:txBody>
      </p:sp>
    </p:spTree>
    <p:extLst>
      <p:ext uri="{BB962C8B-B14F-4D97-AF65-F5344CB8AC3E}">
        <p14:creationId xmlns:p14="http://schemas.microsoft.com/office/powerpoint/2010/main" val="2838577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E91D-B611-6ADB-2C01-D175198E3F46}"/>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9452AAA8-BAA3-2794-1FD3-261CBA094581}"/>
              </a:ext>
            </a:extLst>
          </p:cNvPr>
          <p:cNvSpPr>
            <a:spLocks noGrp="1"/>
          </p:cNvSpPr>
          <p:nvPr>
            <p:ph idx="1"/>
          </p:nvPr>
        </p:nvSpPr>
        <p:spPr>
          <a:xfrm>
            <a:off x="457200" y="915566"/>
            <a:ext cx="8229600" cy="3816425"/>
          </a:xfrm>
        </p:spPr>
        <p:txBody>
          <a:bodyPr>
            <a:normAutofit/>
          </a:bodyPr>
          <a:lstStyle/>
          <a:p>
            <a:r>
              <a:rPr lang="es-ES" dirty="0"/>
              <a:t>Sobrecarga de subprogramas en paquetes</a:t>
            </a:r>
          </a:p>
          <a:p>
            <a:pPr lvl="1"/>
            <a:r>
              <a:rPr lang="es-ES" sz="1600" dirty="0"/>
              <a:t>La sobrecarga permite crear múltiples subprogramas con el mismo nombre pero diferentes parámetros. Esto proporciona flexibilidad al llamar a procedimientos o funciones con distintos tipos o cantidades de parámetros. Todos los parámetros sobrecargados deben diferir en tipo, número o ambos.</a:t>
            </a:r>
          </a:p>
          <a:p>
            <a:pPr lvl="1"/>
            <a:endParaRPr lang="es-ES" sz="1600" dirty="0"/>
          </a:p>
          <a:p>
            <a:pPr lvl="1"/>
            <a:r>
              <a:rPr lang="es-ES" sz="1600" dirty="0"/>
              <a:t>La sobrecarga mejora la legibilidad del código y permite interfaces más intuitivas. Sin embargo, no se puede sobrecargar basándose solo en el modo de parámetro (IN, OUT) o en tipos de retorno para funciones.</a:t>
            </a:r>
          </a:p>
        </p:txBody>
      </p:sp>
      <p:sp>
        <p:nvSpPr>
          <p:cNvPr id="4" name="3 Título">
            <a:extLst>
              <a:ext uri="{FF2B5EF4-FFF2-40B4-BE49-F238E27FC236}">
                <a16:creationId xmlns:a16="http://schemas.microsoft.com/office/drawing/2014/main" id="{F93036D6-9621-5CD4-9A1A-075CBB94C94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FF0A949-5153-0534-BB10-63FBAE3911A0}"/>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288209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7E03-4688-07CB-9C63-5AD7732AD590}"/>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78C6DD85-01EC-458E-FBD7-64AF440BC838}"/>
              </a:ext>
            </a:extLst>
          </p:cNvPr>
          <p:cNvSpPr/>
          <p:nvPr/>
        </p:nvSpPr>
        <p:spPr>
          <a:xfrm>
            <a:off x="261636" y="1275606"/>
            <a:ext cx="8198796"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66FEDF9-6E4E-74DF-FA7B-CBE905C97D4C}"/>
              </a:ext>
            </a:extLst>
          </p:cNvPr>
          <p:cNvSpPr>
            <a:spLocks noGrp="1"/>
          </p:cNvSpPr>
          <p:nvPr>
            <p:ph idx="1"/>
          </p:nvPr>
        </p:nvSpPr>
        <p:spPr>
          <a:xfrm>
            <a:off x="457200" y="915567"/>
            <a:ext cx="8579296" cy="360040"/>
          </a:xfrm>
        </p:spPr>
        <p:txBody>
          <a:bodyPr>
            <a:normAutofit fontScale="47500" lnSpcReduction="20000"/>
          </a:bodyPr>
          <a:lstStyle/>
          <a:p>
            <a:r>
              <a:rPr lang="es-ES" sz="4400" dirty="0"/>
              <a:t>Sobrecarga de subprogramas en paquetes</a:t>
            </a:r>
          </a:p>
          <a:p>
            <a:pPr marL="539750" lvl="3" indent="0">
              <a:buNone/>
              <a:defRPr/>
            </a:pPr>
            <a:endParaRPr lang="es-ES" dirty="0"/>
          </a:p>
        </p:txBody>
      </p:sp>
      <p:sp>
        <p:nvSpPr>
          <p:cNvPr id="4" name="3 Título">
            <a:extLst>
              <a:ext uri="{FF2B5EF4-FFF2-40B4-BE49-F238E27FC236}">
                <a16:creationId xmlns:a16="http://schemas.microsoft.com/office/drawing/2014/main" id="{0D299F65-FB41-47E1-8944-BCBFB419542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0B5DEB1-715F-871C-DFBC-A22E14AE06B7}"/>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F5D9ACE6-2316-33CB-37FC-9031610133DF}"/>
              </a:ext>
            </a:extLst>
          </p:cNvPr>
          <p:cNvSpPr txBox="1"/>
          <p:nvPr/>
        </p:nvSpPr>
        <p:spPr>
          <a:xfrm>
            <a:off x="333644" y="1320007"/>
            <a:ext cx="7550724" cy="3231654"/>
          </a:xfrm>
          <a:prstGeom prst="rect">
            <a:avLst/>
          </a:prstGeom>
          <a:noFill/>
        </p:spPr>
        <p:txBody>
          <a:bodyPr wrap="square">
            <a:spAutoFit/>
          </a:bodyPr>
          <a:lstStyle/>
          <a:p>
            <a:r>
              <a:rPr lang="en-US" sz="1200" dirty="0"/>
              <a:t>CREATE OR REPLACE PACKAGE </a:t>
            </a:r>
            <a:r>
              <a:rPr lang="en-US" sz="1200" dirty="0" err="1"/>
              <a:t>utilidades_calculo</a:t>
            </a:r>
            <a:r>
              <a:rPr lang="en-US" sz="1200" dirty="0"/>
              <a:t> AS</a:t>
            </a:r>
          </a:p>
          <a:p>
            <a:r>
              <a:rPr lang="en-US" sz="1200" dirty="0"/>
              <a:t>    -- Sobrecarga de </a:t>
            </a:r>
            <a:r>
              <a:rPr lang="en-US" sz="1200" dirty="0" err="1"/>
              <a:t>funciones</a:t>
            </a:r>
            <a:r>
              <a:rPr lang="en-US" sz="1200" dirty="0"/>
              <a:t> para </a:t>
            </a:r>
            <a:r>
              <a:rPr lang="en-US" sz="1200" dirty="0" err="1"/>
              <a:t>calcular</a:t>
            </a:r>
            <a:r>
              <a:rPr lang="en-US" sz="1200" dirty="0"/>
              <a:t> </a:t>
            </a:r>
            <a:r>
              <a:rPr lang="en-US" sz="1200" dirty="0" err="1"/>
              <a:t>área</a:t>
            </a:r>
            <a:endParaRPr lang="en-US" sz="1200" dirty="0"/>
          </a:p>
          <a:p>
            <a:r>
              <a:rPr lang="en-US" sz="1200" dirty="0"/>
              <a:t>    FUNCTION </a:t>
            </a:r>
            <a:r>
              <a:rPr lang="en-US" sz="1200" dirty="0" err="1"/>
              <a:t>calcular_area</a:t>
            </a:r>
            <a:r>
              <a:rPr lang="en-US" sz="1200" dirty="0"/>
              <a:t>(</a:t>
            </a:r>
            <a:r>
              <a:rPr lang="en-US" sz="1200" dirty="0" err="1"/>
              <a:t>lado</a:t>
            </a:r>
            <a:r>
              <a:rPr lang="en-US" sz="1200" dirty="0"/>
              <a:t> NUMBER) RETURN NUMBER;</a:t>
            </a:r>
          </a:p>
          <a:p>
            <a:r>
              <a:rPr lang="en-US" sz="1200" dirty="0"/>
              <a:t>    FUNCTION </a:t>
            </a:r>
            <a:r>
              <a:rPr lang="en-US" sz="1200" dirty="0" err="1"/>
              <a:t>calcular_area</a:t>
            </a:r>
            <a:r>
              <a:rPr lang="en-US" sz="1200" dirty="0"/>
              <a:t>(largo NUMBER, ancho NUMBER) RETURN NUMBER;</a:t>
            </a:r>
          </a:p>
          <a:p>
            <a:r>
              <a:rPr lang="en-US" sz="1200" dirty="0"/>
              <a:t>    FUNCTION </a:t>
            </a:r>
            <a:r>
              <a:rPr lang="en-US" sz="1200" dirty="0" err="1"/>
              <a:t>calcular_area</a:t>
            </a:r>
            <a:r>
              <a:rPr lang="en-US" sz="1200" dirty="0"/>
              <a:t>(radio NUMBER) RETURN NUMBER;</a:t>
            </a:r>
          </a:p>
          <a:p>
            <a:r>
              <a:rPr lang="en-US" sz="1200" dirty="0"/>
              <a:t>    </a:t>
            </a:r>
          </a:p>
          <a:p>
            <a:r>
              <a:rPr lang="en-US" sz="1200" dirty="0"/>
              <a:t>END </a:t>
            </a:r>
            <a:r>
              <a:rPr lang="en-US" sz="1200" dirty="0" err="1"/>
              <a:t>utilidades_calculo</a:t>
            </a:r>
            <a:r>
              <a:rPr lang="en-US" sz="1200" dirty="0"/>
              <a:t>;</a:t>
            </a:r>
          </a:p>
          <a:p>
            <a:endParaRPr lang="en-US" sz="1200" dirty="0"/>
          </a:p>
          <a:p>
            <a:r>
              <a:rPr lang="en-US" sz="1200" dirty="0"/>
              <a:t>-- Llama a </a:t>
            </a:r>
            <a:r>
              <a:rPr lang="en-US" sz="1200" dirty="0" err="1"/>
              <a:t>calcular_area</a:t>
            </a:r>
            <a:r>
              <a:rPr lang="en-US" sz="1200" dirty="0"/>
              <a:t>(</a:t>
            </a:r>
            <a:r>
              <a:rPr lang="en-US" sz="1200" dirty="0" err="1"/>
              <a:t>lado</a:t>
            </a:r>
            <a:r>
              <a:rPr lang="en-US" sz="1200" dirty="0"/>
              <a:t> NUMBER) </a:t>
            </a:r>
            <a:r>
              <a:rPr lang="en-US" sz="1200" dirty="0" err="1"/>
              <a:t>porque</a:t>
            </a:r>
            <a:r>
              <a:rPr lang="en-US" sz="1200" dirty="0"/>
              <a:t> solo </a:t>
            </a:r>
            <a:r>
              <a:rPr lang="en-US" sz="1200" dirty="0" err="1"/>
              <a:t>pasamos</a:t>
            </a:r>
            <a:r>
              <a:rPr lang="en-US" sz="1200" dirty="0"/>
              <a:t> 1 </a:t>
            </a:r>
            <a:r>
              <a:rPr lang="en-US" sz="1200" dirty="0" err="1"/>
              <a:t>argumento</a:t>
            </a:r>
            <a:endParaRPr lang="en-US" sz="1200" dirty="0"/>
          </a:p>
          <a:p>
            <a:r>
              <a:rPr lang="en-US" sz="1200" dirty="0"/>
              <a:t>    </a:t>
            </a:r>
            <a:r>
              <a:rPr lang="en-US" sz="1200" dirty="0" err="1"/>
              <a:t>v_area_cuadrado</a:t>
            </a:r>
            <a:r>
              <a:rPr lang="en-US" sz="1200" dirty="0"/>
              <a:t> := </a:t>
            </a:r>
            <a:r>
              <a:rPr lang="en-US" sz="1200" dirty="0" err="1"/>
              <a:t>utilidades_calculo.calcular_area</a:t>
            </a:r>
            <a:r>
              <a:rPr lang="en-US" sz="1200" dirty="0"/>
              <a:t>(</a:t>
            </a:r>
            <a:r>
              <a:rPr lang="en-US" sz="1200" dirty="0" err="1"/>
              <a:t>lado</a:t>
            </a:r>
            <a:r>
              <a:rPr lang="en-US" sz="1200" dirty="0"/>
              <a:t> =&gt; 5);</a:t>
            </a:r>
          </a:p>
          <a:p>
            <a:endParaRPr lang="en-US" sz="1200" dirty="0"/>
          </a:p>
          <a:p>
            <a:r>
              <a:rPr lang="en-US" sz="1200" dirty="0"/>
              <a:t>    -- Llama a </a:t>
            </a:r>
            <a:r>
              <a:rPr lang="en-US" sz="1200" dirty="0" err="1"/>
              <a:t>calcular_area</a:t>
            </a:r>
            <a:r>
              <a:rPr lang="en-US" sz="1200" dirty="0"/>
              <a:t>(largo NUMBER, ancho NUMBER) </a:t>
            </a:r>
            <a:r>
              <a:rPr lang="en-US" sz="1200" dirty="0" err="1"/>
              <a:t>porque</a:t>
            </a:r>
            <a:r>
              <a:rPr lang="en-US" sz="1200" dirty="0"/>
              <a:t> </a:t>
            </a:r>
            <a:r>
              <a:rPr lang="en-US" sz="1200" dirty="0" err="1"/>
              <a:t>pasamos</a:t>
            </a:r>
            <a:r>
              <a:rPr lang="en-US" sz="1200" dirty="0"/>
              <a:t> 2 </a:t>
            </a:r>
            <a:r>
              <a:rPr lang="en-US" sz="1200" dirty="0" err="1"/>
              <a:t>argumentos</a:t>
            </a:r>
            <a:endParaRPr lang="en-US" sz="1200" dirty="0"/>
          </a:p>
          <a:p>
            <a:r>
              <a:rPr lang="en-US" sz="1200" dirty="0"/>
              <a:t>    </a:t>
            </a:r>
            <a:r>
              <a:rPr lang="en-US" sz="1200" dirty="0" err="1"/>
              <a:t>v_area_rectangulo</a:t>
            </a:r>
            <a:r>
              <a:rPr lang="en-US" sz="1200" dirty="0"/>
              <a:t> := </a:t>
            </a:r>
            <a:r>
              <a:rPr lang="en-US" sz="1200" dirty="0" err="1"/>
              <a:t>utilidades_calculo.calcular_area</a:t>
            </a:r>
            <a:r>
              <a:rPr lang="en-US" sz="1200" dirty="0"/>
              <a:t>(largo =&gt; 4, ancho =&gt; 10);</a:t>
            </a:r>
          </a:p>
          <a:p>
            <a:r>
              <a:rPr lang="en-US" sz="1200" dirty="0"/>
              <a:t>    </a:t>
            </a:r>
          </a:p>
          <a:p>
            <a:r>
              <a:rPr lang="en-US" sz="1200" dirty="0"/>
              <a:t>    -- Llama a </a:t>
            </a:r>
            <a:r>
              <a:rPr lang="en-US" sz="1200" dirty="0" err="1"/>
              <a:t>calcular_area</a:t>
            </a:r>
            <a:r>
              <a:rPr lang="en-US" sz="1200" dirty="0"/>
              <a:t>(radio NUMBER) </a:t>
            </a:r>
            <a:r>
              <a:rPr lang="en-US" sz="1200" dirty="0" err="1"/>
              <a:t>porque</a:t>
            </a:r>
            <a:r>
              <a:rPr lang="en-US" sz="1200" dirty="0"/>
              <a:t> </a:t>
            </a:r>
            <a:r>
              <a:rPr lang="en-US" sz="1200" dirty="0" err="1"/>
              <a:t>pasamos</a:t>
            </a:r>
            <a:r>
              <a:rPr lang="en-US" sz="1200" dirty="0"/>
              <a:t> 1 </a:t>
            </a:r>
            <a:r>
              <a:rPr lang="en-US" sz="1200" dirty="0" err="1"/>
              <a:t>argumento</a:t>
            </a:r>
            <a:r>
              <a:rPr lang="en-US" sz="1200" dirty="0"/>
              <a:t> (</a:t>
            </a:r>
            <a:r>
              <a:rPr lang="en-US" sz="1200" dirty="0" err="1"/>
              <a:t>funciona</a:t>
            </a:r>
            <a:r>
              <a:rPr lang="en-US" sz="1200" dirty="0"/>
              <a:t> </a:t>
            </a:r>
            <a:r>
              <a:rPr lang="en-US" sz="1200" dirty="0" err="1"/>
              <a:t>igual</a:t>
            </a:r>
            <a:r>
              <a:rPr lang="en-US" sz="1200" dirty="0"/>
              <a:t> </a:t>
            </a:r>
            <a:r>
              <a:rPr lang="en-US" sz="1200" dirty="0" err="1"/>
              <a:t>que</a:t>
            </a:r>
            <a:r>
              <a:rPr lang="en-US" sz="1200" dirty="0"/>
              <a:t> </a:t>
            </a:r>
            <a:r>
              <a:rPr lang="en-US" sz="1200" dirty="0" err="1"/>
              <a:t>el</a:t>
            </a:r>
            <a:r>
              <a:rPr lang="en-US" sz="1200" dirty="0"/>
              <a:t> </a:t>
            </a:r>
            <a:r>
              <a:rPr lang="en-US" sz="1200" dirty="0" err="1"/>
              <a:t>cuadrado</a:t>
            </a:r>
            <a:r>
              <a:rPr lang="en-US" sz="1200" dirty="0"/>
              <a:t>, </a:t>
            </a:r>
            <a:r>
              <a:rPr lang="en-US" sz="1200" dirty="0" err="1"/>
              <a:t>el</a:t>
            </a:r>
            <a:r>
              <a:rPr lang="en-US" sz="1200" dirty="0"/>
              <a:t> </a:t>
            </a:r>
            <a:r>
              <a:rPr lang="en-US" sz="1200" dirty="0" err="1"/>
              <a:t>compilador</a:t>
            </a:r>
            <a:r>
              <a:rPr lang="en-US" sz="1200" dirty="0"/>
              <a:t> sabe </a:t>
            </a:r>
            <a:r>
              <a:rPr lang="en-US" sz="1200" dirty="0" err="1"/>
              <a:t>cuál</a:t>
            </a:r>
            <a:r>
              <a:rPr lang="en-US" sz="1200" dirty="0"/>
              <a:t> usar </a:t>
            </a:r>
            <a:r>
              <a:rPr lang="en-US" sz="1200" dirty="0" err="1"/>
              <a:t>por</a:t>
            </a:r>
            <a:r>
              <a:rPr lang="en-US" sz="1200" dirty="0"/>
              <a:t> </a:t>
            </a:r>
            <a:r>
              <a:rPr lang="en-US" sz="1200" dirty="0" err="1"/>
              <a:t>el</a:t>
            </a:r>
            <a:r>
              <a:rPr lang="en-US" sz="1200" dirty="0"/>
              <a:t> </a:t>
            </a:r>
            <a:r>
              <a:rPr lang="en-US" sz="1200" dirty="0" err="1"/>
              <a:t>contexto</a:t>
            </a:r>
            <a:r>
              <a:rPr lang="en-US" sz="1200" dirty="0"/>
              <a:t> del </a:t>
            </a:r>
            <a:r>
              <a:rPr lang="en-US" sz="1200" dirty="0" err="1"/>
              <a:t>paquete</a:t>
            </a:r>
            <a:r>
              <a:rPr lang="en-US" sz="1200" dirty="0"/>
              <a:t>)</a:t>
            </a:r>
          </a:p>
          <a:p>
            <a:r>
              <a:rPr lang="en-US" sz="1200" dirty="0"/>
              <a:t>    </a:t>
            </a:r>
            <a:r>
              <a:rPr lang="en-US" sz="1200" dirty="0" err="1"/>
              <a:t>v_area_circulo</a:t>
            </a:r>
            <a:r>
              <a:rPr lang="en-US" sz="1200" dirty="0"/>
              <a:t> := </a:t>
            </a:r>
            <a:r>
              <a:rPr lang="en-US" sz="1200" dirty="0" err="1"/>
              <a:t>utilidades_calculo.calcular_area</a:t>
            </a:r>
            <a:r>
              <a:rPr lang="en-US" sz="1200" dirty="0"/>
              <a:t>(radio =&gt; 3);</a:t>
            </a:r>
          </a:p>
        </p:txBody>
      </p:sp>
    </p:spTree>
    <p:extLst>
      <p:ext uri="{BB962C8B-B14F-4D97-AF65-F5344CB8AC3E}">
        <p14:creationId xmlns:p14="http://schemas.microsoft.com/office/powerpoint/2010/main" val="1650192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2C43-B365-06BF-EF60-7B256E14A290}"/>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2D6E1325-3DCA-6B94-A9D0-393A2CD9E0DB}"/>
              </a:ext>
            </a:extLst>
          </p:cNvPr>
          <p:cNvSpPr>
            <a:spLocks noGrp="1"/>
          </p:cNvSpPr>
          <p:nvPr>
            <p:ph idx="1"/>
          </p:nvPr>
        </p:nvSpPr>
        <p:spPr>
          <a:xfrm>
            <a:off x="457200" y="915566"/>
            <a:ext cx="8229600" cy="3816425"/>
          </a:xfrm>
        </p:spPr>
        <p:txBody>
          <a:bodyPr>
            <a:normAutofit/>
          </a:bodyPr>
          <a:lstStyle/>
          <a:p>
            <a:r>
              <a:rPr lang="es-ES" dirty="0"/>
              <a:t>Parámetros con valores por defecto</a:t>
            </a:r>
          </a:p>
          <a:p>
            <a:pPr lvl="1"/>
            <a:r>
              <a:rPr lang="es-ES" sz="1600" dirty="0"/>
              <a:t>Los parámetros en procedimientos y funciones pueden tener valores por defecto. Esto permite llamar al subprograma sin proporcionar todos los parámetros. Los parámetros con valor por defecto deben estar al final de la lista de parámetros.</a:t>
            </a:r>
          </a:p>
          <a:p>
            <a:pPr lvl="1"/>
            <a:endParaRPr lang="es-ES" sz="1600" dirty="0"/>
          </a:p>
          <a:p>
            <a:pPr lvl="1"/>
            <a:r>
              <a:rPr lang="es-ES" sz="1600" dirty="0"/>
              <a:t>Esta característica hace el código más flexible y reduce la necesidad de crear múltiples versiones del mismo subprograma. Los valores por defecto pueden ser constantes, expresiones o incluso llamadas a funciones.</a:t>
            </a:r>
          </a:p>
        </p:txBody>
      </p:sp>
      <p:sp>
        <p:nvSpPr>
          <p:cNvPr id="4" name="3 Título">
            <a:extLst>
              <a:ext uri="{FF2B5EF4-FFF2-40B4-BE49-F238E27FC236}">
                <a16:creationId xmlns:a16="http://schemas.microsoft.com/office/drawing/2014/main" id="{640EB723-6A03-A160-E5AE-DF0B9A7CFD2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867B5A9-AC2A-586B-28A0-D6B3206F32FA}"/>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1883303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0C27-9305-AE52-2CCE-51BC306A3033}"/>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F9EE5561-D110-ABD1-A5D2-D6EA0375E748}"/>
              </a:ext>
            </a:extLst>
          </p:cNvPr>
          <p:cNvSpPr/>
          <p:nvPr/>
        </p:nvSpPr>
        <p:spPr>
          <a:xfrm>
            <a:off x="261636" y="1275606"/>
            <a:ext cx="8198796"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01924C69-3CD1-A9AD-6B45-A21C3650EF7F}"/>
              </a:ext>
            </a:extLst>
          </p:cNvPr>
          <p:cNvSpPr>
            <a:spLocks noGrp="1"/>
          </p:cNvSpPr>
          <p:nvPr>
            <p:ph idx="1"/>
          </p:nvPr>
        </p:nvSpPr>
        <p:spPr>
          <a:xfrm>
            <a:off x="457200" y="915567"/>
            <a:ext cx="8579296" cy="360040"/>
          </a:xfrm>
        </p:spPr>
        <p:txBody>
          <a:bodyPr>
            <a:normAutofit fontScale="47500" lnSpcReduction="20000"/>
          </a:bodyPr>
          <a:lstStyle/>
          <a:p>
            <a:r>
              <a:rPr lang="es-ES" sz="4400" dirty="0"/>
              <a:t>Parámetros con valores por defecto</a:t>
            </a:r>
          </a:p>
          <a:p>
            <a:pPr marL="539750" lvl="3" indent="0">
              <a:buNone/>
              <a:defRPr/>
            </a:pPr>
            <a:endParaRPr lang="es-ES" dirty="0"/>
          </a:p>
        </p:txBody>
      </p:sp>
      <p:sp>
        <p:nvSpPr>
          <p:cNvPr id="4" name="3 Título">
            <a:extLst>
              <a:ext uri="{FF2B5EF4-FFF2-40B4-BE49-F238E27FC236}">
                <a16:creationId xmlns:a16="http://schemas.microsoft.com/office/drawing/2014/main" id="{6AC04525-1B52-1C9A-FD76-ECAD8FBB315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F9F904F-3C2E-0D06-AF1C-7E50DDAA77F6}"/>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EB6DDBA5-A829-A6DA-A255-B0E2282B5931}"/>
              </a:ext>
            </a:extLst>
          </p:cNvPr>
          <p:cNvSpPr txBox="1"/>
          <p:nvPr/>
        </p:nvSpPr>
        <p:spPr>
          <a:xfrm>
            <a:off x="333644" y="1320007"/>
            <a:ext cx="7550724" cy="3600986"/>
          </a:xfrm>
          <a:prstGeom prst="rect">
            <a:avLst/>
          </a:prstGeom>
          <a:noFill/>
        </p:spPr>
        <p:txBody>
          <a:bodyPr wrap="square">
            <a:spAutoFit/>
          </a:bodyPr>
          <a:lstStyle/>
          <a:p>
            <a:r>
              <a:rPr lang="en-US" sz="1200" dirty="0"/>
              <a:t>CREATE OR REPLACE PROCEDURE </a:t>
            </a:r>
            <a:r>
              <a:rPr lang="en-US" sz="1200" dirty="0" err="1"/>
              <a:t>crear_usuario</a:t>
            </a:r>
            <a:r>
              <a:rPr lang="en-US" sz="1200" dirty="0"/>
              <a:t> (</a:t>
            </a:r>
          </a:p>
          <a:p>
            <a:r>
              <a:rPr lang="en-US" sz="1200" dirty="0"/>
              <a:t>    </a:t>
            </a:r>
            <a:r>
              <a:rPr lang="en-US" sz="1200" dirty="0" err="1"/>
              <a:t>p_username</a:t>
            </a:r>
            <a:r>
              <a:rPr lang="en-US" sz="1200" dirty="0"/>
              <a:t> IN VARCHAR2,</a:t>
            </a:r>
          </a:p>
          <a:p>
            <a:r>
              <a:rPr lang="en-US" sz="1200" dirty="0"/>
              <a:t>    </a:t>
            </a:r>
            <a:r>
              <a:rPr lang="en-US" sz="1200" dirty="0" err="1"/>
              <a:t>p_password</a:t>
            </a:r>
            <a:r>
              <a:rPr lang="en-US" sz="1200" dirty="0"/>
              <a:t> IN VARCHAR2,</a:t>
            </a:r>
          </a:p>
          <a:p>
            <a:r>
              <a:rPr lang="en-US" sz="1200" dirty="0"/>
              <a:t>    </a:t>
            </a:r>
            <a:r>
              <a:rPr lang="en-US" sz="1200" dirty="0" err="1"/>
              <a:t>p_email</a:t>
            </a:r>
            <a:r>
              <a:rPr lang="en-US" sz="1200" dirty="0"/>
              <a:t> IN VARCHAR2 DEFAULT NULL,</a:t>
            </a:r>
          </a:p>
          <a:p>
            <a:r>
              <a:rPr lang="en-US" sz="1200" dirty="0"/>
              <a:t>    </a:t>
            </a:r>
            <a:r>
              <a:rPr lang="en-US" sz="1200" dirty="0" err="1"/>
              <a:t>p_activo</a:t>
            </a:r>
            <a:r>
              <a:rPr lang="en-US" sz="1200" dirty="0"/>
              <a:t> IN BOOLEAN DEFAULT TRUE,</a:t>
            </a:r>
          </a:p>
          <a:p>
            <a:r>
              <a:rPr lang="en-US" sz="1200" dirty="0"/>
              <a:t>    </a:t>
            </a:r>
            <a:r>
              <a:rPr lang="en-US" sz="1200" dirty="0" err="1"/>
              <a:t>p_intentos</a:t>
            </a:r>
            <a:r>
              <a:rPr lang="en-US" sz="1200" dirty="0"/>
              <a:t> IN NUMBER DEFAULT 0</a:t>
            </a:r>
          </a:p>
          <a:p>
            <a:r>
              <a:rPr lang="en-US" sz="1200" dirty="0"/>
              <a:t>) IS</a:t>
            </a:r>
          </a:p>
          <a:p>
            <a:r>
              <a:rPr lang="en-US" sz="1200" dirty="0"/>
              <a:t>BEGIN</a:t>
            </a:r>
          </a:p>
          <a:p>
            <a:r>
              <a:rPr lang="en-US" sz="1200" dirty="0"/>
              <a:t>    ...</a:t>
            </a:r>
          </a:p>
          <a:p>
            <a:r>
              <a:rPr lang="en-US" sz="1200" dirty="0"/>
              <a:t>END </a:t>
            </a:r>
            <a:r>
              <a:rPr lang="en-US" sz="1200" dirty="0" err="1"/>
              <a:t>crear_usuario</a:t>
            </a:r>
            <a:r>
              <a:rPr lang="en-US" sz="1200" dirty="0"/>
              <a:t>;</a:t>
            </a:r>
          </a:p>
          <a:p>
            <a:r>
              <a:rPr lang="en-US" sz="1200" dirty="0"/>
              <a:t>/</a:t>
            </a:r>
          </a:p>
          <a:p>
            <a:r>
              <a:rPr lang="en-US" sz="1200" dirty="0"/>
              <a:t>BEGIN</a:t>
            </a:r>
          </a:p>
          <a:p>
            <a:r>
              <a:rPr lang="en-US" sz="1200" dirty="0"/>
              <a:t>    -- Con </a:t>
            </a:r>
            <a:r>
              <a:rPr lang="en-US" sz="1200" dirty="0" err="1"/>
              <a:t>todos</a:t>
            </a:r>
            <a:r>
              <a:rPr lang="en-US" sz="1200" dirty="0"/>
              <a:t> </a:t>
            </a:r>
            <a:r>
              <a:rPr lang="en-US" sz="1200" dirty="0" err="1"/>
              <a:t>los</a:t>
            </a:r>
            <a:r>
              <a:rPr lang="en-US" sz="1200" dirty="0"/>
              <a:t> </a:t>
            </a:r>
            <a:r>
              <a:rPr lang="en-US" sz="1200" dirty="0" err="1"/>
              <a:t>parámetros</a:t>
            </a:r>
            <a:endParaRPr lang="en-US" sz="1200" dirty="0"/>
          </a:p>
          <a:p>
            <a:r>
              <a:rPr lang="en-US" sz="1200" dirty="0"/>
              <a:t>    </a:t>
            </a:r>
            <a:r>
              <a:rPr lang="en-US" sz="1200" dirty="0" err="1"/>
              <a:t>crear_usuario</a:t>
            </a:r>
            <a:r>
              <a:rPr lang="en-US" sz="1200" dirty="0"/>
              <a:t>('</a:t>
            </a:r>
            <a:r>
              <a:rPr lang="en-US" sz="1200" dirty="0" err="1"/>
              <a:t>juan</a:t>
            </a:r>
            <a:r>
              <a:rPr lang="en-US" sz="1200" dirty="0"/>
              <a:t>', 'clave123', 'juan@email.com', TRUE, 0);</a:t>
            </a:r>
          </a:p>
          <a:p>
            <a:r>
              <a:rPr lang="en-US" sz="1200" dirty="0"/>
              <a:t>    -- Con </a:t>
            </a:r>
            <a:r>
              <a:rPr lang="en-US" sz="1200" dirty="0" err="1"/>
              <a:t>algunos</a:t>
            </a:r>
            <a:r>
              <a:rPr lang="en-US" sz="1200" dirty="0"/>
              <a:t> </a:t>
            </a:r>
            <a:r>
              <a:rPr lang="en-US" sz="1200" dirty="0" err="1"/>
              <a:t>parámetros</a:t>
            </a:r>
            <a:r>
              <a:rPr lang="en-US" sz="1200" dirty="0"/>
              <a:t> </a:t>
            </a:r>
            <a:r>
              <a:rPr lang="en-US" sz="1200" dirty="0" err="1"/>
              <a:t>por</a:t>
            </a:r>
            <a:r>
              <a:rPr lang="en-US" sz="1200" dirty="0"/>
              <a:t> </a:t>
            </a:r>
            <a:r>
              <a:rPr lang="en-US" sz="1200" dirty="0" err="1"/>
              <a:t>defecto</a:t>
            </a:r>
            <a:endParaRPr lang="en-US" sz="1200" dirty="0"/>
          </a:p>
          <a:p>
            <a:r>
              <a:rPr lang="en-US" sz="1200" dirty="0"/>
              <a:t>    </a:t>
            </a:r>
            <a:r>
              <a:rPr lang="en-US" sz="1200" dirty="0" err="1"/>
              <a:t>crear_usuario</a:t>
            </a:r>
            <a:r>
              <a:rPr lang="en-US" sz="1200" dirty="0"/>
              <a:t>('maria', 'clave456', 'maria@email.com');</a:t>
            </a:r>
          </a:p>
          <a:p>
            <a:r>
              <a:rPr lang="en-US" sz="1200" dirty="0"/>
              <a:t>    -- Solo </a:t>
            </a:r>
            <a:r>
              <a:rPr lang="en-US" sz="1200" dirty="0" err="1"/>
              <a:t>parámetros</a:t>
            </a:r>
            <a:r>
              <a:rPr lang="en-US" sz="1200" dirty="0"/>
              <a:t> </a:t>
            </a:r>
            <a:r>
              <a:rPr lang="en-US" sz="1200" dirty="0" err="1"/>
              <a:t>obligatorios</a:t>
            </a:r>
            <a:endParaRPr lang="en-US" sz="1200" dirty="0"/>
          </a:p>
          <a:p>
            <a:r>
              <a:rPr lang="en-US" sz="1200" dirty="0"/>
              <a:t>    </a:t>
            </a:r>
            <a:r>
              <a:rPr lang="en-US" sz="1200" dirty="0" err="1"/>
              <a:t>crear_usuario</a:t>
            </a:r>
            <a:r>
              <a:rPr lang="en-US" sz="1200" dirty="0"/>
              <a:t>('</a:t>
            </a:r>
            <a:r>
              <a:rPr lang="en-US" sz="1200" dirty="0" err="1"/>
              <a:t>pedro</a:t>
            </a:r>
            <a:r>
              <a:rPr lang="en-US" sz="1200" dirty="0"/>
              <a:t>', 'clave789');</a:t>
            </a:r>
          </a:p>
          <a:p>
            <a:r>
              <a:rPr lang="en-US" sz="1200" dirty="0"/>
              <a:t>END;</a:t>
            </a:r>
          </a:p>
        </p:txBody>
      </p:sp>
    </p:spTree>
    <p:extLst>
      <p:ext uri="{BB962C8B-B14F-4D97-AF65-F5344CB8AC3E}">
        <p14:creationId xmlns:p14="http://schemas.microsoft.com/office/powerpoint/2010/main" val="2204401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2465-9EFC-879F-51B9-149591DDD4E7}"/>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99BCA038-9CA4-F2B1-B85D-700A0AAE03DA}"/>
              </a:ext>
            </a:extLst>
          </p:cNvPr>
          <p:cNvSpPr>
            <a:spLocks noGrp="1"/>
          </p:cNvSpPr>
          <p:nvPr>
            <p:ph idx="1"/>
          </p:nvPr>
        </p:nvSpPr>
        <p:spPr>
          <a:xfrm>
            <a:off x="457200" y="915566"/>
            <a:ext cx="8229600" cy="3816425"/>
          </a:xfrm>
        </p:spPr>
        <p:txBody>
          <a:bodyPr>
            <a:normAutofit/>
          </a:bodyPr>
          <a:lstStyle/>
          <a:p>
            <a:r>
              <a:rPr lang="es-ES" dirty="0"/>
              <a:t>Paquetes con estado de sesión</a:t>
            </a:r>
          </a:p>
          <a:p>
            <a:pPr lvl="1"/>
            <a:r>
              <a:rPr lang="es-ES" sz="1600" dirty="0"/>
              <a:t>Los paquetes pueden mantener estado entre llamadas dentro de la misma sesión mediante variables de paquete. Esto permite cachear datos y mantener contexto. Las variables de paquete se inicializan cuando se referencia el paquete por primera vez en una sesión.</a:t>
            </a:r>
          </a:p>
          <a:p>
            <a:pPr lvl="1"/>
            <a:endParaRPr lang="es-ES" sz="1600" dirty="0"/>
          </a:p>
          <a:p>
            <a:pPr lvl="1"/>
            <a:r>
              <a:rPr lang="es-ES" sz="1600" dirty="0"/>
              <a:t>El estado de sesión es útil para optimizar performance pero requiere cuidado con la gestión de memoria. </a:t>
            </a:r>
            <a:r>
              <a:rPr lang="es-ES" sz="1600" b="1" dirty="0"/>
              <a:t>Las variables persisten hasta que finaliza la sesión </a:t>
            </a:r>
            <a:r>
              <a:rPr lang="es-ES" sz="1600" dirty="0"/>
              <a:t>o se ejecuta el procedimiento de inicialización.</a:t>
            </a:r>
          </a:p>
        </p:txBody>
      </p:sp>
      <p:sp>
        <p:nvSpPr>
          <p:cNvPr id="4" name="3 Título">
            <a:extLst>
              <a:ext uri="{FF2B5EF4-FFF2-40B4-BE49-F238E27FC236}">
                <a16:creationId xmlns:a16="http://schemas.microsoft.com/office/drawing/2014/main" id="{5EDA1F41-E1EC-DE05-8E3E-930C6042940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0B70E19C-CE7A-98ED-A5FF-AF6D16CD9BF0}"/>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2" name="CuadroTexto 1">
            <a:extLst>
              <a:ext uri="{FF2B5EF4-FFF2-40B4-BE49-F238E27FC236}">
                <a16:creationId xmlns:a16="http://schemas.microsoft.com/office/drawing/2014/main" id="{ACC36B70-229B-A225-687A-E741B04B93BA}"/>
              </a:ext>
            </a:extLst>
          </p:cNvPr>
          <p:cNvSpPr txBox="1"/>
          <p:nvPr/>
        </p:nvSpPr>
        <p:spPr>
          <a:xfrm>
            <a:off x="7343135"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sesion4-cache-sesion.sql</a:t>
            </a:r>
            <a:endParaRPr lang="es-ES" dirty="0">
              <a:solidFill>
                <a:srgbClr val="FF6A00"/>
              </a:solidFill>
            </a:endParaRPr>
          </a:p>
        </p:txBody>
      </p:sp>
    </p:spTree>
    <p:extLst>
      <p:ext uri="{BB962C8B-B14F-4D97-AF65-F5344CB8AC3E}">
        <p14:creationId xmlns:p14="http://schemas.microsoft.com/office/powerpoint/2010/main" val="2628497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BFC6B-6C14-EE87-4DB2-7CF2F2BED9EE}"/>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402A33B0-301C-D275-E067-52589B1339C9}"/>
              </a:ext>
            </a:extLst>
          </p:cNvPr>
          <p:cNvSpPr>
            <a:spLocks noGrp="1"/>
          </p:cNvSpPr>
          <p:nvPr>
            <p:ph idx="1"/>
          </p:nvPr>
        </p:nvSpPr>
        <p:spPr>
          <a:xfrm>
            <a:off x="457200" y="915566"/>
            <a:ext cx="8229600" cy="3816425"/>
          </a:xfrm>
        </p:spPr>
        <p:txBody>
          <a:bodyPr>
            <a:normAutofit/>
          </a:bodyPr>
          <a:lstStyle/>
          <a:p>
            <a:r>
              <a:rPr lang="es-ES" dirty="0"/>
              <a:t>PRINCIPALES USOS DEL ESTADO POR SESIÓN</a:t>
            </a:r>
            <a:endParaRPr lang="es-ES" sz="1600" dirty="0"/>
          </a:p>
          <a:p>
            <a:pPr marL="285750" lvl="1" indent="-285750">
              <a:buFont typeface="Arial" panose="020B0604020202020204" pitchFamily="34" charset="0"/>
              <a:buChar char="•"/>
            </a:pPr>
            <a:r>
              <a:rPr lang="es-ES" sz="1600" dirty="0"/>
              <a:t>Auditoría - </a:t>
            </a:r>
            <a:r>
              <a:rPr lang="es-ES" sz="1600" dirty="0" err="1"/>
              <a:t>Trackear</a:t>
            </a:r>
            <a:r>
              <a:rPr lang="es-ES" sz="1600" dirty="0"/>
              <a:t> quién realizó cada operación sin pasar parámetros</a:t>
            </a:r>
          </a:p>
          <a:p>
            <a:pPr marL="285750" lvl="1" indent="-285750">
              <a:buFont typeface="Arial" panose="020B0604020202020204" pitchFamily="34" charset="0"/>
              <a:buChar char="•"/>
            </a:pPr>
            <a:r>
              <a:rPr lang="es-ES" sz="1600" dirty="0"/>
              <a:t>Configuración por Sesión - Preferencias específicas de cada usuario</a:t>
            </a:r>
          </a:p>
          <a:p>
            <a:pPr marL="285750" lvl="1" indent="-285750">
              <a:buFont typeface="Arial" panose="020B0604020202020204" pitchFamily="34" charset="0"/>
              <a:buChar char="•"/>
            </a:pPr>
            <a:r>
              <a:rPr lang="es-ES" sz="1600" dirty="0"/>
              <a:t>Caché de Sesión - Datos frecuentes que no cambian durante la sesión</a:t>
            </a:r>
          </a:p>
          <a:p>
            <a:pPr marL="285750" lvl="1" indent="-285750">
              <a:buFont typeface="Arial" panose="020B0604020202020204" pitchFamily="34" charset="0"/>
              <a:buChar char="•"/>
            </a:pPr>
            <a:r>
              <a:rPr lang="es-ES" sz="1600" dirty="0"/>
              <a:t>Variables de Control - </a:t>
            </a:r>
            <a:r>
              <a:rPr lang="es-ES" sz="1600" dirty="0" err="1"/>
              <a:t>Flags</a:t>
            </a:r>
            <a:r>
              <a:rPr lang="es-ES" sz="1600" dirty="0"/>
              <a:t> o contadores que persisten en la sesión</a:t>
            </a:r>
          </a:p>
          <a:p>
            <a:pPr marL="285750" lvl="1" indent="-285750">
              <a:buFont typeface="Arial" panose="020B0604020202020204" pitchFamily="34" charset="0"/>
              <a:buChar char="•"/>
            </a:pPr>
            <a:r>
              <a:rPr lang="es-ES" sz="1600" dirty="0"/>
              <a:t>Parámetros de Negocio - Valores que se usan en múltiples procedimientos</a:t>
            </a:r>
          </a:p>
          <a:p>
            <a:pPr marL="285750" lvl="1" indent="-285750">
              <a:buFont typeface="Arial" panose="020B0604020202020204" pitchFamily="34" charset="0"/>
              <a:buChar char="•"/>
            </a:pPr>
            <a:r>
              <a:rPr lang="es-ES" sz="1600" dirty="0"/>
              <a:t>Contexto Transaccional - Información que debe mantenerse durante una transacción compleja</a:t>
            </a:r>
          </a:p>
          <a:p>
            <a:pPr marL="285750" lvl="1" indent="-285750">
              <a:buFont typeface="Arial" panose="020B0604020202020204" pitchFamily="34" charset="0"/>
              <a:buChar char="•"/>
            </a:pPr>
            <a:r>
              <a:rPr lang="es-ES" sz="1600" dirty="0" err="1"/>
              <a:t>Feature</a:t>
            </a:r>
            <a:r>
              <a:rPr lang="es-ES" sz="1600" dirty="0"/>
              <a:t> </a:t>
            </a:r>
            <a:r>
              <a:rPr lang="es-ES" sz="1600" dirty="0" err="1"/>
              <a:t>Flags</a:t>
            </a:r>
            <a:r>
              <a:rPr lang="es-ES" sz="1600" dirty="0"/>
              <a:t> - Habilitar/deshabilitar funcionalidades por sesión</a:t>
            </a:r>
          </a:p>
          <a:p>
            <a:pPr lvl="1"/>
            <a:r>
              <a:rPr lang="es-ES" sz="1600" dirty="0"/>
              <a:t>VENTAJA CLAVE: Evita pasar los mismos parámetros repetidamente entre diferentes procedimientos de la misma sesión.</a:t>
            </a:r>
          </a:p>
        </p:txBody>
      </p:sp>
      <p:sp>
        <p:nvSpPr>
          <p:cNvPr id="4" name="3 Título">
            <a:extLst>
              <a:ext uri="{FF2B5EF4-FFF2-40B4-BE49-F238E27FC236}">
                <a16:creationId xmlns:a16="http://schemas.microsoft.com/office/drawing/2014/main" id="{7A04017E-BE94-CB40-CD90-AE0E014EC7F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2807F236-7028-E4A3-4B1B-887AFB3D3DA4}"/>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858147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11109-A9B4-0AF5-258A-D54D3D6D9B9F}"/>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54767A86-66CB-2537-0C78-CB51B193D5D1}"/>
              </a:ext>
            </a:extLst>
          </p:cNvPr>
          <p:cNvSpPr>
            <a:spLocks noGrp="1"/>
          </p:cNvSpPr>
          <p:nvPr>
            <p:ph idx="1"/>
          </p:nvPr>
        </p:nvSpPr>
        <p:spPr>
          <a:xfrm>
            <a:off x="457200" y="915566"/>
            <a:ext cx="8229600" cy="4032448"/>
          </a:xfrm>
        </p:spPr>
        <p:txBody>
          <a:bodyPr>
            <a:normAutofit/>
          </a:bodyPr>
          <a:lstStyle/>
          <a:p>
            <a:r>
              <a:rPr lang="es-ES" dirty="0"/>
              <a:t>PRAGMAS</a:t>
            </a:r>
            <a:endParaRPr lang="es-ES" sz="1600" dirty="0"/>
          </a:p>
          <a:p>
            <a:pPr lvl="1"/>
            <a:r>
              <a:rPr lang="es-ES" sz="1600" dirty="0"/>
              <a:t>Los </a:t>
            </a:r>
            <a:r>
              <a:rPr lang="es-ES" sz="1600" dirty="0" err="1"/>
              <a:t>PRAGMAs</a:t>
            </a:r>
            <a:r>
              <a:rPr lang="es-ES" sz="1600" dirty="0"/>
              <a:t> no cambian la sintaxis fundamental del código ni la lógica de ejecución del programa, sino que:</a:t>
            </a:r>
          </a:p>
          <a:p>
            <a:pPr lvl="1"/>
            <a:r>
              <a:rPr lang="es-ES" sz="1600" b="1" dirty="0"/>
              <a:t>Modifican el comportamiento del compilador: </a:t>
            </a:r>
            <a:r>
              <a:rPr lang="es-ES" sz="1600" dirty="0"/>
              <a:t>Le dicen al compilador cómo debe manejar ciertas situaciones o cómo generar el código objeto.</a:t>
            </a:r>
          </a:p>
          <a:p>
            <a:pPr lvl="1"/>
            <a:r>
              <a:rPr lang="es-ES" sz="1600" b="1" dirty="0"/>
              <a:t>Afectan la semántica</a:t>
            </a:r>
            <a:r>
              <a:rPr lang="es-ES" sz="1600" dirty="0"/>
              <a:t>: Pueden influir en cómo se interpretan ciertas partes del código.</a:t>
            </a:r>
          </a:p>
          <a:p>
            <a:pPr lvl="1"/>
            <a:r>
              <a:rPr lang="es-ES" sz="1600" b="1" dirty="0"/>
              <a:t>Optimizan el rendimiento</a:t>
            </a:r>
            <a:r>
              <a:rPr lang="es-ES" sz="1600" dirty="0"/>
              <a:t>: Pueden dar pistas al compilador sobre cómo optimizar el código.</a:t>
            </a:r>
          </a:p>
          <a:p>
            <a:pPr lvl="1"/>
            <a:r>
              <a:rPr lang="es-ES" sz="1600" b="1" dirty="0"/>
              <a:t>Aseguran la compatibilidad o control de errores</a:t>
            </a:r>
            <a:r>
              <a:rPr lang="es-ES" sz="1600" dirty="0"/>
              <a:t>: Pueden usarse para suprimir advertencias específicas o forzar ciertos comportamientos.</a:t>
            </a:r>
          </a:p>
          <a:p>
            <a:pPr marL="342900" lvl="1" indent="-342900">
              <a:buFont typeface="Arial" panose="020B0604020202020204" pitchFamily="34" charset="0"/>
              <a:buChar char="•"/>
            </a:pPr>
            <a:r>
              <a:rPr lang="es-ES" sz="1600" dirty="0"/>
              <a:t>NOCOPY</a:t>
            </a:r>
          </a:p>
          <a:p>
            <a:pPr marL="342900" lvl="1" indent="-342900">
              <a:buFont typeface="Arial" panose="020B0604020202020204" pitchFamily="34" charset="0"/>
              <a:buChar char="•"/>
            </a:pPr>
            <a:r>
              <a:rPr lang="es-ES" sz="1600" dirty="0"/>
              <a:t>PRAGMA INLINE</a:t>
            </a:r>
          </a:p>
          <a:p>
            <a:pPr marL="342900" lvl="1" indent="-342900">
              <a:buFont typeface="Arial" panose="020B0604020202020204" pitchFamily="34" charset="0"/>
              <a:buChar char="•"/>
            </a:pPr>
            <a:r>
              <a:rPr lang="es-ES" sz="1600" dirty="0"/>
              <a:t>PRAGMA AUTONOMOUS_TRANSACTION</a:t>
            </a:r>
          </a:p>
          <a:p>
            <a:pPr marL="342900" lvl="1" indent="-342900">
              <a:buFont typeface="Arial" panose="020B0604020202020204" pitchFamily="34" charset="0"/>
              <a:buChar char="•"/>
            </a:pPr>
            <a:r>
              <a:rPr lang="es-ES" sz="1600" dirty="0"/>
              <a:t>PRAGMA UDF (si tu versión Oracle lo soporta)</a:t>
            </a:r>
          </a:p>
        </p:txBody>
      </p:sp>
      <p:sp>
        <p:nvSpPr>
          <p:cNvPr id="4" name="3 Título">
            <a:extLst>
              <a:ext uri="{FF2B5EF4-FFF2-40B4-BE49-F238E27FC236}">
                <a16:creationId xmlns:a16="http://schemas.microsoft.com/office/drawing/2014/main" id="{66DD1B05-16B2-6EB7-DEA2-41DE56D137FC}"/>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342DD108-F153-E117-A56A-E342C41FC63F}"/>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Tree>
    <p:extLst>
      <p:ext uri="{BB962C8B-B14F-4D97-AF65-F5344CB8AC3E}">
        <p14:creationId xmlns:p14="http://schemas.microsoft.com/office/powerpoint/2010/main" val="1967912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61288-B104-228C-C56F-A21B55E70367}"/>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FBC500D5-823B-53FF-99F8-1EAC80C39692}"/>
              </a:ext>
            </a:extLst>
          </p:cNvPr>
          <p:cNvSpPr/>
          <p:nvPr/>
        </p:nvSpPr>
        <p:spPr>
          <a:xfrm>
            <a:off x="261636" y="1275607"/>
            <a:ext cx="3662292" cy="17281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5148D248-87FF-E138-61C3-E0F2320A2388}"/>
              </a:ext>
            </a:extLst>
          </p:cNvPr>
          <p:cNvSpPr>
            <a:spLocks noGrp="1"/>
          </p:cNvSpPr>
          <p:nvPr>
            <p:ph idx="1"/>
          </p:nvPr>
        </p:nvSpPr>
        <p:spPr>
          <a:xfrm>
            <a:off x="457200" y="915567"/>
            <a:ext cx="8579296" cy="360040"/>
          </a:xfrm>
        </p:spPr>
        <p:txBody>
          <a:bodyPr>
            <a:normAutofit fontScale="47500" lnSpcReduction="20000"/>
          </a:bodyPr>
          <a:lstStyle/>
          <a:p>
            <a:r>
              <a:rPr lang="es-ES" sz="4400" dirty="0"/>
              <a:t>Crear procedimientos y funciones – PRAGMAS - NOCOPY</a:t>
            </a:r>
            <a:endParaRPr lang="es-ES" sz="3200" dirty="0"/>
          </a:p>
          <a:p>
            <a:pPr marL="539750" lvl="3" indent="0">
              <a:buNone/>
              <a:defRPr/>
            </a:pPr>
            <a:endParaRPr lang="es-ES" dirty="0"/>
          </a:p>
        </p:txBody>
      </p:sp>
      <p:sp>
        <p:nvSpPr>
          <p:cNvPr id="4" name="3 Título">
            <a:extLst>
              <a:ext uri="{FF2B5EF4-FFF2-40B4-BE49-F238E27FC236}">
                <a16:creationId xmlns:a16="http://schemas.microsoft.com/office/drawing/2014/main" id="{25C448EE-F33A-9320-C778-DA631AA66768}"/>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F948CC2-E2C7-4B4E-B94C-02B72612D283}"/>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8C85F56A-0CD2-C71B-46B9-ECD8B13F7503}"/>
              </a:ext>
            </a:extLst>
          </p:cNvPr>
          <p:cNvSpPr txBox="1"/>
          <p:nvPr/>
        </p:nvSpPr>
        <p:spPr>
          <a:xfrm>
            <a:off x="261636" y="1320007"/>
            <a:ext cx="3545633" cy="1292662"/>
          </a:xfrm>
          <a:prstGeom prst="rect">
            <a:avLst/>
          </a:prstGeom>
          <a:noFill/>
        </p:spPr>
        <p:txBody>
          <a:bodyPr wrap="square">
            <a:spAutoFit/>
          </a:bodyPr>
          <a:lstStyle/>
          <a:p>
            <a:r>
              <a:rPr lang="en-US" sz="1300" dirty="0"/>
              <a:t>CREATE OR REPLACE PROCEDURE </a:t>
            </a:r>
            <a:r>
              <a:rPr lang="en-US" sz="1300" dirty="0" err="1"/>
              <a:t>procesar_datos</a:t>
            </a:r>
            <a:r>
              <a:rPr lang="en-US" sz="1300" dirty="0"/>
              <a:t>(</a:t>
            </a:r>
          </a:p>
          <a:p>
            <a:r>
              <a:rPr lang="en-US" sz="1300" dirty="0"/>
              <a:t>    </a:t>
            </a:r>
            <a:r>
              <a:rPr lang="en-US" sz="1300" dirty="0" err="1"/>
              <a:t>p_lista</a:t>
            </a:r>
            <a:r>
              <a:rPr lang="en-US" sz="1300" dirty="0"/>
              <a:t> IN OUT </a:t>
            </a:r>
            <a:r>
              <a:rPr lang="en-US" sz="1300" b="1" dirty="0"/>
              <a:t>NOCOPY</a:t>
            </a:r>
            <a:r>
              <a:rPr lang="en-US" sz="1300" dirty="0"/>
              <a:t> VARCHAR2</a:t>
            </a:r>
          </a:p>
          <a:p>
            <a:r>
              <a:rPr lang="en-US" sz="1300" dirty="0"/>
              <a:t>) IS</a:t>
            </a:r>
          </a:p>
          <a:p>
            <a:r>
              <a:rPr lang="en-US" sz="1300" dirty="0"/>
              <a:t>BEGIN</a:t>
            </a:r>
          </a:p>
          <a:p>
            <a:r>
              <a:rPr lang="en-US" sz="1300" dirty="0"/>
              <a:t>    </a:t>
            </a:r>
            <a:r>
              <a:rPr lang="en-US" sz="1300" dirty="0" err="1"/>
              <a:t>p_lista</a:t>
            </a:r>
            <a:r>
              <a:rPr lang="en-US" sz="1300" dirty="0"/>
              <a:t> := </a:t>
            </a:r>
            <a:r>
              <a:rPr lang="en-US" sz="1300" dirty="0" err="1"/>
              <a:t>p_lista</a:t>
            </a:r>
            <a:r>
              <a:rPr lang="en-US" sz="1300" dirty="0"/>
              <a:t> || ' -&gt; </a:t>
            </a:r>
            <a:r>
              <a:rPr lang="en-US" sz="1300" dirty="0" err="1"/>
              <a:t>procesado</a:t>
            </a:r>
            <a:r>
              <a:rPr lang="en-US" sz="1300" dirty="0"/>
              <a:t>';</a:t>
            </a:r>
          </a:p>
          <a:p>
            <a:r>
              <a:rPr lang="en-US" sz="1300" dirty="0"/>
              <a:t>END;</a:t>
            </a:r>
            <a:endParaRPr lang="en-US" sz="1400" dirty="0"/>
          </a:p>
        </p:txBody>
      </p:sp>
      <p:sp>
        <p:nvSpPr>
          <p:cNvPr id="9" name="4 Marcador de contenido">
            <a:extLst>
              <a:ext uri="{FF2B5EF4-FFF2-40B4-BE49-F238E27FC236}">
                <a16:creationId xmlns:a16="http://schemas.microsoft.com/office/drawing/2014/main" id="{3D27C9D9-6A85-7C15-51E7-C9EF5C42B2C6}"/>
              </a:ext>
            </a:extLst>
          </p:cNvPr>
          <p:cNvSpPr txBox="1">
            <a:spLocks/>
          </p:cNvSpPr>
          <p:nvPr/>
        </p:nvSpPr>
        <p:spPr>
          <a:xfrm>
            <a:off x="3971490" y="1306682"/>
            <a:ext cx="5172510" cy="3569323"/>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DIFERENCIA:</a:t>
            </a:r>
          </a:p>
          <a:p>
            <a:pPr marL="877888" lvl="2" indent="-342900"/>
            <a:r>
              <a:rPr lang="es-ES" sz="1600" dirty="0"/>
              <a:t>Sin NOCOPY: Copia completa de los datos (lento para grandes volúmenes)</a:t>
            </a:r>
          </a:p>
          <a:p>
            <a:pPr marL="877888" lvl="2" indent="-342900"/>
            <a:r>
              <a:rPr lang="es-ES" sz="1600" dirty="0"/>
              <a:t>Con NOCOPY: Pasa por referencia (más rápido, pero cuidado con </a:t>
            </a:r>
            <a:r>
              <a:rPr lang="es-ES" sz="1600" dirty="0" err="1"/>
              <a:t>aliasing</a:t>
            </a:r>
            <a:r>
              <a:rPr lang="es-ES" sz="1600" dirty="0"/>
              <a:t>)</a:t>
            </a:r>
          </a:p>
          <a:p>
            <a:pPr marL="342900" lvl="1" indent="-342900">
              <a:buFont typeface="Arial" panose="020B0604020202020204" pitchFamily="34" charset="0"/>
              <a:buChar char="•"/>
            </a:pPr>
            <a:r>
              <a:rPr lang="es-ES" sz="1800" dirty="0"/>
              <a:t>PRAGMA NOCOPY = "No copies los datos, pasa por referencia</a:t>
            </a:r>
          </a:p>
          <a:p>
            <a:pPr marL="342900" lvl="1" indent="-342900">
              <a:buFont typeface="Arial" panose="020B0604020202020204" pitchFamily="34" charset="0"/>
              <a:buChar char="•"/>
            </a:pPr>
            <a:r>
              <a:rPr lang="es-ES" sz="1800" dirty="0"/>
              <a:t>No Funciona con:</a:t>
            </a:r>
          </a:p>
          <a:p>
            <a:pPr marL="877888" lvl="2" indent="-342900"/>
            <a:r>
              <a:rPr lang="es-ES" sz="1600" dirty="0"/>
              <a:t>Parámetros de función (solo PROCEDURE)</a:t>
            </a:r>
          </a:p>
          <a:p>
            <a:pPr marL="877888" lvl="2" indent="-342900"/>
            <a:r>
              <a:rPr lang="es-ES" sz="1600" dirty="0"/>
              <a:t>Tipos escalares simples (NUMBER, DATE, VARCHAR2 pequeños)</a:t>
            </a:r>
          </a:p>
          <a:p>
            <a:pPr marL="877888" lvl="2" indent="-342900"/>
            <a:r>
              <a:rPr lang="es-ES" sz="1600" dirty="0"/>
              <a:t>Parámetros IN (solo IN OUT, OUT)</a:t>
            </a:r>
          </a:p>
          <a:p>
            <a:pPr marL="877888" lvl="2" indent="-342900"/>
            <a:r>
              <a:rPr lang="es-ES" sz="1600" dirty="0" err="1"/>
              <a:t>Across</a:t>
            </a:r>
            <a:r>
              <a:rPr lang="es-ES" sz="1600" dirty="0"/>
              <a:t> </a:t>
            </a:r>
            <a:r>
              <a:rPr lang="es-ES" sz="1600" dirty="0" err="1"/>
              <a:t>language</a:t>
            </a:r>
            <a:r>
              <a:rPr lang="es-ES" sz="1600" dirty="0"/>
              <a:t> </a:t>
            </a:r>
            <a:r>
              <a:rPr lang="es-ES" sz="1600" dirty="0" err="1"/>
              <a:t>calls</a:t>
            </a:r>
            <a:r>
              <a:rPr lang="es-ES" sz="1600" dirty="0"/>
              <a:t> (desde Java, C#, etc.)</a:t>
            </a:r>
          </a:p>
        </p:txBody>
      </p:sp>
      <p:graphicFrame>
        <p:nvGraphicFramePr>
          <p:cNvPr id="2" name="Tabla 1">
            <a:extLst>
              <a:ext uri="{FF2B5EF4-FFF2-40B4-BE49-F238E27FC236}">
                <a16:creationId xmlns:a16="http://schemas.microsoft.com/office/drawing/2014/main" id="{D39BD605-1614-FB40-9771-00AA39DD0684}"/>
              </a:ext>
            </a:extLst>
          </p:cNvPr>
          <p:cNvGraphicFramePr>
            <a:graphicFrameLocks noGrp="1"/>
          </p:cNvGraphicFramePr>
          <p:nvPr>
            <p:extLst>
              <p:ext uri="{D42A27DB-BD31-4B8C-83A1-F6EECF244321}">
                <p14:modId xmlns:p14="http://schemas.microsoft.com/office/powerpoint/2010/main" val="2386841479"/>
              </p:ext>
            </p:extLst>
          </p:nvPr>
        </p:nvGraphicFramePr>
        <p:xfrm>
          <a:off x="261055" y="3507854"/>
          <a:ext cx="3454400" cy="1047750"/>
        </p:xfrm>
        <a:graphic>
          <a:graphicData uri="http://schemas.openxmlformats.org/drawingml/2006/table">
            <a:tbl>
              <a:tblPr>
                <a:tableStyleId>{5C22544A-7EE6-4342-B048-85BDC9FD1C3A}</a:tableStyleId>
              </a:tblPr>
              <a:tblGrid>
                <a:gridCol w="1560666">
                  <a:extLst>
                    <a:ext uri="{9D8B030D-6E8A-4147-A177-3AD203B41FA5}">
                      <a16:colId xmlns:a16="http://schemas.microsoft.com/office/drawing/2014/main" val="3578416056"/>
                    </a:ext>
                  </a:extLst>
                </a:gridCol>
                <a:gridCol w="1893734">
                  <a:extLst>
                    <a:ext uri="{9D8B030D-6E8A-4147-A177-3AD203B41FA5}">
                      <a16:colId xmlns:a16="http://schemas.microsoft.com/office/drawing/2014/main" val="1443480030"/>
                    </a:ext>
                  </a:extLst>
                </a:gridCol>
              </a:tblGrid>
              <a:tr h="209550">
                <a:tc>
                  <a:txBody>
                    <a:bodyPr/>
                    <a:lstStyle/>
                    <a:p>
                      <a:pPr algn="l" fontAlgn="ctr">
                        <a:buNone/>
                      </a:pPr>
                      <a:r>
                        <a:rPr lang="es-ES" sz="1100" b="1" u="none" strike="noStrike" dirty="0">
                          <a:effectLst/>
                        </a:rPr>
                        <a:t>USAR SÍ</a:t>
                      </a:r>
                      <a:endParaRPr lang="es-ES" sz="1100" b="1" i="0" u="none" strike="noStrike" dirty="0">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b="1" u="none" strike="noStrike" dirty="0">
                          <a:effectLst/>
                        </a:rPr>
                        <a:t>EVITAR</a:t>
                      </a:r>
                      <a:endParaRPr lang="es-ES" sz="1100" b="1" i="0" u="none" strike="noStrike" dirty="0">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2021205444"/>
                  </a:ext>
                </a:extLst>
              </a:tr>
              <a:tr h="209550">
                <a:tc>
                  <a:txBody>
                    <a:bodyPr/>
                    <a:lstStyle/>
                    <a:p>
                      <a:pPr algn="l" fontAlgn="ctr">
                        <a:buNone/>
                      </a:pPr>
                      <a:r>
                        <a:rPr lang="es-ES" sz="1100" u="none" strike="noStrike">
                          <a:effectLst/>
                        </a:rPr>
                        <a:t>Colecciones grandes</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Parámetros pequeños</a:t>
                      </a:r>
                      <a:endParaRPr lang="es-ES" sz="1100" b="0" i="0" u="none" strike="noStrike">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1841941881"/>
                  </a:ext>
                </a:extLst>
              </a:tr>
              <a:tr h="209550">
                <a:tc>
                  <a:txBody>
                    <a:bodyPr/>
                    <a:lstStyle/>
                    <a:p>
                      <a:pPr algn="l" fontAlgn="ctr">
                        <a:buNone/>
                      </a:pPr>
                      <a:r>
                        <a:rPr lang="es-ES" sz="1100" u="none" strike="noStrike">
                          <a:effectLst/>
                        </a:rPr>
                        <a:t>Objetos complejos</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a:effectLst/>
                        </a:rPr>
                        <a:t>Cuando necesitas rollback</a:t>
                      </a:r>
                      <a:endParaRPr lang="es-ES" sz="1100" b="0" i="0" u="none" strike="noStrike">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3771280440"/>
                  </a:ext>
                </a:extLst>
              </a:tr>
              <a:tr h="419100">
                <a:tc>
                  <a:txBody>
                    <a:bodyPr/>
                    <a:lstStyle/>
                    <a:p>
                      <a:pPr algn="l" fontAlgn="ctr">
                        <a:buNone/>
                      </a:pPr>
                      <a:r>
                        <a:rPr lang="es-ES" sz="1100" u="none" strike="noStrike">
                          <a:effectLst/>
                        </a:rPr>
                        <a:t>PERFORMANCE crítico</a:t>
                      </a:r>
                      <a:endParaRPr lang="es-ES" sz="1100" b="0" i="0" u="none" strike="noStrike">
                        <a:solidFill>
                          <a:srgbClr val="0F1115"/>
                        </a:solidFill>
                        <a:effectLst/>
                        <a:latin typeface="Segoe UI" panose="020B0502040204020203" pitchFamily="34" charset="0"/>
                      </a:endParaRPr>
                    </a:p>
                  </a:txBody>
                  <a:tcPr marL="85725" marR="9525" marT="9525" marB="0" anchor="ctr"/>
                </a:tc>
                <a:tc>
                  <a:txBody>
                    <a:bodyPr/>
                    <a:lstStyle/>
                    <a:p>
                      <a:pPr algn="l" fontAlgn="ctr">
                        <a:buNone/>
                      </a:pPr>
                      <a:r>
                        <a:rPr lang="es-ES" sz="1100" u="none" strike="noStrike" dirty="0">
                          <a:effectLst/>
                        </a:rPr>
                        <a:t>Lógica transaccional compleja</a:t>
                      </a:r>
                      <a:endParaRPr lang="es-ES" sz="1100" b="0" i="0" u="none" strike="noStrike" dirty="0">
                        <a:solidFill>
                          <a:srgbClr val="0F1115"/>
                        </a:solidFill>
                        <a:effectLst/>
                        <a:latin typeface="Segoe UI" panose="020B0502040204020203" pitchFamily="34" charset="0"/>
                      </a:endParaRPr>
                    </a:p>
                  </a:txBody>
                  <a:tcPr marL="85725" marR="9525" marT="9525" marB="0" anchor="ctr"/>
                </a:tc>
                <a:extLst>
                  <a:ext uri="{0D108BD9-81ED-4DB2-BD59-A6C34878D82A}">
                    <a16:rowId xmlns:a16="http://schemas.microsoft.com/office/drawing/2014/main" val="2615187615"/>
                  </a:ext>
                </a:extLst>
              </a:tr>
            </a:tbl>
          </a:graphicData>
        </a:graphic>
      </p:graphicFrame>
    </p:spTree>
    <p:extLst>
      <p:ext uri="{BB962C8B-B14F-4D97-AF65-F5344CB8AC3E}">
        <p14:creationId xmlns:p14="http://schemas.microsoft.com/office/powerpoint/2010/main" val="2385941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D9E19-5336-FBAC-B5A8-B14D85301C2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0C3C2750-BF7D-4C99-11BD-165FBF48D7C9}"/>
              </a:ext>
            </a:extLst>
          </p:cNvPr>
          <p:cNvSpPr/>
          <p:nvPr/>
        </p:nvSpPr>
        <p:spPr>
          <a:xfrm>
            <a:off x="261636" y="1275606"/>
            <a:ext cx="4094340"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6329D85-BD20-2406-ACAB-192EA0659E11}"/>
              </a:ext>
            </a:extLst>
          </p:cNvPr>
          <p:cNvSpPr>
            <a:spLocks noGrp="1"/>
          </p:cNvSpPr>
          <p:nvPr>
            <p:ph idx="1"/>
          </p:nvPr>
        </p:nvSpPr>
        <p:spPr>
          <a:xfrm>
            <a:off x="457200" y="915567"/>
            <a:ext cx="8579296" cy="360040"/>
          </a:xfrm>
        </p:spPr>
        <p:txBody>
          <a:bodyPr>
            <a:normAutofit fontScale="47500" lnSpcReduction="20000"/>
          </a:bodyPr>
          <a:lstStyle/>
          <a:p>
            <a:r>
              <a:rPr lang="es-ES" sz="4400" dirty="0"/>
              <a:t>Crear procedimientos y funciones – PRAGMAS - PRAGMA INLINE</a:t>
            </a:r>
          </a:p>
          <a:p>
            <a:endParaRPr lang="es-ES" sz="3200" dirty="0"/>
          </a:p>
          <a:p>
            <a:pPr marL="539750" lvl="3" indent="0">
              <a:buNone/>
              <a:defRPr/>
            </a:pPr>
            <a:endParaRPr lang="es-ES" dirty="0"/>
          </a:p>
        </p:txBody>
      </p:sp>
      <p:sp>
        <p:nvSpPr>
          <p:cNvPr id="4" name="3 Título">
            <a:extLst>
              <a:ext uri="{FF2B5EF4-FFF2-40B4-BE49-F238E27FC236}">
                <a16:creationId xmlns:a16="http://schemas.microsoft.com/office/drawing/2014/main" id="{41EA9249-D4B6-EDCE-9CA2-4FE4D943340D}"/>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B59EF3FA-41AD-89AD-CE27-A5D41EE92AE2}"/>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0375B6DF-5D20-0599-E49F-E9B5C7EF1DA4}"/>
              </a:ext>
            </a:extLst>
          </p:cNvPr>
          <p:cNvSpPr txBox="1"/>
          <p:nvPr/>
        </p:nvSpPr>
        <p:spPr>
          <a:xfrm>
            <a:off x="261636" y="1320007"/>
            <a:ext cx="4094340" cy="3693319"/>
          </a:xfrm>
          <a:prstGeom prst="rect">
            <a:avLst/>
          </a:prstGeom>
          <a:noFill/>
        </p:spPr>
        <p:txBody>
          <a:bodyPr wrap="square">
            <a:spAutoFit/>
          </a:bodyPr>
          <a:lstStyle/>
          <a:p>
            <a:r>
              <a:rPr lang="en-US" sz="1300" dirty="0"/>
              <a:t>CREATE OR REPLACE FUNCTION </a:t>
            </a:r>
            <a:r>
              <a:rPr lang="en-US" sz="1300" dirty="0" err="1"/>
              <a:t>calcular_iva</a:t>
            </a:r>
            <a:r>
              <a:rPr lang="en-US" sz="1300" dirty="0"/>
              <a:t>(</a:t>
            </a:r>
            <a:r>
              <a:rPr lang="en-US" sz="1300" dirty="0" err="1"/>
              <a:t>p_precio</a:t>
            </a:r>
            <a:r>
              <a:rPr lang="en-US" sz="1300" dirty="0"/>
              <a:t> NUMBER) RETURN NUMBER IS</a:t>
            </a:r>
          </a:p>
          <a:p>
            <a:r>
              <a:rPr lang="en-US" sz="1300" dirty="0"/>
              <a:t>    </a:t>
            </a:r>
            <a:r>
              <a:rPr lang="en-US" sz="1300" dirty="0" err="1"/>
              <a:t>v_iva_porcentaje</a:t>
            </a:r>
            <a:r>
              <a:rPr lang="en-US" sz="1300" dirty="0"/>
              <a:t> NUMBER := 0.21;  -- 21% IVA</a:t>
            </a:r>
          </a:p>
          <a:p>
            <a:r>
              <a:rPr lang="en-US" sz="1300" dirty="0"/>
              <a:t>BEGIN</a:t>
            </a:r>
          </a:p>
          <a:p>
            <a:r>
              <a:rPr lang="en-US" sz="1300" dirty="0"/>
              <a:t>    RETURN </a:t>
            </a:r>
            <a:r>
              <a:rPr lang="en-US" sz="1300" dirty="0" err="1"/>
              <a:t>p_precio</a:t>
            </a:r>
            <a:r>
              <a:rPr lang="en-US" sz="1300" dirty="0"/>
              <a:t> * </a:t>
            </a:r>
            <a:r>
              <a:rPr lang="en-US" sz="1300" dirty="0" err="1"/>
              <a:t>v_iva_porcentaje</a:t>
            </a:r>
            <a:r>
              <a:rPr lang="en-US" sz="1300" dirty="0"/>
              <a:t>;</a:t>
            </a:r>
          </a:p>
          <a:p>
            <a:r>
              <a:rPr lang="en-US" sz="1300" dirty="0"/>
              <a:t>END;</a:t>
            </a:r>
          </a:p>
          <a:p>
            <a:r>
              <a:rPr lang="en-US" sz="1300" dirty="0"/>
              <a:t>/</a:t>
            </a:r>
          </a:p>
          <a:p>
            <a:endParaRPr lang="en-US" sz="1300" dirty="0"/>
          </a:p>
          <a:p>
            <a:r>
              <a:rPr lang="en-US" sz="1300" dirty="0"/>
              <a:t>DECLARE</a:t>
            </a:r>
          </a:p>
          <a:p>
            <a:r>
              <a:rPr lang="en-US" sz="1300" dirty="0"/>
              <a:t>    </a:t>
            </a:r>
            <a:r>
              <a:rPr lang="en-US" sz="1300" dirty="0" err="1"/>
              <a:t>v_precio</a:t>
            </a:r>
            <a:r>
              <a:rPr lang="en-US" sz="1300" dirty="0"/>
              <a:t> NUMBER := 100;</a:t>
            </a:r>
          </a:p>
          <a:p>
            <a:r>
              <a:rPr lang="en-US" sz="1300" dirty="0"/>
              <a:t>    </a:t>
            </a:r>
            <a:r>
              <a:rPr lang="en-US" sz="1300" dirty="0" err="1"/>
              <a:t>v_iva</a:t>
            </a:r>
            <a:r>
              <a:rPr lang="en-US" sz="1300" dirty="0"/>
              <a:t> NUMBER;</a:t>
            </a:r>
          </a:p>
          <a:p>
            <a:r>
              <a:rPr lang="en-US" sz="1300" dirty="0"/>
              <a:t>    </a:t>
            </a:r>
            <a:r>
              <a:rPr lang="en-US" sz="1300" dirty="0" err="1"/>
              <a:t>v_total</a:t>
            </a:r>
            <a:r>
              <a:rPr lang="en-US" sz="1300" dirty="0"/>
              <a:t> NUMBER;</a:t>
            </a:r>
          </a:p>
          <a:p>
            <a:r>
              <a:rPr lang="en-US" sz="1300" dirty="0"/>
              <a:t>    PRAGMA INLINE(</a:t>
            </a:r>
            <a:r>
              <a:rPr lang="en-US" sz="1300" dirty="0" err="1"/>
              <a:t>calcular_iva</a:t>
            </a:r>
            <a:r>
              <a:rPr lang="en-US" sz="1300" dirty="0"/>
              <a:t>, 'YES');  -- INLINE </a:t>
            </a:r>
            <a:r>
              <a:rPr lang="en-US" sz="1300" dirty="0" err="1"/>
              <a:t>activado</a:t>
            </a:r>
            <a:endParaRPr lang="en-US" sz="1300" dirty="0"/>
          </a:p>
          <a:p>
            <a:r>
              <a:rPr lang="en-US" sz="1300" dirty="0"/>
              <a:t>BEGIN</a:t>
            </a:r>
          </a:p>
          <a:p>
            <a:r>
              <a:rPr lang="en-US" sz="1300" dirty="0"/>
              <a:t>    FOR </a:t>
            </a:r>
            <a:r>
              <a:rPr lang="en-US" sz="1300" dirty="0" err="1"/>
              <a:t>i</a:t>
            </a:r>
            <a:r>
              <a:rPr lang="en-US" sz="1300" dirty="0"/>
              <a:t> IN 1..1000000 LOOP</a:t>
            </a:r>
          </a:p>
          <a:p>
            <a:r>
              <a:rPr lang="en-US" sz="1300" dirty="0"/>
              <a:t>        </a:t>
            </a:r>
            <a:r>
              <a:rPr lang="en-US" sz="1300" dirty="0" err="1"/>
              <a:t>v_iva</a:t>
            </a:r>
            <a:r>
              <a:rPr lang="en-US" sz="1300" dirty="0"/>
              <a:t> := </a:t>
            </a:r>
            <a:r>
              <a:rPr lang="en-US" sz="1300" dirty="0" err="1"/>
              <a:t>calcular_iva</a:t>
            </a:r>
            <a:r>
              <a:rPr lang="en-US" sz="1300" dirty="0"/>
              <a:t>(</a:t>
            </a:r>
            <a:r>
              <a:rPr lang="en-US" sz="1300" dirty="0" err="1"/>
              <a:t>v_precio</a:t>
            </a:r>
            <a:r>
              <a:rPr lang="en-US" sz="1300" dirty="0"/>
              <a:t> + </a:t>
            </a:r>
            <a:r>
              <a:rPr lang="en-US" sz="1300" dirty="0" err="1"/>
              <a:t>i</a:t>
            </a:r>
            <a:r>
              <a:rPr lang="en-US" sz="1300" dirty="0"/>
              <a:t>);  </a:t>
            </a:r>
          </a:p>
          <a:p>
            <a:r>
              <a:rPr lang="en-US" sz="1300" dirty="0"/>
              <a:t>END LOOP;</a:t>
            </a:r>
          </a:p>
          <a:p>
            <a:r>
              <a:rPr lang="en-US" sz="1300" dirty="0"/>
              <a:t>END;</a:t>
            </a:r>
            <a:endParaRPr lang="en-US" sz="1400" dirty="0"/>
          </a:p>
        </p:txBody>
      </p:sp>
      <p:sp>
        <p:nvSpPr>
          <p:cNvPr id="9" name="4 Marcador de contenido">
            <a:extLst>
              <a:ext uri="{FF2B5EF4-FFF2-40B4-BE49-F238E27FC236}">
                <a16:creationId xmlns:a16="http://schemas.microsoft.com/office/drawing/2014/main" id="{172CEA83-4889-ED5B-CD81-CFD7E4F7E2D9}"/>
              </a:ext>
            </a:extLst>
          </p:cNvPr>
          <p:cNvSpPr txBox="1">
            <a:spLocks/>
          </p:cNvSpPr>
          <p:nvPr/>
        </p:nvSpPr>
        <p:spPr>
          <a:xfrm>
            <a:off x="4355976" y="1306682"/>
            <a:ext cx="4788024"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a:t>¿</a:t>
            </a:r>
            <a:r>
              <a:rPr lang="es-ES" sz="1800" dirty="0"/>
              <a:t>QUÉ HACE?</a:t>
            </a:r>
          </a:p>
          <a:p>
            <a:pPr marL="342900" lvl="1" indent="-342900">
              <a:buFont typeface="Arial" panose="020B0604020202020204" pitchFamily="34" charset="0"/>
              <a:buChar char="•"/>
            </a:pPr>
            <a:r>
              <a:rPr lang="es-ES" sz="1800" dirty="0"/>
              <a:t>Le dice al compilador: "No llames a la función, copia su código aquí directamente"</a:t>
            </a:r>
          </a:p>
          <a:p>
            <a:pPr marL="342900" lvl="1" indent="-342900">
              <a:buFont typeface="Arial" panose="020B0604020202020204" pitchFamily="34" charset="0"/>
              <a:buChar char="•"/>
            </a:pPr>
            <a:r>
              <a:rPr lang="es-ES" sz="1800" dirty="0"/>
              <a:t>CUÁNDO USAR:</a:t>
            </a:r>
          </a:p>
          <a:p>
            <a:pPr marL="342900" lvl="1" indent="-342900">
              <a:buFont typeface="Arial" panose="020B0604020202020204" pitchFamily="34" charset="0"/>
              <a:buChar char="•"/>
            </a:pPr>
            <a:r>
              <a:rPr lang="es-ES" sz="1800" dirty="0"/>
              <a:t>Funciones pequeñas y simples</a:t>
            </a:r>
          </a:p>
          <a:p>
            <a:pPr marL="342900" lvl="1" indent="-342900">
              <a:buFont typeface="Arial" panose="020B0604020202020204" pitchFamily="34" charset="0"/>
              <a:buChar char="•"/>
            </a:pPr>
            <a:r>
              <a:rPr lang="es-ES" sz="1800" dirty="0"/>
              <a:t>Llamadas en </a:t>
            </a:r>
            <a:r>
              <a:rPr lang="es-ES" sz="1800" dirty="0" err="1"/>
              <a:t>loops</a:t>
            </a:r>
            <a:r>
              <a:rPr lang="es-ES" sz="1800" dirty="0"/>
              <a:t> críticos</a:t>
            </a:r>
          </a:p>
          <a:p>
            <a:pPr marL="342900" lvl="1" indent="-342900">
              <a:buFont typeface="Arial" panose="020B0604020202020204" pitchFamily="34" charset="0"/>
              <a:buChar char="•"/>
            </a:pPr>
            <a:r>
              <a:rPr lang="es-ES" sz="1800" dirty="0"/>
              <a:t>Donde el </a:t>
            </a:r>
            <a:r>
              <a:rPr lang="es-ES" sz="1800" dirty="0" err="1"/>
              <a:t>overhead</a:t>
            </a:r>
            <a:r>
              <a:rPr lang="es-ES" sz="1800" dirty="0"/>
              <a:t> de llamada afecta performance</a:t>
            </a:r>
          </a:p>
          <a:p>
            <a:pPr marL="342900" lvl="1" indent="-342900">
              <a:buFont typeface="Arial" panose="020B0604020202020204" pitchFamily="34" charset="0"/>
              <a:buChar char="•"/>
            </a:pPr>
            <a:r>
              <a:rPr lang="es-ES" sz="1800" dirty="0"/>
              <a:t>PRAGMA INLINE = "Copia el código aquí, no llames a la función"</a:t>
            </a:r>
          </a:p>
        </p:txBody>
      </p:sp>
      <p:sp>
        <p:nvSpPr>
          <p:cNvPr id="2" name="CuadroTexto 1">
            <a:extLst>
              <a:ext uri="{FF2B5EF4-FFF2-40B4-BE49-F238E27FC236}">
                <a16:creationId xmlns:a16="http://schemas.microsoft.com/office/drawing/2014/main" id="{55B9B47F-FEFC-F79D-5EA5-1B03E6913301}"/>
              </a:ext>
            </a:extLst>
          </p:cNvPr>
          <p:cNvSpPr txBox="1"/>
          <p:nvPr/>
        </p:nvSpPr>
        <p:spPr>
          <a:xfrm>
            <a:off x="7343135"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sesion4-pragma-inline.sql</a:t>
            </a:r>
            <a:endParaRPr lang="es-ES" dirty="0">
              <a:solidFill>
                <a:srgbClr val="FF6A00"/>
              </a:solidFill>
            </a:endParaRPr>
          </a:p>
        </p:txBody>
      </p:sp>
    </p:spTree>
    <p:extLst>
      <p:ext uri="{BB962C8B-B14F-4D97-AF65-F5344CB8AC3E}">
        <p14:creationId xmlns:p14="http://schemas.microsoft.com/office/powerpoint/2010/main" val="4178251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546B-F4ED-6049-4047-57268D00E83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ABCD46CF-A97F-11AC-C438-EC526C1663BC}"/>
              </a:ext>
            </a:extLst>
          </p:cNvPr>
          <p:cNvSpPr/>
          <p:nvPr/>
        </p:nvSpPr>
        <p:spPr>
          <a:xfrm>
            <a:off x="261636" y="1275606"/>
            <a:ext cx="366229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9A6F0B10-9FE2-AFD7-99C3-946227C1806D}"/>
              </a:ext>
            </a:extLst>
          </p:cNvPr>
          <p:cNvSpPr>
            <a:spLocks noGrp="1"/>
          </p:cNvSpPr>
          <p:nvPr>
            <p:ph idx="1"/>
          </p:nvPr>
        </p:nvSpPr>
        <p:spPr>
          <a:xfrm>
            <a:off x="457200" y="915567"/>
            <a:ext cx="8579296" cy="360040"/>
          </a:xfrm>
        </p:spPr>
        <p:txBody>
          <a:bodyPr>
            <a:normAutofit fontScale="40000" lnSpcReduction="20000"/>
          </a:bodyPr>
          <a:lstStyle/>
          <a:p>
            <a:r>
              <a:rPr lang="es-ES" sz="4400" dirty="0"/>
              <a:t>Crear procedimientos y funciones – PRAGMAS - AUTONOMOUS_TRANSACTION</a:t>
            </a:r>
            <a:endParaRPr lang="es-ES" sz="3200" dirty="0"/>
          </a:p>
          <a:p>
            <a:pPr marL="539750" lvl="3" indent="0">
              <a:buNone/>
              <a:defRPr/>
            </a:pPr>
            <a:endParaRPr lang="es-ES" dirty="0"/>
          </a:p>
        </p:txBody>
      </p:sp>
      <p:sp>
        <p:nvSpPr>
          <p:cNvPr id="4" name="3 Título">
            <a:extLst>
              <a:ext uri="{FF2B5EF4-FFF2-40B4-BE49-F238E27FC236}">
                <a16:creationId xmlns:a16="http://schemas.microsoft.com/office/drawing/2014/main" id="{59069A35-CEBF-52DE-D2AB-3BF9562E3F78}"/>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8992382-40C3-F762-90AC-BD8E19D96CF1}"/>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06A3DB82-019D-0906-976F-77540FD7DB71}"/>
              </a:ext>
            </a:extLst>
          </p:cNvPr>
          <p:cNvSpPr txBox="1"/>
          <p:nvPr/>
        </p:nvSpPr>
        <p:spPr>
          <a:xfrm>
            <a:off x="261636" y="1320007"/>
            <a:ext cx="3545633" cy="1892826"/>
          </a:xfrm>
          <a:prstGeom prst="rect">
            <a:avLst/>
          </a:prstGeom>
          <a:noFill/>
        </p:spPr>
        <p:txBody>
          <a:bodyPr wrap="square">
            <a:spAutoFit/>
          </a:bodyPr>
          <a:lstStyle/>
          <a:p>
            <a:r>
              <a:rPr lang="en-US" sz="1300" dirty="0"/>
              <a:t>CREATE OR REPLACE PROCEDURE </a:t>
            </a:r>
            <a:r>
              <a:rPr lang="en-US" sz="1300" dirty="0" err="1"/>
              <a:t>log_error</a:t>
            </a:r>
            <a:r>
              <a:rPr lang="en-US" sz="1300" dirty="0"/>
              <a:t> IS</a:t>
            </a:r>
          </a:p>
          <a:p>
            <a:r>
              <a:rPr lang="en-US" sz="1300" dirty="0"/>
              <a:t>    PRAGMA AUTONOMOUS_TRANSACTION;  -- ¡</a:t>
            </a:r>
            <a:r>
              <a:rPr lang="en-US" sz="1300" dirty="0" err="1"/>
              <a:t>Aquí</a:t>
            </a:r>
            <a:r>
              <a:rPr lang="en-US" sz="1300" dirty="0"/>
              <a:t> </a:t>
            </a:r>
            <a:r>
              <a:rPr lang="en-US" sz="1300" dirty="0" err="1"/>
              <a:t>está</a:t>
            </a:r>
            <a:r>
              <a:rPr lang="en-US" sz="1300" dirty="0"/>
              <a:t> la </a:t>
            </a:r>
            <a:r>
              <a:rPr lang="en-US" sz="1300" dirty="0" err="1"/>
              <a:t>magia</a:t>
            </a:r>
            <a:r>
              <a:rPr lang="en-US" sz="1300" dirty="0"/>
              <a:t>!</a:t>
            </a:r>
          </a:p>
          <a:p>
            <a:r>
              <a:rPr lang="en-US" sz="1300" dirty="0"/>
              <a:t>BEGIN</a:t>
            </a:r>
          </a:p>
          <a:p>
            <a:r>
              <a:rPr lang="en-US" sz="1300" dirty="0"/>
              <a:t>    INSERT INTO </a:t>
            </a:r>
            <a:r>
              <a:rPr lang="en-US" sz="1300" dirty="0" err="1"/>
              <a:t>errores</a:t>
            </a:r>
            <a:r>
              <a:rPr lang="en-US" sz="1300" dirty="0"/>
              <a:t> VALUES ('Error </a:t>
            </a:r>
            <a:r>
              <a:rPr lang="en-US" sz="1300" dirty="0" err="1"/>
              <a:t>ocurrido</a:t>
            </a:r>
            <a:r>
              <a:rPr lang="en-US" sz="1300" dirty="0"/>
              <a:t>: ' || SYSDATE);</a:t>
            </a:r>
          </a:p>
          <a:p>
            <a:r>
              <a:rPr lang="en-US" sz="1300" dirty="0"/>
              <a:t>    COMMIT;  -- Commit </a:t>
            </a:r>
            <a:r>
              <a:rPr lang="en-US" sz="1300" dirty="0" err="1"/>
              <a:t>independiente</a:t>
            </a:r>
            <a:endParaRPr lang="en-US" sz="1300" dirty="0"/>
          </a:p>
          <a:p>
            <a:r>
              <a:rPr lang="en-US" sz="1300" dirty="0"/>
              <a:t>END;</a:t>
            </a:r>
          </a:p>
          <a:p>
            <a:r>
              <a:rPr lang="en-US" sz="1300" dirty="0"/>
              <a:t>/</a:t>
            </a:r>
            <a:endParaRPr lang="en-US" sz="1400" dirty="0"/>
          </a:p>
        </p:txBody>
      </p:sp>
      <p:sp>
        <p:nvSpPr>
          <p:cNvPr id="9" name="4 Marcador de contenido">
            <a:extLst>
              <a:ext uri="{FF2B5EF4-FFF2-40B4-BE49-F238E27FC236}">
                <a16:creationId xmlns:a16="http://schemas.microsoft.com/office/drawing/2014/main" id="{FCE86335-EC36-A2C6-4599-36F577586FFA}"/>
              </a:ext>
            </a:extLst>
          </p:cNvPr>
          <p:cNvSpPr txBox="1">
            <a:spLocks/>
          </p:cNvSpPr>
          <p:nvPr/>
        </p:nvSpPr>
        <p:spPr>
          <a:xfrm>
            <a:off x="3971490" y="1306682"/>
            <a:ext cx="5172510"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Permite que un procedimiento haga COMMIT/ROLLBACK independiente de la transacción principal.</a:t>
            </a:r>
          </a:p>
          <a:p>
            <a:pPr marL="342900" lvl="1" indent="-342900">
              <a:buFont typeface="Arial" panose="020B0604020202020204" pitchFamily="34" charset="0"/>
              <a:buChar char="•"/>
            </a:pPr>
            <a:r>
              <a:rPr lang="es-ES" sz="1800" dirty="0"/>
              <a:t>Útil para: </a:t>
            </a:r>
            <a:r>
              <a:rPr lang="es-ES" sz="1800" dirty="0" err="1"/>
              <a:t>Logging</a:t>
            </a:r>
            <a:r>
              <a:rPr lang="es-ES" sz="1800" dirty="0"/>
              <a:t>, auditoría, o cualquier operación que debe guardarse sin importar lo que pase después.</a:t>
            </a:r>
          </a:p>
          <a:p>
            <a:pPr marL="342900" lvl="1" indent="-342900">
              <a:buFont typeface="Arial" panose="020B0604020202020204" pitchFamily="34" charset="0"/>
              <a:buChar char="•"/>
            </a:pPr>
            <a:endParaRPr lang="es-ES" sz="1800" dirty="0"/>
          </a:p>
        </p:txBody>
      </p:sp>
    </p:spTree>
    <p:extLst>
      <p:ext uri="{BB962C8B-B14F-4D97-AF65-F5344CB8AC3E}">
        <p14:creationId xmlns:p14="http://schemas.microsoft.com/office/powerpoint/2010/main" val="458784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00137-F82A-4EB8-7120-82312DEFEE82}"/>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168FA49A-8D70-10F2-7A5A-C8C8E475199F}"/>
              </a:ext>
            </a:extLst>
          </p:cNvPr>
          <p:cNvSpPr/>
          <p:nvPr/>
        </p:nvSpPr>
        <p:spPr>
          <a:xfrm>
            <a:off x="261636" y="1275606"/>
            <a:ext cx="366229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29F6C80F-47A6-6A1A-2782-249FC066BDD9}"/>
              </a:ext>
            </a:extLst>
          </p:cNvPr>
          <p:cNvSpPr>
            <a:spLocks noGrp="1"/>
          </p:cNvSpPr>
          <p:nvPr>
            <p:ph idx="1"/>
          </p:nvPr>
        </p:nvSpPr>
        <p:spPr>
          <a:xfrm>
            <a:off x="457200" y="915567"/>
            <a:ext cx="8579296" cy="360040"/>
          </a:xfrm>
        </p:spPr>
        <p:txBody>
          <a:bodyPr>
            <a:normAutofit fontScale="47500" lnSpcReduction="20000"/>
          </a:bodyPr>
          <a:lstStyle/>
          <a:p>
            <a:r>
              <a:rPr lang="es-ES" sz="4400" dirty="0"/>
              <a:t>Crear procedimientos y funciones – PRAGMAS - UDF</a:t>
            </a:r>
            <a:endParaRPr lang="es-ES" sz="3200" dirty="0"/>
          </a:p>
          <a:p>
            <a:pPr marL="539750" lvl="3" indent="0">
              <a:buNone/>
              <a:defRPr/>
            </a:pPr>
            <a:endParaRPr lang="es-ES" dirty="0"/>
          </a:p>
        </p:txBody>
      </p:sp>
      <p:sp>
        <p:nvSpPr>
          <p:cNvPr id="4" name="3 Título">
            <a:extLst>
              <a:ext uri="{FF2B5EF4-FFF2-40B4-BE49-F238E27FC236}">
                <a16:creationId xmlns:a16="http://schemas.microsoft.com/office/drawing/2014/main" id="{1053F121-A7C1-C9DE-EC5B-1AB43AC626A2}"/>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A0CD9B3-F254-96CD-D633-0DC86E3ED601}"/>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79EFED2C-4AFE-99B2-57ED-BBA60C921A1D}"/>
              </a:ext>
            </a:extLst>
          </p:cNvPr>
          <p:cNvSpPr txBox="1"/>
          <p:nvPr/>
        </p:nvSpPr>
        <p:spPr>
          <a:xfrm>
            <a:off x="261636" y="1320007"/>
            <a:ext cx="3545633" cy="1892826"/>
          </a:xfrm>
          <a:prstGeom prst="rect">
            <a:avLst/>
          </a:prstGeom>
          <a:noFill/>
        </p:spPr>
        <p:txBody>
          <a:bodyPr wrap="square">
            <a:spAutoFit/>
          </a:bodyPr>
          <a:lstStyle/>
          <a:p>
            <a:r>
              <a:rPr lang="en-US" sz="1300" dirty="0"/>
              <a:t>CREATE OR REPLACE FUNCTION </a:t>
            </a:r>
            <a:r>
              <a:rPr lang="en-US" sz="1300" dirty="0" err="1"/>
              <a:t>calcular_descuento_udf</a:t>
            </a:r>
            <a:r>
              <a:rPr lang="en-US" sz="1300" dirty="0"/>
              <a:t>(</a:t>
            </a:r>
          </a:p>
          <a:p>
            <a:r>
              <a:rPr lang="en-US" sz="1300" dirty="0"/>
              <a:t>    </a:t>
            </a:r>
            <a:r>
              <a:rPr lang="en-US" sz="1300" dirty="0" err="1"/>
              <a:t>p_monto</a:t>
            </a:r>
            <a:r>
              <a:rPr lang="en-US" sz="1300" dirty="0"/>
              <a:t> NUMBER</a:t>
            </a:r>
          </a:p>
          <a:p>
            <a:r>
              <a:rPr lang="en-US" sz="1300" dirty="0"/>
              <a:t>) RETURN NUMBER IS</a:t>
            </a:r>
          </a:p>
          <a:p>
            <a:r>
              <a:rPr lang="en-US" sz="1300" dirty="0"/>
              <a:t>    PRAGMA UDF;  -- ¡</a:t>
            </a:r>
            <a:r>
              <a:rPr lang="en-US" sz="1300" dirty="0" err="1"/>
              <a:t>Optimización</a:t>
            </a:r>
            <a:r>
              <a:rPr lang="en-US" sz="1300" dirty="0"/>
              <a:t> para SQL!</a:t>
            </a:r>
          </a:p>
          <a:p>
            <a:r>
              <a:rPr lang="en-US" sz="1300" dirty="0"/>
              <a:t>BEGIN</a:t>
            </a:r>
          </a:p>
          <a:p>
            <a:r>
              <a:rPr lang="en-US" sz="1300" dirty="0"/>
              <a:t>    RETURN </a:t>
            </a:r>
            <a:r>
              <a:rPr lang="en-US" sz="1300" dirty="0" err="1"/>
              <a:t>p_monto</a:t>
            </a:r>
            <a:r>
              <a:rPr lang="en-US" sz="1300" dirty="0"/>
              <a:t> * 0.10;</a:t>
            </a:r>
          </a:p>
          <a:p>
            <a:r>
              <a:rPr lang="en-US" sz="1300" dirty="0"/>
              <a:t>END;</a:t>
            </a:r>
          </a:p>
          <a:p>
            <a:r>
              <a:rPr lang="en-US" sz="1300" dirty="0"/>
              <a:t>/</a:t>
            </a:r>
            <a:endParaRPr lang="en-US" sz="1400" dirty="0"/>
          </a:p>
        </p:txBody>
      </p:sp>
      <p:sp>
        <p:nvSpPr>
          <p:cNvPr id="9" name="4 Marcador de contenido">
            <a:extLst>
              <a:ext uri="{FF2B5EF4-FFF2-40B4-BE49-F238E27FC236}">
                <a16:creationId xmlns:a16="http://schemas.microsoft.com/office/drawing/2014/main" id="{129ABA64-6929-830A-13C3-492AC9DD0163}"/>
              </a:ext>
            </a:extLst>
          </p:cNvPr>
          <p:cNvSpPr txBox="1">
            <a:spLocks/>
          </p:cNvSpPr>
          <p:nvPr/>
        </p:nvSpPr>
        <p:spPr>
          <a:xfrm>
            <a:off x="3971490" y="1306682"/>
            <a:ext cx="5172510"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PRAGMA UDF (si tu versión Oracle lo soporta)</a:t>
            </a:r>
          </a:p>
          <a:p>
            <a:pPr marL="342900" lvl="1" indent="-342900">
              <a:buFont typeface="Arial" panose="020B0604020202020204" pitchFamily="34" charset="0"/>
              <a:buChar char="•"/>
            </a:pPr>
            <a:r>
              <a:rPr lang="es-ES" dirty="0"/>
              <a:t>Optimiza funciones para uso en SQL. Las hace más rápidas cuando se llaman desde consultas SQL (no desde PL/SQL).</a:t>
            </a:r>
          </a:p>
          <a:p>
            <a:pPr marL="342900" lvl="1" indent="-342900">
              <a:buFont typeface="Arial" panose="020B0604020202020204" pitchFamily="34" charset="0"/>
              <a:buChar char="•"/>
            </a:pPr>
            <a:r>
              <a:rPr lang="es-ES" dirty="0"/>
              <a:t>Contexto SQL → Se ejecuta DIRECTAMENTE en el motor SQL</a:t>
            </a:r>
          </a:p>
          <a:p>
            <a:pPr marL="342900" lvl="1" indent="-342900">
              <a:buFont typeface="Arial" panose="020B0604020202020204" pitchFamily="34" charset="0"/>
              <a:buChar char="•"/>
            </a:pPr>
            <a:r>
              <a:rPr lang="es-ES" dirty="0"/>
              <a:t>Sin cambios entre motores = Más rápido</a:t>
            </a:r>
          </a:p>
          <a:p>
            <a:pPr marL="342900" lvl="1" indent="-342900">
              <a:buFont typeface="Arial" panose="020B0604020202020204" pitchFamily="34" charset="0"/>
              <a:buChar char="•"/>
            </a:pPr>
            <a:endParaRPr lang="es-ES" dirty="0"/>
          </a:p>
        </p:txBody>
      </p:sp>
      <p:sp>
        <p:nvSpPr>
          <p:cNvPr id="2" name="CuadroTexto 1">
            <a:extLst>
              <a:ext uri="{FF2B5EF4-FFF2-40B4-BE49-F238E27FC236}">
                <a16:creationId xmlns:a16="http://schemas.microsoft.com/office/drawing/2014/main" id="{2360C1F4-4EC2-5E85-DDCD-8784581C5911}"/>
              </a:ext>
            </a:extLst>
          </p:cNvPr>
          <p:cNvSpPr txBox="1"/>
          <p:nvPr/>
        </p:nvSpPr>
        <p:spPr>
          <a:xfrm>
            <a:off x="7343135"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sesion4-pragma-udf.sql</a:t>
            </a:r>
            <a:endParaRPr lang="es-ES" dirty="0">
              <a:solidFill>
                <a:srgbClr val="FF6A00"/>
              </a:solidFill>
            </a:endParaRPr>
          </a:p>
        </p:txBody>
      </p:sp>
    </p:spTree>
    <p:extLst>
      <p:ext uri="{BB962C8B-B14F-4D97-AF65-F5344CB8AC3E}">
        <p14:creationId xmlns:p14="http://schemas.microsoft.com/office/powerpoint/2010/main" val="699609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E6C0-66B0-E5B4-8191-11A04A2BC99C}"/>
            </a:ext>
          </a:extLst>
        </p:cNvPr>
        <p:cNvGrpSpPr/>
        <p:nvPr/>
      </p:nvGrpSpPr>
      <p:grpSpPr>
        <a:xfrm>
          <a:off x="0" y="0"/>
          <a:ext cx="0" cy="0"/>
          <a:chOff x="0" y="0"/>
          <a:chExt cx="0" cy="0"/>
        </a:xfrm>
      </p:grpSpPr>
      <p:sp>
        <p:nvSpPr>
          <p:cNvPr id="5" name="4 Título">
            <a:extLst>
              <a:ext uri="{FF2B5EF4-FFF2-40B4-BE49-F238E27FC236}">
                <a16:creationId xmlns:a16="http://schemas.microsoft.com/office/drawing/2014/main" id="{D636D0D6-BAE0-1B47-20C1-84D21CEB796F}"/>
              </a:ext>
            </a:extLst>
          </p:cNvPr>
          <p:cNvSpPr>
            <a:spLocks noGrp="1"/>
          </p:cNvSpPr>
          <p:nvPr>
            <p:ph type="title"/>
          </p:nvPr>
        </p:nvSpPr>
        <p:spPr/>
        <p:txBody>
          <a:bodyPr/>
          <a:lstStyle/>
          <a:p>
            <a:r>
              <a:rPr lang="es-ES_tradnl" dirty="0"/>
              <a:t>Optimización de flujos de ejecución</a:t>
            </a:r>
            <a:endParaRPr lang="es-ES" dirty="0"/>
          </a:p>
        </p:txBody>
      </p:sp>
      <p:sp>
        <p:nvSpPr>
          <p:cNvPr id="6" name="5 Marcador de texto">
            <a:extLst>
              <a:ext uri="{FF2B5EF4-FFF2-40B4-BE49-F238E27FC236}">
                <a16:creationId xmlns:a16="http://schemas.microsoft.com/office/drawing/2014/main" id="{59092E20-12AB-1CAA-186C-9F17195F90A0}"/>
              </a:ext>
            </a:extLst>
          </p:cNvPr>
          <p:cNvSpPr>
            <a:spLocks noGrp="1"/>
          </p:cNvSpPr>
          <p:nvPr>
            <p:ph type="body" sz="quarter" idx="10"/>
          </p:nvPr>
        </p:nvSpPr>
        <p:spPr/>
        <p:txBody>
          <a:bodyPr/>
          <a:lstStyle/>
          <a:p>
            <a:r>
              <a:rPr lang="es-ES" dirty="0"/>
              <a:t>2.</a:t>
            </a:r>
          </a:p>
        </p:txBody>
      </p:sp>
    </p:spTree>
    <p:extLst>
      <p:ext uri="{BB962C8B-B14F-4D97-AF65-F5344CB8AC3E}">
        <p14:creationId xmlns:p14="http://schemas.microsoft.com/office/powerpoint/2010/main" val="4097175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FE9B9-4D0D-EFCA-373A-C8A928AA17DD}"/>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FCE30091-187A-69A3-6F20-B483A786B34D}"/>
              </a:ext>
            </a:extLst>
          </p:cNvPr>
          <p:cNvSpPr>
            <a:spLocks noGrp="1"/>
          </p:cNvSpPr>
          <p:nvPr>
            <p:ph idx="1"/>
          </p:nvPr>
        </p:nvSpPr>
        <p:spPr>
          <a:xfrm>
            <a:off x="457200" y="915566"/>
            <a:ext cx="8229600" cy="4032448"/>
          </a:xfrm>
        </p:spPr>
        <p:txBody>
          <a:bodyPr>
            <a:normAutofit/>
          </a:bodyPr>
          <a:lstStyle/>
          <a:p>
            <a:r>
              <a:rPr lang="es-ES" dirty="0"/>
              <a:t>¿Qué es DBMS_PARALLEL_EXECUTE?</a:t>
            </a:r>
          </a:p>
          <a:p>
            <a:pPr lvl="1"/>
            <a:r>
              <a:rPr lang="es-ES" sz="1600" dirty="0"/>
              <a:t>Oracle permite:</a:t>
            </a:r>
          </a:p>
          <a:p>
            <a:pPr marL="285750" lvl="1" indent="-285750">
              <a:buFont typeface="Arial" panose="020B0604020202020204" pitchFamily="34" charset="0"/>
              <a:buChar char="•"/>
            </a:pPr>
            <a:r>
              <a:rPr lang="es-ES" sz="1600" dirty="0"/>
              <a:t>Dividir una tabla grande en trozos (</a:t>
            </a:r>
            <a:r>
              <a:rPr lang="es-ES" sz="1600" dirty="0" err="1"/>
              <a:t>chunks</a:t>
            </a:r>
            <a:r>
              <a:rPr lang="es-ES" sz="1600" dirty="0"/>
              <a:t>)</a:t>
            </a:r>
          </a:p>
          <a:p>
            <a:pPr marL="285750" lvl="1" indent="-285750">
              <a:buFont typeface="Arial" panose="020B0604020202020204" pitchFamily="34" charset="0"/>
              <a:buChar char="•"/>
            </a:pPr>
            <a:r>
              <a:rPr lang="es-ES" sz="1600" dirty="0"/>
              <a:t>Ejecutar un mismo comando SQL sobre cada </a:t>
            </a:r>
            <a:r>
              <a:rPr lang="es-ES" sz="1600" dirty="0" err="1"/>
              <a:t>chunk</a:t>
            </a:r>
            <a:r>
              <a:rPr lang="es-ES" sz="1600" dirty="0"/>
              <a:t> en paralelo</a:t>
            </a:r>
          </a:p>
          <a:p>
            <a:pPr marL="285750" lvl="1" indent="-285750">
              <a:buFont typeface="Arial" panose="020B0604020202020204" pitchFamily="34" charset="0"/>
              <a:buChar char="•"/>
            </a:pPr>
            <a:r>
              <a:rPr lang="es-ES" sz="1600" dirty="0"/>
              <a:t>Reintentar </a:t>
            </a:r>
            <a:r>
              <a:rPr lang="es-ES" sz="1600" dirty="0" err="1"/>
              <a:t>chunks</a:t>
            </a:r>
            <a:r>
              <a:rPr lang="es-ES" sz="1600" dirty="0"/>
              <a:t> fallidos automáticamente</a:t>
            </a:r>
          </a:p>
          <a:p>
            <a:pPr marL="285750" lvl="1" indent="-285750">
              <a:buFont typeface="Arial" panose="020B0604020202020204" pitchFamily="34" charset="0"/>
              <a:buChar char="•"/>
            </a:pPr>
            <a:r>
              <a:rPr lang="es-ES" sz="1600" dirty="0"/>
              <a:t>Reanudar ejecuciones sin empezar desde cero</a:t>
            </a:r>
          </a:p>
          <a:p>
            <a:pPr marL="285750" lvl="1" indent="-285750">
              <a:buFont typeface="Arial" panose="020B0604020202020204" pitchFamily="34" charset="0"/>
              <a:buChar char="•"/>
            </a:pPr>
            <a:endParaRPr lang="es-ES" sz="1600" dirty="0"/>
          </a:p>
          <a:p>
            <a:pPr lvl="1"/>
            <a:r>
              <a:rPr lang="es-ES" sz="1600" dirty="0"/>
              <a:t>LOS 3 PASOS DEL PARALELISMO</a:t>
            </a:r>
          </a:p>
          <a:p>
            <a:pPr marL="285750" lvl="1" indent="-285750">
              <a:buFont typeface="Arial" panose="020B0604020202020204" pitchFamily="34" charset="0"/>
              <a:buChar char="•"/>
            </a:pPr>
            <a:r>
              <a:rPr lang="es-ES" sz="1600" dirty="0"/>
              <a:t>Crear una tarea paralela</a:t>
            </a:r>
          </a:p>
          <a:p>
            <a:pPr marL="285750" lvl="1" indent="-285750">
              <a:buFont typeface="Arial" panose="020B0604020202020204" pitchFamily="34" charset="0"/>
              <a:buChar char="•"/>
            </a:pPr>
            <a:r>
              <a:rPr lang="es-ES" sz="1600" dirty="0"/>
              <a:t>Dividir la tabla en </a:t>
            </a:r>
            <a:r>
              <a:rPr lang="es-ES" sz="1600" dirty="0" err="1"/>
              <a:t>chunks</a:t>
            </a:r>
            <a:endParaRPr lang="es-ES" sz="1600" dirty="0"/>
          </a:p>
          <a:p>
            <a:pPr marL="285750" lvl="1" indent="-285750">
              <a:buFont typeface="Arial" panose="020B0604020202020204" pitchFamily="34" charset="0"/>
              <a:buChar char="•"/>
            </a:pPr>
            <a:r>
              <a:rPr lang="es-ES" sz="1600" dirty="0"/>
              <a:t>Ejecutar el comando sobre cada </a:t>
            </a:r>
            <a:r>
              <a:rPr lang="es-ES" sz="1600" dirty="0" err="1"/>
              <a:t>chunk</a:t>
            </a:r>
            <a:r>
              <a:rPr lang="es-ES" sz="1600" dirty="0"/>
              <a:t> en paralelo</a:t>
            </a:r>
          </a:p>
        </p:txBody>
      </p:sp>
      <p:sp>
        <p:nvSpPr>
          <p:cNvPr id="4" name="3 Título">
            <a:extLst>
              <a:ext uri="{FF2B5EF4-FFF2-40B4-BE49-F238E27FC236}">
                <a16:creationId xmlns:a16="http://schemas.microsoft.com/office/drawing/2014/main" id="{7F3AA34F-AE41-908A-A33D-63DC01B3666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4037A3A6-2121-1782-4C94-CAB1D8B0460A}"/>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2" name="CuadroTexto 1">
            <a:extLst>
              <a:ext uri="{FF2B5EF4-FFF2-40B4-BE49-F238E27FC236}">
                <a16:creationId xmlns:a16="http://schemas.microsoft.com/office/drawing/2014/main" id="{88683124-B580-52EF-1227-1AAF8C1554BD}"/>
              </a:ext>
            </a:extLst>
          </p:cNvPr>
          <p:cNvSpPr txBox="1"/>
          <p:nvPr/>
        </p:nvSpPr>
        <p:spPr>
          <a:xfrm>
            <a:off x="6948264" y="4731990"/>
            <a:ext cx="2168949" cy="246221"/>
          </a:xfrm>
          <a:prstGeom prst="rect">
            <a:avLst/>
          </a:prstGeom>
          <a:noFill/>
        </p:spPr>
        <p:txBody>
          <a:bodyPr wrap="square">
            <a:spAutoFit/>
          </a:bodyPr>
          <a:lstStyle/>
          <a:p>
            <a:pPr algn="l"/>
            <a:r>
              <a:rPr lang="es-ES" sz="1000" b="0" i="0" dirty="0">
                <a:solidFill>
                  <a:srgbClr val="FF6A00"/>
                </a:solidFill>
                <a:effectLst/>
                <a:latin typeface="-apple-system"/>
              </a:rPr>
              <a:t>sesion4-dbms_parallel_executef.sql</a:t>
            </a:r>
            <a:endParaRPr lang="es-ES" dirty="0">
              <a:solidFill>
                <a:srgbClr val="FF6A00"/>
              </a:solidFill>
            </a:endParaRPr>
          </a:p>
        </p:txBody>
      </p:sp>
    </p:spTree>
    <p:extLst>
      <p:ext uri="{BB962C8B-B14F-4D97-AF65-F5344CB8AC3E}">
        <p14:creationId xmlns:p14="http://schemas.microsoft.com/office/powerpoint/2010/main" val="840554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49A68-0650-AE97-B0B7-85D1DCD480B5}"/>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5BCC51F7-278F-B810-C5F5-79DC6353FBAF}"/>
              </a:ext>
            </a:extLst>
          </p:cNvPr>
          <p:cNvSpPr/>
          <p:nvPr/>
        </p:nvSpPr>
        <p:spPr>
          <a:xfrm>
            <a:off x="261635" y="1275606"/>
            <a:ext cx="5193285"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800EDC7A-3E0B-6894-A228-7CDC93C22DBE}"/>
              </a:ext>
            </a:extLst>
          </p:cNvPr>
          <p:cNvSpPr>
            <a:spLocks noGrp="1"/>
          </p:cNvSpPr>
          <p:nvPr>
            <p:ph idx="1"/>
          </p:nvPr>
        </p:nvSpPr>
        <p:spPr>
          <a:xfrm>
            <a:off x="457200" y="915567"/>
            <a:ext cx="8579296" cy="360040"/>
          </a:xfrm>
        </p:spPr>
        <p:txBody>
          <a:bodyPr>
            <a:normAutofit fontScale="47500" lnSpcReduction="20000"/>
          </a:bodyPr>
          <a:lstStyle/>
          <a:p>
            <a:r>
              <a:rPr lang="es-ES" sz="4400" dirty="0"/>
              <a:t>DBMS_PARALLEL_EXECUTE</a:t>
            </a:r>
            <a:endParaRPr lang="es-ES" dirty="0"/>
          </a:p>
        </p:txBody>
      </p:sp>
      <p:sp>
        <p:nvSpPr>
          <p:cNvPr id="4" name="3 Título">
            <a:extLst>
              <a:ext uri="{FF2B5EF4-FFF2-40B4-BE49-F238E27FC236}">
                <a16:creationId xmlns:a16="http://schemas.microsoft.com/office/drawing/2014/main" id="{627672BE-EC82-3205-FE79-4FB89083A30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870B057-8759-4AD9-6CD1-56790976D37B}"/>
              </a:ext>
            </a:extLst>
          </p:cNvPr>
          <p:cNvSpPr>
            <a:spLocks noGrp="1"/>
          </p:cNvSpPr>
          <p:nvPr>
            <p:ph type="body" sz="quarter" idx="14"/>
          </p:nvPr>
        </p:nvSpPr>
        <p:spPr/>
        <p:txBody>
          <a:bodyPr>
            <a:normAutofit fontScale="62500" lnSpcReduction="20000"/>
          </a:bodyPr>
          <a:lstStyle/>
          <a:p>
            <a:r>
              <a:rPr lang="es-ES" dirty="0"/>
              <a:t>Procedimientos, funciones y paquetes</a:t>
            </a:r>
          </a:p>
        </p:txBody>
      </p:sp>
      <p:sp>
        <p:nvSpPr>
          <p:cNvPr id="12" name="CuadroTexto 11">
            <a:extLst>
              <a:ext uri="{FF2B5EF4-FFF2-40B4-BE49-F238E27FC236}">
                <a16:creationId xmlns:a16="http://schemas.microsoft.com/office/drawing/2014/main" id="{0F0453FB-2352-558A-845F-297055712CD6}"/>
              </a:ext>
            </a:extLst>
          </p:cNvPr>
          <p:cNvSpPr txBox="1"/>
          <p:nvPr/>
        </p:nvSpPr>
        <p:spPr>
          <a:xfrm>
            <a:off x="261636" y="1320007"/>
            <a:ext cx="5102452" cy="3093154"/>
          </a:xfrm>
          <a:prstGeom prst="rect">
            <a:avLst/>
          </a:prstGeom>
          <a:noFill/>
        </p:spPr>
        <p:txBody>
          <a:bodyPr wrap="square">
            <a:spAutoFit/>
          </a:bodyPr>
          <a:lstStyle/>
          <a:p>
            <a:r>
              <a:rPr lang="en-US" sz="1300" dirty="0"/>
              <a:t>BEGIN</a:t>
            </a:r>
          </a:p>
          <a:p>
            <a:r>
              <a:rPr lang="en-US" sz="1300" dirty="0"/>
              <a:t>  DBMS_PARALLEL_EXECUTE.CREATE_TASK('</a:t>
            </a:r>
            <a:r>
              <a:rPr lang="en-US" sz="1300" dirty="0" err="1"/>
              <a:t>task_update_status</a:t>
            </a:r>
            <a:r>
              <a:rPr lang="en-US" sz="1300" dirty="0"/>
              <a:t>');</a:t>
            </a:r>
          </a:p>
          <a:p>
            <a:r>
              <a:rPr lang="en-US" sz="1300" dirty="0"/>
              <a:t>END;</a:t>
            </a:r>
          </a:p>
          <a:p>
            <a:r>
              <a:rPr lang="en-US" sz="1300" dirty="0"/>
              <a:t>/ </a:t>
            </a:r>
          </a:p>
          <a:p>
            <a:r>
              <a:rPr lang="en-US" sz="1300" dirty="0"/>
              <a:t>BEGIN</a:t>
            </a:r>
          </a:p>
          <a:p>
            <a:r>
              <a:rPr lang="en-US" sz="1300" dirty="0"/>
              <a:t>  DBMS_PARALLEL_EXECUTE.CREATE_CHUNKS_BY_ROWID ..</a:t>
            </a:r>
          </a:p>
          <a:p>
            <a:r>
              <a:rPr lang="en-US" sz="1300" dirty="0"/>
              <a:t>END;</a:t>
            </a:r>
          </a:p>
          <a:p>
            <a:r>
              <a:rPr lang="en-US" sz="1300" dirty="0"/>
              <a:t>/</a:t>
            </a:r>
          </a:p>
          <a:p>
            <a:r>
              <a:rPr lang="en-US" sz="1300" dirty="0"/>
              <a:t>BEGIN</a:t>
            </a:r>
          </a:p>
          <a:p>
            <a:r>
              <a:rPr lang="en-US" sz="1300" dirty="0"/>
              <a:t>  DBMS_PARALLEL_EXECUTE.RUN_TASK…</a:t>
            </a:r>
          </a:p>
          <a:p>
            <a:r>
              <a:rPr lang="en-US" sz="1300" dirty="0"/>
              <a:t>END;</a:t>
            </a:r>
          </a:p>
          <a:p>
            <a:r>
              <a:rPr lang="en-US" sz="1300" dirty="0"/>
              <a:t>/</a:t>
            </a:r>
          </a:p>
          <a:p>
            <a:r>
              <a:rPr lang="en-US" sz="1300" dirty="0"/>
              <a:t>BEGIN</a:t>
            </a:r>
          </a:p>
          <a:p>
            <a:r>
              <a:rPr lang="en-US" sz="1300" dirty="0"/>
              <a:t>  DBMS_PARALLEL_EXECUTE.DROP_TASK('</a:t>
            </a:r>
            <a:r>
              <a:rPr lang="en-US" sz="1300" dirty="0" err="1"/>
              <a:t>task_update_status</a:t>
            </a:r>
            <a:r>
              <a:rPr lang="en-US" sz="1300" dirty="0"/>
              <a:t>');</a:t>
            </a:r>
          </a:p>
          <a:p>
            <a:r>
              <a:rPr lang="en-US" sz="1300" dirty="0"/>
              <a:t>END;</a:t>
            </a:r>
          </a:p>
        </p:txBody>
      </p:sp>
      <p:sp>
        <p:nvSpPr>
          <p:cNvPr id="9" name="4 Marcador de contenido">
            <a:extLst>
              <a:ext uri="{FF2B5EF4-FFF2-40B4-BE49-F238E27FC236}">
                <a16:creationId xmlns:a16="http://schemas.microsoft.com/office/drawing/2014/main" id="{7FD64122-A475-AE59-D2EC-EBC30072B0C2}"/>
              </a:ext>
            </a:extLst>
          </p:cNvPr>
          <p:cNvSpPr txBox="1">
            <a:spLocks/>
          </p:cNvSpPr>
          <p:nvPr/>
        </p:nvSpPr>
        <p:spPr>
          <a:xfrm>
            <a:off x="5481708" y="1306682"/>
            <a:ext cx="3662292"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Este método:</a:t>
            </a:r>
          </a:p>
          <a:p>
            <a:pPr marL="877888" lvl="2" indent="-342900"/>
            <a:r>
              <a:rPr lang="es-ES" sz="1600" dirty="0"/>
              <a:t>No requiere particiones</a:t>
            </a:r>
          </a:p>
          <a:p>
            <a:pPr marL="877888" lvl="2" indent="-342900"/>
            <a:r>
              <a:rPr lang="es-ES" sz="1600" dirty="0"/>
              <a:t>No usa paralelismo SQL (PARALLEL() </a:t>
            </a:r>
            <a:r>
              <a:rPr lang="es-ES" sz="1600" dirty="0" err="1"/>
              <a:t>hint</a:t>
            </a:r>
            <a:r>
              <a:rPr lang="es-ES" sz="1600" dirty="0"/>
              <a:t>)</a:t>
            </a:r>
          </a:p>
          <a:p>
            <a:pPr marL="877888" lvl="2" indent="-342900"/>
            <a:r>
              <a:rPr lang="es-ES" sz="1600" dirty="0"/>
              <a:t>Funciona con PL/SQL complejo también</a:t>
            </a:r>
          </a:p>
          <a:p>
            <a:pPr marL="877888" lvl="2" indent="-342900"/>
            <a:r>
              <a:rPr lang="es-ES" sz="1600" dirty="0"/>
              <a:t>Aísla errores por </a:t>
            </a:r>
            <a:r>
              <a:rPr lang="es-ES" sz="1600" dirty="0" err="1"/>
              <a:t>chunk</a:t>
            </a:r>
            <a:r>
              <a:rPr lang="es-ES" sz="1600" dirty="0"/>
              <a:t> (muy útil)</a:t>
            </a:r>
          </a:p>
          <a:p>
            <a:pPr marL="877888" lvl="2" indent="-342900"/>
            <a:r>
              <a:rPr lang="es-ES" sz="1600" dirty="0"/>
              <a:t>Permite reanudar una ejecución fallida</a:t>
            </a:r>
            <a:endParaRPr lang="es-ES" dirty="0"/>
          </a:p>
        </p:txBody>
      </p:sp>
    </p:spTree>
    <p:extLst>
      <p:ext uri="{BB962C8B-B14F-4D97-AF65-F5344CB8AC3E}">
        <p14:creationId xmlns:p14="http://schemas.microsoft.com/office/powerpoint/2010/main" val="2599389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ES" dirty="0"/>
              <a:t>¡Muchas Gracias!</a:t>
            </a:r>
          </a:p>
        </p:txBody>
      </p:sp>
    </p:spTree>
  </p:cSld>
  <p:clrMapOvr>
    <a:masterClrMapping/>
  </p:clrMapOvr>
</p:sld>
</file>

<file path=ppt/theme/theme1.xml><?xml version="1.0" encoding="utf-8"?>
<a:theme xmlns:a="http://schemas.openxmlformats.org/drawingml/2006/main" name="Plantilla TICARUM 2017 v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TICARUM 2017 v1.1</Template>
  <TotalTime>7590</TotalTime>
  <Words>3562</Words>
  <Application>Microsoft Office PowerPoint</Application>
  <PresentationFormat>Presentación en pantalla (16:9)</PresentationFormat>
  <Paragraphs>457</Paragraphs>
  <Slides>32</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-apple-system</vt:lpstr>
      <vt:lpstr>Arial</vt:lpstr>
      <vt:lpstr>Calibri</vt:lpstr>
      <vt:lpstr>Calibri Light</vt:lpstr>
      <vt:lpstr>Segoe UI</vt:lpstr>
      <vt:lpstr>Plantilla TICARUM 2017 v1.0</vt:lpstr>
      <vt:lpstr>Análisis y optimización de consultas en Oracle SQL y PL/SQL </vt:lpstr>
      <vt:lpstr>Análisis y optimización de consultas en Oracle SQL y PL/SQL</vt:lpstr>
      <vt:lpstr>Análisis y optimización de consultas en Oracle SQL y PL/SQL</vt:lpstr>
      <vt:lpstr>Procedimientos, funciones y paquetes</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Optimización de flujos de ejecución</vt:lpstr>
      <vt:lpstr>Análisis y optimización de consultas en Oracle SQL y PL/SQL</vt:lpstr>
      <vt:lpstr>Análisis y optimización de consultas en Oracle SQL y PL/SQL</vt:lpstr>
      <vt:lpstr>¡Muchas Gracias!</vt:lpstr>
    </vt:vector>
  </TitlesOfParts>
  <Company>Universidad de Murcia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MUNUERA RUIZ</dc:creator>
  <cp:lastModifiedBy>PEDRO MUNUERA RUIZ</cp:lastModifiedBy>
  <cp:revision>83</cp:revision>
  <dcterms:created xsi:type="dcterms:W3CDTF">2025-10-27T20:26:45Z</dcterms:created>
  <dcterms:modified xsi:type="dcterms:W3CDTF">2025-11-18T07:46:25Z</dcterms:modified>
</cp:coreProperties>
</file>