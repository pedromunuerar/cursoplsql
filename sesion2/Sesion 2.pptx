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6" r:id="rId2"/>
    <p:sldId id="265" r:id="rId3"/>
    <p:sldId id="266" r:id="rId4"/>
    <p:sldId id="258" r:id="rId5"/>
    <p:sldId id="263" r:id="rId6"/>
    <p:sldId id="306" r:id="rId7"/>
    <p:sldId id="311" r:id="rId8"/>
    <p:sldId id="312" r:id="rId9"/>
    <p:sldId id="313" r:id="rId10"/>
    <p:sldId id="314" r:id="rId11"/>
    <p:sldId id="315" r:id="rId12"/>
    <p:sldId id="316" r:id="rId13"/>
    <p:sldId id="317" r:id="rId14"/>
    <p:sldId id="318" r:id="rId15"/>
    <p:sldId id="319" r:id="rId16"/>
    <p:sldId id="277" r:id="rId17"/>
    <p:sldId id="321" r:id="rId18"/>
    <p:sldId id="323" r:id="rId19"/>
    <p:sldId id="325" r:id="rId20"/>
    <p:sldId id="326" r:id="rId21"/>
    <p:sldId id="327" r:id="rId22"/>
    <p:sldId id="328" r:id="rId23"/>
    <p:sldId id="329" r:id="rId24"/>
    <p:sldId id="330" r:id="rId25"/>
    <p:sldId id="332" r:id="rId26"/>
    <p:sldId id="331" r:id="rId27"/>
    <p:sldId id="333" r:id="rId28"/>
    <p:sldId id="334" r:id="rId29"/>
    <p:sldId id="336" r:id="rId30"/>
    <p:sldId id="335" r:id="rId31"/>
    <p:sldId id="337" r:id="rId32"/>
    <p:sldId id="338" r:id="rId33"/>
    <p:sldId id="340" r:id="rId34"/>
    <p:sldId id="341" r:id="rId35"/>
    <p:sldId id="339" r:id="rId36"/>
    <p:sldId id="342" r:id="rId37"/>
    <p:sldId id="343" r:id="rId38"/>
    <p:sldId id="344" r:id="rId39"/>
    <p:sldId id="347" r:id="rId40"/>
    <p:sldId id="346" r:id="rId41"/>
    <p:sldId id="348" r:id="rId42"/>
    <p:sldId id="349" r:id="rId43"/>
    <p:sldId id="350" r:id="rId44"/>
    <p:sldId id="351" r:id="rId45"/>
    <p:sldId id="352" r:id="rId46"/>
    <p:sldId id="353" r:id="rId47"/>
    <p:sldId id="354" r:id="rId48"/>
    <p:sldId id="355" r:id="rId49"/>
    <p:sldId id="356" r:id="rId50"/>
    <p:sldId id="357" r:id="rId51"/>
    <p:sldId id="358" r:id="rId52"/>
    <p:sldId id="359" r:id="rId53"/>
    <p:sldId id="360" r:id="rId54"/>
    <p:sldId id="361" r:id="rId55"/>
    <p:sldId id="362" r:id="rId56"/>
    <p:sldId id="363" r:id="rId57"/>
    <p:sldId id="365" r:id="rId58"/>
    <p:sldId id="364" r:id="rId59"/>
    <p:sldId id="367" r:id="rId60"/>
    <p:sldId id="368" r:id="rId61"/>
    <p:sldId id="369" r:id="rId62"/>
    <p:sldId id="366" r:id="rId63"/>
    <p:sldId id="370" r:id="rId64"/>
    <p:sldId id="371" r:id="rId65"/>
    <p:sldId id="372" r:id="rId66"/>
    <p:sldId id="373" r:id="rId67"/>
    <p:sldId id="375" r:id="rId68"/>
    <p:sldId id="378" r:id="rId69"/>
    <p:sldId id="379" r:id="rId70"/>
    <p:sldId id="380" r:id="rId71"/>
    <p:sldId id="376" r:id="rId72"/>
    <p:sldId id="377" r:id="rId73"/>
    <p:sldId id="381" r:id="rId74"/>
    <p:sldId id="382" r:id="rId75"/>
    <p:sldId id="374" r:id="rId76"/>
    <p:sldId id="259" r:id="rId77"/>
  </p:sldIdLst>
  <p:sldSz cx="9144000" cy="5143500" type="screen16x9"/>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B00"/>
    <a:srgbClr val="FF6A00"/>
    <a:srgbClr val="F26D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519" autoAdjust="0"/>
  </p:normalViewPr>
  <p:slideViewPr>
    <p:cSldViewPr>
      <p:cViewPr varScale="1">
        <p:scale>
          <a:sx n="107" d="100"/>
          <a:sy n="107" d="100"/>
        </p:scale>
        <p:origin x="114" y="13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413A81-F6F4-48F1-9240-6625495FC0FC}" type="datetimeFigureOut">
              <a:rPr lang="es-ES" smtClean="0"/>
              <a:pPr/>
              <a:t>13/11/2025</a:t>
            </a:fld>
            <a:endParaRPr lang="es-ES"/>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80AE22-138E-4CE0-8F43-3DD4BBCBCB7D}" type="slidenum">
              <a:rPr lang="es-ES" smtClean="0"/>
              <a:pPr/>
              <a:t>‹Nº›</a:t>
            </a:fld>
            <a:endParaRPr lang="es-E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580AE22-138E-4CE0-8F43-3DD4BBCBCB7D}" type="slidenum">
              <a:rPr lang="es-ES" smtClean="0"/>
              <a:pPr/>
              <a:t>5</a:t>
            </a:fld>
            <a:endParaRPr lang="es-ES"/>
          </a:p>
        </p:txBody>
      </p:sp>
    </p:spTree>
    <p:extLst>
      <p:ext uri="{BB962C8B-B14F-4D97-AF65-F5344CB8AC3E}">
        <p14:creationId xmlns:p14="http://schemas.microsoft.com/office/powerpoint/2010/main" val="2458780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580AE22-138E-4CE0-8F43-3DD4BBCBCB7D}" type="slidenum">
              <a:rPr lang="es-ES" smtClean="0"/>
              <a:pPr/>
              <a:t>30</a:t>
            </a:fld>
            <a:endParaRPr lang="es-ES"/>
          </a:p>
        </p:txBody>
      </p:sp>
    </p:spTree>
    <p:extLst>
      <p:ext uri="{BB962C8B-B14F-4D97-AF65-F5344CB8AC3E}">
        <p14:creationId xmlns:p14="http://schemas.microsoft.com/office/powerpoint/2010/main" val="78187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CA430-464C-CC46-6C65-2F7D70F4F0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994764-6541-0CCB-8D69-9ACA046DF6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A84311A-AC4A-B0BD-0D01-B8E8554136A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34D083F-326F-74E4-B273-E19C26D3E201}"/>
              </a:ext>
            </a:extLst>
          </p:cNvPr>
          <p:cNvSpPr>
            <a:spLocks noGrp="1"/>
          </p:cNvSpPr>
          <p:nvPr>
            <p:ph type="sldNum" sz="quarter" idx="5"/>
          </p:nvPr>
        </p:nvSpPr>
        <p:spPr/>
        <p:txBody>
          <a:bodyPr/>
          <a:lstStyle/>
          <a:p>
            <a:fld id="{E580AE22-138E-4CE0-8F43-3DD4BBCBCB7D}" type="slidenum">
              <a:rPr lang="es-ES" smtClean="0"/>
              <a:pPr/>
              <a:t>31</a:t>
            </a:fld>
            <a:endParaRPr lang="es-ES"/>
          </a:p>
        </p:txBody>
      </p:sp>
    </p:spTree>
    <p:extLst>
      <p:ext uri="{BB962C8B-B14F-4D97-AF65-F5344CB8AC3E}">
        <p14:creationId xmlns:p14="http://schemas.microsoft.com/office/powerpoint/2010/main" val="157057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580AE22-138E-4CE0-8F43-3DD4BBCBCB7D}" type="slidenum">
              <a:rPr lang="es-ES" smtClean="0"/>
              <a:pPr/>
              <a:t>45</a:t>
            </a:fld>
            <a:endParaRPr lang="es-ES"/>
          </a:p>
        </p:txBody>
      </p:sp>
    </p:spTree>
    <p:extLst>
      <p:ext uri="{BB962C8B-B14F-4D97-AF65-F5344CB8AC3E}">
        <p14:creationId xmlns:p14="http://schemas.microsoft.com/office/powerpoint/2010/main" val="2988634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75802-5CE5-CEC4-82BA-2906AAD243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A37DF7-7AA9-8B59-3986-0588FCC2D44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BA09E5-01A0-CD01-D87D-75641EE4FB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51FA499-8749-1918-B337-DEB4BE9F8605}"/>
              </a:ext>
            </a:extLst>
          </p:cNvPr>
          <p:cNvSpPr>
            <a:spLocks noGrp="1"/>
          </p:cNvSpPr>
          <p:nvPr>
            <p:ph type="sldNum" sz="quarter" idx="5"/>
          </p:nvPr>
        </p:nvSpPr>
        <p:spPr/>
        <p:txBody>
          <a:bodyPr/>
          <a:lstStyle/>
          <a:p>
            <a:fld id="{E580AE22-138E-4CE0-8F43-3DD4BBCBCB7D}" type="slidenum">
              <a:rPr lang="es-ES" smtClean="0"/>
              <a:pPr/>
              <a:t>46</a:t>
            </a:fld>
            <a:endParaRPr lang="es-ES"/>
          </a:p>
        </p:txBody>
      </p:sp>
    </p:spTree>
    <p:extLst>
      <p:ext uri="{BB962C8B-B14F-4D97-AF65-F5344CB8AC3E}">
        <p14:creationId xmlns:p14="http://schemas.microsoft.com/office/powerpoint/2010/main" val="402316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B3F5F-C7F9-4B1F-937D-BED6C543F3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F2F367-55F6-C7CE-3EFE-6BBAB135521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7B19D2-7D09-FF30-4453-0B14746A1D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D7D79C-7825-168E-4273-658FEC330534}"/>
              </a:ext>
            </a:extLst>
          </p:cNvPr>
          <p:cNvSpPr>
            <a:spLocks noGrp="1"/>
          </p:cNvSpPr>
          <p:nvPr>
            <p:ph type="sldNum" sz="quarter" idx="5"/>
          </p:nvPr>
        </p:nvSpPr>
        <p:spPr/>
        <p:txBody>
          <a:bodyPr/>
          <a:lstStyle/>
          <a:p>
            <a:fld id="{E580AE22-138E-4CE0-8F43-3DD4BBCBCB7D}" type="slidenum">
              <a:rPr lang="es-ES" smtClean="0"/>
              <a:pPr/>
              <a:t>47</a:t>
            </a:fld>
            <a:endParaRPr lang="es-ES"/>
          </a:p>
        </p:txBody>
      </p:sp>
    </p:spTree>
    <p:extLst>
      <p:ext uri="{BB962C8B-B14F-4D97-AF65-F5344CB8AC3E}">
        <p14:creationId xmlns:p14="http://schemas.microsoft.com/office/powerpoint/2010/main" val="2582580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A628B-DAEA-0DBF-0CED-469CD00E0A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48B5CA8-6A64-139F-5C91-B0F28CC2E66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C1A7140-A6BA-78EE-A53E-46221F3A13D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DB6B793-DE71-B101-F0EB-60AB68841A91}"/>
              </a:ext>
            </a:extLst>
          </p:cNvPr>
          <p:cNvSpPr>
            <a:spLocks noGrp="1"/>
          </p:cNvSpPr>
          <p:nvPr>
            <p:ph type="sldNum" sz="quarter" idx="5"/>
          </p:nvPr>
        </p:nvSpPr>
        <p:spPr/>
        <p:txBody>
          <a:bodyPr/>
          <a:lstStyle/>
          <a:p>
            <a:fld id="{E580AE22-138E-4CE0-8F43-3DD4BBCBCB7D}" type="slidenum">
              <a:rPr lang="es-ES" smtClean="0"/>
              <a:pPr/>
              <a:t>48</a:t>
            </a:fld>
            <a:endParaRPr lang="es-ES"/>
          </a:p>
        </p:txBody>
      </p:sp>
    </p:spTree>
    <p:extLst>
      <p:ext uri="{BB962C8B-B14F-4D97-AF65-F5344CB8AC3E}">
        <p14:creationId xmlns:p14="http://schemas.microsoft.com/office/powerpoint/2010/main" val="4118227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F9446-4ABA-7DC8-D4E2-2B85DDC5F7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8119A7-13FE-1A4C-0290-CACE7468A4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5924060-9E5B-3FC0-019A-E4E105FAECE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7CD4CC9-622C-0F1C-FDCF-A8804D92C237}"/>
              </a:ext>
            </a:extLst>
          </p:cNvPr>
          <p:cNvSpPr>
            <a:spLocks noGrp="1"/>
          </p:cNvSpPr>
          <p:nvPr>
            <p:ph type="sldNum" sz="quarter" idx="5"/>
          </p:nvPr>
        </p:nvSpPr>
        <p:spPr/>
        <p:txBody>
          <a:bodyPr/>
          <a:lstStyle/>
          <a:p>
            <a:fld id="{E580AE22-138E-4CE0-8F43-3DD4BBCBCB7D}" type="slidenum">
              <a:rPr lang="es-ES" smtClean="0"/>
              <a:pPr/>
              <a:t>49</a:t>
            </a:fld>
            <a:endParaRPr lang="es-ES"/>
          </a:p>
        </p:txBody>
      </p:sp>
    </p:spTree>
    <p:extLst>
      <p:ext uri="{BB962C8B-B14F-4D97-AF65-F5344CB8AC3E}">
        <p14:creationId xmlns:p14="http://schemas.microsoft.com/office/powerpoint/2010/main" val="1683186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6872E-D66B-61AB-24EF-9459444A8D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A812BA-3215-5978-A387-8242AA1B0D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10B80B-E2D3-7FAA-A3F9-ECCC3528ABE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C5F7E94-186B-9A34-5CCA-BB1408D424AA}"/>
              </a:ext>
            </a:extLst>
          </p:cNvPr>
          <p:cNvSpPr>
            <a:spLocks noGrp="1"/>
          </p:cNvSpPr>
          <p:nvPr>
            <p:ph type="sldNum" sz="quarter" idx="5"/>
          </p:nvPr>
        </p:nvSpPr>
        <p:spPr/>
        <p:txBody>
          <a:bodyPr/>
          <a:lstStyle/>
          <a:p>
            <a:fld id="{E580AE22-138E-4CE0-8F43-3DD4BBCBCB7D}" type="slidenum">
              <a:rPr lang="es-ES" smtClean="0"/>
              <a:pPr/>
              <a:t>50</a:t>
            </a:fld>
            <a:endParaRPr lang="es-ES"/>
          </a:p>
        </p:txBody>
      </p:sp>
    </p:spTree>
    <p:extLst>
      <p:ext uri="{BB962C8B-B14F-4D97-AF65-F5344CB8AC3E}">
        <p14:creationId xmlns:p14="http://schemas.microsoft.com/office/powerpoint/2010/main" val="521271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2B56F-6D30-0D03-5CD9-B5EA8239FC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0FF670-32F3-67DD-397A-B39FDBB080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B2A9FC-2212-1372-17A1-C448FAD7C37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014BCB5-F18E-9CCD-A1A8-4162252F5BE3}"/>
              </a:ext>
            </a:extLst>
          </p:cNvPr>
          <p:cNvSpPr>
            <a:spLocks noGrp="1"/>
          </p:cNvSpPr>
          <p:nvPr>
            <p:ph type="sldNum" sz="quarter" idx="5"/>
          </p:nvPr>
        </p:nvSpPr>
        <p:spPr/>
        <p:txBody>
          <a:bodyPr/>
          <a:lstStyle/>
          <a:p>
            <a:fld id="{E580AE22-138E-4CE0-8F43-3DD4BBCBCB7D}" type="slidenum">
              <a:rPr lang="es-ES" smtClean="0"/>
              <a:pPr/>
              <a:t>51</a:t>
            </a:fld>
            <a:endParaRPr lang="es-ES"/>
          </a:p>
        </p:txBody>
      </p:sp>
    </p:spTree>
    <p:extLst>
      <p:ext uri="{BB962C8B-B14F-4D97-AF65-F5344CB8AC3E}">
        <p14:creationId xmlns:p14="http://schemas.microsoft.com/office/powerpoint/2010/main" val="3742297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BFFD-ADFD-0FE0-4340-0BC845A75E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64BAA3-E5D9-55C4-1125-2AE83B6D383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D64994-C494-B716-6E34-B0B3D9C7940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9635A41-EEC4-8747-1944-9DE0D29186A0}"/>
              </a:ext>
            </a:extLst>
          </p:cNvPr>
          <p:cNvSpPr>
            <a:spLocks noGrp="1"/>
          </p:cNvSpPr>
          <p:nvPr>
            <p:ph type="sldNum" sz="quarter" idx="5"/>
          </p:nvPr>
        </p:nvSpPr>
        <p:spPr/>
        <p:txBody>
          <a:bodyPr/>
          <a:lstStyle/>
          <a:p>
            <a:fld id="{E580AE22-138E-4CE0-8F43-3DD4BBCBCB7D}" type="slidenum">
              <a:rPr lang="es-ES" smtClean="0"/>
              <a:pPr/>
              <a:t>52</a:t>
            </a:fld>
            <a:endParaRPr lang="es-ES"/>
          </a:p>
        </p:txBody>
      </p:sp>
    </p:spTree>
    <p:extLst>
      <p:ext uri="{BB962C8B-B14F-4D97-AF65-F5344CB8AC3E}">
        <p14:creationId xmlns:p14="http://schemas.microsoft.com/office/powerpoint/2010/main" val="3547939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7A45C-394E-98CB-A9A2-07AA7CF9D9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568FC8-1B16-3078-8962-DCB3CEA1A2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AEB6FD-0B3D-1499-F547-D0DA940D3F2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D5D3C8E-EC35-8D74-7583-C51187CF0D95}"/>
              </a:ext>
            </a:extLst>
          </p:cNvPr>
          <p:cNvSpPr>
            <a:spLocks noGrp="1"/>
          </p:cNvSpPr>
          <p:nvPr>
            <p:ph type="sldNum" sz="quarter" idx="5"/>
          </p:nvPr>
        </p:nvSpPr>
        <p:spPr/>
        <p:txBody>
          <a:bodyPr/>
          <a:lstStyle/>
          <a:p>
            <a:fld id="{E580AE22-138E-4CE0-8F43-3DD4BBCBCB7D}" type="slidenum">
              <a:rPr lang="es-ES" smtClean="0"/>
              <a:pPr/>
              <a:t>53</a:t>
            </a:fld>
            <a:endParaRPr lang="es-ES"/>
          </a:p>
        </p:txBody>
      </p:sp>
    </p:spTree>
    <p:extLst>
      <p:ext uri="{BB962C8B-B14F-4D97-AF65-F5344CB8AC3E}">
        <p14:creationId xmlns:p14="http://schemas.microsoft.com/office/powerpoint/2010/main" val="217529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D09AB-20C9-EB4E-1A1D-9938B2B0C8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CDB6C4-BE09-D949-C9AE-703462C5DA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DF46BA-AA3B-B101-DF32-845D5EE78E1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222C112-3F30-98FF-08AD-E31D2C3635DB}"/>
              </a:ext>
            </a:extLst>
          </p:cNvPr>
          <p:cNvSpPr>
            <a:spLocks noGrp="1"/>
          </p:cNvSpPr>
          <p:nvPr>
            <p:ph type="sldNum" sz="quarter" idx="5"/>
          </p:nvPr>
        </p:nvSpPr>
        <p:spPr/>
        <p:txBody>
          <a:bodyPr/>
          <a:lstStyle/>
          <a:p>
            <a:fld id="{E580AE22-138E-4CE0-8F43-3DD4BBCBCB7D}" type="slidenum">
              <a:rPr lang="es-ES" smtClean="0"/>
              <a:pPr/>
              <a:t>55</a:t>
            </a:fld>
            <a:endParaRPr lang="es-ES"/>
          </a:p>
        </p:txBody>
      </p:sp>
    </p:spTree>
    <p:extLst>
      <p:ext uri="{BB962C8B-B14F-4D97-AF65-F5344CB8AC3E}">
        <p14:creationId xmlns:p14="http://schemas.microsoft.com/office/powerpoint/2010/main" val="1882879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BCE35-D0BC-6ABD-7D4B-235EB5B681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077F3D-C82F-1644-1B0C-85ABC1F260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4AD635-7932-3890-E78B-17F48EA5F33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6B0D8B-E5BF-7F1F-1E4C-0B31C5DCF113}"/>
              </a:ext>
            </a:extLst>
          </p:cNvPr>
          <p:cNvSpPr>
            <a:spLocks noGrp="1"/>
          </p:cNvSpPr>
          <p:nvPr>
            <p:ph type="sldNum" sz="quarter" idx="5"/>
          </p:nvPr>
        </p:nvSpPr>
        <p:spPr/>
        <p:txBody>
          <a:bodyPr/>
          <a:lstStyle/>
          <a:p>
            <a:fld id="{E580AE22-138E-4CE0-8F43-3DD4BBCBCB7D}" type="slidenum">
              <a:rPr lang="es-ES" smtClean="0"/>
              <a:pPr/>
              <a:t>56</a:t>
            </a:fld>
            <a:endParaRPr lang="es-ES"/>
          </a:p>
        </p:txBody>
      </p:sp>
    </p:spTree>
    <p:extLst>
      <p:ext uri="{BB962C8B-B14F-4D97-AF65-F5344CB8AC3E}">
        <p14:creationId xmlns:p14="http://schemas.microsoft.com/office/powerpoint/2010/main" val="1938987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90D99-E5B4-88B6-AE57-74FF73922D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8C2483-1055-22F8-64AA-F1214F76C23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D7E61B-47AB-1FFC-AFF7-2E7807D5470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F0E49F6-7A4A-1D63-CEA6-8C9B373342AD}"/>
              </a:ext>
            </a:extLst>
          </p:cNvPr>
          <p:cNvSpPr>
            <a:spLocks noGrp="1"/>
          </p:cNvSpPr>
          <p:nvPr>
            <p:ph type="sldNum" sz="quarter" idx="5"/>
          </p:nvPr>
        </p:nvSpPr>
        <p:spPr/>
        <p:txBody>
          <a:bodyPr/>
          <a:lstStyle/>
          <a:p>
            <a:fld id="{E580AE22-138E-4CE0-8F43-3DD4BBCBCB7D}" type="slidenum">
              <a:rPr lang="es-ES" smtClean="0"/>
              <a:pPr/>
              <a:t>57</a:t>
            </a:fld>
            <a:endParaRPr lang="es-ES"/>
          </a:p>
        </p:txBody>
      </p:sp>
    </p:spTree>
    <p:extLst>
      <p:ext uri="{BB962C8B-B14F-4D97-AF65-F5344CB8AC3E}">
        <p14:creationId xmlns:p14="http://schemas.microsoft.com/office/powerpoint/2010/main" val="2709840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B762-6D00-835C-3E20-0AAF4D9A87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A0084B-4B9E-E7D0-D8AC-53764F724A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6306B6-38FF-6FF9-57AC-5EDBDC8BDA1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012A13-C609-1679-ABAD-00AD07030957}"/>
              </a:ext>
            </a:extLst>
          </p:cNvPr>
          <p:cNvSpPr>
            <a:spLocks noGrp="1"/>
          </p:cNvSpPr>
          <p:nvPr>
            <p:ph type="sldNum" sz="quarter" idx="5"/>
          </p:nvPr>
        </p:nvSpPr>
        <p:spPr/>
        <p:txBody>
          <a:bodyPr/>
          <a:lstStyle/>
          <a:p>
            <a:fld id="{E580AE22-138E-4CE0-8F43-3DD4BBCBCB7D}" type="slidenum">
              <a:rPr lang="es-ES" smtClean="0"/>
              <a:pPr/>
              <a:t>58</a:t>
            </a:fld>
            <a:endParaRPr lang="es-ES"/>
          </a:p>
        </p:txBody>
      </p:sp>
    </p:spTree>
    <p:extLst>
      <p:ext uri="{BB962C8B-B14F-4D97-AF65-F5344CB8AC3E}">
        <p14:creationId xmlns:p14="http://schemas.microsoft.com/office/powerpoint/2010/main" val="4229951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503A7-8C0A-2FE5-F428-7E30EFBBE1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7DDD2A2-1B95-EFE6-60FE-37925C7CD6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018254-8312-3164-733C-859FB859D08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4095DC1-E62A-C206-F510-216C5794A616}"/>
              </a:ext>
            </a:extLst>
          </p:cNvPr>
          <p:cNvSpPr>
            <a:spLocks noGrp="1"/>
          </p:cNvSpPr>
          <p:nvPr>
            <p:ph type="sldNum" sz="quarter" idx="5"/>
          </p:nvPr>
        </p:nvSpPr>
        <p:spPr/>
        <p:txBody>
          <a:bodyPr/>
          <a:lstStyle/>
          <a:p>
            <a:fld id="{E580AE22-138E-4CE0-8F43-3DD4BBCBCB7D}" type="slidenum">
              <a:rPr lang="es-ES" smtClean="0"/>
              <a:pPr/>
              <a:t>59</a:t>
            </a:fld>
            <a:endParaRPr lang="es-ES"/>
          </a:p>
        </p:txBody>
      </p:sp>
    </p:spTree>
    <p:extLst>
      <p:ext uri="{BB962C8B-B14F-4D97-AF65-F5344CB8AC3E}">
        <p14:creationId xmlns:p14="http://schemas.microsoft.com/office/powerpoint/2010/main" val="35116175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E8F4E-1CE5-1482-C91A-4FA55A3DC8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A63131-80B5-92BB-5111-3C3AF8D223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BC501A-8A67-7F3E-F906-E799505AD0B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F751885-DFA5-7573-9A76-6943E12AB019}"/>
              </a:ext>
            </a:extLst>
          </p:cNvPr>
          <p:cNvSpPr>
            <a:spLocks noGrp="1"/>
          </p:cNvSpPr>
          <p:nvPr>
            <p:ph type="sldNum" sz="quarter" idx="5"/>
          </p:nvPr>
        </p:nvSpPr>
        <p:spPr/>
        <p:txBody>
          <a:bodyPr/>
          <a:lstStyle/>
          <a:p>
            <a:fld id="{E580AE22-138E-4CE0-8F43-3DD4BBCBCB7D}" type="slidenum">
              <a:rPr lang="es-ES" smtClean="0"/>
              <a:pPr/>
              <a:t>60</a:t>
            </a:fld>
            <a:endParaRPr lang="es-ES"/>
          </a:p>
        </p:txBody>
      </p:sp>
    </p:spTree>
    <p:extLst>
      <p:ext uri="{BB962C8B-B14F-4D97-AF65-F5344CB8AC3E}">
        <p14:creationId xmlns:p14="http://schemas.microsoft.com/office/powerpoint/2010/main" val="3984866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7D1D-CE9E-A582-B30C-4EF57CA99D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3CE82D-EAEF-F95A-947D-054D27D4ECC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C2F9074-A0DF-EA51-2472-B05D1009ABC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4265052-CB23-BE60-C072-316005C848A6}"/>
              </a:ext>
            </a:extLst>
          </p:cNvPr>
          <p:cNvSpPr>
            <a:spLocks noGrp="1"/>
          </p:cNvSpPr>
          <p:nvPr>
            <p:ph type="sldNum" sz="quarter" idx="5"/>
          </p:nvPr>
        </p:nvSpPr>
        <p:spPr/>
        <p:txBody>
          <a:bodyPr/>
          <a:lstStyle/>
          <a:p>
            <a:fld id="{E580AE22-138E-4CE0-8F43-3DD4BBCBCB7D}" type="slidenum">
              <a:rPr lang="es-ES" smtClean="0"/>
              <a:pPr/>
              <a:t>61</a:t>
            </a:fld>
            <a:endParaRPr lang="es-ES"/>
          </a:p>
        </p:txBody>
      </p:sp>
    </p:spTree>
    <p:extLst>
      <p:ext uri="{BB962C8B-B14F-4D97-AF65-F5344CB8AC3E}">
        <p14:creationId xmlns:p14="http://schemas.microsoft.com/office/powerpoint/2010/main" val="20147915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0EB0-E435-A401-70B0-C37E320C3B0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4CA98A-1A51-20E3-4FDC-2B6CA4CF14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87C816-4268-81B2-D3E7-4A6681A5528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56044DB-F460-A04D-1BD7-B545362DF5F9}"/>
              </a:ext>
            </a:extLst>
          </p:cNvPr>
          <p:cNvSpPr>
            <a:spLocks noGrp="1"/>
          </p:cNvSpPr>
          <p:nvPr>
            <p:ph type="sldNum" sz="quarter" idx="5"/>
          </p:nvPr>
        </p:nvSpPr>
        <p:spPr/>
        <p:txBody>
          <a:bodyPr/>
          <a:lstStyle/>
          <a:p>
            <a:fld id="{E580AE22-138E-4CE0-8F43-3DD4BBCBCB7D}" type="slidenum">
              <a:rPr lang="es-ES" smtClean="0"/>
              <a:pPr/>
              <a:t>62</a:t>
            </a:fld>
            <a:endParaRPr lang="es-ES"/>
          </a:p>
        </p:txBody>
      </p:sp>
    </p:spTree>
    <p:extLst>
      <p:ext uri="{BB962C8B-B14F-4D97-AF65-F5344CB8AC3E}">
        <p14:creationId xmlns:p14="http://schemas.microsoft.com/office/powerpoint/2010/main" val="24588378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CB344-322B-CC02-DFFA-898AE74FDD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B338AA-9B6E-FA8C-8643-A98BDF95AC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FAB2467-A39B-51D3-3A5E-58E1DDC76FF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88B5852-5AA2-9E70-04FF-24C5BB149A59}"/>
              </a:ext>
            </a:extLst>
          </p:cNvPr>
          <p:cNvSpPr>
            <a:spLocks noGrp="1"/>
          </p:cNvSpPr>
          <p:nvPr>
            <p:ph type="sldNum" sz="quarter" idx="5"/>
          </p:nvPr>
        </p:nvSpPr>
        <p:spPr/>
        <p:txBody>
          <a:bodyPr/>
          <a:lstStyle/>
          <a:p>
            <a:fld id="{E580AE22-138E-4CE0-8F43-3DD4BBCBCB7D}" type="slidenum">
              <a:rPr lang="es-ES" smtClean="0"/>
              <a:pPr/>
              <a:t>63</a:t>
            </a:fld>
            <a:endParaRPr lang="es-ES"/>
          </a:p>
        </p:txBody>
      </p:sp>
    </p:spTree>
    <p:extLst>
      <p:ext uri="{BB962C8B-B14F-4D97-AF65-F5344CB8AC3E}">
        <p14:creationId xmlns:p14="http://schemas.microsoft.com/office/powerpoint/2010/main" val="28631768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79908-483D-E3DA-97BC-8128E9B731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CFA669-97D3-CB3E-F4D2-3C25F2521FE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15D039-EEDB-6D99-8D78-7457B2998D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379E6E2-4153-F470-387A-FC9D810817F1}"/>
              </a:ext>
            </a:extLst>
          </p:cNvPr>
          <p:cNvSpPr>
            <a:spLocks noGrp="1"/>
          </p:cNvSpPr>
          <p:nvPr>
            <p:ph type="sldNum" sz="quarter" idx="5"/>
          </p:nvPr>
        </p:nvSpPr>
        <p:spPr/>
        <p:txBody>
          <a:bodyPr/>
          <a:lstStyle/>
          <a:p>
            <a:fld id="{E580AE22-138E-4CE0-8F43-3DD4BBCBCB7D}" type="slidenum">
              <a:rPr lang="es-ES" smtClean="0"/>
              <a:pPr/>
              <a:t>64</a:t>
            </a:fld>
            <a:endParaRPr lang="es-ES"/>
          </a:p>
        </p:txBody>
      </p:sp>
    </p:spTree>
    <p:extLst>
      <p:ext uri="{BB962C8B-B14F-4D97-AF65-F5344CB8AC3E}">
        <p14:creationId xmlns:p14="http://schemas.microsoft.com/office/powerpoint/2010/main" val="3886246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8117E-B95F-8385-0C84-2F41157283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B381B2-46D1-EE66-76AE-4CE5DAA0802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A2FAE0-F409-A152-3523-A245ADCDD3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847C36C-5790-B5D7-4622-189B58591435}"/>
              </a:ext>
            </a:extLst>
          </p:cNvPr>
          <p:cNvSpPr>
            <a:spLocks noGrp="1"/>
          </p:cNvSpPr>
          <p:nvPr>
            <p:ph type="sldNum" sz="quarter" idx="5"/>
          </p:nvPr>
        </p:nvSpPr>
        <p:spPr/>
        <p:txBody>
          <a:bodyPr/>
          <a:lstStyle/>
          <a:p>
            <a:fld id="{E580AE22-138E-4CE0-8F43-3DD4BBCBCB7D}" type="slidenum">
              <a:rPr lang="es-ES" smtClean="0"/>
              <a:pPr/>
              <a:t>66</a:t>
            </a:fld>
            <a:endParaRPr lang="es-ES"/>
          </a:p>
        </p:txBody>
      </p:sp>
    </p:spTree>
    <p:extLst>
      <p:ext uri="{BB962C8B-B14F-4D97-AF65-F5344CB8AC3E}">
        <p14:creationId xmlns:p14="http://schemas.microsoft.com/office/powerpoint/2010/main" val="1794989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80BFB-8CED-18B0-4414-E87A728074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F5793C-F242-5A6F-185F-7E96C97701D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7D61A3-0905-D7CF-8320-F2921C07BF3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CCE9406-C21A-4D3B-1BAE-C39C32AADA16}"/>
              </a:ext>
            </a:extLst>
          </p:cNvPr>
          <p:cNvSpPr>
            <a:spLocks noGrp="1"/>
          </p:cNvSpPr>
          <p:nvPr>
            <p:ph type="sldNum" sz="quarter" idx="5"/>
          </p:nvPr>
        </p:nvSpPr>
        <p:spPr/>
        <p:txBody>
          <a:bodyPr/>
          <a:lstStyle/>
          <a:p>
            <a:fld id="{E580AE22-138E-4CE0-8F43-3DD4BBCBCB7D}" type="slidenum">
              <a:rPr lang="es-ES" smtClean="0"/>
              <a:pPr/>
              <a:t>67</a:t>
            </a:fld>
            <a:endParaRPr lang="es-ES"/>
          </a:p>
        </p:txBody>
      </p:sp>
    </p:spTree>
    <p:extLst>
      <p:ext uri="{BB962C8B-B14F-4D97-AF65-F5344CB8AC3E}">
        <p14:creationId xmlns:p14="http://schemas.microsoft.com/office/powerpoint/2010/main" val="1350733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888F3-A2B6-01CF-3C0D-E96D0B128F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3058FC-06EC-5692-CFF2-E9CC77B27E8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90DA8D-B5AE-ADEC-1C3E-FCBB733A083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E91A909-1465-5CF4-5CBA-594CD0956298}"/>
              </a:ext>
            </a:extLst>
          </p:cNvPr>
          <p:cNvSpPr>
            <a:spLocks noGrp="1"/>
          </p:cNvSpPr>
          <p:nvPr>
            <p:ph type="sldNum" sz="quarter" idx="5"/>
          </p:nvPr>
        </p:nvSpPr>
        <p:spPr/>
        <p:txBody>
          <a:bodyPr/>
          <a:lstStyle/>
          <a:p>
            <a:fld id="{E580AE22-138E-4CE0-8F43-3DD4BBCBCB7D}" type="slidenum">
              <a:rPr lang="es-ES" smtClean="0"/>
              <a:pPr/>
              <a:t>68</a:t>
            </a:fld>
            <a:endParaRPr lang="es-ES"/>
          </a:p>
        </p:txBody>
      </p:sp>
    </p:spTree>
    <p:extLst>
      <p:ext uri="{BB962C8B-B14F-4D97-AF65-F5344CB8AC3E}">
        <p14:creationId xmlns:p14="http://schemas.microsoft.com/office/powerpoint/2010/main" val="3398903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96C4D-3464-6538-E5AD-F2A3C067693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3B44FD-1E17-6E7E-3B91-2B9D6BC2B6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B473EB-B1F3-B2E9-A976-7ED73568EA5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1FD4D4D-6B9A-A831-40F0-16D6F9D67890}"/>
              </a:ext>
            </a:extLst>
          </p:cNvPr>
          <p:cNvSpPr>
            <a:spLocks noGrp="1"/>
          </p:cNvSpPr>
          <p:nvPr>
            <p:ph type="sldNum" sz="quarter" idx="5"/>
          </p:nvPr>
        </p:nvSpPr>
        <p:spPr/>
        <p:txBody>
          <a:bodyPr/>
          <a:lstStyle/>
          <a:p>
            <a:fld id="{E580AE22-138E-4CE0-8F43-3DD4BBCBCB7D}" type="slidenum">
              <a:rPr lang="es-ES" smtClean="0"/>
              <a:pPr/>
              <a:t>69</a:t>
            </a:fld>
            <a:endParaRPr lang="es-ES"/>
          </a:p>
        </p:txBody>
      </p:sp>
    </p:spTree>
    <p:extLst>
      <p:ext uri="{BB962C8B-B14F-4D97-AF65-F5344CB8AC3E}">
        <p14:creationId xmlns:p14="http://schemas.microsoft.com/office/powerpoint/2010/main" val="20576404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498B7-ACBC-4D69-93C7-9246DB4541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C29B9D-76C5-7CAF-69BF-831D36C6A5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B24C17-D2E1-71F6-A5C8-10C4ECF0C5A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80CAD5D-78ED-53B9-C420-D85E09A40772}"/>
              </a:ext>
            </a:extLst>
          </p:cNvPr>
          <p:cNvSpPr>
            <a:spLocks noGrp="1"/>
          </p:cNvSpPr>
          <p:nvPr>
            <p:ph type="sldNum" sz="quarter" idx="5"/>
          </p:nvPr>
        </p:nvSpPr>
        <p:spPr/>
        <p:txBody>
          <a:bodyPr/>
          <a:lstStyle/>
          <a:p>
            <a:fld id="{E580AE22-138E-4CE0-8F43-3DD4BBCBCB7D}" type="slidenum">
              <a:rPr lang="es-ES" smtClean="0"/>
              <a:pPr/>
              <a:t>70</a:t>
            </a:fld>
            <a:endParaRPr lang="es-ES"/>
          </a:p>
        </p:txBody>
      </p:sp>
    </p:spTree>
    <p:extLst>
      <p:ext uri="{BB962C8B-B14F-4D97-AF65-F5344CB8AC3E}">
        <p14:creationId xmlns:p14="http://schemas.microsoft.com/office/powerpoint/2010/main" val="31476550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6B2D-FC83-B448-8553-621B0C97D9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B3A616-BEE8-A0CE-14CC-EFBA9C168B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AD177FB-F767-D75F-A55B-D0D77BE6563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4409EDC-C6EC-EC0E-148E-C991DC782D75}"/>
              </a:ext>
            </a:extLst>
          </p:cNvPr>
          <p:cNvSpPr>
            <a:spLocks noGrp="1"/>
          </p:cNvSpPr>
          <p:nvPr>
            <p:ph type="sldNum" sz="quarter" idx="5"/>
          </p:nvPr>
        </p:nvSpPr>
        <p:spPr/>
        <p:txBody>
          <a:bodyPr/>
          <a:lstStyle/>
          <a:p>
            <a:fld id="{E580AE22-138E-4CE0-8F43-3DD4BBCBCB7D}" type="slidenum">
              <a:rPr lang="es-ES" smtClean="0"/>
              <a:pPr/>
              <a:t>71</a:t>
            </a:fld>
            <a:endParaRPr lang="es-ES"/>
          </a:p>
        </p:txBody>
      </p:sp>
    </p:spTree>
    <p:extLst>
      <p:ext uri="{BB962C8B-B14F-4D97-AF65-F5344CB8AC3E}">
        <p14:creationId xmlns:p14="http://schemas.microsoft.com/office/powerpoint/2010/main" val="12871566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A198-61C7-8E66-9710-D1414FA4D6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B5FB8D-C2A7-D4BE-7104-39F6BB8346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343490-7B94-DE8D-9D8D-1EA09C12DFA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4C1DAEA-9A7A-600F-BBC0-762D0CDE83A3}"/>
              </a:ext>
            </a:extLst>
          </p:cNvPr>
          <p:cNvSpPr>
            <a:spLocks noGrp="1"/>
          </p:cNvSpPr>
          <p:nvPr>
            <p:ph type="sldNum" sz="quarter" idx="5"/>
          </p:nvPr>
        </p:nvSpPr>
        <p:spPr/>
        <p:txBody>
          <a:bodyPr/>
          <a:lstStyle/>
          <a:p>
            <a:fld id="{E580AE22-138E-4CE0-8F43-3DD4BBCBCB7D}" type="slidenum">
              <a:rPr lang="es-ES" smtClean="0"/>
              <a:pPr/>
              <a:t>72</a:t>
            </a:fld>
            <a:endParaRPr lang="es-ES"/>
          </a:p>
        </p:txBody>
      </p:sp>
    </p:spTree>
    <p:extLst>
      <p:ext uri="{BB962C8B-B14F-4D97-AF65-F5344CB8AC3E}">
        <p14:creationId xmlns:p14="http://schemas.microsoft.com/office/powerpoint/2010/main" val="2655816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2EE5-D2F0-7071-EF0C-EA8AFEB2A9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92F63A-F566-E49D-CB84-7435BF6F052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17C4CFA-73F9-41F1-FF82-32AD1CE10B4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75A8BD7-C0BD-4F5C-72C0-D865CE72A19F}"/>
              </a:ext>
            </a:extLst>
          </p:cNvPr>
          <p:cNvSpPr>
            <a:spLocks noGrp="1"/>
          </p:cNvSpPr>
          <p:nvPr>
            <p:ph type="sldNum" sz="quarter" idx="5"/>
          </p:nvPr>
        </p:nvSpPr>
        <p:spPr/>
        <p:txBody>
          <a:bodyPr/>
          <a:lstStyle/>
          <a:p>
            <a:fld id="{E580AE22-138E-4CE0-8F43-3DD4BBCBCB7D}" type="slidenum">
              <a:rPr lang="es-ES" smtClean="0"/>
              <a:pPr/>
              <a:t>73</a:t>
            </a:fld>
            <a:endParaRPr lang="es-ES"/>
          </a:p>
        </p:txBody>
      </p:sp>
    </p:spTree>
    <p:extLst>
      <p:ext uri="{BB962C8B-B14F-4D97-AF65-F5344CB8AC3E}">
        <p14:creationId xmlns:p14="http://schemas.microsoft.com/office/powerpoint/2010/main" val="21394876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9669-F4E4-4015-4583-92A4ECC9D08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FC0BC4-6A25-59AC-8CAE-F682235BBB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BBC82A-0D1B-3276-FF1B-8A24CF2B75A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EF945C4-966E-1F14-DDE5-A6D3782B05B1}"/>
              </a:ext>
            </a:extLst>
          </p:cNvPr>
          <p:cNvSpPr>
            <a:spLocks noGrp="1"/>
          </p:cNvSpPr>
          <p:nvPr>
            <p:ph type="sldNum" sz="quarter" idx="5"/>
          </p:nvPr>
        </p:nvSpPr>
        <p:spPr/>
        <p:txBody>
          <a:bodyPr/>
          <a:lstStyle/>
          <a:p>
            <a:fld id="{E580AE22-138E-4CE0-8F43-3DD4BBCBCB7D}" type="slidenum">
              <a:rPr lang="es-ES" smtClean="0"/>
              <a:pPr/>
              <a:t>74</a:t>
            </a:fld>
            <a:endParaRPr lang="es-ES"/>
          </a:p>
        </p:txBody>
      </p:sp>
    </p:spTree>
    <p:extLst>
      <p:ext uri="{BB962C8B-B14F-4D97-AF65-F5344CB8AC3E}">
        <p14:creationId xmlns:p14="http://schemas.microsoft.com/office/powerpoint/2010/main" val="25679957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8F584-F8C1-85DE-E602-44A12D26A8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0D17D7-617A-825F-03B0-3C57EB4EEB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C48DD8-E3A0-71F7-9DDD-1949570F881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F4F7678-4654-B2CD-E084-DF2FA0F88E4B}"/>
              </a:ext>
            </a:extLst>
          </p:cNvPr>
          <p:cNvSpPr>
            <a:spLocks noGrp="1"/>
          </p:cNvSpPr>
          <p:nvPr>
            <p:ph type="sldNum" sz="quarter" idx="5"/>
          </p:nvPr>
        </p:nvSpPr>
        <p:spPr/>
        <p:txBody>
          <a:bodyPr/>
          <a:lstStyle/>
          <a:p>
            <a:fld id="{E580AE22-138E-4CE0-8F43-3DD4BBCBCB7D}" type="slidenum">
              <a:rPr lang="es-ES" smtClean="0"/>
              <a:pPr/>
              <a:t>75</a:t>
            </a:fld>
            <a:endParaRPr lang="es-ES"/>
          </a:p>
        </p:txBody>
      </p:sp>
    </p:spTree>
    <p:extLst>
      <p:ext uri="{BB962C8B-B14F-4D97-AF65-F5344CB8AC3E}">
        <p14:creationId xmlns:p14="http://schemas.microsoft.com/office/powerpoint/2010/main" val="15130768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ortada - 1 sencilla">
    <p:spTree>
      <p:nvGrpSpPr>
        <p:cNvPr id="1" name=""/>
        <p:cNvGrpSpPr/>
        <p:nvPr/>
      </p:nvGrpSpPr>
      <p:grpSpPr>
        <a:xfrm>
          <a:off x="0" y="0"/>
          <a:ext cx="0" cy="0"/>
          <a:chOff x="0" y="0"/>
          <a:chExt cx="0" cy="0"/>
        </a:xfrm>
      </p:grpSpPr>
      <p:sp>
        <p:nvSpPr>
          <p:cNvPr id="7" name="6 Rectángulo"/>
          <p:cNvSpPr/>
          <p:nvPr userDrawn="1"/>
        </p:nvSpPr>
        <p:spPr>
          <a:xfrm>
            <a:off x="0" y="1995686"/>
            <a:ext cx="9144000" cy="3147814"/>
          </a:xfrm>
          <a:prstGeom prst="rect">
            <a:avLst/>
          </a:prstGeom>
          <a:solidFill>
            <a:srgbClr val="FF6B00">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1 Título"/>
          <p:cNvSpPr>
            <a:spLocks noGrp="1"/>
          </p:cNvSpPr>
          <p:nvPr>
            <p:ph type="ctrTitle" hasCustomPrompt="1"/>
          </p:nvPr>
        </p:nvSpPr>
        <p:spPr>
          <a:xfrm>
            <a:off x="251520" y="411511"/>
            <a:ext cx="7772400" cy="720080"/>
          </a:xfrm>
        </p:spPr>
        <p:txBody>
          <a:bodyPr>
            <a:noAutofit/>
          </a:bodyPr>
          <a:lstStyle>
            <a:lvl1pPr algn="l">
              <a:defRPr sz="4000">
                <a:solidFill>
                  <a:srgbClr val="FF6B00"/>
                </a:solidFill>
              </a:defRPr>
            </a:lvl1pPr>
          </a:lstStyle>
          <a:p>
            <a:r>
              <a:rPr lang="es-ES" dirty="0"/>
              <a:t>Título de la presentación</a:t>
            </a:r>
          </a:p>
        </p:txBody>
      </p:sp>
      <p:sp>
        <p:nvSpPr>
          <p:cNvPr id="3" name="2 Subtítulo"/>
          <p:cNvSpPr>
            <a:spLocks noGrp="1"/>
          </p:cNvSpPr>
          <p:nvPr>
            <p:ph type="subTitle" idx="1"/>
          </p:nvPr>
        </p:nvSpPr>
        <p:spPr>
          <a:xfrm>
            <a:off x="251520" y="1131590"/>
            <a:ext cx="7776864" cy="576064"/>
          </a:xfrm>
        </p:spPr>
        <p:txBody>
          <a:bodyPr>
            <a:noAutofit/>
          </a:bodyPr>
          <a:lstStyle>
            <a:lvl1pPr marL="0" indent="0" algn="l">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S" dirty="0"/>
          </a:p>
        </p:txBody>
      </p:sp>
      <p:pic>
        <p:nvPicPr>
          <p:cNvPr id="6" name="5 Imagen" descr="TICARUM_larga-abajo_blanco-naranja_web_72dpi_transparente.png"/>
          <p:cNvPicPr>
            <a:picLocks noChangeAspect="1"/>
          </p:cNvPicPr>
          <p:nvPr userDrawn="1"/>
        </p:nvPicPr>
        <p:blipFill>
          <a:blip r:embed="rId2" cstate="print"/>
          <a:stretch>
            <a:fillRect/>
          </a:stretch>
        </p:blipFill>
        <p:spPr>
          <a:xfrm>
            <a:off x="6732240" y="3939902"/>
            <a:ext cx="2123728" cy="92297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Portada - 2">
    <p:spTree>
      <p:nvGrpSpPr>
        <p:cNvPr id="1" name=""/>
        <p:cNvGrpSpPr/>
        <p:nvPr/>
      </p:nvGrpSpPr>
      <p:grpSpPr>
        <a:xfrm>
          <a:off x="0" y="0"/>
          <a:ext cx="0" cy="0"/>
          <a:chOff x="0" y="0"/>
          <a:chExt cx="0" cy="0"/>
        </a:xfrm>
      </p:grpSpPr>
      <p:pic>
        <p:nvPicPr>
          <p:cNvPr id="16386" name="Picture 2" descr="Resultado de imagen de network background"/>
          <p:cNvPicPr>
            <a:picLocks noChangeAspect="1" noChangeArrowheads="1"/>
          </p:cNvPicPr>
          <p:nvPr userDrawn="1"/>
        </p:nvPicPr>
        <p:blipFill>
          <a:blip r:embed="rId2" cstate="print">
            <a:duotone>
              <a:prstClr val="black"/>
              <a:schemeClr val="accent6">
                <a:tint val="45000"/>
                <a:satMod val="400000"/>
              </a:schemeClr>
            </a:duotone>
          </a:blip>
          <a:stretch>
            <a:fillRect/>
          </a:stretch>
        </p:blipFill>
        <p:spPr bwMode="auto">
          <a:xfrm>
            <a:off x="0" y="0"/>
            <a:ext cx="9144000" cy="5143500"/>
          </a:xfrm>
          <a:prstGeom prst="rect">
            <a:avLst/>
          </a:prstGeom>
          <a:noFill/>
          <a:ln>
            <a:noFill/>
          </a:ln>
        </p:spPr>
      </p:pic>
      <p:sp>
        <p:nvSpPr>
          <p:cNvPr id="9" name="8 Rectángulo"/>
          <p:cNvSpPr/>
          <p:nvPr userDrawn="1"/>
        </p:nvSpPr>
        <p:spPr>
          <a:xfrm>
            <a:off x="0" y="0"/>
            <a:ext cx="9144000" cy="1995686"/>
          </a:xfrm>
          <a:prstGeom prst="rect">
            <a:avLst/>
          </a:prstGeom>
          <a:solidFill>
            <a:schemeClr val="bg1">
              <a:alpha val="9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userDrawn="1"/>
        </p:nvSpPr>
        <p:spPr>
          <a:xfrm>
            <a:off x="0" y="1995686"/>
            <a:ext cx="9144000" cy="3147814"/>
          </a:xfrm>
          <a:prstGeom prst="rect">
            <a:avLst/>
          </a:prstGeom>
          <a:solidFill>
            <a:srgbClr val="FF6B00">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1 Título"/>
          <p:cNvSpPr>
            <a:spLocks noGrp="1"/>
          </p:cNvSpPr>
          <p:nvPr>
            <p:ph type="ctrTitle" hasCustomPrompt="1"/>
          </p:nvPr>
        </p:nvSpPr>
        <p:spPr>
          <a:xfrm>
            <a:off x="251520" y="411511"/>
            <a:ext cx="7772400" cy="720080"/>
          </a:xfrm>
        </p:spPr>
        <p:txBody>
          <a:bodyPr>
            <a:noAutofit/>
          </a:bodyPr>
          <a:lstStyle>
            <a:lvl1pPr algn="l">
              <a:defRPr sz="4000">
                <a:solidFill>
                  <a:srgbClr val="FF6B00"/>
                </a:solidFill>
              </a:defRPr>
            </a:lvl1pPr>
          </a:lstStyle>
          <a:p>
            <a:r>
              <a:rPr lang="es-ES" dirty="0"/>
              <a:t>Título de la presentación</a:t>
            </a:r>
          </a:p>
        </p:txBody>
      </p:sp>
      <p:sp>
        <p:nvSpPr>
          <p:cNvPr id="3" name="2 Subtítulo"/>
          <p:cNvSpPr>
            <a:spLocks noGrp="1"/>
          </p:cNvSpPr>
          <p:nvPr>
            <p:ph type="subTitle" idx="1"/>
          </p:nvPr>
        </p:nvSpPr>
        <p:spPr>
          <a:xfrm>
            <a:off x="251520" y="1131590"/>
            <a:ext cx="7776864" cy="576064"/>
          </a:xfrm>
        </p:spPr>
        <p:txBody>
          <a:bodyPr>
            <a:noAutofit/>
          </a:bodyPr>
          <a:lstStyle>
            <a:lvl1pPr marL="0" indent="0" algn="l">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S" dirty="0"/>
          </a:p>
        </p:txBody>
      </p:sp>
      <p:pic>
        <p:nvPicPr>
          <p:cNvPr id="6" name="5 Imagen" descr="TICARUM_larga-abajo_blanco-naranja_web_72dpi_transparente.png"/>
          <p:cNvPicPr>
            <a:picLocks noChangeAspect="1"/>
          </p:cNvPicPr>
          <p:nvPr userDrawn="1"/>
        </p:nvPicPr>
        <p:blipFill>
          <a:blip r:embed="rId3" cstate="print"/>
          <a:stretch>
            <a:fillRect/>
          </a:stretch>
        </p:blipFill>
        <p:spPr>
          <a:xfrm>
            <a:off x="6732240" y="3939902"/>
            <a:ext cx="2123728" cy="92297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7" name="6 Rectángulo"/>
          <p:cNvSpPr/>
          <p:nvPr userDrawn="1"/>
        </p:nvSpPr>
        <p:spPr>
          <a:xfrm>
            <a:off x="0" y="4227934"/>
            <a:ext cx="9144000" cy="915566"/>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Marcador de posición de imagen"/>
          <p:cNvSpPr>
            <a:spLocks noGrp="1"/>
          </p:cNvSpPr>
          <p:nvPr>
            <p:ph type="pic" sz="quarter" idx="10"/>
          </p:nvPr>
        </p:nvSpPr>
        <p:spPr>
          <a:xfrm>
            <a:off x="0" y="0"/>
            <a:ext cx="9144000" cy="4227934"/>
          </a:xfrm>
        </p:spPr>
        <p:txBody>
          <a:bodyPr anchor="ctr">
            <a:normAutofit/>
          </a:bodyPr>
          <a:lstStyle>
            <a:lvl1pPr algn="ctr">
              <a:buFontTx/>
              <a:buNone/>
              <a:defRPr sz="1600" i="1">
                <a:solidFill>
                  <a:srgbClr val="F26D28"/>
                </a:solidFill>
              </a:defRPr>
            </a:lvl1pPr>
          </a:lstStyle>
          <a:p>
            <a:r>
              <a:rPr lang="es-ES"/>
              <a:t>Haga clic en el icono para agregar una imagen</a:t>
            </a:r>
            <a:endParaRPr lang="es-ES" dirty="0"/>
          </a:p>
        </p:txBody>
      </p:sp>
      <p:sp>
        <p:nvSpPr>
          <p:cNvPr id="2" name="1 Título"/>
          <p:cNvSpPr>
            <a:spLocks noGrp="1"/>
          </p:cNvSpPr>
          <p:nvPr>
            <p:ph type="ctrTitle" hasCustomPrompt="1"/>
          </p:nvPr>
        </p:nvSpPr>
        <p:spPr>
          <a:xfrm>
            <a:off x="251520" y="411510"/>
            <a:ext cx="5760640" cy="1440159"/>
          </a:xfrm>
          <a:solidFill>
            <a:srgbClr val="FF6B00"/>
          </a:solidFill>
        </p:spPr>
        <p:txBody>
          <a:bodyPr>
            <a:noAutofit/>
          </a:bodyPr>
          <a:lstStyle>
            <a:lvl1pPr algn="l">
              <a:defRPr sz="4000">
                <a:solidFill>
                  <a:schemeClr val="bg1"/>
                </a:solidFill>
              </a:defRPr>
            </a:lvl1pPr>
          </a:lstStyle>
          <a:p>
            <a:r>
              <a:rPr lang="es-ES" dirty="0"/>
              <a:t>Título de la presentación con imagen de fondo</a:t>
            </a:r>
          </a:p>
        </p:txBody>
      </p:sp>
      <p:pic>
        <p:nvPicPr>
          <p:cNvPr id="6" name="5 Imagen" descr="TICARUM_corta_blanco-naranja_web_72dpi_transparente.png"/>
          <p:cNvPicPr>
            <a:picLocks noChangeAspect="1"/>
          </p:cNvPicPr>
          <p:nvPr userDrawn="1"/>
        </p:nvPicPr>
        <p:blipFill>
          <a:blip r:embed="rId2" cstate="print"/>
          <a:stretch>
            <a:fillRect/>
          </a:stretch>
        </p:blipFill>
        <p:spPr>
          <a:xfrm>
            <a:off x="7380312" y="4421182"/>
            <a:ext cx="1503909" cy="45482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cabezado de sección">
    <p:bg>
      <p:bgPr>
        <a:solidFill>
          <a:srgbClr val="FF6B00"/>
        </a:solidFill>
        <a:effectLst/>
      </p:bgPr>
    </p:bg>
    <p:spTree>
      <p:nvGrpSpPr>
        <p:cNvPr id="1" name=""/>
        <p:cNvGrpSpPr/>
        <p:nvPr/>
      </p:nvGrpSpPr>
      <p:grpSpPr>
        <a:xfrm>
          <a:off x="0" y="0"/>
          <a:ext cx="0" cy="0"/>
          <a:chOff x="0" y="0"/>
          <a:chExt cx="0" cy="0"/>
        </a:xfrm>
      </p:grpSpPr>
      <p:sp>
        <p:nvSpPr>
          <p:cNvPr id="2" name="1 Título"/>
          <p:cNvSpPr>
            <a:spLocks noGrp="1"/>
          </p:cNvSpPr>
          <p:nvPr>
            <p:ph type="title" hasCustomPrompt="1"/>
          </p:nvPr>
        </p:nvSpPr>
        <p:spPr>
          <a:xfrm>
            <a:off x="1187624" y="1347614"/>
            <a:ext cx="6048672" cy="1872208"/>
          </a:xfrm>
        </p:spPr>
        <p:txBody>
          <a:bodyPr anchor="t">
            <a:noAutofit/>
          </a:bodyPr>
          <a:lstStyle>
            <a:lvl1pPr algn="l">
              <a:defRPr sz="3600" b="1" cap="none">
                <a:solidFill>
                  <a:schemeClr val="bg1"/>
                </a:solidFill>
              </a:defRPr>
            </a:lvl1pPr>
          </a:lstStyle>
          <a:p>
            <a:r>
              <a:rPr lang="es-ES" dirty="0"/>
              <a:t>Subtítulo de la Presentación</a:t>
            </a:r>
          </a:p>
        </p:txBody>
      </p:sp>
      <p:sp>
        <p:nvSpPr>
          <p:cNvPr id="13" name="12 Marcador de texto"/>
          <p:cNvSpPr>
            <a:spLocks noGrp="1"/>
          </p:cNvSpPr>
          <p:nvPr>
            <p:ph type="body" sz="quarter" idx="10" hasCustomPrompt="1"/>
          </p:nvPr>
        </p:nvSpPr>
        <p:spPr>
          <a:xfrm>
            <a:off x="1043608" y="195486"/>
            <a:ext cx="1296764" cy="1512515"/>
          </a:xfrm>
        </p:spPr>
        <p:txBody>
          <a:bodyPr>
            <a:noAutofit/>
          </a:bodyPr>
          <a:lstStyle>
            <a:lvl1pPr>
              <a:buNone/>
              <a:defRPr sz="8000">
                <a:solidFill>
                  <a:schemeClr val="bg1"/>
                </a:solidFill>
                <a:latin typeface="Calibri Light" pitchFamily="34" charset="0"/>
              </a:defRPr>
            </a:lvl1pPr>
          </a:lstStyle>
          <a:p>
            <a:pPr lvl="0"/>
            <a:r>
              <a:rPr lang="es-ES" dirty="0"/>
              <a:t>1</a:t>
            </a:r>
          </a:p>
        </p:txBody>
      </p:sp>
      <p:pic>
        <p:nvPicPr>
          <p:cNvPr id="5" name="4 Imagen" descr="TICARUM_corta_blanco-naranja_web_72dpi_transparente.png"/>
          <p:cNvPicPr>
            <a:picLocks noChangeAspect="1"/>
          </p:cNvPicPr>
          <p:nvPr userDrawn="1"/>
        </p:nvPicPr>
        <p:blipFill>
          <a:blip r:embed="rId2" cstate="print"/>
          <a:stretch>
            <a:fillRect/>
          </a:stretch>
        </p:blipFill>
        <p:spPr>
          <a:xfrm>
            <a:off x="7380312" y="4421182"/>
            <a:ext cx="1503909" cy="45482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lvl1pPr marL="0" indent="0">
              <a:buNone/>
              <a:defRPr sz="2400">
                <a:solidFill>
                  <a:srgbClr val="FF6B00"/>
                </a:solidFill>
              </a:defRPr>
            </a:lvl1pPr>
            <a:lvl2pPr marL="0" indent="0">
              <a:buNone/>
              <a:defRPr>
                <a:solidFill>
                  <a:schemeClr val="bg1">
                    <a:lumMod val="50000"/>
                  </a:schemeClr>
                </a:solidFill>
              </a:defRPr>
            </a:lvl2pPr>
            <a:lvl3pPr marL="534988" indent="-266700">
              <a:buClr>
                <a:srgbClr val="FF6A00"/>
              </a:buClr>
              <a:defRPr>
                <a:solidFill>
                  <a:schemeClr val="bg1">
                    <a:lumMod val="50000"/>
                  </a:schemeClr>
                </a:solidFill>
              </a:defRPr>
            </a:lvl3pPr>
            <a:lvl4pPr marL="808038" indent="-268288">
              <a:buClr>
                <a:srgbClr val="FF6A00"/>
              </a:buClr>
              <a:defRPr>
                <a:solidFill>
                  <a:schemeClr val="bg1">
                    <a:lumMod val="50000"/>
                  </a:schemeClr>
                </a:solidFill>
              </a:defRPr>
            </a:lvl4pPr>
            <a:lvl5pPr marL="13414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6" name="5 Marcador de número de diapositiva"/>
          <p:cNvSpPr>
            <a:spLocks noGrp="1"/>
          </p:cNvSpPr>
          <p:nvPr>
            <p:ph type="sldNum" sz="quarter" idx="12"/>
          </p:nvPr>
        </p:nvSpPr>
        <p:spPr/>
        <p:txBody>
          <a:bodyPr/>
          <a:lstStyle/>
          <a:p>
            <a:fld id="{14749D68-D688-459C-87BB-C604575B0110}" type="slidenum">
              <a:rPr lang="es-ES" smtClean="0"/>
              <a:pPr/>
              <a:t>‹Nº›</a:t>
            </a:fld>
            <a:endParaRPr lang="es-ES" dirty="0"/>
          </a:p>
        </p:txBody>
      </p:sp>
      <p:sp>
        <p:nvSpPr>
          <p:cNvPr id="13" name="12 Rectángulo"/>
          <p:cNvSpPr/>
          <p:nvPr userDrawn="1"/>
        </p:nvSpPr>
        <p:spPr>
          <a:xfrm>
            <a:off x="0" y="0"/>
            <a:ext cx="9144000" cy="915566"/>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 Título"/>
          <p:cNvSpPr>
            <a:spLocks noGrp="1"/>
          </p:cNvSpPr>
          <p:nvPr>
            <p:ph type="title" hasCustomPrompt="1"/>
          </p:nvPr>
        </p:nvSpPr>
        <p:spPr>
          <a:xfrm>
            <a:off x="457200" y="195486"/>
            <a:ext cx="6923112" cy="216024"/>
          </a:xfrm>
        </p:spPr>
        <p:txBody>
          <a:bodyPr>
            <a:noAutofit/>
          </a:bodyPr>
          <a:lstStyle>
            <a:lvl1pPr algn="l">
              <a:defRPr sz="1600">
                <a:solidFill>
                  <a:schemeClr val="bg1"/>
                </a:solidFill>
              </a:defRPr>
            </a:lvl1pPr>
          </a:lstStyle>
          <a:p>
            <a:r>
              <a:rPr lang="es-ES" dirty="0"/>
              <a:t>TÍTULO DE LA PRESENTACIÓN</a:t>
            </a:r>
          </a:p>
        </p:txBody>
      </p:sp>
      <p:pic>
        <p:nvPicPr>
          <p:cNvPr id="15" name="14 Imagen" descr="TICARUM_corta_blanco-naranja_web_72dpi_transparente.png"/>
          <p:cNvPicPr>
            <a:picLocks noChangeAspect="1"/>
          </p:cNvPicPr>
          <p:nvPr userDrawn="1"/>
        </p:nvPicPr>
        <p:blipFill>
          <a:blip r:embed="rId2" cstate="print"/>
          <a:stretch>
            <a:fillRect/>
          </a:stretch>
        </p:blipFill>
        <p:spPr>
          <a:xfrm>
            <a:off x="7380312" y="339502"/>
            <a:ext cx="1503909" cy="454824"/>
          </a:xfrm>
          <a:prstGeom prst="rect">
            <a:avLst/>
          </a:prstGeom>
        </p:spPr>
      </p:pic>
      <p:sp>
        <p:nvSpPr>
          <p:cNvPr id="16" name="11 Marcador de texto"/>
          <p:cNvSpPr>
            <a:spLocks noGrp="1"/>
          </p:cNvSpPr>
          <p:nvPr>
            <p:ph type="body" sz="quarter" idx="14" hasCustomPrompt="1"/>
          </p:nvPr>
        </p:nvSpPr>
        <p:spPr>
          <a:xfrm>
            <a:off x="468313" y="411510"/>
            <a:ext cx="6911975" cy="288032"/>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kumimoji="0" lang="es-ES" sz="2400" b="1" i="0" u="none" strike="noStrike" kern="1200" cap="none" spc="0" normalizeH="0" baseline="0" noProof="0" smtClean="0">
                <a:ln>
                  <a:noFill/>
                </a:ln>
                <a:solidFill>
                  <a:schemeClr val="bg1"/>
                </a:solidFill>
                <a:effectLst/>
                <a:uLnTx/>
                <a:uFillTx/>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1600" b="1" i="0" u="none" strike="noStrike" kern="1200" cap="none" spc="0" normalizeH="0" baseline="0" noProof="0" dirty="0">
                <a:ln>
                  <a:noFill/>
                </a:ln>
                <a:solidFill>
                  <a:schemeClr val="bg1"/>
                </a:solidFill>
                <a:effectLst/>
                <a:uLnTx/>
                <a:uFillTx/>
                <a:latin typeface="+mj-lt"/>
                <a:ea typeface="+mj-ea"/>
                <a:cs typeface="+mj-cs"/>
              </a:rPr>
              <a:t>SUBTÍTULO DE LA PRESENTACIÓN</a:t>
            </a:r>
          </a:p>
          <a:p>
            <a:pPr lvl="0"/>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11" name="5 Marcador de número de diapositiva"/>
          <p:cNvSpPr>
            <a:spLocks noGrp="1"/>
          </p:cNvSpPr>
          <p:nvPr>
            <p:ph type="sldNum" sz="quarter" idx="12"/>
          </p:nvPr>
        </p:nvSpPr>
        <p:spPr>
          <a:xfrm>
            <a:off x="6553200" y="4767263"/>
            <a:ext cx="2133600" cy="273844"/>
          </a:xfrm>
        </p:spPr>
        <p:txBody>
          <a:bodyPr/>
          <a:lstStyle/>
          <a:p>
            <a:fld id="{14749D68-D688-459C-87BB-C604575B0110}" type="slidenum">
              <a:rPr lang="es-ES" smtClean="0"/>
              <a:pPr/>
              <a:t>‹Nº›</a:t>
            </a:fld>
            <a:endParaRPr lang="es-ES" dirty="0"/>
          </a:p>
        </p:txBody>
      </p:sp>
      <p:sp>
        <p:nvSpPr>
          <p:cNvPr id="15" name="2 Marcador de contenido"/>
          <p:cNvSpPr>
            <a:spLocks noGrp="1"/>
          </p:cNvSpPr>
          <p:nvPr>
            <p:ph idx="10"/>
          </p:nvPr>
        </p:nvSpPr>
        <p:spPr>
          <a:xfrm>
            <a:off x="457200" y="1196950"/>
            <a:ext cx="4042792" cy="3391024"/>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355600" indent="-177800">
              <a:buClr>
                <a:srgbClr val="FF6A00"/>
              </a:buClr>
              <a:tabLst>
                <a:tab pos="355600" algn="l"/>
              </a:tabLst>
              <a:defRPr>
                <a:solidFill>
                  <a:schemeClr val="bg1">
                    <a:lumMod val="50000"/>
                  </a:schemeClr>
                </a:solidFill>
              </a:defRPr>
            </a:lvl3pPr>
            <a:lvl4pPr marL="712788" indent="-177800">
              <a:buClr>
                <a:srgbClr val="FF6A00"/>
              </a:buClr>
              <a:defRPr>
                <a:solidFill>
                  <a:schemeClr val="bg1">
                    <a:lumMod val="50000"/>
                  </a:schemeClr>
                </a:solidFill>
              </a:defRPr>
            </a:lvl4pPr>
            <a:lvl5pPr marL="11636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16" name="2 Marcador de contenido"/>
          <p:cNvSpPr>
            <a:spLocks noGrp="1"/>
          </p:cNvSpPr>
          <p:nvPr>
            <p:ph idx="14"/>
          </p:nvPr>
        </p:nvSpPr>
        <p:spPr>
          <a:xfrm>
            <a:off x="4644008" y="1193000"/>
            <a:ext cx="4032448" cy="3394974"/>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355600" indent="-177800">
              <a:buClr>
                <a:srgbClr val="FF6A00"/>
              </a:buClr>
              <a:defRPr>
                <a:solidFill>
                  <a:schemeClr val="bg1">
                    <a:lumMod val="50000"/>
                  </a:schemeClr>
                </a:solidFill>
              </a:defRPr>
            </a:lvl3pPr>
            <a:lvl4pPr marL="712788" indent="-177800">
              <a:buClr>
                <a:srgbClr val="FF6A00"/>
              </a:buClr>
              <a:defRPr>
                <a:solidFill>
                  <a:schemeClr val="bg1">
                    <a:lumMod val="50000"/>
                  </a:schemeClr>
                </a:solidFill>
              </a:defRPr>
            </a:lvl4pPr>
            <a:lvl5pPr marL="11636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19" name="18 Rectángulo"/>
          <p:cNvSpPr/>
          <p:nvPr userDrawn="1"/>
        </p:nvSpPr>
        <p:spPr>
          <a:xfrm>
            <a:off x="0" y="0"/>
            <a:ext cx="9144000" cy="915566"/>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1 Título"/>
          <p:cNvSpPr>
            <a:spLocks noGrp="1"/>
          </p:cNvSpPr>
          <p:nvPr>
            <p:ph type="title" hasCustomPrompt="1"/>
          </p:nvPr>
        </p:nvSpPr>
        <p:spPr>
          <a:xfrm>
            <a:off x="457200" y="195486"/>
            <a:ext cx="6923112" cy="216024"/>
          </a:xfrm>
        </p:spPr>
        <p:txBody>
          <a:bodyPr>
            <a:noAutofit/>
          </a:bodyPr>
          <a:lstStyle>
            <a:lvl1pPr algn="l">
              <a:defRPr sz="1600">
                <a:solidFill>
                  <a:schemeClr val="bg1"/>
                </a:solidFill>
              </a:defRPr>
            </a:lvl1pPr>
          </a:lstStyle>
          <a:p>
            <a:r>
              <a:rPr lang="es-ES" dirty="0"/>
              <a:t>TÍTULO DE LA PRESENTACIÓN</a:t>
            </a:r>
          </a:p>
        </p:txBody>
      </p:sp>
      <p:pic>
        <p:nvPicPr>
          <p:cNvPr id="21" name="20 Imagen" descr="TICARUM_corta_blanco-naranja_web_72dpi_transparente.png"/>
          <p:cNvPicPr>
            <a:picLocks noChangeAspect="1"/>
          </p:cNvPicPr>
          <p:nvPr userDrawn="1"/>
        </p:nvPicPr>
        <p:blipFill>
          <a:blip r:embed="rId2" cstate="print"/>
          <a:stretch>
            <a:fillRect/>
          </a:stretch>
        </p:blipFill>
        <p:spPr>
          <a:xfrm>
            <a:off x="7380312" y="339502"/>
            <a:ext cx="1503909" cy="454824"/>
          </a:xfrm>
          <a:prstGeom prst="rect">
            <a:avLst/>
          </a:prstGeom>
        </p:spPr>
      </p:pic>
      <p:sp>
        <p:nvSpPr>
          <p:cNvPr id="22" name="11 Marcador de texto"/>
          <p:cNvSpPr>
            <a:spLocks noGrp="1"/>
          </p:cNvSpPr>
          <p:nvPr>
            <p:ph type="body" sz="quarter" idx="15" hasCustomPrompt="1"/>
          </p:nvPr>
        </p:nvSpPr>
        <p:spPr>
          <a:xfrm>
            <a:off x="468313" y="411510"/>
            <a:ext cx="6911975" cy="288032"/>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kumimoji="0" lang="es-ES" sz="2400" b="1" i="0" u="none" strike="noStrike" kern="1200" cap="none" spc="0" normalizeH="0" baseline="0" noProof="0" smtClean="0">
                <a:ln>
                  <a:noFill/>
                </a:ln>
                <a:solidFill>
                  <a:schemeClr val="bg1"/>
                </a:solidFill>
                <a:effectLst/>
                <a:uLnTx/>
                <a:uFillTx/>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1600" b="1" i="0" u="none" strike="noStrike" kern="1200" cap="none" spc="0" normalizeH="0" baseline="0" noProof="0" dirty="0">
                <a:ln>
                  <a:noFill/>
                </a:ln>
                <a:solidFill>
                  <a:schemeClr val="bg1"/>
                </a:solidFill>
                <a:effectLst/>
                <a:uLnTx/>
                <a:uFillTx/>
                <a:latin typeface="+mj-lt"/>
                <a:ea typeface="+mj-ea"/>
                <a:cs typeface="+mj-cs"/>
              </a:rPr>
              <a:t>SUBTÍTULO DE LA PRESENTACIÓN</a:t>
            </a:r>
          </a:p>
          <a:p>
            <a:pPr lvl="0"/>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3" name="2 Marcador de texto"/>
          <p:cNvSpPr>
            <a:spLocks noGrp="1"/>
          </p:cNvSpPr>
          <p:nvPr>
            <p:ph type="body" idx="1" hasCustomPrompt="1"/>
          </p:nvPr>
        </p:nvSpPr>
        <p:spPr>
          <a:xfrm>
            <a:off x="457200" y="1151335"/>
            <a:ext cx="4040188" cy="479822"/>
          </a:xfrm>
        </p:spPr>
        <p:txBody>
          <a:bodyPr anchor="b">
            <a:noAutofit/>
          </a:bodyPr>
          <a:lstStyle>
            <a:lvl1pPr marL="0" indent="0">
              <a:buNone/>
              <a:defRPr sz="2400" b="1">
                <a:solidFill>
                  <a:srgbClr val="FF6B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Cabecera 1</a:t>
            </a:r>
          </a:p>
        </p:txBody>
      </p:sp>
      <p:sp>
        <p:nvSpPr>
          <p:cNvPr id="5" name="4 Marcador de texto"/>
          <p:cNvSpPr>
            <a:spLocks noGrp="1"/>
          </p:cNvSpPr>
          <p:nvPr>
            <p:ph type="body" sz="quarter" idx="3" hasCustomPrompt="1"/>
          </p:nvPr>
        </p:nvSpPr>
        <p:spPr>
          <a:xfrm>
            <a:off x="4645026" y="1151335"/>
            <a:ext cx="4041775" cy="479822"/>
          </a:xfrm>
        </p:spPr>
        <p:txBody>
          <a:bodyPr anchor="b">
            <a:noAutofit/>
          </a:bodyPr>
          <a:lstStyle>
            <a:lvl1pPr marL="0" indent="0">
              <a:buNone/>
              <a:defRPr sz="2400" b="1">
                <a:solidFill>
                  <a:srgbClr val="FF6B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Cabecera 2</a:t>
            </a:r>
          </a:p>
        </p:txBody>
      </p:sp>
      <p:sp>
        <p:nvSpPr>
          <p:cNvPr id="13" name="5 Marcador de número de diapositiva"/>
          <p:cNvSpPr>
            <a:spLocks noGrp="1"/>
          </p:cNvSpPr>
          <p:nvPr>
            <p:ph type="sldNum" sz="quarter" idx="12"/>
          </p:nvPr>
        </p:nvSpPr>
        <p:spPr>
          <a:xfrm>
            <a:off x="6553200" y="4767263"/>
            <a:ext cx="2133600" cy="273844"/>
          </a:xfrm>
        </p:spPr>
        <p:txBody>
          <a:bodyPr/>
          <a:lstStyle/>
          <a:p>
            <a:fld id="{14749D68-D688-459C-87BB-C604575B0110}" type="slidenum">
              <a:rPr lang="es-ES" smtClean="0"/>
              <a:pPr/>
              <a:t>‹Nº›</a:t>
            </a:fld>
            <a:endParaRPr lang="es-ES" dirty="0"/>
          </a:p>
        </p:txBody>
      </p:sp>
      <p:sp>
        <p:nvSpPr>
          <p:cNvPr id="17" name="16 Rectángulo"/>
          <p:cNvSpPr/>
          <p:nvPr userDrawn="1"/>
        </p:nvSpPr>
        <p:spPr>
          <a:xfrm>
            <a:off x="0" y="0"/>
            <a:ext cx="9144000" cy="915566"/>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1 Título"/>
          <p:cNvSpPr>
            <a:spLocks noGrp="1"/>
          </p:cNvSpPr>
          <p:nvPr>
            <p:ph type="title" hasCustomPrompt="1"/>
          </p:nvPr>
        </p:nvSpPr>
        <p:spPr>
          <a:xfrm>
            <a:off x="457200" y="195486"/>
            <a:ext cx="6923112" cy="216024"/>
          </a:xfrm>
        </p:spPr>
        <p:txBody>
          <a:bodyPr>
            <a:noAutofit/>
          </a:bodyPr>
          <a:lstStyle>
            <a:lvl1pPr algn="l">
              <a:defRPr sz="1600">
                <a:solidFill>
                  <a:schemeClr val="bg1"/>
                </a:solidFill>
              </a:defRPr>
            </a:lvl1pPr>
          </a:lstStyle>
          <a:p>
            <a:r>
              <a:rPr lang="es-ES" dirty="0"/>
              <a:t>TÍTULO DE LA PRESENTACIÓN</a:t>
            </a:r>
          </a:p>
        </p:txBody>
      </p:sp>
      <p:pic>
        <p:nvPicPr>
          <p:cNvPr id="19" name="18 Imagen" descr="TICARUM_corta_blanco-naranja_web_72dpi_transparente.png"/>
          <p:cNvPicPr>
            <a:picLocks noChangeAspect="1"/>
          </p:cNvPicPr>
          <p:nvPr userDrawn="1"/>
        </p:nvPicPr>
        <p:blipFill>
          <a:blip r:embed="rId2" cstate="print"/>
          <a:stretch>
            <a:fillRect/>
          </a:stretch>
        </p:blipFill>
        <p:spPr>
          <a:xfrm>
            <a:off x="7380312" y="339502"/>
            <a:ext cx="1503909" cy="454824"/>
          </a:xfrm>
          <a:prstGeom prst="rect">
            <a:avLst/>
          </a:prstGeom>
        </p:spPr>
      </p:pic>
      <p:sp>
        <p:nvSpPr>
          <p:cNvPr id="20" name="11 Marcador de texto"/>
          <p:cNvSpPr>
            <a:spLocks noGrp="1"/>
          </p:cNvSpPr>
          <p:nvPr>
            <p:ph type="body" sz="quarter" idx="14" hasCustomPrompt="1"/>
          </p:nvPr>
        </p:nvSpPr>
        <p:spPr>
          <a:xfrm>
            <a:off x="468313" y="411510"/>
            <a:ext cx="6911975" cy="288032"/>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kumimoji="0" lang="es-ES" sz="2400" b="1" i="0" u="none" strike="noStrike" kern="1200" cap="none" spc="0" normalizeH="0" baseline="0" noProof="0" smtClean="0">
                <a:ln>
                  <a:noFill/>
                </a:ln>
                <a:solidFill>
                  <a:schemeClr val="bg1"/>
                </a:solidFill>
                <a:effectLst/>
                <a:uLnTx/>
                <a:uFillTx/>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1600" b="1" i="0" u="none" strike="noStrike" kern="1200" cap="none" spc="0" normalizeH="0" baseline="0" noProof="0" dirty="0">
                <a:ln>
                  <a:noFill/>
                </a:ln>
                <a:solidFill>
                  <a:schemeClr val="bg1"/>
                </a:solidFill>
                <a:effectLst/>
                <a:uLnTx/>
                <a:uFillTx/>
                <a:latin typeface="+mj-lt"/>
                <a:ea typeface="+mj-ea"/>
                <a:cs typeface="+mj-cs"/>
              </a:rPr>
              <a:t>SUBTÍTULO DE LA PRESENTACIÓN</a:t>
            </a:r>
          </a:p>
          <a:p>
            <a:pPr lvl="0"/>
            <a:endParaRPr lang="es-ES" dirty="0"/>
          </a:p>
        </p:txBody>
      </p:sp>
      <p:sp>
        <p:nvSpPr>
          <p:cNvPr id="21" name="2 Marcador de contenido"/>
          <p:cNvSpPr>
            <a:spLocks noGrp="1"/>
          </p:cNvSpPr>
          <p:nvPr>
            <p:ph idx="10"/>
          </p:nvPr>
        </p:nvSpPr>
        <p:spPr>
          <a:xfrm>
            <a:off x="457200" y="1635646"/>
            <a:ext cx="4042792" cy="2952328"/>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355600" indent="-177800">
              <a:buClr>
                <a:srgbClr val="FF6A00"/>
              </a:buClr>
              <a:tabLst>
                <a:tab pos="355600" algn="l"/>
              </a:tabLst>
              <a:defRPr>
                <a:solidFill>
                  <a:schemeClr val="bg1">
                    <a:lumMod val="50000"/>
                  </a:schemeClr>
                </a:solidFill>
              </a:defRPr>
            </a:lvl3pPr>
            <a:lvl4pPr marL="712788" indent="-177800">
              <a:buClr>
                <a:srgbClr val="FF6A00"/>
              </a:buClr>
              <a:defRPr>
                <a:solidFill>
                  <a:schemeClr val="bg1">
                    <a:lumMod val="50000"/>
                  </a:schemeClr>
                </a:solidFill>
              </a:defRPr>
            </a:lvl4pPr>
            <a:lvl5pPr marL="11636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22" name="2 Marcador de contenido"/>
          <p:cNvSpPr>
            <a:spLocks noGrp="1"/>
          </p:cNvSpPr>
          <p:nvPr>
            <p:ph idx="15"/>
          </p:nvPr>
        </p:nvSpPr>
        <p:spPr>
          <a:xfrm>
            <a:off x="4644008" y="1632206"/>
            <a:ext cx="4032448" cy="2955767"/>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355600" indent="-177800">
              <a:buClr>
                <a:srgbClr val="FF6A00"/>
              </a:buClr>
              <a:defRPr>
                <a:solidFill>
                  <a:schemeClr val="bg1">
                    <a:lumMod val="50000"/>
                  </a:schemeClr>
                </a:solidFill>
              </a:defRPr>
            </a:lvl3pPr>
            <a:lvl4pPr marL="712788" indent="-177800">
              <a:buClr>
                <a:srgbClr val="FF6A00"/>
              </a:buClr>
              <a:defRPr>
                <a:solidFill>
                  <a:schemeClr val="bg1">
                    <a:lumMod val="50000"/>
                  </a:schemeClr>
                </a:solidFill>
              </a:defRPr>
            </a:lvl4pPr>
            <a:lvl5pPr marL="11636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8" name="7 Rectángulo"/>
          <p:cNvSpPr/>
          <p:nvPr userDrawn="1"/>
        </p:nvSpPr>
        <p:spPr>
          <a:xfrm>
            <a:off x="0" y="0"/>
            <a:ext cx="3059832" cy="5143500"/>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1 Título"/>
          <p:cNvSpPr>
            <a:spLocks noGrp="1"/>
          </p:cNvSpPr>
          <p:nvPr>
            <p:ph type="title"/>
          </p:nvPr>
        </p:nvSpPr>
        <p:spPr>
          <a:xfrm>
            <a:off x="457201" y="204787"/>
            <a:ext cx="2386607" cy="871538"/>
          </a:xfrm>
        </p:spPr>
        <p:txBody>
          <a:bodyPr anchor="b"/>
          <a:lstStyle>
            <a:lvl1pPr algn="l">
              <a:defRPr sz="2000" b="1">
                <a:solidFill>
                  <a:schemeClr val="bg1"/>
                </a:solidFill>
              </a:defRPr>
            </a:lvl1pPr>
          </a:lstStyle>
          <a:p>
            <a:r>
              <a:rPr lang="es-ES"/>
              <a:t>Haga clic para modificar el estilo de título del patrón</a:t>
            </a:r>
            <a:endParaRPr lang="es-ES" dirty="0"/>
          </a:p>
        </p:txBody>
      </p:sp>
      <p:sp>
        <p:nvSpPr>
          <p:cNvPr id="4" name="3 Marcador de texto"/>
          <p:cNvSpPr>
            <a:spLocks noGrp="1"/>
          </p:cNvSpPr>
          <p:nvPr>
            <p:ph type="body" sz="half" idx="2"/>
          </p:nvPr>
        </p:nvSpPr>
        <p:spPr>
          <a:xfrm>
            <a:off x="457201" y="1076326"/>
            <a:ext cx="2386607" cy="3518297"/>
          </a:xfrm>
        </p:spPr>
        <p:txBody>
          <a:bodyPr/>
          <a:lstStyle>
            <a:lvl1pPr marL="0" indent="0">
              <a:buNone/>
              <a:defRPr sz="1400">
                <a:solidFill>
                  <a:schemeClr val="accent6">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6 Marcador de número de diapositiva"/>
          <p:cNvSpPr>
            <a:spLocks noGrp="1"/>
          </p:cNvSpPr>
          <p:nvPr>
            <p:ph type="sldNum" sz="quarter" idx="12"/>
          </p:nvPr>
        </p:nvSpPr>
        <p:spPr/>
        <p:txBody>
          <a:bodyPr/>
          <a:lstStyle/>
          <a:p>
            <a:fld id="{14749D68-D688-459C-87BB-C604575B0110}" type="slidenum">
              <a:rPr lang="es-ES" smtClean="0"/>
              <a:pPr/>
              <a:t>‹Nº›</a:t>
            </a:fld>
            <a:endParaRPr lang="es-ES"/>
          </a:p>
        </p:txBody>
      </p:sp>
      <p:pic>
        <p:nvPicPr>
          <p:cNvPr id="9" name="8 Imagen" descr="TICARUM_corta_blanco-naranja_web_72dpi_transparente.png"/>
          <p:cNvPicPr>
            <a:picLocks noChangeAspect="1"/>
          </p:cNvPicPr>
          <p:nvPr userDrawn="1"/>
        </p:nvPicPr>
        <p:blipFill>
          <a:blip r:embed="rId2" cstate="print"/>
          <a:stretch>
            <a:fillRect/>
          </a:stretch>
        </p:blipFill>
        <p:spPr>
          <a:xfrm>
            <a:off x="827584" y="4421182"/>
            <a:ext cx="1503909" cy="454824"/>
          </a:xfrm>
          <a:prstGeom prst="rect">
            <a:avLst/>
          </a:prstGeom>
        </p:spPr>
      </p:pic>
      <p:sp>
        <p:nvSpPr>
          <p:cNvPr id="10" name="2 Marcador de contenido"/>
          <p:cNvSpPr>
            <a:spLocks noGrp="1"/>
          </p:cNvSpPr>
          <p:nvPr>
            <p:ph idx="1"/>
          </p:nvPr>
        </p:nvSpPr>
        <p:spPr>
          <a:xfrm>
            <a:off x="3275856" y="195486"/>
            <a:ext cx="5410944" cy="4399137"/>
          </a:xfrm>
        </p:spPr>
        <p:txBody>
          <a:bodyPr/>
          <a:lstStyle>
            <a:lvl1pPr marL="0" indent="0">
              <a:buNone/>
              <a:defRPr sz="2400">
                <a:solidFill>
                  <a:srgbClr val="FF6B00"/>
                </a:solidFill>
              </a:defRPr>
            </a:lvl1pPr>
            <a:lvl2pPr marL="0" indent="0">
              <a:buNone/>
              <a:defRPr>
                <a:solidFill>
                  <a:schemeClr val="bg1">
                    <a:lumMod val="50000"/>
                  </a:schemeClr>
                </a:solidFill>
              </a:defRPr>
            </a:lvl2pPr>
            <a:lvl3pPr marL="534988" indent="-266700">
              <a:buClr>
                <a:srgbClr val="FF6A00"/>
              </a:buClr>
              <a:defRPr>
                <a:solidFill>
                  <a:schemeClr val="bg1">
                    <a:lumMod val="50000"/>
                  </a:schemeClr>
                </a:solidFill>
              </a:defRPr>
            </a:lvl3pPr>
            <a:lvl4pPr marL="808038" indent="-268288">
              <a:buClr>
                <a:srgbClr val="FF6A00"/>
              </a:buClr>
              <a:defRPr>
                <a:solidFill>
                  <a:schemeClr val="bg1">
                    <a:lumMod val="50000"/>
                  </a:schemeClr>
                </a:solidFill>
              </a:defRPr>
            </a:lvl4pPr>
            <a:lvl5pPr marL="1341438" indent="-260350">
              <a:buClr>
                <a:srgbClr val="FF6A00"/>
              </a:buClr>
              <a:defRPr>
                <a:solidFill>
                  <a:schemeClr val="bg1">
                    <a:lumMod val="50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bg>
      <p:bgPr>
        <a:solidFill>
          <a:srgbClr val="FF6B00"/>
        </a:solidFill>
        <a:effectLst/>
      </p:bgPr>
    </p:bg>
    <p:spTree>
      <p:nvGrpSpPr>
        <p:cNvPr id="1" name=""/>
        <p:cNvGrpSpPr/>
        <p:nvPr/>
      </p:nvGrpSpPr>
      <p:grpSpPr>
        <a:xfrm>
          <a:off x="0" y="0"/>
          <a:ext cx="0" cy="0"/>
          <a:chOff x="0" y="0"/>
          <a:chExt cx="0" cy="0"/>
        </a:xfrm>
      </p:grpSpPr>
      <p:sp>
        <p:nvSpPr>
          <p:cNvPr id="2" name="1 Título"/>
          <p:cNvSpPr>
            <a:spLocks noGrp="1"/>
          </p:cNvSpPr>
          <p:nvPr>
            <p:ph type="title" hasCustomPrompt="1"/>
          </p:nvPr>
        </p:nvSpPr>
        <p:spPr>
          <a:xfrm>
            <a:off x="1792288" y="3600450"/>
            <a:ext cx="5486400" cy="425054"/>
          </a:xfrm>
        </p:spPr>
        <p:txBody>
          <a:bodyPr anchor="b"/>
          <a:lstStyle>
            <a:lvl1pPr algn="l">
              <a:defRPr sz="2400" b="1" baseline="0">
                <a:solidFill>
                  <a:schemeClr val="bg1"/>
                </a:solidFill>
              </a:defRPr>
            </a:lvl1pPr>
          </a:lstStyle>
          <a:p>
            <a:r>
              <a:rPr lang="es-ES" dirty="0"/>
              <a:t>Título sección</a:t>
            </a:r>
          </a:p>
        </p:txBody>
      </p:sp>
      <p:sp>
        <p:nvSpPr>
          <p:cNvPr id="3" name="2 Marcador de posición de imagen"/>
          <p:cNvSpPr>
            <a:spLocks noGrp="1"/>
          </p:cNvSpPr>
          <p:nvPr>
            <p:ph type="pic" idx="1" hasCustomPrompt="1"/>
          </p:nvPr>
        </p:nvSpPr>
        <p:spPr>
          <a:xfrm>
            <a:off x="1792288" y="459581"/>
            <a:ext cx="5486400" cy="3086100"/>
          </a:xfrm>
        </p:spPr>
        <p:txBody>
          <a:bodyPr>
            <a:normAutofit/>
          </a:bodyPr>
          <a:lstStyle>
            <a:lvl1pPr marL="0" indent="0">
              <a:buNone/>
              <a:defRPr sz="1800" i="1">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Imagen</a:t>
            </a:r>
          </a:p>
        </p:txBody>
      </p:sp>
      <p:sp>
        <p:nvSpPr>
          <p:cNvPr id="4" name="3 Marcador de texto"/>
          <p:cNvSpPr>
            <a:spLocks noGrp="1"/>
          </p:cNvSpPr>
          <p:nvPr>
            <p:ph type="body" sz="half" idx="2" hasCustomPrompt="1"/>
          </p:nvPr>
        </p:nvSpPr>
        <p:spPr>
          <a:xfrm>
            <a:off x="1792288" y="4025503"/>
            <a:ext cx="5486400" cy="603647"/>
          </a:xfrm>
        </p:spPr>
        <p:txBody>
          <a:bodyPr/>
          <a:lstStyle>
            <a:lvl1pPr marL="0" indent="0">
              <a:buNone/>
              <a:defRPr sz="1400">
                <a:solidFill>
                  <a:schemeClr val="accent6">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dirty="0"/>
              <a:t>Subtítulo sección</a:t>
            </a:r>
          </a:p>
        </p:txBody>
      </p:sp>
      <p:pic>
        <p:nvPicPr>
          <p:cNvPr id="6" name="5 Imagen" descr="TICARUM_corta_blanco-naranja_web_72dpi_transparente.png"/>
          <p:cNvPicPr>
            <a:picLocks noChangeAspect="1"/>
          </p:cNvPicPr>
          <p:nvPr userDrawn="1"/>
        </p:nvPicPr>
        <p:blipFill>
          <a:blip r:embed="rId2" cstate="print"/>
          <a:stretch>
            <a:fillRect/>
          </a:stretch>
        </p:blipFill>
        <p:spPr>
          <a:xfrm>
            <a:off x="7380312" y="4421182"/>
            <a:ext cx="1503909" cy="45482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raportada">
    <p:bg>
      <p:bgPr>
        <a:solidFill>
          <a:srgbClr val="FF6B00"/>
        </a:solidFill>
        <a:effectLst/>
      </p:bgPr>
    </p:bg>
    <p:spTree>
      <p:nvGrpSpPr>
        <p:cNvPr id="1" name=""/>
        <p:cNvGrpSpPr/>
        <p:nvPr/>
      </p:nvGrpSpPr>
      <p:grpSpPr>
        <a:xfrm>
          <a:off x="0" y="0"/>
          <a:ext cx="0" cy="0"/>
          <a:chOff x="0" y="0"/>
          <a:chExt cx="0" cy="0"/>
        </a:xfrm>
      </p:grpSpPr>
      <p:sp>
        <p:nvSpPr>
          <p:cNvPr id="2" name="1 Título"/>
          <p:cNvSpPr>
            <a:spLocks noGrp="1"/>
          </p:cNvSpPr>
          <p:nvPr>
            <p:ph type="title" hasCustomPrompt="1"/>
          </p:nvPr>
        </p:nvSpPr>
        <p:spPr>
          <a:xfrm>
            <a:off x="1835696" y="627534"/>
            <a:ext cx="5486400" cy="1381746"/>
          </a:xfrm>
        </p:spPr>
        <p:txBody>
          <a:bodyPr anchor="b"/>
          <a:lstStyle>
            <a:lvl1pPr algn="l">
              <a:defRPr sz="2800" b="1">
                <a:solidFill>
                  <a:schemeClr val="bg1"/>
                </a:solidFill>
              </a:defRPr>
            </a:lvl1pPr>
          </a:lstStyle>
          <a:p>
            <a:r>
              <a:rPr lang="es-ES" dirty="0"/>
              <a:t>Título Despedida</a:t>
            </a:r>
          </a:p>
        </p:txBody>
      </p:sp>
      <p:sp>
        <p:nvSpPr>
          <p:cNvPr id="4" name="3 Marcador de texto"/>
          <p:cNvSpPr>
            <a:spLocks noGrp="1"/>
          </p:cNvSpPr>
          <p:nvPr>
            <p:ph type="body" sz="half" idx="2" hasCustomPrompt="1"/>
          </p:nvPr>
        </p:nvSpPr>
        <p:spPr>
          <a:xfrm>
            <a:off x="1835696" y="1995686"/>
            <a:ext cx="5486400" cy="603647"/>
          </a:xfrm>
        </p:spPr>
        <p:txBody>
          <a:bodyPr/>
          <a:lstStyle>
            <a:lvl1pPr marL="0" indent="0">
              <a:buNone/>
              <a:defRPr sz="1400">
                <a:solidFill>
                  <a:schemeClr val="accent6">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dirty="0"/>
              <a:t>Subtítulo despedida</a:t>
            </a:r>
          </a:p>
        </p:txBody>
      </p:sp>
      <p:sp>
        <p:nvSpPr>
          <p:cNvPr id="6" name="2 Marcador de posición de imagen"/>
          <p:cNvSpPr>
            <a:spLocks noGrp="1"/>
          </p:cNvSpPr>
          <p:nvPr>
            <p:ph type="pic" idx="1" hasCustomPrompt="1"/>
          </p:nvPr>
        </p:nvSpPr>
        <p:spPr>
          <a:xfrm>
            <a:off x="1835696" y="2859782"/>
            <a:ext cx="1152128" cy="1152128"/>
          </a:xfrm>
          <a:ln>
            <a:solidFill>
              <a:schemeClr val="accent6">
                <a:lumMod val="40000"/>
                <a:lumOff val="60000"/>
              </a:schemeClr>
            </a:solidFill>
          </a:ln>
        </p:spPr>
        <p:txBody>
          <a:bodyPr>
            <a:normAutofit/>
          </a:bodyPr>
          <a:lstStyle>
            <a:lvl1pPr marL="0" indent="0">
              <a:buNone/>
              <a:defRPr sz="1200" i="1">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Autor</a:t>
            </a:r>
          </a:p>
        </p:txBody>
      </p:sp>
      <p:sp>
        <p:nvSpPr>
          <p:cNvPr id="10" name="9 Marcador de texto"/>
          <p:cNvSpPr>
            <a:spLocks noGrp="1"/>
          </p:cNvSpPr>
          <p:nvPr>
            <p:ph type="body" sz="quarter" idx="10" hasCustomPrompt="1"/>
          </p:nvPr>
        </p:nvSpPr>
        <p:spPr>
          <a:xfrm>
            <a:off x="2987675" y="2859088"/>
            <a:ext cx="4321175" cy="1152525"/>
          </a:xfrm>
          <a:noFill/>
          <a:ln>
            <a:solidFill>
              <a:schemeClr val="accent6">
                <a:lumMod val="40000"/>
                <a:lumOff val="60000"/>
              </a:schemeClr>
            </a:solidFill>
          </a:ln>
        </p:spPr>
        <p:txBody>
          <a:bodyPr anchor="ctr">
            <a:normAutofit/>
          </a:bodyPr>
          <a:lstStyle>
            <a:lvl1pPr>
              <a:buNone/>
              <a:defRPr sz="1600">
                <a:solidFill>
                  <a:schemeClr val="accent6">
                    <a:lumMod val="60000"/>
                    <a:lumOff val="40000"/>
                  </a:schemeClr>
                </a:solidFill>
              </a:defRPr>
            </a:lvl1pPr>
          </a:lstStyle>
          <a:p>
            <a:pPr lvl="0"/>
            <a:r>
              <a:rPr lang="es-ES" dirty="0"/>
              <a:t>&lt;Nombre y apellidos&gt;</a:t>
            </a:r>
          </a:p>
          <a:p>
            <a:pPr lvl="0"/>
            <a:r>
              <a:rPr lang="es-ES" dirty="0"/>
              <a:t>&lt;Email&gt;</a:t>
            </a:r>
          </a:p>
          <a:p>
            <a:pPr lvl="0"/>
            <a:r>
              <a:rPr lang="es-ES" dirty="0"/>
              <a:t>&lt;Teléfono&gt;</a:t>
            </a:r>
          </a:p>
        </p:txBody>
      </p:sp>
      <p:pic>
        <p:nvPicPr>
          <p:cNvPr id="8" name="7 Imagen" descr="TICARUM_corta_blanco-naranja_web_72dpi_transparente.png"/>
          <p:cNvPicPr>
            <a:picLocks noChangeAspect="1"/>
          </p:cNvPicPr>
          <p:nvPr userDrawn="1"/>
        </p:nvPicPr>
        <p:blipFill>
          <a:blip r:embed="rId2" cstate="print"/>
          <a:stretch>
            <a:fillRect/>
          </a:stretch>
        </p:blipFill>
        <p:spPr>
          <a:xfrm>
            <a:off x="7380312" y="4421182"/>
            <a:ext cx="1503909" cy="4548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05979"/>
            <a:ext cx="8229600" cy="857250"/>
          </a:xfrm>
          <a:prstGeom prst="rect">
            <a:avLst/>
          </a:prstGeom>
        </p:spPr>
        <p:txBody>
          <a:bodyPr vert="horz" lIns="91440" tIns="45720" rIns="91440" bIns="45720" rtlCol="0" anchor="ctr">
            <a:noAutofit/>
          </a:bodyPr>
          <a:lstStyle/>
          <a:p>
            <a:r>
              <a:rPr lang="es-ES" dirty="0"/>
              <a:t>Haga clic para modificar el estilo de título del patrón</a:t>
            </a:r>
          </a:p>
        </p:txBody>
      </p:sp>
      <p:sp>
        <p:nvSpPr>
          <p:cNvPr id="3" name="2 Marcador de texto"/>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3 Marcador de fecha"/>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F83015D-F054-4B71-BB12-316A6A9541BC}" type="datetimeFigureOut">
              <a:rPr lang="es-ES" smtClean="0"/>
              <a:pPr/>
              <a:t>13/11/2025</a:t>
            </a:fld>
            <a:endParaRPr lang="es-ES"/>
          </a:p>
        </p:txBody>
      </p:sp>
      <p:sp>
        <p:nvSpPr>
          <p:cNvPr id="5" name="4 Marcador de pie de página"/>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4749D68-D688-459C-87BB-C604575B0110}"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2" r:id="rId1"/>
    <p:sldLayoutId id="2147483649" r:id="rId2"/>
    <p:sldLayoutId id="2147483660" r:id="rId3"/>
    <p:sldLayoutId id="2147483651" r:id="rId4"/>
    <p:sldLayoutId id="2147483650" r:id="rId5"/>
    <p:sldLayoutId id="2147483652" r:id="rId6"/>
    <p:sldLayoutId id="2147483653" r:id="rId7"/>
    <p:sldLayoutId id="2147483656" r:id="rId8"/>
    <p:sldLayoutId id="2147483657" r:id="rId9"/>
    <p:sldLayoutId id="2147483661" r:id="rId10"/>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2.sv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51520" y="411510"/>
            <a:ext cx="7772400" cy="1152128"/>
          </a:xfrm>
        </p:spPr>
        <p:txBody>
          <a:bodyPr/>
          <a:lstStyle/>
          <a:p>
            <a:r>
              <a:rPr lang="es-ES" b="1" dirty="0"/>
              <a:t>Análisis y optimización de consultas en Oracle SQL y PL/SQL </a:t>
            </a:r>
            <a:endParaRPr lang="es-ES" dirty="0"/>
          </a:p>
        </p:txBody>
      </p:sp>
      <p:sp>
        <p:nvSpPr>
          <p:cNvPr id="4" name="4 Título">
            <a:extLst>
              <a:ext uri="{FF2B5EF4-FFF2-40B4-BE49-F238E27FC236}">
                <a16:creationId xmlns:a16="http://schemas.microsoft.com/office/drawing/2014/main" id="{CEA2CD2E-B90F-5078-3BEF-98753350D0D8}"/>
              </a:ext>
            </a:extLst>
          </p:cNvPr>
          <p:cNvSpPr txBox="1">
            <a:spLocks/>
          </p:cNvSpPr>
          <p:nvPr/>
        </p:nvSpPr>
        <p:spPr>
          <a:xfrm>
            <a:off x="252028" y="2067694"/>
            <a:ext cx="2880320" cy="72008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a:solidFill>
                  <a:srgbClr val="FF6B00"/>
                </a:solidFill>
                <a:latin typeface="+mj-lt"/>
                <a:ea typeface="+mj-ea"/>
                <a:cs typeface="+mj-cs"/>
              </a:defRPr>
            </a:lvl1pPr>
          </a:lstStyle>
          <a:p>
            <a:r>
              <a:rPr lang="es-ES" dirty="0">
                <a:solidFill>
                  <a:schemeClr val="bg1"/>
                </a:solidFill>
              </a:rPr>
              <a:t>Sesión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90AA-A36D-0698-1CFD-B91FCF9FF0B8}"/>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CD4D17EB-BB9C-75A1-58BF-CB459A47A457}"/>
              </a:ext>
            </a:extLst>
          </p:cNvPr>
          <p:cNvSpPr>
            <a:spLocks noGrp="1"/>
          </p:cNvSpPr>
          <p:nvPr>
            <p:ph idx="1"/>
          </p:nvPr>
        </p:nvSpPr>
        <p:spPr/>
        <p:txBody>
          <a:bodyPr/>
          <a:lstStyle/>
          <a:p>
            <a:r>
              <a:rPr lang="es-ES" dirty="0"/>
              <a:t>Sesiones</a:t>
            </a:r>
          </a:p>
          <a:p>
            <a:pPr lvl="2"/>
            <a:r>
              <a:rPr lang="es-ES" dirty="0"/>
              <a:t>Sesión 1 – Conexión y diseño de tablas (2h)</a:t>
            </a:r>
          </a:p>
          <a:p>
            <a:pPr lvl="2"/>
            <a:r>
              <a:rPr lang="es-ES" b="1" dirty="0"/>
              <a:t>Sesión 2 – Insertar y consultar datos (2h)</a:t>
            </a:r>
          </a:p>
          <a:p>
            <a:pPr lvl="2"/>
            <a:r>
              <a:rPr lang="es-ES" dirty="0"/>
              <a:t>Sesión 3 – Fundamentos de PL/SQL (2h)</a:t>
            </a:r>
          </a:p>
          <a:p>
            <a:pPr lvl="2"/>
            <a:r>
              <a:rPr lang="es-ES" dirty="0"/>
              <a:t>Sesión 4 – Procedimientos, funciones y paquetes (2h)</a:t>
            </a:r>
          </a:p>
          <a:p>
            <a:pPr lvl="2"/>
            <a:r>
              <a:rPr lang="es-ES" dirty="0"/>
              <a:t>Sesión 5 – Cursores y operaciones en bloque (2h)</a:t>
            </a:r>
          </a:p>
          <a:p>
            <a:pPr lvl="2"/>
            <a:r>
              <a:rPr lang="es-ES" dirty="0"/>
              <a:t>Sesión 6 – Optimización de consultas (3h)</a:t>
            </a:r>
          </a:p>
          <a:p>
            <a:pPr lvl="2"/>
            <a:r>
              <a:rPr lang="es-ES" dirty="0"/>
              <a:t>Sesión 7 – </a:t>
            </a:r>
            <a:r>
              <a:rPr lang="es-ES" dirty="0" err="1"/>
              <a:t>Triggers</a:t>
            </a:r>
            <a:r>
              <a:rPr lang="es-ES" dirty="0"/>
              <a:t> (1h)</a:t>
            </a:r>
          </a:p>
          <a:p>
            <a:pPr lvl="2"/>
            <a:endParaRPr lang="es-ES" dirty="0"/>
          </a:p>
          <a:p>
            <a:pPr lvl="2"/>
            <a:endParaRPr lang="es-ES" dirty="0"/>
          </a:p>
        </p:txBody>
      </p:sp>
      <p:sp>
        <p:nvSpPr>
          <p:cNvPr id="4" name="3 Título">
            <a:extLst>
              <a:ext uri="{FF2B5EF4-FFF2-40B4-BE49-F238E27FC236}">
                <a16:creationId xmlns:a16="http://schemas.microsoft.com/office/drawing/2014/main" id="{E1DB2940-3159-AA88-2A46-762F55B41D4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EC34DE5-E61C-8A31-4D73-BAFA907511CF}"/>
              </a:ext>
            </a:extLst>
          </p:cNvPr>
          <p:cNvSpPr>
            <a:spLocks noGrp="1"/>
          </p:cNvSpPr>
          <p:nvPr>
            <p:ph type="body" sz="quarter" idx="14"/>
          </p:nvPr>
        </p:nvSpPr>
        <p:spPr/>
        <p:txBody>
          <a:bodyPr>
            <a:normAutofit fontScale="62500" lnSpcReduction="20000"/>
          </a:bodyPr>
          <a:lstStyle/>
          <a:p>
            <a:r>
              <a:rPr lang="es-ES" dirty="0" err="1"/>
              <a:t>Indice</a:t>
            </a:r>
            <a:r>
              <a:rPr lang="es-ES" dirty="0"/>
              <a:t> Curso</a:t>
            </a:r>
          </a:p>
        </p:txBody>
      </p:sp>
    </p:spTree>
    <p:extLst>
      <p:ext uri="{BB962C8B-B14F-4D97-AF65-F5344CB8AC3E}">
        <p14:creationId xmlns:p14="http://schemas.microsoft.com/office/powerpoint/2010/main" val="4206735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CE6A2-AB82-D079-EEE9-CFE683B127A5}"/>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00695829-FF1C-F669-F93A-C5974D0C6F28}"/>
              </a:ext>
            </a:extLst>
          </p:cNvPr>
          <p:cNvSpPr>
            <a:spLocks noGrp="1"/>
          </p:cNvSpPr>
          <p:nvPr>
            <p:ph idx="1"/>
          </p:nvPr>
        </p:nvSpPr>
        <p:spPr/>
        <p:txBody>
          <a:bodyPr/>
          <a:lstStyle/>
          <a:p>
            <a:r>
              <a:rPr lang="es-ES" dirty="0"/>
              <a:t>Sesión 2</a:t>
            </a:r>
          </a:p>
          <a:p>
            <a:pPr lvl="2"/>
            <a:r>
              <a:rPr lang="es-ES" dirty="0"/>
              <a:t>Aprender y aplicar las operaciones básicas de manipulación de datos en Oracle.</a:t>
            </a:r>
          </a:p>
          <a:p>
            <a:pPr lvl="2"/>
            <a:r>
              <a:rPr lang="es-ES" dirty="0"/>
              <a:t>Dominar las consultas fundamentales con SELECT, JOIN y funciones de agregación.</a:t>
            </a:r>
          </a:p>
          <a:p>
            <a:pPr lvl="2"/>
            <a:r>
              <a:rPr lang="es-ES" dirty="0"/>
              <a:t>Aprender buenas prácticas para consultas eficientes sobre múltiples tablas o esquemas.</a:t>
            </a:r>
          </a:p>
        </p:txBody>
      </p:sp>
      <p:sp>
        <p:nvSpPr>
          <p:cNvPr id="4" name="3 Título">
            <a:extLst>
              <a:ext uri="{FF2B5EF4-FFF2-40B4-BE49-F238E27FC236}">
                <a16:creationId xmlns:a16="http://schemas.microsoft.com/office/drawing/2014/main" id="{1A9B2BE7-9B0C-4A6B-A3FA-1246DCF69436}"/>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3BE311FF-4CE5-2CFD-96D8-D9DCF7AA221F}"/>
              </a:ext>
            </a:extLst>
          </p:cNvPr>
          <p:cNvSpPr>
            <a:spLocks noGrp="1"/>
          </p:cNvSpPr>
          <p:nvPr>
            <p:ph type="body" sz="quarter" idx="14"/>
          </p:nvPr>
        </p:nvSpPr>
        <p:spPr/>
        <p:txBody>
          <a:bodyPr>
            <a:normAutofit fontScale="62500" lnSpcReduction="20000"/>
          </a:bodyPr>
          <a:lstStyle/>
          <a:p>
            <a:r>
              <a:rPr lang="es-ES" dirty="0" err="1"/>
              <a:t>Indice</a:t>
            </a:r>
            <a:r>
              <a:rPr lang="es-ES" dirty="0"/>
              <a:t> Sesión 1</a:t>
            </a:r>
          </a:p>
        </p:txBody>
      </p:sp>
    </p:spTree>
    <p:extLst>
      <p:ext uri="{BB962C8B-B14F-4D97-AF65-F5344CB8AC3E}">
        <p14:creationId xmlns:p14="http://schemas.microsoft.com/office/powerpoint/2010/main" val="4276708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r>
              <a:rPr lang="es-ES" dirty="0"/>
              <a:t>Inserción de datos con INSERT</a:t>
            </a:r>
          </a:p>
        </p:txBody>
      </p:sp>
      <p:sp>
        <p:nvSpPr>
          <p:cNvPr id="6" name="5 Marcador de texto"/>
          <p:cNvSpPr>
            <a:spLocks noGrp="1"/>
          </p:cNvSpPr>
          <p:nvPr>
            <p:ph type="body" sz="quarter" idx="10"/>
          </p:nvPr>
        </p:nvSpPr>
        <p:spPr/>
        <p:txBody>
          <a:bodyPr/>
          <a:lstStyle/>
          <a:p>
            <a:r>
              <a:rPr lang="es-ES" dirty="0"/>
              <a:t>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40E7A-4878-C245-DB0B-EE247F0D89D9}"/>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916F86DC-1442-640D-0BF1-32AC10520FB6}"/>
              </a:ext>
            </a:extLst>
          </p:cNvPr>
          <p:cNvSpPr>
            <a:spLocks noGrp="1"/>
          </p:cNvSpPr>
          <p:nvPr>
            <p:ph idx="1"/>
          </p:nvPr>
        </p:nvSpPr>
        <p:spPr>
          <a:xfrm>
            <a:off x="457200" y="915566"/>
            <a:ext cx="8229600" cy="3816425"/>
          </a:xfrm>
        </p:spPr>
        <p:txBody>
          <a:bodyPr>
            <a:normAutofit/>
          </a:bodyPr>
          <a:lstStyle/>
          <a:p>
            <a:r>
              <a:rPr lang="es-ES" dirty="0"/>
              <a:t>Inserción de datos con INSERT</a:t>
            </a:r>
          </a:p>
          <a:p>
            <a:pPr lvl="1"/>
            <a:r>
              <a:rPr lang="es-ES" sz="1600" dirty="0"/>
              <a:t>Sintaxis básica:</a:t>
            </a:r>
          </a:p>
          <a:p>
            <a:pPr marL="877888" lvl="2" indent="-342900"/>
            <a:r>
              <a:rPr lang="es-ES" sz="1600" dirty="0"/>
              <a:t>La forma más sencilla de agregar registros a una tabla es con la sintaxis estándar:</a:t>
            </a:r>
          </a:p>
          <a:p>
            <a:pPr lvl="1"/>
            <a:endParaRPr lang="es-ES" dirty="0"/>
          </a:p>
          <a:p>
            <a:pPr lvl="1"/>
            <a:endParaRPr lang="es-ES" dirty="0"/>
          </a:p>
          <a:p>
            <a:pPr lvl="1"/>
            <a:r>
              <a:rPr lang="es-ES" sz="1600" dirty="0"/>
              <a:t>Siempre especifica las columnas —evita errores cuando la estructura de la tabla cambie.</a:t>
            </a:r>
          </a:p>
          <a:p>
            <a:pPr lvl="1"/>
            <a:r>
              <a:rPr lang="es-ES" sz="1600" dirty="0"/>
              <a:t>Inserción masiva con </a:t>
            </a:r>
            <a:r>
              <a:rPr lang="es-ES" dirty="0"/>
              <a:t>INSERT ALL</a:t>
            </a:r>
            <a:endParaRPr lang="es-ES" sz="1600" dirty="0"/>
          </a:p>
          <a:p>
            <a:pPr lvl="2"/>
            <a:endParaRPr lang="es-ES" dirty="0"/>
          </a:p>
        </p:txBody>
      </p:sp>
      <p:sp>
        <p:nvSpPr>
          <p:cNvPr id="4" name="3 Título">
            <a:extLst>
              <a:ext uri="{FF2B5EF4-FFF2-40B4-BE49-F238E27FC236}">
                <a16:creationId xmlns:a16="http://schemas.microsoft.com/office/drawing/2014/main" id="{92F88460-32FD-ABB0-5F03-576BB368F4D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FEED6F9B-CAA9-639B-6FEB-986F79A5DDF6}"/>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3" name="CuadroTexto 2">
            <a:extLst>
              <a:ext uri="{FF2B5EF4-FFF2-40B4-BE49-F238E27FC236}">
                <a16:creationId xmlns:a16="http://schemas.microsoft.com/office/drawing/2014/main" id="{AD4822B7-1D19-3215-F90E-01218EAB08DC}"/>
              </a:ext>
            </a:extLst>
          </p:cNvPr>
          <p:cNvSpPr txBox="1"/>
          <p:nvPr/>
        </p:nvSpPr>
        <p:spPr>
          <a:xfrm>
            <a:off x="1029162" y="2019971"/>
            <a:ext cx="6512913" cy="584775"/>
          </a:xfrm>
          <a:prstGeom prst="rect">
            <a:avLst/>
          </a:prstGeom>
          <a:noFill/>
        </p:spPr>
        <p:txBody>
          <a:bodyPr wrap="square">
            <a:spAutoFit/>
          </a:bodyPr>
          <a:lstStyle/>
          <a:p>
            <a:r>
              <a:rPr lang="es-ES" sz="1600" dirty="0"/>
              <a:t>INSERT INTO empleados (id, nombre, salario, </a:t>
            </a:r>
            <a:r>
              <a:rPr lang="es-ES" sz="1600" dirty="0" err="1"/>
              <a:t>departamento_id</a:t>
            </a:r>
            <a:r>
              <a:rPr lang="es-ES" sz="1600" dirty="0"/>
              <a:t>)</a:t>
            </a:r>
          </a:p>
          <a:p>
            <a:r>
              <a:rPr lang="es-ES" sz="1600" dirty="0"/>
              <a:t>VALUES (1, 'Ana Pérez', 2500, 10);</a:t>
            </a:r>
          </a:p>
        </p:txBody>
      </p:sp>
      <p:sp>
        <p:nvSpPr>
          <p:cNvPr id="7" name="CuadroTexto 6">
            <a:extLst>
              <a:ext uri="{FF2B5EF4-FFF2-40B4-BE49-F238E27FC236}">
                <a16:creationId xmlns:a16="http://schemas.microsoft.com/office/drawing/2014/main" id="{35A76FE5-B5A7-4304-9FA4-D7F29B83608D}"/>
              </a:ext>
            </a:extLst>
          </p:cNvPr>
          <p:cNvSpPr txBox="1"/>
          <p:nvPr/>
        </p:nvSpPr>
        <p:spPr>
          <a:xfrm>
            <a:off x="1029162" y="3396646"/>
            <a:ext cx="6711189" cy="1569660"/>
          </a:xfrm>
          <a:prstGeom prst="rect">
            <a:avLst/>
          </a:prstGeom>
          <a:noFill/>
        </p:spPr>
        <p:txBody>
          <a:bodyPr wrap="square">
            <a:spAutoFit/>
          </a:bodyPr>
          <a:lstStyle/>
          <a:p>
            <a:r>
              <a:rPr lang="es-ES" sz="1600" dirty="0"/>
              <a:t>INSERT ALL</a:t>
            </a:r>
          </a:p>
          <a:p>
            <a:r>
              <a:rPr lang="es-ES" sz="1600" dirty="0"/>
              <a:t>  INTO empleados (id, nombre, salario, </a:t>
            </a:r>
            <a:r>
              <a:rPr lang="es-ES" sz="1600" dirty="0" err="1"/>
              <a:t>departamento_id</a:t>
            </a:r>
            <a:r>
              <a:rPr lang="es-ES" sz="1600" dirty="0"/>
              <a:t>)</a:t>
            </a:r>
          </a:p>
          <a:p>
            <a:r>
              <a:rPr lang="es-ES" sz="1600" dirty="0"/>
              <a:t>       VALUES (5, 'Laura Gómez', 2900, 10)</a:t>
            </a:r>
          </a:p>
          <a:p>
            <a:r>
              <a:rPr lang="es-ES" sz="1600" dirty="0"/>
              <a:t>  INTO empleados (id, nombre, salario, </a:t>
            </a:r>
            <a:r>
              <a:rPr lang="es-ES" sz="1600" dirty="0" err="1"/>
              <a:t>departamento_id</a:t>
            </a:r>
            <a:r>
              <a:rPr lang="es-ES" sz="1600" dirty="0"/>
              <a:t>)</a:t>
            </a:r>
          </a:p>
          <a:p>
            <a:r>
              <a:rPr lang="es-ES" sz="1600" dirty="0"/>
              <a:t>       VALUES (6, 'Pedro Torres', 3200, 20)</a:t>
            </a:r>
          </a:p>
          <a:p>
            <a:r>
              <a:rPr lang="es-ES" sz="1600" dirty="0"/>
              <a:t>SELECT * FROM dual;</a:t>
            </a:r>
          </a:p>
        </p:txBody>
      </p:sp>
    </p:spTree>
    <p:extLst>
      <p:ext uri="{BB962C8B-B14F-4D97-AF65-F5344CB8AC3E}">
        <p14:creationId xmlns:p14="http://schemas.microsoft.com/office/powerpoint/2010/main" val="2734281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C6369-A869-8C14-CE09-AF72CB39F4EF}"/>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3D9DF16D-AB8C-FD2F-2276-0DCFB055AFAF}"/>
              </a:ext>
            </a:extLst>
          </p:cNvPr>
          <p:cNvSpPr/>
          <p:nvPr/>
        </p:nvSpPr>
        <p:spPr>
          <a:xfrm>
            <a:off x="261636" y="1275606"/>
            <a:ext cx="3662292" cy="36724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62E0B999-5ED7-25CD-644E-0E9B731CF656}"/>
              </a:ext>
            </a:extLst>
          </p:cNvPr>
          <p:cNvSpPr>
            <a:spLocks noGrp="1"/>
          </p:cNvSpPr>
          <p:nvPr>
            <p:ph idx="1"/>
          </p:nvPr>
        </p:nvSpPr>
        <p:spPr>
          <a:xfrm>
            <a:off x="457200" y="915567"/>
            <a:ext cx="8579296" cy="360040"/>
          </a:xfrm>
        </p:spPr>
        <p:txBody>
          <a:bodyPr>
            <a:normAutofit fontScale="47500" lnSpcReduction="20000"/>
          </a:bodyPr>
          <a:lstStyle/>
          <a:p>
            <a:r>
              <a:rPr lang="es-ES" sz="4200" dirty="0"/>
              <a:t>Inserción condicional con INSERT ALL y INSERT FIRST</a:t>
            </a:r>
            <a:endParaRPr lang="es-ES" dirty="0"/>
          </a:p>
          <a:p>
            <a:pPr marL="539750" lvl="3" indent="0">
              <a:buNone/>
              <a:defRPr/>
            </a:pPr>
            <a:endParaRPr lang="es-ES" dirty="0"/>
          </a:p>
        </p:txBody>
      </p:sp>
      <p:sp>
        <p:nvSpPr>
          <p:cNvPr id="4" name="3 Título">
            <a:extLst>
              <a:ext uri="{FF2B5EF4-FFF2-40B4-BE49-F238E27FC236}">
                <a16:creationId xmlns:a16="http://schemas.microsoft.com/office/drawing/2014/main" id="{9EF7F341-61EF-63D2-1F98-D2C4C67B23F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3F5462A-B82F-7038-0F62-46058931CDE7}"/>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7F95D7AB-DB55-2E7D-CBB1-93F675AF390F}"/>
              </a:ext>
            </a:extLst>
          </p:cNvPr>
          <p:cNvSpPr txBox="1"/>
          <p:nvPr/>
        </p:nvSpPr>
        <p:spPr>
          <a:xfrm>
            <a:off x="270855" y="1707654"/>
            <a:ext cx="3545633" cy="2108269"/>
          </a:xfrm>
          <a:prstGeom prst="rect">
            <a:avLst/>
          </a:prstGeom>
          <a:noFill/>
        </p:spPr>
        <p:txBody>
          <a:bodyPr wrap="square">
            <a:spAutoFit/>
          </a:bodyPr>
          <a:lstStyle/>
          <a:p>
            <a:r>
              <a:rPr lang="en-US" sz="1300" dirty="0"/>
              <a:t>INSERT ALL</a:t>
            </a:r>
          </a:p>
          <a:p>
            <a:r>
              <a:rPr lang="en-US" sz="1300" dirty="0"/>
              <a:t>  WHEN </a:t>
            </a:r>
            <a:r>
              <a:rPr lang="en-US" sz="1300" dirty="0" err="1"/>
              <a:t>salario</a:t>
            </a:r>
            <a:r>
              <a:rPr lang="en-US" sz="1300" dirty="0"/>
              <a:t> &lt; 3000 THEN</a:t>
            </a:r>
          </a:p>
          <a:p>
            <a:r>
              <a:rPr lang="en-US" sz="1300" dirty="0"/>
              <a:t>       INTO </a:t>
            </a:r>
            <a:r>
              <a:rPr lang="en-US" sz="1300" dirty="0" err="1"/>
              <a:t>empleados_junior</a:t>
            </a:r>
            <a:r>
              <a:rPr lang="en-US" sz="1300" dirty="0"/>
              <a:t> VALUES (id, </a:t>
            </a:r>
            <a:r>
              <a:rPr lang="en-US" sz="1300" dirty="0" err="1"/>
              <a:t>nombre</a:t>
            </a:r>
            <a:r>
              <a:rPr lang="en-US" sz="1300" dirty="0"/>
              <a:t>, </a:t>
            </a:r>
            <a:r>
              <a:rPr lang="en-US" sz="1300" dirty="0" err="1"/>
              <a:t>salario</a:t>
            </a:r>
            <a:r>
              <a:rPr lang="en-US" sz="1300" dirty="0"/>
              <a:t>)</a:t>
            </a:r>
          </a:p>
          <a:p>
            <a:r>
              <a:rPr lang="en-US" sz="1300" dirty="0"/>
              <a:t>  WHEN </a:t>
            </a:r>
            <a:r>
              <a:rPr lang="en-US" sz="1300" dirty="0" err="1"/>
              <a:t>salario</a:t>
            </a:r>
            <a:r>
              <a:rPr lang="en-US" sz="1300" dirty="0"/>
              <a:t> &gt;= 3000 THEN</a:t>
            </a:r>
          </a:p>
          <a:p>
            <a:r>
              <a:rPr lang="en-US" sz="1300" dirty="0"/>
              <a:t>       INTO </a:t>
            </a:r>
            <a:r>
              <a:rPr lang="en-US" sz="1300" dirty="0" err="1"/>
              <a:t>empleados_senior</a:t>
            </a:r>
            <a:r>
              <a:rPr lang="en-US" sz="1300" dirty="0"/>
              <a:t> VALUES (id, </a:t>
            </a:r>
            <a:r>
              <a:rPr lang="en-US" sz="1300" dirty="0" err="1"/>
              <a:t>nombre</a:t>
            </a:r>
            <a:r>
              <a:rPr lang="en-US" sz="1300" dirty="0"/>
              <a:t>, </a:t>
            </a:r>
            <a:r>
              <a:rPr lang="en-US" sz="1300" dirty="0" err="1"/>
              <a:t>salario</a:t>
            </a:r>
            <a:r>
              <a:rPr lang="en-US" sz="1300" dirty="0"/>
              <a:t>)</a:t>
            </a:r>
          </a:p>
          <a:p>
            <a:r>
              <a:rPr lang="en-US" sz="1300" dirty="0"/>
              <a:t>SELECT id, </a:t>
            </a:r>
            <a:r>
              <a:rPr lang="en-US" sz="1300" dirty="0" err="1"/>
              <a:t>nombre</a:t>
            </a:r>
            <a:r>
              <a:rPr lang="en-US" sz="1300" dirty="0"/>
              <a:t>, </a:t>
            </a:r>
            <a:r>
              <a:rPr lang="en-US" sz="1300" dirty="0" err="1"/>
              <a:t>salario</a:t>
            </a:r>
            <a:endParaRPr lang="en-US" sz="1300" dirty="0"/>
          </a:p>
          <a:p>
            <a:r>
              <a:rPr lang="en-US" sz="1300" dirty="0"/>
              <a:t>FROM </a:t>
            </a:r>
            <a:r>
              <a:rPr lang="en-US" sz="1300" dirty="0" err="1"/>
              <a:t>candidatos</a:t>
            </a:r>
            <a:r>
              <a:rPr lang="en-US" sz="1300" dirty="0"/>
              <a:t>;</a:t>
            </a:r>
          </a:p>
          <a:p>
            <a:endParaRPr lang="en-US" sz="1400" dirty="0"/>
          </a:p>
        </p:txBody>
      </p:sp>
      <p:sp>
        <p:nvSpPr>
          <p:cNvPr id="9" name="4 Marcador de contenido">
            <a:extLst>
              <a:ext uri="{FF2B5EF4-FFF2-40B4-BE49-F238E27FC236}">
                <a16:creationId xmlns:a16="http://schemas.microsoft.com/office/drawing/2014/main" id="{3B7E47E6-1705-5955-A41B-4574EB96617F}"/>
              </a:ext>
            </a:extLst>
          </p:cNvPr>
          <p:cNvSpPr txBox="1">
            <a:spLocks/>
          </p:cNvSpPr>
          <p:nvPr/>
        </p:nvSpPr>
        <p:spPr>
          <a:xfrm>
            <a:off x="3971490" y="1306682"/>
            <a:ext cx="5172510"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Muy útiles ETL.</a:t>
            </a:r>
          </a:p>
          <a:p>
            <a:pPr marL="342900" lvl="1" indent="-342900">
              <a:buFont typeface="Arial" panose="020B0604020202020204" pitchFamily="34" charset="0"/>
              <a:buChar char="•"/>
            </a:pPr>
            <a:r>
              <a:rPr lang="es-ES" sz="1800" dirty="0"/>
              <a:t>INSERT ALL: inserta en todas las condiciones verdaderas.</a:t>
            </a:r>
          </a:p>
          <a:p>
            <a:pPr marL="342900" lvl="1" indent="-342900">
              <a:buFont typeface="Arial" panose="020B0604020202020204" pitchFamily="34" charset="0"/>
              <a:buChar char="•"/>
            </a:pPr>
            <a:r>
              <a:rPr lang="es-ES" sz="1800" dirty="0"/>
              <a:t>INSERT FIRST: inserta solo en la primera condición que se cumpla.</a:t>
            </a:r>
          </a:p>
          <a:p>
            <a:pPr marL="539750" lvl="3" indent="0">
              <a:buFont typeface="Arial" pitchFamily="34" charset="0"/>
              <a:buNone/>
              <a:defRPr/>
            </a:pPr>
            <a:endParaRPr lang="es-ES" dirty="0"/>
          </a:p>
        </p:txBody>
      </p:sp>
    </p:spTree>
    <p:extLst>
      <p:ext uri="{BB962C8B-B14F-4D97-AF65-F5344CB8AC3E}">
        <p14:creationId xmlns:p14="http://schemas.microsoft.com/office/powerpoint/2010/main" val="2747059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E6287-D7B5-C1D4-DD5F-7B346E308F6B}"/>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8BF83D18-2B12-9FF5-B6FA-8FF71B9E19F9}"/>
              </a:ext>
            </a:extLst>
          </p:cNvPr>
          <p:cNvSpPr/>
          <p:nvPr/>
        </p:nvSpPr>
        <p:spPr>
          <a:xfrm>
            <a:off x="227537" y="1326394"/>
            <a:ext cx="3662292"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9899CEA1-DB74-86A5-454A-0390A54568C3}"/>
              </a:ext>
            </a:extLst>
          </p:cNvPr>
          <p:cNvSpPr>
            <a:spLocks noGrp="1"/>
          </p:cNvSpPr>
          <p:nvPr>
            <p:ph idx="1"/>
          </p:nvPr>
        </p:nvSpPr>
        <p:spPr>
          <a:xfrm>
            <a:off x="457200" y="915567"/>
            <a:ext cx="8579296" cy="360040"/>
          </a:xfrm>
        </p:spPr>
        <p:txBody>
          <a:bodyPr>
            <a:normAutofit fontScale="47500" lnSpcReduction="20000"/>
          </a:bodyPr>
          <a:lstStyle/>
          <a:p>
            <a:r>
              <a:rPr lang="es-ES" sz="4200" dirty="0"/>
              <a:t>Inserción basada en consulta (INSERT INTO ... SELECT)</a:t>
            </a:r>
            <a:endParaRPr lang="es-ES" dirty="0"/>
          </a:p>
        </p:txBody>
      </p:sp>
      <p:sp>
        <p:nvSpPr>
          <p:cNvPr id="4" name="3 Título">
            <a:extLst>
              <a:ext uri="{FF2B5EF4-FFF2-40B4-BE49-F238E27FC236}">
                <a16:creationId xmlns:a16="http://schemas.microsoft.com/office/drawing/2014/main" id="{DC913C84-E0A7-47C7-ADBC-E2FDF1DCD1C2}"/>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436DFF20-5CE3-F1A4-23C6-810A6B93BC39}"/>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50D302BE-A88F-92CA-4ACD-4529E6F2764F}"/>
              </a:ext>
            </a:extLst>
          </p:cNvPr>
          <p:cNvSpPr txBox="1"/>
          <p:nvPr/>
        </p:nvSpPr>
        <p:spPr>
          <a:xfrm>
            <a:off x="468314" y="1520890"/>
            <a:ext cx="3421516" cy="2908489"/>
          </a:xfrm>
          <a:prstGeom prst="rect">
            <a:avLst/>
          </a:prstGeom>
          <a:noFill/>
        </p:spPr>
        <p:txBody>
          <a:bodyPr wrap="square">
            <a:spAutoFit/>
          </a:bodyPr>
          <a:lstStyle/>
          <a:p>
            <a:r>
              <a:rPr lang="en-US" sz="1300" dirty="0"/>
              <a:t>INSERT INTO </a:t>
            </a:r>
            <a:r>
              <a:rPr lang="en-US" sz="1300" dirty="0" err="1"/>
              <a:t>empleados_backup</a:t>
            </a:r>
            <a:r>
              <a:rPr lang="en-US" sz="1300" dirty="0"/>
              <a:t> (id, </a:t>
            </a:r>
            <a:r>
              <a:rPr lang="en-US" sz="1300" dirty="0" err="1"/>
              <a:t>nombre</a:t>
            </a:r>
            <a:r>
              <a:rPr lang="en-US" sz="1300" dirty="0"/>
              <a:t>, </a:t>
            </a:r>
            <a:r>
              <a:rPr lang="en-US" sz="1300" dirty="0" err="1"/>
              <a:t>salario</a:t>
            </a:r>
            <a:r>
              <a:rPr lang="en-US" sz="1300" dirty="0"/>
              <a:t>, </a:t>
            </a:r>
            <a:r>
              <a:rPr lang="en-US" sz="1300" dirty="0" err="1"/>
              <a:t>departamento_id</a:t>
            </a:r>
            <a:r>
              <a:rPr lang="en-US" sz="1300" dirty="0"/>
              <a:t>)</a:t>
            </a:r>
          </a:p>
          <a:p>
            <a:r>
              <a:rPr lang="en-US" sz="1300" dirty="0"/>
              <a:t>SELECT id, </a:t>
            </a:r>
            <a:r>
              <a:rPr lang="en-US" sz="1300" dirty="0" err="1"/>
              <a:t>nombre</a:t>
            </a:r>
            <a:r>
              <a:rPr lang="en-US" sz="1300" dirty="0"/>
              <a:t>, </a:t>
            </a:r>
            <a:r>
              <a:rPr lang="en-US" sz="1300" dirty="0" err="1"/>
              <a:t>salario</a:t>
            </a:r>
            <a:r>
              <a:rPr lang="en-US" sz="1300" dirty="0"/>
              <a:t>, </a:t>
            </a:r>
            <a:r>
              <a:rPr lang="en-US" sz="1300" dirty="0" err="1"/>
              <a:t>departamento_id</a:t>
            </a:r>
            <a:endParaRPr lang="en-US" sz="1300" dirty="0"/>
          </a:p>
          <a:p>
            <a:r>
              <a:rPr lang="en-US" sz="1300" dirty="0"/>
              <a:t>FROM </a:t>
            </a:r>
            <a:r>
              <a:rPr lang="en-US" sz="1300" dirty="0" err="1"/>
              <a:t>empleados</a:t>
            </a:r>
            <a:endParaRPr lang="en-US" sz="1300" dirty="0"/>
          </a:p>
          <a:p>
            <a:r>
              <a:rPr lang="en-US" sz="1300" dirty="0"/>
              <a:t>WHERE </a:t>
            </a:r>
            <a:r>
              <a:rPr lang="en-US" sz="1300" dirty="0" err="1"/>
              <a:t>departamento_id</a:t>
            </a:r>
            <a:r>
              <a:rPr lang="en-US" sz="1300" dirty="0"/>
              <a:t> = 10; </a:t>
            </a:r>
          </a:p>
          <a:p>
            <a:endParaRPr lang="en-US" sz="1300" dirty="0"/>
          </a:p>
          <a:p>
            <a:r>
              <a:rPr lang="en-US" sz="1300" dirty="0"/>
              <a:t>INSERT INTO </a:t>
            </a:r>
            <a:r>
              <a:rPr lang="en-US" sz="1300" dirty="0" err="1"/>
              <a:t>empleados_audit</a:t>
            </a:r>
            <a:r>
              <a:rPr lang="en-US" sz="1300" dirty="0"/>
              <a:t> (id, </a:t>
            </a:r>
            <a:r>
              <a:rPr lang="en-US" sz="1300" dirty="0" err="1"/>
              <a:t>nombre</a:t>
            </a:r>
            <a:r>
              <a:rPr lang="en-US" sz="1300" dirty="0"/>
              <a:t>, </a:t>
            </a:r>
            <a:r>
              <a:rPr lang="en-US" sz="1300" dirty="0" err="1"/>
              <a:t>salario_nuevo</a:t>
            </a:r>
            <a:r>
              <a:rPr lang="en-US" sz="1300" dirty="0"/>
              <a:t>, </a:t>
            </a:r>
            <a:r>
              <a:rPr lang="en-US" sz="1300" dirty="0" err="1"/>
              <a:t>fecha_cambio</a:t>
            </a:r>
            <a:r>
              <a:rPr lang="en-US" sz="1300" dirty="0"/>
              <a:t>)</a:t>
            </a:r>
          </a:p>
          <a:p>
            <a:r>
              <a:rPr lang="en-US" sz="1300" dirty="0"/>
              <a:t>SELECT id, </a:t>
            </a:r>
            <a:r>
              <a:rPr lang="en-US" sz="1300" dirty="0" err="1"/>
              <a:t>nombre</a:t>
            </a:r>
            <a:r>
              <a:rPr lang="en-US" sz="1300" dirty="0"/>
              <a:t>, </a:t>
            </a:r>
            <a:r>
              <a:rPr lang="en-US" sz="1300" dirty="0" err="1"/>
              <a:t>salario</a:t>
            </a:r>
            <a:r>
              <a:rPr lang="en-US" sz="1300" dirty="0"/>
              <a:t> * 1.1, SYSDATE</a:t>
            </a:r>
          </a:p>
          <a:p>
            <a:r>
              <a:rPr lang="en-US" sz="1300" dirty="0"/>
              <a:t>FROM </a:t>
            </a:r>
            <a:r>
              <a:rPr lang="en-US" sz="1300" dirty="0" err="1"/>
              <a:t>empleados</a:t>
            </a:r>
            <a:endParaRPr lang="en-US" sz="1300" dirty="0"/>
          </a:p>
          <a:p>
            <a:r>
              <a:rPr lang="en-US" sz="1300" dirty="0"/>
              <a:t>WHERE </a:t>
            </a:r>
            <a:r>
              <a:rPr lang="en-US" sz="1300" dirty="0" err="1"/>
              <a:t>departamento_id</a:t>
            </a:r>
            <a:r>
              <a:rPr lang="en-US" sz="1300" dirty="0"/>
              <a:t> = 20;</a:t>
            </a:r>
          </a:p>
          <a:p>
            <a:endParaRPr lang="en-US" sz="1300" dirty="0"/>
          </a:p>
          <a:p>
            <a:endParaRPr lang="en-US" sz="1300" dirty="0"/>
          </a:p>
          <a:p>
            <a:endParaRPr lang="en-US" sz="1400" dirty="0"/>
          </a:p>
        </p:txBody>
      </p:sp>
      <p:sp>
        <p:nvSpPr>
          <p:cNvPr id="9" name="4 Marcador de contenido">
            <a:extLst>
              <a:ext uri="{FF2B5EF4-FFF2-40B4-BE49-F238E27FC236}">
                <a16:creationId xmlns:a16="http://schemas.microsoft.com/office/drawing/2014/main" id="{1A0F402A-5D91-259F-354A-D174F24C9EE8}"/>
              </a:ext>
            </a:extLst>
          </p:cNvPr>
          <p:cNvSpPr txBox="1">
            <a:spLocks/>
          </p:cNvSpPr>
          <p:nvPr/>
        </p:nvSpPr>
        <p:spPr>
          <a:xfrm>
            <a:off x="3971490" y="1306682"/>
            <a:ext cx="5065006"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En lugar de valores fijos, se copian registros de otra tabla o resultado de consulta</a:t>
            </a:r>
          </a:p>
          <a:p>
            <a:pPr marL="342900" lvl="1" indent="-342900">
              <a:buFont typeface="Arial" panose="020B0604020202020204" pitchFamily="34" charset="0"/>
              <a:buChar char="•"/>
            </a:pPr>
            <a:r>
              <a:rPr lang="es-ES" sz="1800" dirty="0"/>
              <a:t>Copias de seguridad.</a:t>
            </a:r>
          </a:p>
          <a:p>
            <a:pPr marL="342900" lvl="1" indent="-342900">
              <a:buFont typeface="Arial" panose="020B0604020202020204" pitchFamily="34" charset="0"/>
              <a:buChar char="•"/>
            </a:pPr>
            <a:r>
              <a:rPr lang="es-ES" sz="1800" dirty="0"/>
              <a:t>Migraciones entre esquemas.</a:t>
            </a:r>
          </a:p>
          <a:p>
            <a:pPr marL="342900" lvl="1" indent="-342900">
              <a:buFont typeface="Arial" panose="020B0604020202020204" pitchFamily="34" charset="0"/>
              <a:buChar char="•"/>
            </a:pPr>
            <a:r>
              <a:rPr lang="es-ES" sz="1800" dirty="0"/>
              <a:t>Inserciones masivas con transformación de datos.</a:t>
            </a:r>
          </a:p>
          <a:p>
            <a:pPr marL="342900" lvl="1" indent="-342900">
              <a:buFont typeface="Arial" panose="020B0604020202020204" pitchFamily="34" charset="0"/>
              <a:buChar char="•"/>
            </a:pPr>
            <a:r>
              <a:rPr lang="es-ES" sz="1800" dirty="0"/>
              <a:t>Con esta técnica se generaron los 90.000 atrasos de los últimos 2 años de nóminas, por el cambio de retribuciones.</a:t>
            </a:r>
            <a:endParaRPr lang="es-ES" dirty="0"/>
          </a:p>
        </p:txBody>
      </p:sp>
      <p:sp>
        <p:nvSpPr>
          <p:cNvPr id="2" name="CuadroTexto 1">
            <a:extLst>
              <a:ext uri="{FF2B5EF4-FFF2-40B4-BE49-F238E27FC236}">
                <a16:creationId xmlns:a16="http://schemas.microsoft.com/office/drawing/2014/main" id="{240A5182-3DF9-34D4-766C-974EE375EBB3}"/>
              </a:ext>
            </a:extLst>
          </p:cNvPr>
          <p:cNvSpPr txBox="1"/>
          <p:nvPr/>
        </p:nvSpPr>
        <p:spPr>
          <a:xfrm>
            <a:off x="7343135" y="4731990"/>
            <a:ext cx="1774078" cy="246221"/>
          </a:xfrm>
          <a:prstGeom prst="rect">
            <a:avLst/>
          </a:prstGeom>
          <a:noFill/>
        </p:spPr>
        <p:txBody>
          <a:bodyPr wrap="square">
            <a:spAutoFit/>
          </a:bodyPr>
          <a:lstStyle/>
          <a:p>
            <a:pPr algn="l"/>
            <a:r>
              <a:rPr lang="es-ES" sz="1000" b="0" i="0" dirty="0">
                <a:solidFill>
                  <a:srgbClr val="FF6A00"/>
                </a:solidFill>
                <a:effectLst/>
                <a:latin typeface="-apple-system"/>
              </a:rPr>
              <a:t>sesion2-inserts.sql</a:t>
            </a:r>
          </a:p>
        </p:txBody>
      </p:sp>
    </p:spTree>
    <p:extLst>
      <p:ext uri="{BB962C8B-B14F-4D97-AF65-F5344CB8AC3E}">
        <p14:creationId xmlns:p14="http://schemas.microsoft.com/office/powerpoint/2010/main" val="387304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880EB-0A93-99B5-82E2-349A2C9521F4}"/>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4505A1EC-7241-F313-CE02-F6B5D038E062}"/>
              </a:ext>
            </a:extLst>
          </p:cNvPr>
          <p:cNvSpPr/>
          <p:nvPr/>
        </p:nvSpPr>
        <p:spPr>
          <a:xfrm>
            <a:off x="227537" y="1326394"/>
            <a:ext cx="3662292"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B918642A-F69C-90BD-C335-B637AA3ADBF7}"/>
              </a:ext>
            </a:extLst>
          </p:cNvPr>
          <p:cNvSpPr>
            <a:spLocks noGrp="1"/>
          </p:cNvSpPr>
          <p:nvPr>
            <p:ph idx="1"/>
          </p:nvPr>
        </p:nvSpPr>
        <p:spPr>
          <a:xfrm>
            <a:off x="457200" y="915567"/>
            <a:ext cx="8579296" cy="360040"/>
          </a:xfrm>
        </p:spPr>
        <p:txBody>
          <a:bodyPr>
            <a:normAutofit fontScale="47500" lnSpcReduction="20000"/>
          </a:bodyPr>
          <a:lstStyle/>
          <a:p>
            <a:r>
              <a:rPr lang="es-ES" sz="4200" dirty="0"/>
              <a:t>Inserción usando subconsultas, funciones y  bucles</a:t>
            </a:r>
            <a:endParaRPr lang="es-ES" dirty="0"/>
          </a:p>
        </p:txBody>
      </p:sp>
      <p:sp>
        <p:nvSpPr>
          <p:cNvPr id="4" name="3 Título">
            <a:extLst>
              <a:ext uri="{FF2B5EF4-FFF2-40B4-BE49-F238E27FC236}">
                <a16:creationId xmlns:a16="http://schemas.microsoft.com/office/drawing/2014/main" id="{76E637E7-E594-5D22-BB61-ED44A1D44A7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2E486D17-4087-9A45-03C2-8802FD86A019}"/>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118A84F7-E4D7-5755-6A1A-E9713F1A0C90}"/>
              </a:ext>
            </a:extLst>
          </p:cNvPr>
          <p:cNvSpPr txBox="1"/>
          <p:nvPr/>
        </p:nvSpPr>
        <p:spPr>
          <a:xfrm>
            <a:off x="227537" y="1433885"/>
            <a:ext cx="3643049" cy="3508653"/>
          </a:xfrm>
          <a:prstGeom prst="rect">
            <a:avLst/>
          </a:prstGeom>
          <a:noFill/>
        </p:spPr>
        <p:txBody>
          <a:bodyPr wrap="square">
            <a:spAutoFit/>
          </a:bodyPr>
          <a:lstStyle/>
          <a:p>
            <a:r>
              <a:rPr lang="en-US" sz="1300" dirty="0"/>
              <a:t>INSERT INTO </a:t>
            </a:r>
            <a:r>
              <a:rPr lang="en-US" sz="1300" dirty="0" err="1"/>
              <a:t>empleados</a:t>
            </a:r>
            <a:r>
              <a:rPr lang="en-US" sz="1300" dirty="0"/>
              <a:t> (id, </a:t>
            </a:r>
            <a:r>
              <a:rPr lang="en-US" sz="1300" dirty="0" err="1"/>
              <a:t>nombre</a:t>
            </a:r>
            <a:r>
              <a:rPr lang="en-US" sz="1300" dirty="0"/>
              <a:t>, </a:t>
            </a:r>
            <a:r>
              <a:rPr lang="en-US" sz="1300" dirty="0" err="1"/>
              <a:t>salario</a:t>
            </a:r>
            <a:r>
              <a:rPr lang="en-US" sz="1300" dirty="0"/>
              <a:t>, </a:t>
            </a:r>
            <a:r>
              <a:rPr lang="en-US" sz="1300" dirty="0" err="1"/>
              <a:t>departamento_id</a:t>
            </a:r>
            <a:r>
              <a:rPr lang="en-US" sz="1300" dirty="0"/>
              <a:t>)</a:t>
            </a:r>
          </a:p>
          <a:p>
            <a:r>
              <a:rPr lang="en-US" sz="1300" dirty="0"/>
              <a:t>VALUES (</a:t>
            </a:r>
            <a:r>
              <a:rPr lang="en-US" sz="1300" dirty="0" err="1"/>
              <a:t>empleado_seq.NEXTVAL</a:t>
            </a:r>
            <a:r>
              <a:rPr lang="en-US" sz="1300" dirty="0"/>
              <a:t>, 'Nuevo', </a:t>
            </a:r>
          </a:p>
          <a:p>
            <a:r>
              <a:rPr lang="en-US" sz="1300" dirty="0"/>
              <a:t>        (SELECT AVG(</a:t>
            </a:r>
            <a:r>
              <a:rPr lang="en-US" sz="1300" dirty="0" err="1"/>
              <a:t>salario</a:t>
            </a:r>
            <a:r>
              <a:rPr lang="en-US" sz="1300" dirty="0"/>
              <a:t>) FROM </a:t>
            </a:r>
            <a:r>
              <a:rPr lang="en-US" sz="1300" dirty="0" err="1"/>
              <a:t>empleados</a:t>
            </a:r>
            <a:r>
              <a:rPr lang="en-US" sz="1300" dirty="0"/>
              <a:t> WHERE </a:t>
            </a:r>
            <a:r>
              <a:rPr lang="en-US" sz="1300" dirty="0" err="1"/>
              <a:t>departamento_id</a:t>
            </a:r>
            <a:r>
              <a:rPr lang="en-US" sz="1300" dirty="0"/>
              <a:t> = 10),</a:t>
            </a:r>
          </a:p>
          <a:p>
            <a:r>
              <a:rPr lang="en-US" sz="1300" dirty="0"/>
              <a:t>        10);</a:t>
            </a:r>
          </a:p>
          <a:p>
            <a:endParaRPr lang="en-US" sz="1300" dirty="0"/>
          </a:p>
          <a:p>
            <a:r>
              <a:rPr lang="en-US" sz="1300" dirty="0"/>
              <a:t>BEGIN</a:t>
            </a:r>
          </a:p>
          <a:p>
            <a:r>
              <a:rPr lang="en-US" sz="1300" dirty="0"/>
              <a:t>  FOR rec IN (SELECT id, </a:t>
            </a:r>
            <a:r>
              <a:rPr lang="en-US" sz="1300" dirty="0" err="1"/>
              <a:t>nombre</a:t>
            </a:r>
            <a:r>
              <a:rPr lang="en-US" sz="1300" dirty="0"/>
              <a:t> FROM </a:t>
            </a:r>
            <a:r>
              <a:rPr lang="en-US" sz="1300" dirty="0" err="1"/>
              <a:t>candidatos</a:t>
            </a:r>
            <a:r>
              <a:rPr lang="en-US" sz="1300" dirty="0"/>
              <a:t> WHERE </a:t>
            </a:r>
            <a:r>
              <a:rPr lang="en-US" sz="1300" dirty="0" err="1"/>
              <a:t>activo</a:t>
            </a:r>
            <a:r>
              <a:rPr lang="en-US" sz="1300" dirty="0"/>
              <a:t> = 'S') LOOP</a:t>
            </a:r>
          </a:p>
          <a:p>
            <a:r>
              <a:rPr lang="en-US" sz="1300" dirty="0"/>
              <a:t>    INSERT INTO </a:t>
            </a:r>
            <a:r>
              <a:rPr lang="en-US" sz="1300" dirty="0" err="1"/>
              <a:t>empleados</a:t>
            </a:r>
            <a:r>
              <a:rPr lang="en-US" sz="1300" dirty="0"/>
              <a:t> (id, </a:t>
            </a:r>
            <a:r>
              <a:rPr lang="en-US" sz="1300" dirty="0" err="1"/>
              <a:t>nombre</a:t>
            </a:r>
            <a:r>
              <a:rPr lang="en-US" sz="1300" dirty="0"/>
              <a:t>, </a:t>
            </a:r>
            <a:r>
              <a:rPr lang="en-US" sz="1300" dirty="0" err="1"/>
              <a:t>salario</a:t>
            </a:r>
            <a:r>
              <a:rPr lang="en-US" sz="1300" dirty="0"/>
              <a:t>, </a:t>
            </a:r>
            <a:r>
              <a:rPr lang="en-US" sz="1300" dirty="0" err="1"/>
              <a:t>departamento_id</a:t>
            </a:r>
            <a:r>
              <a:rPr lang="en-US" sz="1300" dirty="0"/>
              <a:t>)</a:t>
            </a:r>
          </a:p>
          <a:p>
            <a:r>
              <a:rPr lang="en-US" sz="1300" dirty="0"/>
              <a:t>    VALUES (rec.id, </a:t>
            </a:r>
            <a:r>
              <a:rPr lang="en-US" sz="1300" dirty="0" err="1"/>
              <a:t>rec.nombre</a:t>
            </a:r>
            <a:r>
              <a:rPr lang="en-US" sz="1300" dirty="0"/>
              <a:t>, 2500, 30);</a:t>
            </a:r>
          </a:p>
          <a:p>
            <a:r>
              <a:rPr lang="en-US" sz="1300" dirty="0"/>
              <a:t>  END LOOP;</a:t>
            </a:r>
          </a:p>
          <a:p>
            <a:r>
              <a:rPr lang="en-US" sz="1300" dirty="0"/>
              <a:t>  COMMIT;</a:t>
            </a:r>
          </a:p>
          <a:p>
            <a:r>
              <a:rPr lang="en-US" sz="1300" dirty="0"/>
              <a:t>END;</a:t>
            </a:r>
          </a:p>
          <a:p>
            <a:endParaRPr lang="en-US" sz="1400" dirty="0"/>
          </a:p>
        </p:txBody>
      </p:sp>
      <p:sp>
        <p:nvSpPr>
          <p:cNvPr id="9" name="4 Marcador de contenido">
            <a:extLst>
              <a:ext uri="{FF2B5EF4-FFF2-40B4-BE49-F238E27FC236}">
                <a16:creationId xmlns:a16="http://schemas.microsoft.com/office/drawing/2014/main" id="{AF896B4C-556F-0D6A-C942-29CA3BF069E4}"/>
              </a:ext>
            </a:extLst>
          </p:cNvPr>
          <p:cNvSpPr txBox="1">
            <a:spLocks/>
          </p:cNvSpPr>
          <p:nvPr/>
        </p:nvSpPr>
        <p:spPr>
          <a:xfrm>
            <a:off x="3971490" y="1306682"/>
            <a:ext cx="5065006"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Combina funciones agregadas o secuencias para crear valores automáticos.</a:t>
            </a:r>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r>
              <a:rPr lang="es-ES" sz="1800" dirty="0"/>
              <a:t>Usando bucles podemos validar los datos antes de insertarlos</a:t>
            </a:r>
            <a:endParaRPr lang="es-ES" dirty="0"/>
          </a:p>
        </p:txBody>
      </p:sp>
    </p:spTree>
    <p:extLst>
      <p:ext uri="{BB962C8B-B14F-4D97-AF65-F5344CB8AC3E}">
        <p14:creationId xmlns:p14="http://schemas.microsoft.com/office/powerpoint/2010/main" val="45342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7AE12-FA11-CAAA-8FD0-0E0C455E1153}"/>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3C2AF595-5754-CCB0-70BD-7577FD046722}"/>
              </a:ext>
            </a:extLst>
          </p:cNvPr>
          <p:cNvSpPr/>
          <p:nvPr/>
        </p:nvSpPr>
        <p:spPr>
          <a:xfrm>
            <a:off x="227537" y="1326394"/>
            <a:ext cx="3662292"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C31F80AC-C607-07D9-CB90-FA1B8CE16FA6}"/>
              </a:ext>
            </a:extLst>
          </p:cNvPr>
          <p:cNvSpPr>
            <a:spLocks noGrp="1"/>
          </p:cNvSpPr>
          <p:nvPr>
            <p:ph idx="1"/>
          </p:nvPr>
        </p:nvSpPr>
        <p:spPr>
          <a:xfrm>
            <a:off x="457200" y="915567"/>
            <a:ext cx="8579296" cy="360040"/>
          </a:xfrm>
        </p:spPr>
        <p:txBody>
          <a:bodyPr>
            <a:normAutofit fontScale="47500" lnSpcReduction="20000"/>
          </a:bodyPr>
          <a:lstStyle/>
          <a:p>
            <a:r>
              <a:rPr lang="es-ES" sz="4200" dirty="0"/>
              <a:t>Uso de FORALL (inserciones masivas en PL/SQL)</a:t>
            </a:r>
            <a:endParaRPr lang="es-ES" dirty="0"/>
          </a:p>
        </p:txBody>
      </p:sp>
      <p:sp>
        <p:nvSpPr>
          <p:cNvPr id="4" name="3 Título">
            <a:extLst>
              <a:ext uri="{FF2B5EF4-FFF2-40B4-BE49-F238E27FC236}">
                <a16:creationId xmlns:a16="http://schemas.microsoft.com/office/drawing/2014/main" id="{05924F1F-1F13-BBA0-73E4-A1027E52672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CE5DB4E9-7D13-83F5-B0A8-191FD8979424}"/>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82264413-5797-64C0-1CBF-2CB1FA51190C}"/>
              </a:ext>
            </a:extLst>
          </p:cNvPr>
          <p:cNvSpPr txBox="1"/>
          <p:nvPr/>
        </p:nvSpPr>
        <p:spPr>
          <a:xfrm>
            <a:off x="227537" y="1433885"/>
            <a:ext cx="3643049" cy="2092881"/>
          </a:xfrm>
          <a:prstGeom prst="rect">
            <a:avLst/>
          </a:prstGeom>
          <a:noFill/>
        </p:spPr>
        <p:txBody>
          <a:bodyPr wrap="square">
            <a:spAutoFit/>
          </a:bodyPr>
          <a:lstStyle/>
          <a:p>
            <a:r>
              <a:rPr lang="en-US" sz="1300" dirty="0"/>
              <a:t>DECLARE</a:t>
            </a:r>
          </a:p>
          <a:p>
            <a:r>
              <a:rPr lang="en-US" sz="1300" dirty="0"/>
              <a:t>  TYPE </a:t>
            </a:r>
            <a:r>
              <a:rPr lang="en-US" sz="1300" dirty="0" err="1"/>
              <a:t>t_emps</a:t>
            </a:r>
            <a:r>
              <a:rPr lang="en-US" sz="1300" dirty="0"/>
              <a:t> IS TABLE OF </a:t>
            </a:r>
            <a:r>
              <a:rPr lang="en-US" sz="1300" dirty="0" err="1"/>
              <a:t>empleados%ROWTYPE</a:t>
            </a:r>
            <a:r>
              <a:rPr lang="en-US" sz="1300" dirty="0"/>
              <a:t>;</a:t>
            </a:r>
          </a:p>
          <a:p>
            <a:r>
              <a:rPr lang="en-US" sz="1300" dirty="0"/>
              <a:t>  </a:t>
            </a:r>
            <a:r>
              <a:rPr lang="en-US" sz="1300" dirty="0" err="1"/>
              <a:t>v_data</a:t>
            </a:r>
            <a:r>
              <a:rPr lang="en-US" sz="1300" dirty="0"/>
              <a:t> </a:t>
            </a:r>
            <a:r>
              <a:rPr lang="en-US" sz="1300" dirty="0" err="1"/>
              <a:t>t_emps</a:t>
            </a:r>
            <a:r>
              <a:rPr lang="en-US" sz="1300" dirty="0"/>
              <a:t>;</a:t>
            </a:r>
          </a:p>
          <a:p>
            <a:r>
              <a:rPr lang="en-US" sz="1300" dirty="0"/>
              <a:t>BEGIN</a:t>
            </a:r>
          </a:p>
          <a:p>
            <a:r>
              <a:rPr lang="en-US" sz="1300" dirty="0"/>
              <a:t>  SELECT * BULK COLLECT INTO </a:t>
            </a:r>
            <a:r>
              <a:rPr lang="en-US" sz="1300" dirty="0" err="1"/>
              <a:t>v_data</a:t>
            </a:r>
            <a:r>
              <a:rPr lang="en-US" sz="1300" dirty="0"/>
              <a:t> FROM </a:t>
            </a:r>
            <a:r>
              <a:rPr lang="en-US" sz="1300" dirty="0" err="1"/>
              <a:t>staging_empleados</a:t>
            </a:r>
            <a:r>
              <a:rPr lang="en-US" sz="1300" dirty="0"/>
              <a:t>;</a:t>
            </a:r>
          </a:p>
          <a:p>
            <a:r>
              <a:rPr lang="en-US" sz="1300" dirty="0"/>
              <a:t>  FORALL </a:t>
            </a:r>
            <a:r>
              <a:rPr lang="en-US" sz="1300" dirty="0" err="1"/>
              <a:t>i</a:t>
            </a:r>
            <a:r>
              <a:rPr lang="en-US" sz="1300" dirty="0"/>
              <a:t> IN </a:t>
            </a:r>
            <a:r>
              <a:rPr lang="en-US" sz="1300" dirty="0" err="1"/>
              <a:t>v_data.FIRST</a:t>
            </a:r>
            <a:r>
              <a:rPr lang="en-US" sz="1300" dirty="0"/>
              <a:t> .. </a:t>
            </a:r>
            <a:r>
              <a:rPr lang="en-US" sz="1300" dirty="0" err="1"/>
              <a:t>v_data.LAST</a:t>
            </a:r>
            <a:endParaRPr lang="en-US" sz="1300" dirty="0"/>
          </a:p>
          <a:p>
            <a:r>
              <a:rPr lang="en-US" sz="1300" dirty="0"/>
              <a:t>    INSERT INTO </a:t>
            </a:r>
            <a:r>
              <a:rPr lang="en-US" sz="1300" dirty="0" err="1"/>
              <a:t>empleados</a:t>
            </a:r>
            <a:r>
              <a:rPr lang="en-US" sz="1300" dirty="0"/>
              <a:t> VALUES </a:t>
            </a:r>
            <a:r>
              <a:rPr lang="en-US" sz="1300" dirty="0" err="1"/>
              <a:t>v_data</a:t>
            </a:r>
            <a:r>
              <a:rPr lang="en-US" sz="1300" dirty="0"/>
              <a:t>(</a:t>
            </a:r>
            <a:r>
              <a:rPr lang="en-US" sz="1300" dirty="0" err="1"/>
              <a:t>i</a:t>
            </a:r>
            <a:r>
              <a:rPr lang="en-US" sz="1300" dirty="0"/>
              <a:t>);</a:t>
            </a:r>
          </a:p>
          <a:p>
            <a:r>
              <a:rPr lang="en-US" sz="1300" dirty="0"/>
              <a:t>  COMMIT;</a:t>
            </a:r>
          </a:p>
          <a:p>
            <a:r>
              <a:rPr lang="en-US" sz="1300" dirty="0"/>
              <a:t>END;</a:t>
            </a:r>
            <a:endParaRPr lang="en-US" sz="1400" dirty="0"/>
          </a:p>
        </p:txBody>
      </p:sp>
      <p:sp>
        <p:nvSpPr>
          <p:cNvPr id="9" name="4 Marcador de contenido">
            <a:extLst>
              <a:ext uri="{FF2B5EF4-FFF2-40B4-BE49-F238E27FC236}">
                <a16:creationId xmlns:a16="http://schemas.microsoft.com/office/drawing/2014/main" id="{D9918434-A3C5-C1EC-5E2C-557662F04493}"/>
              </a:ext>
            </a:extLst>
          </p:cNvPr>
          <p:cNvSpPr txBox="1">
            <a:spLocks/>
          </p:cNvSpPr>
          <p:nvPr/>
        </p:nvSpPr>
        <p:spPr>
          <a:xfrm>
            <a:off x="3971490" y="1306682"/>
            <a:ext cx="5065006"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Mucho más rápido que bucles normales.</a:t>
            </a:r>
          </a:p>
          <a:p>
            <a:pPr marL="342900" lvl="1" indent="-342900">
              <a:buFont typeface="Arial" panose="020B0604020202020204" pitchFamily="34" charset="0"/>
              <a:buChar char="•"/>
            </a:pPr>
            <a:r>
              <a:rPr lang="es-ES" dirty="0" err="1"/>
              <a:t>Reduceuce</a:t>
            </a:r>
            <a:r>
              <a:rPr lang="es-ES" dirty="0"/>
              <a:t> el </a:t>
            </a:r>
            <a:r>
              <a:rPr lang="es-ES" dirty="0" err="1"/>
              <a:t>overhead</a:t>
            </a:r>
            <a:r>
              <a:rPr lang="es-ES" dirty="0"/>
              <a:t> del contexto SQL–PL/SQL.</a:t>
            </a:r>
          </a:p>
          <a:p>
            <a:pPr marL="342900" lvl="1" indent="-342900">
              <a:buFont typeface="Arial" panose="020B0604020202020204" pitchFamily="34" charset="0"/>
              <a:buChar char="•"/>
            </a:pPr>
            <a:r>
              <a:rPr lang="es-ES" dirty="0"/>
              <a:t>Ideal para grandes cargas de datos.</a:t>
            </a:r>
          </a:p>
        </p:txBody>
      </p:sp>
    </p:spTree>
    <p:extLst>
      <p:ext uri="{BB962C8B-B14F-4D97-AF65-F5344CB8AC3E}">
        <p14:creationId xmlns:p14="http://schemas.microsoft.com/office/powerpoint/2010/main" val="172829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0A58E-5971-7162-2353-9F6534953474}"/>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7238B1CA-90B1-A324-D197-C7D421E34C3D}"/>
              </a:ext>
            </a:extLst>
          </p:cNvPr>
          <p:cNvSpPr/>
          <p:nvPr/>
        </p:nvSpPr>
        <p:spPr>
          <a:xfrm>
            <a:off x="227537" y="1326394"/>
            <a:ext cx="3662292"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E5F4AB45-D135-C6BF-2E85-D8558C126D9C}"/>
              </a:ext>
            </a:extLst>
          </p:cNvPr>
          <p:cNvSpPr>
            <a:spLocks noGrp="1"/>
          </p:cNvSpPr>
          <p:nvPr>
            <p:ph idx="1"/>
          </p:nvPr>
        </p:nvSpPr>
        <p:spPr>
          <a:xfrm>
            <a:off x="457200" y="915567"/>
            <a:ext cx="8579296" cy="360040"/>
          </a:xfrm>
        </p:spPr>
        <p:txBody>
          <a:bodyPr>
            <a:normAutofit fontScale="47500" lnSpcReduction="20000"/>
          </a:bodyPr>
          <a:lstStyle/>
          <a:p>
            <a:r>
              <a:rPr lang="es-ES" sz="4200" dirty="0"/>
              <a:t>Zona peligrosa - desactivar </a:t>
            </a:r>
            <a:r>
              <a:rPr lang="es-ES" sz="4200" dirty="0" err="1"/>
              <a:t>triggers</a:t>
            </a:r>
            <a:r>
              <a:rPr lang="es-ES" sz="4200" dirty="0"/>
              <a:t> y </a:t>
            </a:r>
            <a:r>
              <a:rPr lang="es-ES" sz="4200" dirty="0" err="1"/>
              <a:t>append</a:t>
            </a:r>
            <a:endParaRPr lang="es-ES" dirty="0"/>
          </a:p>
        </p:txBody>
      </p:sp>
      <p:sp>
        <p:nvSpPr>
          <p:cNvPr id="4" name="3 Título">
            <a:extLst>
              <a:ext uri="{FF2B5EF4-FFF2-40B4-BE49-F238E27FC236}">
                <a16:creationId xmlns:a16="http://schemas.microsoft.com/office/drawing/2014/main" id="{8504AB3F-8D3B-AB1D-3B72-64C5456E6980}"/>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8F3935BE-0434-17E3-58FB-656363AA1FB5}"/>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A094CE0D-318D-1DCE-7E67-39B5273E06CA}"/>
              </a:ext>
            </a:extLst>
          </p:cNvPr>
          <p:cNvSpPr txBox="1"/>
          <p:nvPr/>
        </p:nvSpPr>
        <p:spPr>
          <a:xfrm>
            <a:off x="227537" y="1433885"/>
            <a:ext cx="3643049" cy="2092881"/>
          </a:xfrm>
          <a:prstGeom prst="rect">
            <a:avLst/>
          </a:prstGeom>
          <a:noFill/>
        </p:spPr>
        <p:txBody>
          <a:bodyPr wrap="square">
            <a:spAutoFit/>
          </a:bodyPr>
          <a:lstStyle/>
          <a:p>
            <a:r>
              <a:rPr lang="en-US" sz="1300" dirty="0"/>
              <a:t>ALTER TABLE </a:t>
            </a:r>
            <a:r>
              <a:rPr lang="en-US" sz="1300" dirty="0" err="1"/>
              <a:t>empleados</a:t>
            </a:r>
            <a:r>
              <a:rPr lang="en-US" sz="1300" dirty="0"/>
              <a:t> DISABLE TRIGGER ALL;</a:t>
            </a:r>
          </a:p>
          <a:p>
            <a:r>
              <a:rPr lang="en-US" sz="1300" dirty="0"/>
              <a:t>-- </a:t>
            </a:r>
            <a:r>
              <a:rPr lang="en-US" sz="1300" dirty="0" err="1"/>
              <a:t>Inserción</a:t>
            </a:r>
            <a:r>
              <a:rPr lang="en-US" sz="1300" dirty="0"/>
              <a:t> </a:t>
            </a:r>
            <a:r>
              <a:rPr lang="en-US" sz="1300" dirty="0" err="1"/>
              <a:t>masiva</a:t>
            </a:r>
            <a:endParaRPr lang="en-US" sz="1300" dirty="0"/>
          </a:p>
          <a:p>
            <a:r>
              <a:rPr lang="en-US" sz="1300" dirty="0"/>
              <a:t>ALTER TABLE </a:t>
            </a:r>
            <a:r>
              <a:rPr lang="en-US" sz="1300" dirty="0" err="1"/>
              <a:t>empleados</a:t>
            </a:r>
            <a:r>
              <a:rPr lang="en-US" sz="1300" dirty="0"/>
              <a:t> ENABLE TRIGGER ALL;</a:t>
            </a:r>
          </a:p>
          <a:p>
            <a:endParaRPr lang="en-US" sz="1300" dirty="0"/>
          </a:p>
          <a:p>
            <a:endParaRPr lang="en-US" sz="1300" dirty="0"/>
          </a:p>
          <a:p>
            <a:endParaRPr lang="en-US" sz="1300" dirty="0"/>
          </a:p>
          <a:p>
            <a:endParaRPr lang="en-US" sz="1300" dirty="0"/>
          </a:p>
          <a:p>
            <a:endParaRPr lang="en-US" sz="1300" dirty="0"/>
          </a:p>
          <a:p>
            <a:r>
              <a:rPr lang="en-US" sz="1300" dirty="0"/>
              <a:t>INSERT /*+ APPEND */ INTO </a:t>
            </a:r>
            <a:r>
              <a:rPr lang="en-US" sz="1300" dirty="0" err="1"/>
              <a:t>empleados</a:t>
            </a:r>
            <a:endParaRPr lang="en-US" sz="1300" dirty="0"/>
          </a:p>
          <a:p>
            <a:r>
              <a:rPr lang="en-US" sz="1300" dirty="0"/>
              <a:t>SELECT * FROM </a:t>
            </a:r>
            <a:r>
              <a:rPr lang="en-US" sz="1300" dirty="0" err="1"/>
              <a:t>staging_empleados</a:t>
            </a:r>
            <a:r>
              <a:rPr lang="en-US" sz="1300" dirty="0"/>
              <a:t>;</a:t>
            </a:r>
          </a:p>
        </p:txBody>
      </p:sp>
      <p:sp>
        <p:nvSpPr>
          <p:cNvPr id="9" name="4 Marcador de contenido">
            <a:extLst>
              <a:ext uri="{FF2B5EF4-FFF2-40B4-BE49-F238E27FC236}">
                <a16:creationId xmlns:a16="http://schemas.microsoft.com/office/drawing/2014/main" id="{4B075CA7-91B4-095C-9F7E-33C979A06DDE}"/>
              </a:ext>
            </a:extLst>
          </p:cNvPr>
          <p:cNvSpPr txBox="1">
            <a:spLocks/>
          </p:cNvSpPr>
          <p:nvPr/>
        </p:nvSpPr>
        <p:spPr>
          <a:xfrm>
            <a:off x="3971490" y="1306682"/>
            <a:ext cx="5065006"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Desactivar </a:t>
            </a:r>
            <a:r>
              <a:rPr lang="es-ES" dirty="0" err="1"/>
              <a:t>triggers</a:t>
            </a:r>
            <a:r>
              <a:rPr lang="es-ES" dirty="0"/>
              <a:t>.</a:t>
            </a:r>
          </a:p>
          <a:p>
            <a:pPr marL="342900" lvl="1" indent="-342900">
              <a:buFont typeface="Arial" panose="020B0604020202020204" pitchFamily="34" charset="0"/>
              <a:buChar char="•"/>
            </a:pPr>
            <a:r>
              <a:rPr lang="es-ES" dirty="0"/>
              <a:t>Muy peligroso, hay que hacerlo sabiendo lo que se está desactivando. Perderemos auditoría y propagaciones de datos.</a:t>
            </a:r>
          </a:p>
          <a:p>
            <a:pPr marL="342900" lvl="1" indent="-342900">
              <a:buFont typeface="Arial" panose="020B0604020202020204" pitchFamily="34" charset="0"/>
              <a:buChar char="•"/>
            </a:pPr>
            <a:endParaRPr lang="es-ES" dirty="0"/>
          </a:p>
          <a:p>
            <a:pPr marL="342900" lvl="1" indent="-342900">
              <a:buFont typeface="Arial" panose="020B0604020202020204" pitchFamily="34" charset="0"/>
              <a:buChar char="•"/>
            </a:pPr>
            <a:r>
              <a:rPr lang="es-ES" dirty="0"/>
              <a:t>Con APPEND Inserta directamente en los segmentos de datos, evitando el buffer cache.</a:t>
            </a:r>
          </a:p>
          <a:p>
            <a:pPr marL="342900" lvl="1" indent="-342900">
              <a:buFont typeface="Arial" panose="020B0604020202020204" pitchFamily="34" charset="0"/>
              <a:buChar char="•"/>
            </a:pPr>
            <a:r>
              <a:rPr lang="es-ES" dirty="0"/>
              <a:t>Mejora notablemente el rendimiento en inserciones masivas.</a:t>
            </a:r>
          </a:p>
        </p:txBody>
      </p:sp>
    </p:spTree>
    <p:extLst>
      <p:ext uri="{BB962C8B-B14F-4D97-AF65-F5344CB8AC3E}">
        <p14:creationId xmlns:p14="http://schemas.microsoft.com/office/powerpoint/2010/main" val="261959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A3348-FE5B-D761-7A70-374C2F245ECE}"/>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0DDB5AE2-D1BE-7BBC-AD10-696A5BB7748F}"/>
              </a:ext>
            </a:extLst>
          </p:cNvPr>
          <p:cNvSpPr/>
          <p:nvPr/>
        </p:nvSpPr>
        <p:spPr>
          <a:xfrm>
            <a:off x="227537" y="1326394"/>
            <a:ext cx="3662292"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BE436657-9527-4AB9-96BD-0D68AE6E36EB}"/>
              </a:ext>
            </a:extLst>
          </p:cNvPr>
          <p:cNvSpPr>
            <a:spLocks noGrp="1"/>
          </p:cNvSpPr>
          <p:nvPr>
            <p:ph idx="1"/>
          </p:nvPr>
        </p:nvSpPr>
        <p:spPr>
          <a:xfrm>
            <a:off x="457200" y="915567"/>
            <a:ext cx="8579296" cy="360040"/>
          </a:xfrm>
        </p:spPr>
        <p:txBody>
          <a:bodyPr>
            <a:normAutofit fontScale="47500" lnSpcReduction="20000"/>
          </a:bodyPr>
          <a:lstStyle/>
          <a:p>
            <a:r>
              <a:rPr lang="es-ES" sz="4200" dirty="0"/>
              <a:t>Buenas prácticas y </a:t>
            </a:r>
            <a:r>
              <a:rPr lang="es-ES" sz="4200" dirty="0" err="1"/>
              <a:t>tips</a:t>
            </a:r>
            <a:r>
              <a:rPr lang="es-ES" sz="4200" dirty="0"/>
              <a:t> finales</a:t>
            </a:r>
            <a:endParaRPr lang="es-ES" dirty="0"/>
          </a:p>
        </p:txBody>
      </p:sp>
      <p:sp>
        <p:nvSpPr>
          <p:cNvPr id="4" name="3 Título">
            <a:extLst>
              <a:ext uri="{FF2B5EF4-FFF2-40B4-BE49-F238E27FC236}">
                <a16:creationId xmlns:a16="http://schemas.microsoft.com/office/drawing/2014/main" id="{81BF3409-69C8-6B4C-F585-F60161D9581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05272EA-51E5-8306-AF12-A8FF404D09D0}"/>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404C0832-C256-7A78-F920-4E7ABA9FA28B}"/>
              </a:ext>
            </a:extLst>
          </p:cNvPr>
          <p:cNvSpPr txBox="1"/>
          <p:nvPr/>
        </p:nvSpPr>
        <p:spPr>
          <a:xfrm>
            <a:off x="227537" y="1433885"/>
            <a:ext cx="3643049" cy="2893100"/>
          </a:xfrm>
          <a:prstGeom prst="rect">
            <a:avLst/>
          </a:prstGeom>
          <a:noFill/>
        </p:spPr>
        <p:txBody>
          <a:bodyPr wrap="square">
            <a:spAutoFit/>
          </a:bodyPr>
          <a:lstStyle/>
          <a:p>
            <a:r>
              <a:rPr lang="en-US" sz="1300" dirty="0"/>
              <a:t>SAVEPOINT </a:t>
            </a:r>
            <a:r>
              <a:rPr lang="en-US" sz="1300" dirty="0" err="1"/>
              <a:t>pre_insercion</a:t>
            </a:r>
            <a:r>
              <a:rPr lang="en-US" sz="1300" dirty="0"/>
              <a:t>;</a:t>
            </a:r>
          </a:p>
          <a:p>
            <a:r>
              <a:rPr lang="en-US" sz="1300" dirty="0"/>
              <a:t>-- INSERTs</a:t>
            </a:r>
          </a:p>
          <a:p>
            <a:r>
              <a:rPr lang="en-US" sz="1300" dirty="0"/>
              <a:t>ROLLBACK TO </a:t>
            </a:r>
            <a:r>
              <a:rPr lang="en-US" sz="1300" dirty="0" err="1"/>
              <a:t>pre_insercion</a:t>
            </a:r>
            <a:r>
              <a:rPr lang="en-US" sz="1300" dirty="0"/>
              <a:t>; -- </a:t>
            </a:r>
            <a:r>
              <a:rPr lang="en-US" sz="1300" dirty="0" err="1"/>
              <a:t>si</a:t>
            </a:r>
            <a:r>
              <a:rPr lang="en-US" sz="1300" dirty="0"/>
              <a:t> algo </a:t>
            </a:r>
            <a:r>
              <a:rPr lang="en-US" sz="1300" dirty="0" err="1"/>
              <a:t>falla</a:t>
            </a:r>
            <a:endParaRPr lang="en-US" sz="1300" dirty="0"/>
          </a:p>
          <a:p>
            <a:endParaRPr lang="en-US" sz="1300" dirty="0"/>
          </a:p>
          <a:p>
            <a:endParaRPr lang="en-US" sz="1300" dirty="0"/>
          </a:p>
          <a:p>
            <a:endParaRPr lang="en-US" sz="1300" dirty="0"/>
          </a:p>
          <a:p>
            <a:endParaRPr lang="en-US" sz="1300" dirty="0"/>
          </a:p>
          <a:p>
            <a:r>
              <a:rPr lang="en-US" sz="1300" dirty="0"/>
              <a:t>MERGE INTO </a:t>
            </a:r>
            <a:r>
              <a:rPr lang="en-US" sz="1300" dirty="0" err="1"/>
              <a:t>empleados</a:t>
            </a:r>
            <a:r>
              <a:rPr lang="en-US" sz="1300" dirty="0"/>
              <a:t> e</a:t>
            </a:r>
          </a:p>
          <a:p>
            <a:r>
              <a:rPr lang="en-US" sz="1300" dirty="0"/>
              <a:t>USING </a:t>
            </a:r>
            <a:r>
              <a:rPr lang="en-US" sz="1300" dirty="0" err="1"/>
              <a:t>nuevos_empleados</a:t>
            </a:r>
            <a:r>
              <a:rPr lang="en-US" sz="1300" dirty="0"/>
              <a:t> n</a:t>
            </a:r>
          </a:p>
          <a:p>
            <a:r>
              <a:rPr lang="en-US" sz="1300" dirty="0"/>
              <a:t>ON (e.id = n.id)</a:t>
            </a:r>
          </a:p>
          <a:p>
            <a:r>
              <a:rPr lang="en-US" sz="1300" dirty="0"/>
              <a:t>WHEN MATCHED THEN UPDATE SET </a:t>
            </a:r>
            <a:r>
              <a:rPr lang="en-US" sz="1300" dirty="0" err="1"/>
              <a:t>e.salario</a:t>
            </a:r>
            <a:r>
              <a:rPr lang="en-US" sz="1300" dirty="0"/>
              <a:t> = </a:t>
            </a:r>
            <a:r>
              <a:rPr lang="en-US" sz="1300" dirty="0" err="1"/>
              <a:t>n.salario</a:t>
            </a:r>
            <a:endParaRPr lang="en-US" sz="1300" dirty="0"/>
          </a:p>
          <a:p>
            <a:r>
              <a:rPr lang="en-US" sz="1300" dirty="0"/>
              <a:t>WHEN NOT MATCHED THEN INSERT (id, </a:t>
            </a:r>
            <a:r>
              <a:rPr lang="en-US" sz="1300" dirty="0" err="1"/>
              <a:t>nombre</a:t>
            </a:r>
            <a:r>
              <a:rPr lang="en-US" sz="1300" dirty="0"/>
              <a:t>, </a:t>
            </a:r>
            <a:r>
              <a:rPr lang="en-US" sz="1300" dirty="0" err="1"/>
              <a:t>salario</a:t>
            </a:r>
            <a:r>
              <a:rPr lang="en-US" sz="1300" dirty="0"/>
              <a:t>) VALUES (n.id, </a:t>
            </a:r>
            <a:r>
              <a:rPr lang="en-US" sz="1300" dirty="0" err="1"/>
              <a:t>n.nombre</a:t>
            </a:r>
            <a:r>
              <a:rPr lang="en-US" sz="1300" dirty="0"/>
              <a:t>, </a:t>
            </a:r>
            <a:r>
              <a:rPr lang="en-US" sz="1300" dirty="0" err="1"/>
              <a:t>n.salario</a:t>
            </a:r>
            <a:r>
              <a:rPr lang="en-US" sz="1300" dirty="0"/>
              <a:t>);</a:t>
            </a:r>
            <a:endParaRPr lang="en-US" sz="1400" dirty="0"/>
          </a:p>
        </p:txBody>
      </p:sp>
      <p:sp>
        <p:nvSpPr>
          <p:cNvPr id="9" name="4 Marcador de contenido">
            <a:extLst>
              <a:ext uri="{FF2B5EF4-FFF2-40B4-BE49-F238E27FC236}">
                <a16:creationId xmlns:a16="http://schemas.microsoft.com/office/drawing/2014/main" id="{E035CAC3-FB1F-11B4-A94B-A37BC37BA019}"/>
              </a:ext>
            </a:extLst>
          </p:cNvPr>
          <p:cNvSpPr txBox="1">
            <a:spLocks/>
          </p:cNvSpPr>
          <p:nvPr/>
        </p:nvSpPr>
        <p:spPr>
          <a:xfrm>
            <a:off x="3971490" y="1306682"/>
            <a:ext cx="5065006"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Siempre especificar columnas. </a:t>
            </a:r>
          </a:p>
          <a:p>
            <a:pPr marL="342900" lvl="1" indent="-342900">
              <a:buFont typeface="Arial" panose="020B0604020202020204" pitchFamily="34" charset="0"/>
              <a:buChar char="•"/>
            </a:pPr>
            <a:r>
              <a:rPr lang="es-ES" dirty="0"/>
              <a:t>Controlar transacciones</a:t>
            </a:r>
          </a:p>
          <a:p>
            <a:pPr marL="342900" lvl="1" indent="-342900">
              <a:buFont typeface="Arial" panose="020B0604020202020204" pitchFamily="34" charset="0"/>
              <a:buChar char="•"/>
            </a:pPr>
            <a:r>
              <a:rPr lang="es-ES" dirty="0"/>
              <a:t>COMMIT después de lotes razonables.</a:t>
            </a:r>
          </a:p>
          <a:p>
            <a:pPr marL="342900" lvl="1" indent="-342900">
              <a:buFont typeface="Arial" panose="020B0604020202020204" pitchFamily="34" charset="0"/>
              <a:buChar char="•"/>
            </a:pPr>
            <a:r>
              <a:rPr lang="es-ES" dirty="0"/>
              <a:t>SAVEPOINT para </a:t>
            </a:r>
            <a:r>
              <a:rPr lang="es-ES" dirty="0" err="1"/>
              <a:t>rollback</a:t>
            </a:r>
            <a:r>
              <a:rPr lang="es-ES" dirty="0"/>
              <a:t> parcial.</a:t>
            </a:r>
          </a:p>
          <a:p>
            <a:pPr marL="342900" lvl="1" indent="-342900">
              <a:buFont typeface="Arial" panose="020B0604020202020204" pitchFamily="34" charset="0"/>
              <a:buChar char="•"/>
            </a:pPr>
            <a:r>
              <a:rPr lang="es-ES" dirty="0"/>
              <a:t>Verifica antes de hacer COMMIT</a:t>
            </a:r>
          </a:p>
          <a:p>
            <a:pPr marL="342900" lvl="1" indent="-342900">
              <a:buFont typeface="Arial" panose="020B0604020202020204" pitchFamily="34" charset="0"/>
              <a:buChar char="•"/>
            </a:pPr>
            <a:endParaRPr lang="es-ES" dirty="0"/>
          </a:p>
          <a:p>
            <a:pPr marL="342900" lvl="1" indent="-342900">
              <a:buFont typeface="Arial" panose="020B0604020202020204" pitchFamily="34" charset="0"/>
              <a:buChar char="•"/>
            </a:pPr>
            <a:r>
              <a:rPr lang="es-ES" dirty="0"/>
              <a:t>MERGE para validar duplicados.</a:t>
            </a:r>
          </a:p>
        </p:txBody>
      </p:sp>
    </p:spTree>
    <p:extLst>
      <p:ext uri="{BB962C8B-B14F-4D97-AF65-F5344CB8AC3E}">
        <p14:creationId xmlns:p14="http://schemas.microsoft.com/office/powerpoint/2010/main" val="1575731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E1E6F-99CD-90B7-5880-49206F2CBB69}"/>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7D53FC9C-5721-A5A6-B22B-0BE7B2210C0E}"/>
              </a:ext>
            </a:extLst>
          </p:cNvPr>
          <p:cNvSpPr/>
          <p:nvPr/>
        </p:nvSpPr>
        <p:spPr>
          <a:xfrm>
            <a:off x="227537" y="1326394"/>
            <a:ext cx="3662292"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231FF2C8-3A3C-60BF-945A-846A89BCA994}"/>
              </a:ext>
            </a:extLst>
          </p:cNvPr>
          <p:cNvSpPr>
            <a:spLocks noGrp="1"/>
          </p:cNvSpPr>
          <p:nvPr>
            <p:ph idx="1"/>
          </p:nvPr>
        </p:nvSpPr>
        <p:spPr>
          <a:xfrm>
            <a:off x="457200" y="915566"/>
            <a:ext cx="8579296" cy="446310"/>
          </a:xfrm>
        </p:spPr>
        <p:txBody>
          <a:bodyPr>
            <a:normAutofit fontScale="62500" lnSpcReduction="20000"/>
          </a:bodyPr>
          <a:lstStyle/>
          <a:p>
            <a:r>
              <a:rPr lang="es-ES" sz="4200" dirty="0"/>
              <a:t>MERGE</a:t>
            </a:r>
            <a:endParaRPr lang="es-ES" dirty="0"/>
          </a:p>
        </p:txBody>
      </p:sp>
      <p:sp>
        <p:nvSpPr>
          <p:cNvPr id="4" name="3 Título">
            <a:extLst>
              <a:ext uri="{FF2B5EF4-FFF2-40B4-BE49-F238E27FC236}">
                <a16:creationId xmlns:a16="http://schemas.microsoft.com/office/drawing/2014/main" id="{C5CF0FD3-428A-8487-EAA9-DACCC855B4C2}"/>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50515545-B5C7-9200-05C3-FFF3FE540F96}"/>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1E0FDB77-216F-B431-1FA4-EE2790D918ED}"/>
              </a:ext>
            </a:extLst>
          </p:cNvPr>
          <p:cNvSpPr txBox="1"/>
          <p:nvPr/>
        </p:nvSpPr>
        <p:spPr>
          <a:xfrm>
            <a:off x="227537" y="1433885"/>
            <a:ext cx="3643049" cy="1892826"/>
          </a:xfrm>
          <a:prstGeom prst="rect">
            <a:avLst/>
          </a:prstGeom>
          <a:noFill/>
        </p:spPr>
        <p:txBody>
          <a:bodyPr wrap="square">
            <a:spAutoFit/>
          </a:bodyPr>
          <a:lstStyle/>
          <a:p>
            <a:r>
              <a:rPr lang="en-US" sz="1300" dirty="0"/>
              <a:t>MERGE INTO </a:t>
            </a:r>
            <a:r>
              <a:rPr lang="en-US" sz="1300" dirty="0" err="1"/>
              <a:t>tabla_destino</a:t>
            </a:r>
            <a:r>
              <a:rPr lang="en-US" sz="1300" dirty="0"/>
              <a:t> d</a:t>
            </a:r>
          </a:p>
          <a:p>
            <a:r>
              <a:rPr lang="en-US" sz="1300" dirty="0"/>
              <a:t>USING </a:t>
            </a:r>
            <a:r>
              <a:rPr lang="en-US" sz="1300" dirty="0" err="1"/>
              <a:t>tabla_fuente</a:t>
            </a:r>
            <a:r>
              <a:rPr lang="en-US" sz="1300" dirty="0"/>
              <a:t> s</a:t>
            </a:r>
          </a:p>
          <a:p>
            <a:r>
              <a:rPr lang="en-US" sz="1300" dirty="0"/>
              <a:t>ON (</a:t>
            </a:r>
            <a:r>
              <a:rPr lang="en-US" sz="1300" dirty="0" err="1"/>
              <a:t>condición_de_coincidencia</a:t>
            </a:r>
            <a:r>
              <a:rPr lang="en-US" sz="1300" dirty="0"/>
              <a:t>)</a:t>
            </a:r>
          </a:p>
          <a:p>
            <a:r>
              <a:rPr lang="en-US" sz="1300" dirty="0"/>
              <a:t>WHEN MATCHED THEN</a:t>
            </a:r>
          </a:p>
          <a:p>
            <a:r>
              <a:rPr lang="en-US" sz="1300" dirty="0"/>
              <a:t>  UPDATE SET d.columna1 = s.columna1, d.columna2 = s.columna2</a:t>
            </a:r>
          </a:p>
          <a:p>
            <a:r>
              <a:rPr lang="en-US" sz="1300" dirty="0"/>
              <a:t>WHEN NOT MATCHED THEN</a:t>
            </a:r>
          </a:p>
          <a:p>
            <a:r>
              <a:rPr lang="en-US" sz="1300" dirty="0"/>
              <a:t>  INSERT (columna1, columna2, ...)</a:t>
            </a:r>
          </a:p>
          <a:p>
            <a:r>
              <a:rPr lang="en-US" sz="1300" dirty="0"/>
              <a:t>  VALUES (s.columna1, s.columna2, ...);</a:t>
            </a:r>
          </a:p>
        </p:txBody>
      </p:sp>
      <p:sp>
        <p:nvSpPr>
          <p:cNvPr id="9" name="4 Marcador de contenido">
            <a:extLst>
              <a:ext uri="{FF2B5EF4-FFF2-40B4-BE49-F238E27FC236}">
                <a16:creationId xmlns:a16="http://schemas.microsoft.com/office/drawing/2014/main" id="{4CB39C38-2CA9-36C7-D39F-74E178D3AD6C}"/>
              </a:ext>
            </a:extLst>
          </p:cNvPr>
          <p:cNvSpPr txBox="1">
            <a:spLocks/>
          </p:cNvSpPr>
          <p:nvPr/>
        </p:nvSpPr>
        <p:spPr>
          <a:xfrm>
            <a:off x="3971490" y="1306682"/>
            <a:ext cx="5065006"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MERGE es una </a:t>
            </a:r>
            <a:r>
              <a:rPr lang="es-ES" sz="1600" b="1" dirty="0"/>
              <a:t>sentencia de SQL avanzada</a:t>
            </a:r>
            <a:r>
              <a:rPr lang="es-ES" sz="1600" dirty="0"/>
              <a:t> que combina la funcionalidad de INSERT y UPDATE (e incluso DELETE) en </a:t>
            </a:r>
            <a:r>
              <a:rPr lang="es-ES" sz="1600" b="1" dirty="0"/>
              <a:t>una sola operación atómica</a:t>
            </a:r>
            <a:r>
              <a:rPr lang="es-ES" sz="1600" dirty="0"/>
              <a:t>..</a:t>
            </a:r>
          </a:p>
          <a:p>
            <a:pPr marL="342900" lvl="1" indent="-342900">
              <a:buFont typeface="Arial" panose="020B0604020202020204" pitchFamily="34" charset="0"/>
              <a:buChar char="•"/>
            </a:pPr>
            <a:r>
              <a:rPr lang="es-ES" sz="1600" dirty="0"/>
              <a:t>Su objetivo principal es </a:t>
            </a:r>
            <a:r>
              <a:rPr lang="es-ES" sz="1600" b="1" dirty="0"/>
              <a:t>sincronizar datos entre dos tablas</a:t>
            </a:r>
            <a:r>
              <a:rPr lang="es-ES" sz="1600" dirty="0"/>
              <a:t>, o entre una tabla y un conjunto de resultados.</a:t>
            </a:r>
          </a:p>
          <a:p>
            <a:pPr marL="342900" lvl="1" indent="-342900">
              <a:buFont typeface="Arial" panose="020B0604020202020204" pitchFamily="34" charset="0"/>
              <a:buChar char="•"/>
            </a:pPr>
            <a:r>
              <a:rPr lang="es-ES" sz="1600" dirty="0"/>
              <a:t>MERGE compara dos conjuntos de datos (una tabla destino y una fuente) y:</a:t>
            </a:r>
          </a:p>
          <a:p>
            <a:pPr marL="877888" lvl="2" indent="-342900"/>
            <a:r>
              <a:rPr lang="es-ES" sz="1400" dirty="0"/>
              <a:t>Actualiza los registros que coinciden.</a:t>
            </a:r>
          </a:p>
          <a:p>
            <a:pPr marL="877888" lvl="2" indent="-342900"/>
            <a:r>
              <a:rPr lang="es-ES" sz="1400" dirty="0"/>
              <a:t>Inserta los registros nuevos que no existen.</a:t>
            </a:r>
          </a:p>
          <a:p>
            <a:pPr marL="877888" lvl="2" indent="-342900"/>
            <a:r>
              <a:rPr lang="es-ES" sz="1400" dirty="0"/>
              <a:t>(Opcionalmente) Elimina los registros que ya no deberían existir.</a:t>
            </a:r>
          </a:p>
        </p:txBody>
      </p:sp>
    </p:spTree>
    <p:extLst>
      <p:ext uri="{BB962C8B-B14F-4D97-AF65-F5344CB8AC3E}">
        <p14:creationId xmlns:p14="http://schemas.microsoft.com/office/powerpoint/2010/main" val="1971454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9EE5E-6990-6774-A9D3-05FE76B120EB}"/>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49090AD2-E5EF-6DB5-C77C-6298D4D3128A}"/>
              </a:ext>
            </a:extLst>
          </p:cNvPr>
          <p:cNvSpPr/>
          <p:nvPr/>
        </p:nvSpPr>
        <p:spPr>
          <a:xfrm>
            <a:off x="227537" y="1326394"/>
            <a:ext cx="3662292"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F087097B-43E0-24EA-5216-34BB13A33537}"/>
              </a:ext>
            </a:extLst>
          </p:cNvPr>
          <p:cNvSpPr>
            <a:spLocks noGrp="1"/>
          </p:cNvSpPr>
          <p:nvPr>
            <p:ph idx="1"/>
          </p:nvPr>
        </p:nvSpPr>
        <p:spPr>
          <a:xfrm>
            <a:off x="457200" y="915566"/>
            <a:ext cx="8579296" cy="446310"/>
          </a:xfrm>
        </p:spPr>
        <p:txBody>
          <a:bodyPr>
            <a:normAutofit fontScale="62500" lnSpcReduction="20000"/>
          </a:bodyPr>
          <a:lstStyle/>
          <a:p>
            <a:r>
              <a:rPr lang="es-ES" sz="4200" dirty="0"/>
              <a:t>MERGE</a:t>
            </a:r>
            <a:endParaRPr lang="es-ES" dirty="0"/>
          </a:p>
        </p:txBody>
      </p:sp>
      <p:sp>
        <p:nvSpPr>
          <p:cNvPr id="4" name="3 Título">
            <a:extLst>
              <a:ext uri="{FF2B5EF4-FFF2-40B4-BE49-F238E27FC236}">
                <a16:creationId xmlns:a16="http://schemas.microsoft.com/office/drawing/2014/main" id="{39610F53-0B8F-5811-6113-532DDFB4C8A2}"/>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E023C9F4-E80B-4EC5-7332-0984735F50F1}"/>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95F6CF8B-D8CA-6EBA-8621-593A1E1BF007}"/>
              </a:ext>
            </a:extLst>
          </p:cNvPr>
          <p:cNvSpPr txBox="1"/>
          <p:nvPr/>
        </p:nvSpPr>
        <p:spPr>
          <a:xfrm>
            <a:off x="227537" y="1433885"/>
            <a:ext cx="3643049" cy="1892826"/>
          </a:xfrm>
          <a:prstGeom prst="rect">
            <a:avLst/>
          </a:prstGeom>
          <a:noFill/>
        </p:spPr>
        <p:txBody>
          <a:bodyPr wrap="square">
            <a:spAutoFit/>
          </a:bodyPr>
          <a:lstStyle/>
          <a:p>
            <a:r>
              <a:rPr lang="en-US" sz="1300" dirty="0"/>
              <a:t>MERGE INTO </a:t>
            </a:r>
            <a:r>
              <a:rPr lang="en-US" sz="1300" dirty="0" err="1"/>
              <a:t>empleados</a:t>
            </a:r>
            <a:r>
              <a:rPr lang="en-US" sz="1300" dirty="0"/>
              <a:t> e</a:t>
            </a:r>
          </a:p>
          <a:p>
            <a:r>
              <a:rPr lang="en-US" sz="1300" dirty="0"/>
              <a:t>USING </a:t>
            </a:r>
            <a:r>
              <a:rPr lang="en-US" sz="1300" dirty="0" err="1"/>
              <a:t>staging_empleados</a:t>
            </a:r>
            <a:r>
              <a:rPr lang="en-US" sz="1300" dirty="0"/>
              <a:t> s</a:t>
            </a:r>
          </a:p>
          <a:p>
            <a:r>
              <a:rPr lang="en-US" sz="1300" dirty="0"/>
              <a:t>ON (e.id = s.id)</a:t>
            </a:r>
          </a:p>
          <a:p>
            <a:r>
              <a:rPr lang="en-US" sz="1300" dirty="0"/>
              <a:t>WHEN MATCHED THEN</a:t>
            </a:r>
          </a:p>
          <a:p>
            <a:r>
              <a:rPr lang="en-US" sz="1300" dirty="0"/>
              <a:t>  UPDATE SET </a:t>
            </a:r>
            <a:r>
              <a:rPr lang="en-US" sz="1300" dirty="0" err="1"/>
              <a:t>e.salario</a:t>
            </a:r>
            <a:r>
              <a:rPr lang="en-US" sz="1300" dirty="0"/>
              <a:t> = </a:t>
            </a:r>
            <a:r>
              <a:rPr lang="en-US" sz="1300" dirty="0" err="1"/>
              <a:t>s.salario</a:t>
            </a:r>
            <a:endParaRPr lang="en-US" sz="1300" dirty="0"/>
          </a:p>
          <a:p>
            <a:r>
              <a:rPr lang="en-US" sz="1300" dirty="0"/>
              <a:t>  DELETE WHERE </a:t>
            </a:r>
            <a:r>
              <a:rPr lang="en-US" sz="1300" dirty="0" err="1"/>
              <a:t>s.activo</a:t>
            </a:r>
            <a:r>
              <a:rPr lang="en-US" sz="1300" dirty="0"/>
              <a:t> = 'N'</a:t>
            </a:r>
          </a:p>
          <a:p>
            <a:r>
              <a:rPr lang="en-US" sz="1300" dirty="0"/>
              <a:t>WHEN NOT MATCHED THEN</a:t>
            </a:r>
          </a:p>
          <a:p>
            <a:r>
              <a:rPr lang="en-US" sz="1300" dirty="0"/>
              <a:t>  INSERT (id, </a:t>
            </a:r>
            <a:r>
              <a:rPr lang="en-US" sz="1300" dirty="0" err="1"/>
              <a:t>nombre</a:t>
            </a:r>
            <a:r>
              <a:rPr lang="en-US" sz="1300" dirty="0"/>
              <a:t>, </a:t>
            </a:r>
            <a:r>
              <a:rPr lang="en-US" sz="1300" dirty="0" err="1"/>
              <a:t>salario</a:t>
            </a:r>
            <a:r>
              <a:rPr lang="en-US" sz="1300" dirty="0"/>
              <a:t>)</a:t>
            </a:r>
          </a:p>
          <a:p>
            <a:r>
              <a:rPr lang="en-US" sz="1300" dirty="0"/>
              <a:t>  VALUES (s.id, </a:t>
            </a:r>
            <a:r>
              <a:rPr lang="en-US" sz="1300" dirty="0" err="1"/>
              <a:t>s.nombre</a:t>
            </a:r>
            <a:r>
              <a:rPr lang="en-US" sz="1300" dirty="0"/>
              <a:t>, </a:t>
            </a:r>
            <a:r>
              <a:rPr lang="en-US" sz="1300" dirty="0" err="1"/>
              <a:t>s.salario</a:t>
            </a:r>
            <a:r>
              <a:rPr lang="en-US" sz="1300" dirty="0"/>
              <a:t>);</a:t>
            </a:r>
          </a:p>
        </p:txBody>
      </p:sp>
      <p:sp>
        <p:nvSpPr>
          <p:cNvPr id="9" name="4 Marcador de contenido">
            <a:extLst>
              <a:ext uri="{FF2B5EF4-FFF2-40B4-BE49-F238E27FC236}">
                <a16:creationId xmlns:a16="http://schemas.microsoft.com/office/drawing/2014/main" id="{57583575-5E6A-2190-42C3-FB5AF0458CBF}"/>
              </a:ext>
            </a:extLst>
          </p:cNvPr>
          <p:cNvSpPr txBox="1">
            <a:spLocks/>
          </p:cNvSpPr>
          <p:nvPr/>
        </p:nvSpPr>
        <p:spPr>
          <a:xfrm>
            <a:off x="3971490" y="1306682"/>
            <a:ext cx="5065006" cy="3569323"/>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MERGE Cuidados importantes</a:t>
            </a:r>
          </a:p>
          <a:p>
            <a:pPr marL="877888" lvl="2" indent="-342900"/>
            <a:r>
              <a:rPr lang="es-ES" dirty="0"/>
              <a:t>Índices: Asegúrate de tener índices en las columnas del ON, o el MERGE será lento.</a:t>
            </a:r>
          </a:p>
          <a:p>
            <a:pPr marL="877888" lvl="2" indent="-342900"/>
            <a:r>
              <a:rPr lang="es-ES" dirty="0" err="1"/>
              <a:t>Triggers</a:t>
            </a:r>
            <a:r>
              <a:rPr lang="es-ES" dirty="0"/>
              <a:t>: Los </a:t>
            </a:r>
            <a:r>
              <a:rPr lang="es-ES" dirty="0" err="1"/>
              <a:t>triggers</a:t>
            </a:r>
            <a:r>
              <a:rPr lang="es-ES" dirty="0"/>
              <a:t> BEFORE INSERT y BEFORE UPDATE pueden ejecutarse durante el MERGE.</a:t>
            </a:r>
          </a:p>
          <a:p>
            <a:pPr marL="877888" lvl="2" indent="-342900"/>
            <a:r>
              <a:rPr lang="es-ES" dirty="0"/>
              <a:t>Duplicados en la </a:t>
            </a:r>
            <a:r>
              <a:rPr lang="es-ES" dirty="0" err="1"/>
              <a:t>fuente:Si</a:t>
            </a:r>
            <a:r>
              <a:rPr lang="es-ES" dirty="0"/>
              <a:t> la tabla fuente tiene registros duplicados respecto al ON, Oracle lanzará un error:ORA-30926:</a:t>
            </a:r>
          </a:p>
        </p:txBody>
      </p:sp>
    </p:spTree>
    <p:extLst>
      <p:ext uri="{BB962C8B-B14F-4D97-AF65-F5344CB8AC3E}">
        <p14:creationId xmlns:p14="http://schemas.microsoft.com/office/powerpoint/2010/main" val="1595036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3DDA-6B96-9F18-AC16-A391F467ADF4}"/>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477D663C-9118-A4B2-7C6C-224E540ABD04}"/>
              </a:ext>
            </a:extLst>
          </p:cNvPr>
          <p:cNvSpPr/>
          <p:nvPr/>
        </p:nvSpPr>
        <p:spPr>
          <a:xfrm>
            <a:off x="227537" y="1326394"/>
            <a:ext cx="3662292"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D4A8F34D-36C3-841E-090A-D3166C80C68B}"/>
              </a:ext>
            </a:extLst>
          </p:cNvPr>
          <p:cNvSpPr>
            <a:spLocks noGrp="1"/>
          </p:cNvSpPr>
          <p:nvPr>
            <p:ph idx="1"/>
          </p:nvPr>
        </p:nvSpPr>
        <p:spPr>
          <a:xfrm>
            <a:off x="457200" y="915566"/>
            <a:ext cx="8579296" cy="446310"/>
          </a:xfrm>
        </p:spPr>
        <p:txBody>
          <a:bodyPr>
            <a:normAutofit fontScale="62500" lnSpcReduction="20000"/>
          </a:bodyPr>
          <a:lstStyle/>
          <a:p>
            <a:r>
              <a:rPr lang="es-ES" sz="4400" dirty="0"/>
              <a:t>Inserciones particionadas (grandes volúmenes)</a:t>
            </a:r>
            <a:endParaRPr lang="es-ES" dirty="0"/>
          </a:p>
        </p:txBody>
      </p:sp>
      <p:sp>
        <p:nvSpPr>
          <p:cNvPr id="4" name="3 Título">
            <a:extLst>
              <a:ext uri="{FF2B5EF4-FFF2-40B4-BE49-F238E27FC236}">
                <a16:creationId xmlns:a16="http://schemas.microsoft.com/office/drawing/2014/main" id="{5BACC6C2-D818-B7F7-E8AF-9987397446D6}"/>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F7E4DB6F-196C-B0BB-538A-0B089A430307}"/>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00800958-C1B8-B3F9-7C9E-F953D32273CE}"/>
              </a:ext>
            </a:extLst>
          </p:cNvPr>
          <p:cNvSpPr txBox="1"/>
          <p:nvPr/>
        </p:nvSpPr>
        <p:spPr>
          <a:xfrm>
            <a:off x="368056" y="1738151"/>
            <a:ext cx="3487330" cy="1077218"/>
          </a:xfrm>
          <a:prstGeom prst="rect">
            <a:avLst/>
          </a:prstGeom>
          <a:noFill/>
        </p:spPr>
        <p:txBody>
          <a:bodyPr wrap="square">
            <a:spAutoFit/>
          </a:bodyPr>
          <a:lstStyle/>
          <a:p>
            <a:r>
              <a:rPr lang="en-US" sz="1600" dirty="0"/>
              <a:t>INSERT /*+ PARALLEL(</a:t>
            </a:r>
            <a:r>
              <a:rPr lang="en-US" sz="1600" dirty="0" err="1"/>
              <a:t>empleados</a:t>
            </a:r>
            <a:r>
              <a:rPr lang="en-US" sz="1600" dirty="0"/>
              <a:t>, 4) APPEND */</a:t>
            </a:r>
          </a:p>
          <a:p>
            <a:r>
              <a:rPr lang="en-US" sz="1600" dirty="0"/>
              <a:t>INTO </a:t>
            </a:r>
            <a:r>
              <a:rPr lang="en-US" sz="1600" dirty="0" err="1"/>
              <a:t>empleados</a:t>
            </a:r>
            <a:endParaRPr lang="en-US" sz="1600" dirty="0"/>
          </a:p>
          <a:p>
            <a:r>
              <a:rPr lang="en-US" sz="1600" dirty="0"/>
              <a:t>SELECT * FROM </a:t>
            </a:r>
            <a:r>
              <a:rPr lang="en-US" sz="1600" dirty="0" err="1"/>
              <a:t>staging_empleados</a:t>
            </a:r>
            <a:r>
              <a:rPr lang="en-US" sz="1300" dirty="0"/>
              <a:t>;</a:t>
            </a:r>
          </a:p>
        </p:txBody>
      </p:sp>
      <p:sp>
        <p:nvSpPr>
          <p:cNvPr id="9" name="4 Marcador de contenido">
            <a:extLst>
              <a:ext uri="{FF2B5EF4-FFF2-40B4-BE49-F238E27FC236}">
                <a16:creationId xmlns:a16="http://schemas.microsoft.com/office/drawing/2014/main" id="{DD4C43C7-F885-4D2E-3D04-EAB07E84C07E}"/>
              </a:ext>
            </a:extLst>
          </p:cNvPr>
          <p:cNvSpPr txBox="1">
            <a:spLocks/>
          </p:cNvSpPr>
          <p:nvPr/>
        </p:nvSpPr>
        <p:spPr>
          <a:xfrm>
            <a:off x="3971490" y="1470409"/>
            <a:ext cx="5065006" cy="326158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Si la tabla destino está particionada, Oracle puede paralelizar el </a:t>
            </a:r>
            <a:r>
              <a:rPr lang="es-ES" sz="1800" dirty="0" err="1"/>
              <a:t>insert</a:t>
            </a:r>
            <a:r>
              <a:rPr lang="es-ES" sz="1800" dirty="0"/>
              <a:t>...</a:t>
            </a:r>
          </a:p>
          <a:p>
            <a:pPr marL="342900" lvl="1" indent="-342900">
              <a:buFont typeface="Arial" panose="020B0604020202020204" pitchFamily="34" charset="0"/>
              <a:buChar char="•"/>
            </a:pPr>
            <a:r>
              <a:rPr lang="es-ES" sz="1800" dirty="0"/>
              <a:t>Usa paralelismo para dividir la </a:t>
            </a:r>
            <a:r>
              <a:rPr lang="es-ES" sz="1800" dirty="0" err="1"/>
              <a:t>carga.Oracle</a:t>
            </a:r>
            <a:r>
              <a:rPr lang="es-ES" sz="1800" dirty="0"/>
              <a:t> distribuye los bloques entre particiones.</a:t>
            </a:r>
          </a:p>
          <a:p>
            <a:pPr marL="342900" lvl="1" indent="-342900">
              <a:buFont typeface="Arial" panose="020B0604020202020204" pitchFamily="34" charset="0"/>
              <a:buChar char="•"/>
            </a:pPr>
            <a:r>
              <a:rPr lang="es-ES" sz="1800" dirty="0"/>
              <a:t>Ideal para DW (Data </a:t>
            </a:r>
            <a:r>
              <a:rPr lang="es-ES" sz="1800" dirty="0" err="1"/>
              <a:t>Warehouses</a:t>
            </a:r>
            <a:r>
              <a:rPr lang="es-ES" sz="1800" dirty="0"/>
              <a:t>).</a:t>
            </a:r>
          </a:p>
        </p:txBody>
      </p:sp>
    </p:spTree>
    <p:extLst>
      <p:ext uri="{BB962C8B-B14F-4D97-AF65-F5344CB8AC3E}">
        <p14:creationId xmlns:p14="http://schemas.microsoft.com/office/powerpoint/2010/main" val="4173938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94DC3-4813-9644-E36F-35119C888F21}"/>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1AA7D2FB-402F-5D7B-5900-3265FC9774FF}"/>
              </a:ext>
            </a:extLst>
          </p:cNvPr>
          <p:cNvSpPr/>
          <p:nvPr/>
        </p:nvSpPr>
        <p:spPr>
          <a:xfrm>
            <a:off x="227537" y="1326394"/>
            <a:ext cx="3743954" cy="3405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18A5E2BD-ABF6-01BE-F328-228A4282D2A4}"/>
              </a:ext>
            </a:extLst>
          </p:cNvPr>
          <p:cNvSpPr>
            <a:spLocks noGrp="1"/>
          </p:cNvSpPr>
          <p:nvPr>
            <p:ph idx="1"/>
          </p:nvPr>
        </p:nvSpPr>
        <p:spPr>
          <a:xfrm>
            <a:off x="457200" y="915566"/>
            <a:ext cx="8579296" cy="446310"/>
          </a:xfrm>
        </p:spPr>
        <p:txBody>
          <a:bodyPr>
            <a:normAutofit fontScale="62500" lnSpcReduction="20000"/>
          </a:bodyPr>
          <a:lstStyle/>
          <a:p>
            <a:r>
              <a:rPr lang="es-ES" sz="4400" dirty="0"/>
              <a:t>Crear e insertar</a:t>
            </a:r>
            <a:endParaRPr lang="es-ES" dirty="0"/>
          </a:p>
        </p:txBody>
      </p:sp>
      <p:sp>
        <p:nvSpPr>
          <p:cNvPr id="4" name="3 Título">
            <a:extLst>
              <a:ext uri="{FF2B5EF4-FFF2-40B4-BE49-F238E27FC236}">
                <a16:creationId xmlns:a16="http://schemas.microsoft.com/office/drawing/2014/main" id="{D6C1DD4E-5863-2C05-142F-2367CBFFEB80}"/>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EF6BC235-3DAB-3CA9-B0ED-698971A1F5D6}"/>
              </a:ext>
            </a:extLst>
          </p:cNvPr>
          <p:cNvSpPr>
            <a:spLocks noGrp="1"/>
          </p:cNvSpPr>
          <p:nvPr>
            <p:ph type="body" sz="quarter" idx="14"/>
          </p:nvPr>
        </p:nvSpPr>
        <p:spPr/>
        <p:txBody>
          <a:bodyPr>
            <a:normAutofit fontScale="62500" lnSpcReduction="20000"/>
          </a:bodyPr>
          <a:lstStyle/>
          <a:p>
            <a:r>
              <a:rPr lang="es-ES" dirty="0"/>
              <a:t>Inserción de datos con INSERT</a:t>
            </a:r>
          </a:p>
        </p:txBody>
      </p:sp>
      <p:sp>
        <p:nvSpPr>
          <p:cNvPr id="12" name="CuadroTexto 11">
            <a:extLst>
              <a:ext uri="{FF2B5EF4-FFF2-40B4-BE49-F238E27FC236}">
                <a16:creationId xmlns:a16="http://schemas.microsoft.com/office/drawing/2014/main" id="{B25AF7CD-C82A-FB60-E60F-383FA2FAA4E7}"/>
              </a:ext>
            </a:extLst>
          </p:cNvPr>
          <p:cNvSpPr txBox="1"/>
          <p:nvPr/>
        </p:nvSpPr>
        <p:spPr>
          <a:xfrm>
            <a:off x="402499" y="1681068"/>
            <a:ext cx="3312368" cy="2139047"/>
          </a:xfrm>
          <a:prstGeom prst="rect">
            <a:avLst/>
          </a:prstGeom>
          <a:noFill/>
        </p:spPr>
        <p:txBody>
          <a:bodyPr wrap="square">
            <a:spAutoFit/>
          </a:bodyPr>
          <a:lstStyle/>
          <a:p>
            <a:r>
              <a:rPr lang="en-US" sz="1200" dirty="0"/>
              <a:t>CREATE TABLE </a:t>
            </a:r>
            <a:r>
              <a:rPr lang="en-US" sz="1200" dirty="0" err="1"/>
              <a:t>empleados_nueva</a:t>
            </a:r>
            <a:r>
              <a:rPr lang="en-US" sz="1200" dirty="0"/>
              <a:t> AS</a:t>
            </a:r>
          </a:p>
          <a:p>
            <a:r>
              <a:rPr lang="en-US" sz="1200" dirty="0"/>
              <a:t>SELECT id, </a:t>
            </a:r>
            <a:r>
              <a:rPr lang="en-US" sz="1200" dirty="0" err="1"/>
              <a:t>nombre</a:t>
            </a:r>
            <a:r>
              <a:rPr lang="en-US" sz="1200" dirty="0"/>
              <a:t>, </a:t>
            </a:r>
            <a:r>
              <a:rPr lang="en-US" sz="1200" dirty="0" err="1"/>
              <a:t>salario</a:t>
            </a:r>
            <a:r>
              <a:rPr lang="en-US" sz="1200" dirty="0"/>
              <a:t>, </a:t>
            </a:r>
            <a:r>
              <a:rPr lang="en-US" sz="1200" dirty="0" err="1"/>
              <a:t>departamento_id</a:t>
            </a:r>
            <a:r>
              <a:rPr lang="en-US" sz="1200" dirty="0"/>
              <a:t> FROM </a:t>
            </a:r>
            <a:r>
              <a:rPr lang="en-US" sz="1200" dirty="0" err="1"/>
              <a:t>empleados</a:t>
            </a:r>
            <a:r>
              <a:rPr lang="en-US" sz="1200" dirty="0"/>
              <a:t>;</a:t>
            </a:r>
          </a:p>
          <a:p>
            <a:endParaRPr lang="en-US" sz="1200" dirty="0"/>
          </a:p>
          <a:p>
            <a:r>
              <a:rPr lang="en-US" sz="1200" dirty="0"/>
              <a:t>CREATE TABLE </a:t>
            </a:r>
            <a:r>
              <a:rPr lang="en-US" sz="1200" dirty="0" err="1"/>
              <a:t>empleados_nueva</a:t>
            </a:r>
            <a:r>
              <a:rPr lang="en-US" sz="1200" dirty="0"/>
              <a:t> AS</a:t>
            </a:r>
          </a:p>
          <a:p>
            <a:r>
              <a:rPr lang="en-US" sz="1200" dirty="0"/>
              <a:t>SELECT e.id, </a:t>
            </a:r>
            <a:r>
              <a:rPr lang="en-US" sz="1200" dirty="0" err="1"/>
              <a:t>e.nombre</a:t>
            </a:r>
            <a:r>
              <a:rPr lang="en-US" sz="1200" dirty="0"/>
              <a:t>, </a:t>
            </a:r>
            <a:r>
              <a:rPr lang="en-US" sz="1200" dirty="0" err="1"/>
              <a:t>e,salario</a:t>
            </a:r>
            <a:r>
              <a:rPr lang="en-US" sz="1200" dirty="0"/>
              <a:t>, </a:t>
            </a:r>
            <a:r>
              <a:rPr lang="en-US" sz="1200" dirty="0" err="1"/>
              <a:t>departamento_id</a:t>
            </a:r>
            <a:r>
              <a:rPr lang="en-US" sz="1200" dirty="0"/>
              <a:t> , </a:t>
            </a:r>
            <a:r>
              <a:rPr lang="en-US" sz="1200" dirty="0" err="1"/>
              <a:t>d.nombre_departamento</a:t>
            </a:r>
            <a:endParaRPr lang="en-US" sz="1200" dirty="0"/>
          </a:p>
          <a:p>
            <a:r>
              <a:rPr lang="en-US" sz="1200" dirty="0"/>
              <a:t>FROM </a:t>
            </a:r>
            <a:r>
              <a:rPr lang="en-US" sz="1200" dirty="0" err="1"/>
              <a:t>empleados</a:t>
            </a:r>
            <a:r>
              <a:rPr lang="en-US" sz="1200" dirty="0"/>
              <a:t> e</a:t>
            </a:r>
          </a:p>
          <a:p>
            <a:r>
              <a:rPr lang="en-US" sz="1200" dirty="0"/>
              <a:t>JOIN </a:t>
            </a:r>
            <a:r>
              <a:rPr lang="en-US" sz="1200" dirty="0" err="1"/>
              <a:t>departamentos</a:t>
            </a:r>
            <a:r>
              <a:rPr lang="en-US" sz="1200" dirty="0"/>
              <a:t> d </a:t>
            </a:r>
          </a:p>
          <a:p>
            <a:r>
              <a:rPr lang="en-US" sz="1200" dirty="0"/>
              <a:t>on  (d.id=e. </a:t>
            </a:r>
            <a:r>
              <a:rPr lang="en-US" sz="1200" dirty="0" err="1"/>
              <a:t>empleados</a:t>
            </a:r>
            <a:r>
              <a:rPr lang="en-US" sz="1200" dirty="0"/>
              <a:t>);</a:t>
            </a:r>
          </a:p>
          <a:p>
            <a:endParaRPr lang="en-US" sz="1300" dirty="0"/>
          </a:p>
        </p:txBody>
      </p:sp>
      <p:sp>
        <p:nvSpPr>
          <p:cNvPr id="9" name="4 Marcador de contenido">
            <a:extLst>
              <a:ext uri="{FF2B5EF4-FFF2-40B4-BE49-F238E27FC236}">
                <a16:creationId xmlns:a16="http://schemas.microsoft.com/office/drawing/2014/main" id="{FAA03B0D-D27B-31B4-6E41-F16E532D725C}"/>
              </a:ext>
            </a:extLst>
          </p:cNvPr>
          <p:cNvSpPr txBox="1">
            <a:spLocks/>
          </p:cNvSpPr>
          <p:nvPr/>
        </p:nvSpPr>
        <p:spPr>
          <a:xfrm>
            <a:off x="3971490" y="1470409"/>
            <a:ext cx="5065006" cy="326158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Forma rápida de generar copias o transformaciones de una tabla.</a:t>
            </a:r>
          </a:p>
          <a:p>
            <a:pPr marL="342900" lvl="1" indent="-342900">
              <a:buFont typeface="Arial" panose="020B0604020202020204" pitchFamily="34" charset="0"/>
              <a:buChar char="•"/>
            </a:pPr>
            <a:r>
              <a:rPr lang="es-ES" sz="1800" dirty="0"/>
              <a:t>Se puede usar con consultas complejas, </a:t>
            </a:r>
            <a:r>
              <a:rPr lang="es-ES" sz="1800" dirty="0" err="1"/>
              <a:t>joins</a:t>
            </a:r>
            <a:r>
              <a:rPr lang="es-ES" sz="1800" dirty="0"/>
              <a:t>, agregación.</a:t>
            </a:r>
          </a:p>
          <a:p>
            <a:pPr marL="342900" lvl="1" indent="-342900">
              <a:buFont typeface="Arial" panose="020B0604020202020204" pitchFamily="34" charset="0"/>
              <a:buChar char="•"/>
            </a:pPr>
            <a:r>
              <a:rPr lang="es-ES" sz="1800" dirty="0"/>
              <a:t>Atención al nombre y al tipo con el que Oracle crea la tabla.</a:t>
            </a:r>
          </a:p>
          <a:p>
            <a:pPr marL="342900" lvl="1" indent="-342900">
              <a:buFont typeface="Arial" panose="020B0604020202020204" pitchFamily="34" charset="0"/>
              <a:buChar char="•"/>
            </a:pPr>
            <a:r>
              <a:rPr lang="es-ES" sz="1800" dirty="0"/>
              <a:t>El nombre se puede sugerir mediante un alias a la columna.</a:t>
            </a:r>
          </a:p>
        </p:txBody>
      </p:sp>
    </p:spTree>
    <p:extLst>
      <p:ext uri="{BB962C8B-B14F-4D97-AF65-F5344CB8AC3E}">
        <p14:creationId xmlns:p14="http://schemas.microsoft.com/office/powerpoint/2010/main" val="1700879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C6153-39FE-C0D0-4CD1-AF1ABD6152F9}"/>
            </a:ext>
          </a:extLst>
        </p:cNvPr>
        <p:cNvGrpSpPr/>
        <p:nvPr/>
      </p:nvGrpSpPr>
      <p:grpSpPr>
        <a:xfrm>
          <a:off x="0" y="0"/>
          <a:ext cx="0" cy="0"/>
          <a:chOff x="0" y="0"/>
          <a:chExt cx="0" cy="0"/>
        </a:xfrm>
      </p:grpSpPr>
      <p:sp>
        <p:nvSpPr>
          <p:cNvPr id="5" name="4 Título">
            <a:extLst>
              <a:ext uri="{FF2B5EF4-FFF2-40B4-BE49-F238E27FC236}">
                <a16:creationId xmlns:a16="http://schemas.microsoft.com/office/drawing/2014/main" id="{6FB53698-1F64-78CF-CBA6-F8016402B590}"/>
              </a:ext>
            </a:extLst>
          </p:cNvPr>
          <p:cNvSpPr>
            <a:spLocks noGrp="1"/>
          </p:cNvSpPr>
          <p:nvPr>
            <p:ph type="title"/>
          </p:nvPr>
        </p:nvSpPr>
        <p:spPr/>
        <p:txBody>
          <a:bodyPr/>
          <a:lstStyle/>
          <a:p>
            <a:r>
              <a:rPr lang="es-ES" dirty="0"/>
              <a:t>Consultas con SELECT y WHERE</a:t>
            </a:r>
          </a:p>
        </p:txBody>
      </p:sp>
      <p:sp>
        <p:nvSpPr>
          <p:cNvPr id="6" name="5 Marcador de texto">
            <a:extLst>
              <a:ext uri="{FF2B5EF4-FFF2-40B4-BE49-F238E27FC236}">
                <a16:creationId xmlns:a16="http://schemas.microsoft.com/office/drawing/2014/main" id="{534CC541-415B-1AB7-DF13-24FE748B663A}"/>
              </a:ext>
            </a:extLst>
          </p:cNvPr>
          <p:cNvSpPr>
            <a:spLocks noGrp="1"/>
          </p:cNvSpPr>
          <p:nvPr>
            <p:ph type="body" sz="quarter" idx="10"/>
          </p:nvPr>
        </p:nvSpPr>
        <p:spPr/>
        <p:txBody>
          <a:bodyPr/>
          <a:lstStyle/>
          <a:p>
            <a:r>
              <a:rPr lang="es-ES" dirty="0"/>
              <a:t>2.</a:t>
            </a:r>
          </a:p>
        </p:txBody>
      </p:sp>
    </p:spTree>
    <p:extLst>
      <p:ext uri="{BB962C8B-B14F-4D97-AF65-F5344CB8AC3E}">
        <p14:creationId xmlns:p14="http://schemas.microsoft.com/office/powerpoint/2010/main" val="3030134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A579E-6BEF-ABA8-5BAA-72E51B1A6169}"/>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A857D402-661B-5258-902D-C7ED8F9C159A}"/>
              </a:ext>
            </a:extLst>
          </p:cNvPr>
          <p:cNvSpPr/>
          <p:nvPr/>
        </p:nvSpPr>
        <p:spPr>
          <a:xfrm>
            <a:off x="227537" y="1326394"/>
            <a:ext cx="3743954" cy="9573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6BAC8EE3-21A4-7B65-A726-9CD449E772EE}"/>
              </a:ext>
            </a:extLst>
          </p:cNvPr>
          <p:cNvSpPr>
            <a:spLocks noGrp="1"/>
          </p:cNvSpPr>
          <p:nvPr>
            <p:ph idx="1"/>
          </p:nvPr>
        </p:nvSpPr>
        <p:spPr>
          <a:xfrm>
            <a:off x="457200" y="915566"/>
            <a:ext cx="8579296" cy="446310"/>
          </a:xfrm>
        </p:spPr>
        <p:txBody>
          <a:bodyPr>
            <a:normAutofit fontScale="62500" lnSpcReduction="20000"/>
          </a:bodyPr>
          <a:lstStyle/>
          <a:p>
            <a:r>
              <a:rPr lang="es-ES" sz="4400" dirty="0"/>
              <a:t>Flujo interno de una consulta SQL</a:t>
            </a:r>
            <a:endParaRPr lang="es-ES" dirty="0"/>
          </a:p>
        </p:txBody>
      </p:sp>
      <p:sp>
        <p:nvSpPr>
          <p:cNvPr id="4" name="3 Título">
            <a:extLst>
              <a:ext uri="{FF2B5EF4-FFF2-40B4-BE49-F238E27FC236}">
                <a16:creationId xmlns:a16="http://schemas.microsoft.com/office/drawing/2014/main" id="{F1BE1BEC-59E5-17B3-BA76-ABB90C964720}"/>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EE02BDAD-379D-7249-80B8-9FA9AD772311}"/>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E8F2759E-37D7-BF1D-BDF7-5809B76126AE}"/>
              </a:ext>
            </a:extLst>
          </p:cNvPr>
          <p:cNvSpPr txBox="1"/>
          <p:nvPr/>
        </p:nvSpPr>
        <p:spPr>
          <a:xfrm>
            <a:off x="1331640" y="1407298"/>
            <a:ext cx="1608390" cy="830997"/>
          </a:xfrm>
          <a:prstGeom prst="rect">
            <a:avLst/>
          </a:prstGeom>
          <a:noFill/>
        </p:spPr>
        <p:txBody>
          <a:bodyPr wrap="square">
            <a:spAutoFit/>
          </a:bodyPr>
          <a:lstStyle/>
          <a:p>
            <a:r>
              <a:rPr lang="en-US" sz="1200" dirty="0"/>
              <a:t>SELECT columnas</a:t>
            </a:r>
          </a:p>
          <a:p>
            <a:r>
              <a:rPr lang="en-US" sz="1200" dirty="0"/>
              <a:t>FROM </a:t>
            </a:r>
            <a:r>
              <a:rPr lang="en-US" sz="1200" dirty="0" err="1"/>
              <a:t>tablas</a:t>
            </a:r>
            <a:endParaRPr lang="en-US" sz="1200" dirty="0"/>
          </a:p>
          <a:p>
            <a:r>
              <a:rPr lang="en-US" sz="1200" dirty="0"/>
              <a:t>WHERE </a:t>
            </a:r>
            <a:r>
              <a:rPr lang="en-US" sz="1200" dirty="0" err="1"/>
              <a:t>condiciones</a:t>
            </a:r>
            <a:endParaRPr lang="en-US" sz="1200" dirty="0"/>
          </a:p>
          <a:p>
            <a:r>
              <a:rPr lang="en-US" sz="1200" dirty="0"/>
              <a:t>ORDER BY </a:t>
            </a:r>
            <a:r>
              <a:rPr lang="en-US" sz="1200" dirty="0" err="1"/>
              <a:t>criterio</a:t>
            </a:r>
            <a:r>
              <a:rPr lang="en-US" sz="1200" dirty="0"/>
              <a:t>;</a:t>
            </a:r>
          </a:p>
        </p:txBody>
      </p:sp>
      <p:sp>
        <p:nvSpPr>
          <p:cNvPr id="9" name="4 Marcador de contenido">
            <a:extLst>
              <a:ext uri="{FF2B5EF4-FFF2-40B4-BE49-F238E27FC236}">
                <a16:creationId xmlns:a16="http://schemas.microsoft.com/office/drawing/2014/main" id="{76E3A545-9E98-F06F-025C-8D6B244859D5}"/>
              </a:ext>
            </a:extLst>
          </p:cNvPr>
          <p:cNvSpPr txBox="1">
            <a:spLocks/>
          </p:cNvSpPr>
          <p:nvPr/>
        </p:nvSpPr>
        <p:spPr>
          <a:xfrm>
            <a:off x="4211960" y="1470409"/>
            <a:ext cx="4824536" cy="3621621"/>
          </a:xfrm>
          <a:prstGeom prst="rect">
            <a:avLst/>
          </a:prstGeom>
        </p:spPr>
        <p:txBody>
          <a:bodyPr vert="horz" lIns="91440" tIns="45720" rIns="91440" bIns="45720" rtlCol="0">
            <a:normAutofit lnSpcReduction="10000"/>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El orden es fundamental para escribir consultas correctas y eficientes.</a:t>
            </a:r>
          </a:p>
          <a:p>
            <a:pPr marL="342900" lvl="1" indent="-342900">
              <a:buFont typeface="Arial" panose="020B0604020202020204" pitchFamily="34" charset="0"/>
              <a:buChar char="•"/>
            </a:pPr>
            <a:r>
              <a:rPr lang="es-ES" sz="1800" dirty="0"/>
              <a:t>El primer lugar donde optimizar es el FROM</a:t>
            </a:r>
          </a:p>
          <a:p>
            <a:pPr marL="342900" lvl="1" indent="-342900">
              <a:buFont typeface="Arial" panose="020B0604020202020204" pitchFamily="34" charset="0"/>
              <a:buChar char="•"/>
            </a:pPr>
            <a:r>
              <a:rPr lang="es-ES" sz="1800" b="1" dirty="0"/>
              <a:t>Evita </a:t>
            </a:r>
            <a:r>
              <a:rPr lang="es-ES" b="1" dirty="0"/>
              <a:t>SELECT *</a:t>
            </a:r>
            <a:r>
              <a:rPr lang="es-ES" sz="1800" dirty="0"/>
              <a:t>, siempre especifica columnas.</a:t>
            </a:r>
          </a:p>
          <a:p>
            <a:pPr marL="342900" lvl="1" indent="-342900">
              <a:buFont typeface="Arial" panose="020B0604020202020204" pitchFamily="34" charset="0"/>
              <a:buChar char="•"/>
            </a:pPr>
            <a:r>
              <a:rPr lang="es-ES" sz="1800" dirty="0"/>
              <a:t>El principal problema que tenemos a la hora de optimizar consultas es lo BUENO que es Oracle optimizando consultas de forma transparente. </a:t>
            </a:r>
          </a:p>
          <a:p>
            <a:pPr marL="342900" lvl="1" indent="-342900">
              <a:buFont typeface="Arial" panose="020B0604020202020204" pitchFamily="34" charset="0"/>
              <a:buChar char="•"/>
            </a:pPr>
            <a:r>
              <a:rPr lang="es-ES" sz="1800" dirty="0"/>
              <a:t>Esto hace que código SQL MAL escrito corra como si estuviese optimizado. Pero hace que no notemos la diferencia con el código BIEN escrito. Para que se aprecie hay que dar un salto cualitativo.</a:t>
            </a:r>
          </a:p>
          <a:p>
            <a:pPr marL="342900" lvl="1" indent="-342900">
              <a:buFont typeface="Arial" panose="020B0604020202020204" pitchFamily="34" charset="0"/>
              <a:buChar char="•"/>
            </a:pPr>
            <a:endParaRPr lang="es-ES" sz="1800" dirty="0"/>
          </a:p>
        </p:txBody>
      </p:sp>
      <p:graphicFrame>
        <p:nvGraphicFramePr>
          <p:cNvPr id="2" name="Tabla 1">
            <a:extLst>
              <a:ext uri="{FF2B5EF4-FFF2-40B4-BE49-F238E27FC236}">
                <a16:creationId xmlns:a16="http://schemas.microsoft.com/office/drawing/2014/main" id="{32480788-60EB-F4B4-387A-10979883290F}"/>
              </a:ext>
            </a:extLst>
          </p:cNvPr>
          <p:cNvGraphicFramePr>
            <a:graphicFrameLocks noGrp="1"/>
          </p:cNvGraphicFramePr>
          <p:nvPr/>
        </p:nvGraphicFramePr>
        <p:xfrm>
          <a:off x="404064" y="2531852"/>
          <a:ext cx="3390900" cy="1333500"/>
        </p:xfrm>
        <a:graphic>
          <a:graphicData uri="http://schemas.openxmlformats.org/drawingml/2006/table">
            <a:tbl>
              <a:tblPr>
                <a:tableStyleId>{5C22544A-7EE6-4342-B048-85BDC9FD1C3A}</a:tableStyleId>
              </a:tblPr>
              <a:tblGrid>
                <a:gridCol w="546100">
                  <a:extLst>
                    <a:ext uri="{9D8B030D-6E8A-4147-A177-3AD203B41FA5}">
                      <a16:colId xmlns:a16="http://schemas.microsoft.com/office/drawing/2014/main" val="3822266077"/>
                    </a:ext>
                  </a:extLst>
                </a:gridCol>
                <a:gridCol w="762000">
                  <a:extLst>
                    <a:ext uri="{9D8B030D-6E8A-4147-A177-3AD203B41FA5}">
                      <a16:colId xmlns:a16="http://schemas.microsoft.com/office/drawing/2014/main" val="4128433723"/>
                    </a:ext>
                  </a:extLst>
                </a:gridCol>
                <a:gridCol w="2082800">
                  <a:extLst>
                    <a:ext uri="{9D8B030D-6E8A-4147-A177-3AD203B41FA5}">
                      <a16:colId xmlns:a16="http://schemas.microsoft.com/office/drawing/2014/main" val="3259914497"/>
                    </a:ext>
                  </a:extLst>
                </a:gridCol>
              </a:tblGrid>
              <a:tr h="190500">
                <a:tc>
                  <a:txBody>
                    <a:bodyPr/>
                    <a:lstStyle/>
                    <a:p>
                      <a:pPr algn="ctr" fontAlgn="ctr">
                        <a:buNone/>
                      </a:pPr>
                      <a:r>
                        <a:rPr lang="es-ES" sz="1100" u="none" strike="noStrike">
                          <a:effectLst/>
                        </a:rPr>
                        <a:t>Paso</a:t>
                      </a:r>
                      <a:endParaRPr lang="es-ES" sz="11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ES" sz="1100" u="none" strike="noStrike">
                          <a:effectLst/>
                        </a:rPr>
                        <a:t>Cláusula</a:t>
                      </a:r>
                      <a:endParaRPr lang="es-ES" sz="11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ES" sz="1100" u="none" strike="noStrike">
                          <a:effectLst/>
                        </a:rPr>
                        <a:t>Qué hace</a:t>
                      </a:r>
                      <a:endParaRPr lang="es-ES" sz="1100" b="1"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51718750"/>
                  </a:ext>
                </a:extLst>
              </a:tr>
              <a:tr h="190500">
                <a:tc>
                  <a:txBody>
                    <a:bodyPr/>
                    <a:lstStyle/>
                    <a:p>
                      <a:pPr algn="ctr" fontAlgn="ctr">
                        <a:buNone/>
                      </a:pPr>
                      <a:r>
                        <a:rPr lang="es-ES" sz="1100" u="none" strike="noStrike">
                          <a:effectLst/>
                        </a:rPr>
                        <a:t>1</a:t>
                      </a:r>
                      <a:endParaRPr lang="es-E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ES" sz="1000" u="none" strike="noStrike">
                          <a:effectLst/>
                        </a:rPr>
                        <a:t>FROM</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Define las tablas o vistas base</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788262584"/>
                  </a:ext>
                </a:extLst>
              </a:tr>
              <a:tr h="190500">
                <a:tc>
                  <a:txBody>
                    <a:bodyPr/>
                    <a:lstStyle/>
                    <a:p>
                      <a:pPr algn="ctr" fontAlgn="ctr">
                        <a:buNone/>
                      </a:pPr>
                      <a:r>
                        <a:rPr lang="es-ES" sz="1100" u="none" strike="noStrike">
                          <a:effectLst/>
                        </a:rPr>
                        <a:t>2</a:t>
                      </a:r>
                      <a:endParaRPr lang="es-E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ES" sz="1000" u="none" strike="noStrike">
                          <a:effectLst/>
                        </a:rPr>
                        <a:t>WHERE</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Filtra filas</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476809214"/>
                  </a:ext>
                </a:extLst>
              </a:tr>
              <a:tr h="190500">
                <a:tc>
                  <a:txBody>
                    <a:bodyPr/>
                    <a:lstStyle/>
                    <a:p>
                      <a:pPr algn="ctr" fontAlgn="ctr">
                        <a:buNone/>
                      </a:pPr>
                      <a:r>
                        <a:rPr lang="es-ES" sz="1100" u="none" strike="noStrike">
                          <a:effectLst/>
                        </a:rPr>
                        <a:t>3</a:t>
                      </a:r>
                      <a:endParaRPr lang="es-E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ES" sz="1000" u="none" strike="noStrike">
                          <a:effectLst/>
                        </a:rPr>
                        <a:t>GROUP BY</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Agrupa (si existe)</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235056924"/>
                  </a:ext>
                </a:extLst>
              </a:tr>
              <a:tr h="190500">
                <a:tc>
                  <a:txBody>
                    <a:bodyPr/>
                    <a:lstStyle/>
                    <a:p>
                      <a:pPr algn="ctr" fontAlgn="ctr">
                        <a:buNone/>
                      </a:pPr>
                      <a:r>
                        <a:rPr lang="es-ES" sz="1100" u="none" strike="noStrike">
                          <a:effectLst/>
                        </a:rPr>
                        <a:t>4</a:t>
                      </a:r>
                      <a:endParaRPr lang="es-E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ES" sz="1000" u="none" strike="noStrike">
                          <a:effectLst/>
                        </a:rPr>
                        <a:t>HAVING</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Filtra grupos</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621730436"/>
                  </a:ext>
                </a:extLst>
              </a:tr>
              <a:tr h="190500">
                <a:tc>
                  <a:txBody>
                    <a:bodyPr/>
                    <a:lstStyle/>
                    <a:p>
                      <a:pPr algn="ctr" fontAlgn="ctr">
                        <a:buNone/>
                      </a:pPr>
                      <a:r>
                        <a:rPr lang="es-ES" sz="1100" u="none" strike="noStrike">
                          <a:effectLst/>
                        </a:rPr>
                        <a:t>5</a:t>
                      </a:r>
                      <a:endParaRPr lang="es-E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ES" sz="1000" u="none" strike="noStrike">
                          <a:effectLst/>
                        </a:rPr>
                        <a:t>SELECT</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Proyecta columnas o expresiones</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026650537"/>
                  </a:ext>
                </a:extLst>
              </a:tr>
              <a:tr h="190500">
                <a:tc>
                  <a:txBody>
                    <a:bodyPr/>
                    <a:lstStyle/>
                    <a:p>
                      <a:pPr algn="ctr" fontAlgn="ctr">
                        <a:buNone/>
                      </a:pPr>
                      <a:r>
                        <a:rPr lang="es-ES" sz="1100" u="none" strike="noStrike">
                          <a:effectLst/>
                        </a:rPr>
                        <a:t>6</a:t>
                      </a:r>
                      <a:endParaRPr lang="es-ES" sz="11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s-ES" sz="1000" u="none" strike="noStrike">
                          <a:effectLst/>
                        </a:rPr>
                        <a:t>ORDER BY</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dirty="0">
                          <a:effectLst/>
                        </a:rPr>
                        <a:t>Ordena el resultado final</a:t>
                      </a:r>
                      <a:endParaRPr lang="es-ES"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30785102"/>
                  </a:ext>
                </a:extLst>
              </a:tr>
            </a:tbl>
          </a:graphicData>
        </a:graphic>
      </p:graphicFrame>
    </p:spTree>
    <p:extLst>
      <p:ext uri="{BB962C8B-B14F-4D97-AF65-F5344CB8AC3E}">
        <p14:creationId xmlns:p14="http://schemas.microsoft.com/office/powerpoint/2010/main" val="4017536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2E8D9-C457-B55F-EC47-31A6FC365F52}"/>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9992DDE3-49E9-5618-98B6-16A3BBE29706}"/>
              </a:ext>
            </a:extLst>
          </p:cNvPr>
          <p:cNvSpPr>
            <a:spLocks noGrp="1"/>
          </p:cNvSpPr>
          <p:nvPr>
            <p:ph idx="1"/>
          </p:nvPr>
        </p:nvSpPr>
        <p:spPr>
          <a:xfrm>
            <a:off x="457200" y="915566"/>
            <a:ext cx="8579296" cy="446310"/>
          </a:xfrm>
        </p:spPr>
        <p:txBody>
          <a:bodyPr>
            <a:normAutofit fontScale="62500" lnSpcReduction="20000"/>
          </a:bodyPr>
          <a:lstStyle/>
          <a:p>
            <a:r>
              <a:rPr lang="es-ES" sz="4400" dirty="0"/>
              <a:t>Optimizador</a:t>
            </a:r>
            <a:endParaRPr lang="es-ES" dirty="0"/>
          </a:p>
        </p:txBody>
      </p:sp>
      <p:sp>
        <p:nvSpPr>
          <p:cNvPr id="4" name="3 Título">
            <a:extLst>
              <a:ext uri="{FF2B5EF4-FFF2-40B4-BE49-F238E27FC236}">
                <a16:creationId xmlns:a16="http://schemas.microsoft.com/office/drawing/2014/main" id="{01EDA24C-62CC-1624-D194-80361320FCF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2A1EE571-EC1B-CD57-FEA1-464EFA68E649}"/>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761C075A-DAB9-D0E3-2605-C70400FF0DCA}"/>
              </a:ext>
            </a:extLst>
          </p:cNvPr>
          <p:cNvSpPr txBox="1">
            <a:spLocks/>
          </p:cNvSpPr>
          <p:nvPr/>
        </p:nvSpPr>
        <p:spPr>
          <a:xfrm>
            <a:off x="468313" y="1470409"/>
            <a:ext cx="8568183"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IMAGINA que el optimizador es un TRADUCTOR EXPERTO que corrige tu español imperfecto al hablar con nativos. </a:t>
            </a:r>
          </a:p>
          <a:p>
            <a:pPr marL="342900" lvl="1" indent="-342900">
              <a:buFont typeface="Arial" panose="020B0604020202020204" pitchFamily="34" charset="0"/>
              <a:buChar char="•"/>
            </a:pPr>
            <a:r>
              <a:rPr lang="es-ES" sz="1800" dirty="0"/>
              <a:t>¿El problema? Los estudiantes no notamos nuestros errores gramaticales porque siempre son corregidos silenciosamente.</a:t>
            </a:r>
          </a:p>
          <a:p>
            <a:pPr marL="342900" lvl="1" indent="-342900">
              <a:buFont typeface="Arial" panose="020B0604020202020204" pitchFamily="34" charset="0"/>
              <a:buChar char="•"/>
            </a:pPr>
            <a:r>
              <a:rPr lang="es-ES" sz="1800" dirty="0"/>
              <a:t>Solo cuando nos enfrentamos:</a:t>
            </a:r>
          </a:p>
          <a:p>
            <a:pPr marL="820738" lvl="2" indent="-285750"/>
            <a:r>
              <a:rPr lang="es-ES" sz="1600" dirty="0"/>
              <a:t> Discursos complejos (consultas anidadas)</a:t>
            </a:r>
          </a:p>
          <a:p>
            <a:pPr marL="820738" lvl="2" indent="-285750"/>
            <a:r>
              <a:rPr lang="es-ES" sz="1600" dirty="0"/>
              <a:t> Audiencias masivas (grandes volúmenes)</a:t>
            </a:r>
          </a:p>
          <a:p>
            <a:pPr marL="820738" lvl="2" indent="-285750"/>
            <a:r>
              <a:rPr lang="es-ES" sz="1600" dirty="0"/>
              <a:t> Tiempos limitados (recursos escasos)</a:t>
            </a:r>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r>
              <a:rPr lang="es-ES" sz="1800" dirty="0"/>
              <a:t>...descubrimos que nuestra base gramatical (fundamentos SQL) necesita trabajo.</a:t>
            </a:r>
          </a:p>
        </p:txBody>
      </p:sp>
    </p:spTree>
    <p:extLst>
      <p:ext uri="{BB962C8B-B14F-4D97-AF65-F5344CB8AC3E}">
        <p14:creationId xmlns:p14="http://schemas.microsoft.com/office/powerpoint/2010/main" val="3584624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8C842-9DF1-1043-138B-221F194B1FFC}"/>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A1D3DED2-290C-75C1-CED4-E0810BBAA8A9}"/>
              </a:ext>
            </a:extLst>
          </p:cNvPr>
          <p:cNvSpPr>
            <a:spLocks noGrp="1"/>
          </p:cNvSpPr>
          <p:nvPr>
            <p:ph idx="1"/>
          </p:nvPr>
        </p:nvSpPr>
        <p:spPr>
          <a:xfrm>
            <a:off x="457200" y="915566"/>
            <a:ext cx="8579296" cy="446310"/>
          </a:xfrm>
        </p:spPr>
        <p:txBody>
          <a:bodyPr>
            <a:normAutofit fontScale="62500" lnSpcReduction="20000"/>
          </a:bodyPr>
          <a:lstStyle/>
          <a:p>
            <a:r>
              <a:rPr lang="es-ES" sz="4400" dirty="0"/>
              <a:t>Optimizador</a:t>
            </a:r>
            <a:endParaRPr lang="es-ES" dirty="0"/>
          </a:p>
        </p:txBody>
      </p:sp>
      <p:sp>
        <p:nvSpPr>
          <p:cNvPr id="4" name="3 Título">
            <a:extLst>
              <a:ext uri="{FF2B5EF4-FFF2-40B4-BE49-F238E27FC236}">
                <a16:creationId xmlns:a16="http://schemas.microsoft.com/office/drawing/2014/main" id="{EBE46740-8F30-F2D5-2623-18F0DDE8BEF4}"/>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8FF2092D-B2D3-920E-4BE4-664440184745}"/>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9B7588DE-CD12-7614-1829-412DA2933765}"/>
              </a:ext>
            </a:extLst>
          </p:cNvPr>
          <p:cNvSpPr txBox="1">
            <a:spLocks/>
          </p:cNvSpPr>
          <p:nvPr/>
        </p:nvSpPr>
        <p:spPr>
          <a:xfrm>
            <a:off x="468313" y="1361877"/>
            <a:ext cx="8568183" cy="3658145"/>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Vamos a entender como funciona, y como llevarlo donde queremos.</a:t>
            </a:r>
          </a:p>
          <a:p>
            <a:pPr marL="342900" lvl="1" indent="-342900">
              <a:buFont typeface="Arial" panose="020B0604020202020204" pitchFamily="34" charset="0"/>
              <a:buChar char="•"/>
            </a:pPr>
            <a:r>
              <a:rPr lang="es-ES" sz="1600" dirty="0"/>
              <a:t>Transformaciones Comunes que Oracle Aplica:</a:t>
            </a:r>
          </a:p>
          <a:p>
            <a:pPr marL="877888" lvl="2" indent="-342900"/>
            <a:r>
              <a:rPr lang="es-ES" sz="1600" dirty="0" err="1"/>
              <a:t>Subquery</a:t>
            </a:r>
            <a:r>
              <a:rPr lang="es-ES" sz="1600" dirty="0"/>
              <a:t> </a:t>
            </a:r>
            <a:r>
              <a:rPr lang="es-ES" sz="1600" dirty="0" err="1"/>
              <a:t>Unnesting</a:t>
            </a:r>
            <a:r>
              <a:rPr lang="es-ES" sz="1600" dirty="0"/>
              <a:t>: Convierte subconsultas en </a:t>
            </a:r>
            <a:r>
              <a:rPr lang="es-ES" sz="1600" dirty="0" err="1"/>
              <a:t>JOINs</a:t>
            </a:r>
            <a:endParaRPr lang="es-ES" sz="1600" dirty="0"/>
          </a:p>
          <a:p>
            <a:pPr marL="877888" lvl="2" indent="-342900"/>
            <a:r>
              <a:rPr lang="es-ES" sz="1600" dirty="0" err="1"/>
              <a:t>Query</a:t>
            </a:r>
            <a:r>
              <a:rPr lang="es-ES" sz="1600" dirty="0"/>
              <a:t> </a:t>
            </a:r>
            <a:r>
              <a:rPr lang="es-ES" sz="1600" dirty="0" err="1"/>
              <a:t>Rewrite</a:t>
            </a:r>
            <a:r>
              <a:rPr lang="es-ES" sz="1600" dirty="0"/>
              <a:t>: Reescribe consultas equivalentes</a:t>
            </a:r>
          </a:p>
          <a:p>
            <a:pPr marL="877888" lvl="2" indent="-342900"/>
            <a:r>
              <a:rPr lang="es-ES" sz="1600" dirty="0" err="1"/>
              <a:t>Predicate</a:t>
            </a:r>
            <a:r>
              <a:rPr lang="es-ES" sz="1600" dirty="0"/>
              <a:t> </a:t>
            </a:r>
            <a:r>
              <a:rPr lang="es-ES" sz="1600" dirty="0" err="1"/>
              <a:t>Pushdown</a:t>
            </a:r>
            <a:r>
              <a:rPr lang="es-ES" sz="1600" dirty="0"/>
              <a:t>: Empuja filtros hacia las subconsultas</a:t>
            </a:r>
          </a:p>
          <a:p>
            <a:pPr marL="877888" lvl="2" indent="-342900"/>
            <a:r>
              <a:rPr lang="es-ES" sz="1600" dirty="0" err="1"/>
              <a:t>Common</a:t>
            </a:r>
            <a:r>
              <a:rPr lang="es-ES" sz="1600" dirty="0"/>
              <a:t> </a:t>
            </a:r>
            <a:r>
              <a:rPr lang="es-ES" sz="1600" dirty="0" err="1"/>
              <a:t>Subexpression</a:t>
            </a:r>
            <a:r>
              <a:rPr lang="es-ES" sz="1600" dirty="0"/>
              <a:t> </a:t>
            </a:r>
            <a:r>
              <a:rPr lang="es-ES" sz="1600" dirty="0" err="1"/>
              <a:t>Elimination</a:t>
            </a:r>
            <a:r>
              <a:rPr lang="es-ES" sz="1600" dirty="0"/>
              <a:t>: Elimina cálculos duplicados</a:t>
            </a:r>
          </a:p>
          <a:p>
            <a:pPr marL="877888" lvl="2" indent="-342900"/>
            <a:r>
              <a:rPr lang="es-ES" sz="1600" dirty="0" err="1"/>
              <a:t>With</a:t>
            </a:r>
            <a:r>
              <a:rPr lang="es-ES" sz="1600" dirty="0"/>
              <a:t> </a:t>
            </a:r>
            <a:r>
              <a:rPr lang="es-ES" sz="1600" dirty="0" err="1"/>
              <a:t>Clause</a:t>
            </a:r>
            <a:r>
              <a:rPr lang="es-ES" sz="1600" dirty="0"/>
              <a:t> </a:t>
            </a:r>
            <a:r>
              <a:rPr lang="es-ES" sz="1600" dirty="0" err="1"/>
              <a:t>Inlining</a:t>
            </a:r>
            <a:r>
              <a:rPr lang="es-ES" sz="1600" dirty="0"/>
              <a:t>: Convierte </a:t>
            </a:r>
            <a:r>
              <a:rPr lang="es-ES" sz="1600" dirty="0" err="1"/>
              <a:t>CTEs</a:t>
            </a:r>
            <a:r>
              <a:rPr lang="es-ES" sz="1600" dirty="0"/>
              <a:t> en subconsultas </a:t>
            </a:r>
            <a:r>
              <a:rPr lang="es-ES" sz="1600" dirty="0" err="1"/>
              <a:t>inline</a:t>
            </a:r>
            <a:endParaRPr lang="es-ES" sz="1600" dirty="0"/>
          </a:p>
          <a:p>
            <a:pPr marL="342900" lvl="1" indent="-342900"/>
            <a:r>
              <a:rPr lang="es-ES" sz="1600" dirty="0"/>
              <a:t>Si realmente queremos aprender como optimizar SQL tenemos que desactivarlo:</a:t>
            </a:r>
          </a:p>
          <a:p>
            <a:pPr lvl="2" indent="0">
              <a:buNone/>
            </a:pPr>
            <a:r>
              <a:rPr lang="es-ES" sz="1600" dirty="0"/>
              <a:t>ALTER SESSION SET "_</a:t>
            </a:r>
            <a:r>
              <a:rPr lang="es-ES" sz="1600" dirty="0" err="1"/>
              <a:t>optimizer_squ_bottomup</a:t>
            </a:r>
            <a:r>
              <a:rPr lang="es-ES" sz="1600" dirty="0"/>
              <a:t>" = FALSE;</a:t>
            </a:r>
          </a:p>
          <a:p>
            <a:pPr lvl="2" indent="0">
              <a:buNone/>
            </a:pPr>
            <a:r>
              <a:rPr lang="es-ES" sz="1600" dirty="0"/>
              <a:t>ALTER SESSION SET "_</a:t>
            </a:r>
            <a:r>
              <a:rPr lang="es-ES" sz="1600" dirty="0" err="1"/>
              <a:t>optimizer_cost_based_transformation</a:t>
            </a:r>
            <a:r>
              <a:rPr lang="es-ES" sz="1600" dirty="0"/>
              <a:t>" = OFF;</a:t>
            </a:r>
          </a:p>
          <a:p>
            <a:pPr lvl="2" indent="0">
              <a:buNone/>
            </a:pPr>
            <a:r>
              <a:rPr lang="en-US" sz="1600" dirty="0"/>
              <a:t>ALTER SESSION SET QUERY_REWRITE_ENABLED = FALSE;</a:t>
            </a:r>
            <a:endParaRPr lang="es-ES" sz="1600" dirty="0"/>
          </a:p>
          <a:p>
            <a:pPr marL="877888" lvl="2" indent="-342900"/>
            <a:endParaRPr lang="es-ES" sz="1600" dirty="0"/>
          </a:p>
          <a:p>
            <a:pPr lvl="2" indent="0">
              <a:buNone/>
            </a:pPr>
            <a:endParaRPr lang="es-ES" sz="1600" dirty="0"/>
          </a:p>
        </p:txBody>
      </p:sp>
    </p:spTree>
    <p:extLst>
      <p:ext uri="{BB962C8B-B14F-4D97-AF65-F5344CB8AC3E}">
        <p14:creationId xmlns:p14="http://schemas.microsoft.com/office/powerpoint/2010/main" val="867275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E9A11-D0FE-EC84-E3D0-E66F73E04A71}"/>
            </a:ext>
          </a:extLst>
        </p:cNvPr>
        <p:cNvGrpSpPr/>
        <p:nvPr/>
      </p:nvGrpSpPr>
      <p:grpSpPr>
        <a:xfrm>
          <a:off x="0" y="0"/>
          <a:ext cx="0" cy="0"/>
          <a:chOff x="0" y="0"/>
          <a:chExt cx="0" cy="0"/>
        </a:xfrm>
      </p:grpSpPr>
      <p:sp>
        <p:nvSpPr>
          <p:cNvPr id="9" name="4 Marcador de contenido">
            <a:extLst>
              <a:ext uri="{FF2B5EF4-FFF2-40B4-BE49-F238E27FC236}">
                <a16:creationId xmlns:a16="http://schemas.microsoft.com/office/drawing/2014/main" id="{DE925379-A81E-6E81-4810-4F845668B960}"/>
              </a:ext>
            </a:extLst>
          </p:cNvPr>
          <p:cNvSpPr txBox="1">
            <a:spLocks/>
          </p:cNvSpPr>
          <p:nvPr/>
        </p:nvSpPr>
        <p:spPr>
          <a:xfrm>
            <a:off x="468313" y="1361878"/>
            <a:ext cx="8568183" cy="638810"/>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Evita aplicar funciones sobre columnas que pueden estar indexadas.</a:t>
            </a:r>
          </a:p>
          <a:p>
            <a:pPr marL="342900" lvl="1" indent="-342900">
              <a:buFont typeface="Arial" panose="020B0604020202020204" pitchFamily="34" charset="0"/>
              <a:buChar char="•"/>
            </a:pPr>
            <a:endParaRPr lang="es-ES" sz="1600" dirty="0"/>
          </a:p>
          <a:p>
            <a:pPr marL="342900" lvl="1" indent="-342900">
              <a:buFont typeface="Arial" panose="020B0604020202020204" pitchFamily="34" charset="0"/>
              <a:buChar char="•"/>
            </a:pPr>
            <a:endParaRPr lang="es-ES" sz="1600" dirty="0"/>
          </a:p>
          <a:p>
            <a:pPr marL="342900" lvl="1" indent="-342900">
              <a:buFont typeface="Arial" panose="020B0604020202020204" pitchFamily="34" charset="0"/>
              <a:buChar char="•"/>
            </a:pPr>
            <a:endParaRPr lang="es-ES" sz="1600" dirty="0"/>
          </a:p>
          <a:p>
            <a:pPr marL="342900" lvl="1" indent="-342900">
              <a:buFont typeface="Arial" panose="020B0604020202020204" pitchFamily="34" charset="0"/>
              <a:buChar char="•"/>
            </a:pPr>
            <a:endParaRPr lang="es-ES" sz="1600" dirty="0"/>
          </a:p>
          <a:p>
            <a:pPr marL="342900" lvl="1" indent="-342900">
              <a:buFont typeface="Arial" panose="020B0604020202020204" pitchFamily="34" charset="0"/>
              <a:buChar char="•"/>
            </a:pPr>
            <a:endParaRPr lang="es-ES" sz="1600" dirty="0"/>
          </a:p>
          <a:p>
            <a:pPr lvl="2" indent="0">
              <a:buNone/>
            </a:pPr>
            <a:endParaRPr lang="es-ES" sz="1600" dirty="0"/>
          </a:p>
        </p:txBody>
      </p:sp>
      <p:sp>
        <p:nvSpPr>
          <p:cNvPr id="11" name="Rectángulo 10">
            <a:extLst>
              <a:ext uri="{FF2B5EF4-FFF2-40B4-BE49-F238E27FC236}">
                <a16:creationId xmlns:a16="http://schemas.microsoft.com/office/drawing/2014/main" id="{2526B0C2-4D72-42C4-A2E8-F4575C70866D}"/>
              </a:ext>
            </a:extLst>
          </p:cNvPr>
          <p:cNvSpPr/>
          <p:nvPr/>
        </p:nvSpPr>
        <p:spPr>
          <a:xfrm>
            <a:off x="4746848" y="1777960"/>
            <a:ext cx="3743954" cy="5568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0" name="Rectángulo 9">
            <a:extLst>
              <a:ext uri="{FF2B5EF4-FFF2-40B4-BE49-F238E27FC236}">
                <a16:creationId xmlns:a16="http://schemas.microsoft.com/office/drawing/2014/main" id="{3918B8C8-3BEA-4FD2-94B9-32D14B9D98C9}"/>
              </a:ext>
            </a:extLst>
          </p:cNvPr>
          <p:cNvSpPr/>
          <p:nvPr/>
        </p:nvSpPr>
        <p:spPr>
          <a:xfrm>
            <a:off x="165852" y="1779662"/>
            <a:ext cx="3743954" cy="5568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97A0596C-7235-2B0E-B600-7E00D3E56324}"/>
              </a:ext>
            </a:extLst>
          </p:cNvPr>
          <p:cNvSpPr>
            <a:spLocks noGrp="1"/>
          </p:cNvSpPr>
          <p:nvPr>
            <p:ph idx="1"/>
          </p:nvPr>
        </p:nvSpPr>
        <p:spPr>
          <a:xfrm>
            <a:off x="457200" y="915566"/>
            <a:ext cx="8579296" cy="446310"/>
          </a:xfrm>
        </p:spPr>
        <p:txBody>
          <a:bodyPr>
            <a:normAutofit fontScale="62500" lnSpcReduction="20000"/>
          </a:bodyPr>
          <a:lstStyle/>
          <a:p>
            <a:r>
              <a:rPr lang="es-ES" sz="4400" dirty="0" err="1"/>
              <a:t>Where</a:t>
            </a:r>
            <a:endParaRPr lang="es-ES" dirty="0"/>
          </a:p>
        </p:txBody>
      </p:sp>
      <p:sp>
        <p:nvSpPr>
          <p:cNvPr id="4" name="3 Título">
            <a:extLst>
              <a:ext uri="{FF2B5EF4-FFF2-40B4-BE49-F238E27FC236}">
                <a16:creationId xmlns:a16="http://schemas.microsoft.com/office/drawing/2014/main" id="{7326016F-8EE3-8C92-BE4E-74EA82749FA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62C751AE-06FE-90E6-A3F5-7C7061EDA045}"/>
              </a:ext>
            </a:extLst>
          </p:cNvPr>
          <p:cNvSpPr>
            <a:spLocks noGrp="1"/>
          </p:cNvSpPr>
          <p:nvPr>
            <p:ph type="body" sz="quarter" idx="14"/>
          </p:nvPr>
        </p:nvSpPr>
        <p:spPr/>
        <p:txBody>
          <a:bodyPr>
            <a:normAutofit fontScale="62500" lnSpcReduction="20000"/>
          </a:bodyPr>
          <a:lstStyle/>
          <a:p>
            <a:r>
              <a:rPr lang="es-ES" dirty="0"/>
              <a:t>Consultas</a:t>
            </a:r>
          </a:p>
        </p:txBody>
      </p:sp>
      <p:sp>
        <p:nvSpPr>
          <p:cNvPr id="3" name="CuadroTexto 2">
            <a:extLst>
              <a:ext uri="{FF2B5EF4-FFF2-40B4-BE49-F238E27FC236}">
                <a16:creationId xmlns:a16="http://schemas.microsoft.com/office/drawing/2014/main" id="{8A1B9758-9D2D-366A-6F0B-FE2F6BDBC70B}"/>
              </a:ext>
            </a:extLst>
          </p:cNvPr>
          <p:cNvSpPr txBox="1"/>
          <p:nvPr/>
        </p:nvSpPr>
        <p:spPr>
          <a:xfrm>
            <a:off x="4917002" y="1794751"/>
            <a:ext cx="3798168" cy="523220"/>
          </a:xfrm>
          <a:prstGeom prst="rect">
            <a:avLst/>
          </a:prstGeom>
          <a:noFill/>
        </p:spPr>
        <p:txBody>
          <a:bodyPr wrap="square">
            <a:spAutoFit/>
          </a:bodyPr>
          <a:lstStyle/>
          <a:p>
            <a:r>
              <a:rPr lang="es-ES" sz="1400" dirty="0"/>
              <a:t>WHERE </a:t>
            </a:r>
            <a:r>
              <a:rPr lang="es-ES" sz="1400" dirty="0" err="1"/>
              <a:t>fecha_alta</a:t>
            </a:r>
            <a:r>
              <a:rPr lang="es-ES" sz="1400" dirty="0"/>
              <a:t> &gt;= DATE '2024-01-01'</a:t>
            </a:r>
          </a:p>
          <a:p>
            <a:r>
              <a:rPr lang="es-ES" sz="1400" dirty="0"/>
              <a:t>AND </a:t>
            </a:r>
            <a:r>
              <a:rPr lang="es-ES" sz="1400" dirty="0" err="1"/>
              <a:t>fecha_alta</a:t>
            </a:r>
            <a:r>
              <a:rPr lang="es-ES" sz="1400" dirty="0"/>
              <a:t> &lt;  DATE '2024-01-02'</a:t>
            </a:r>
          </a:p>
        </p:txBody>
      </p:sp>
      <p:sp>
        <p:nvSpPr>
          <p:cNvPr id="7" name="CuadroTexto 6">
            <a:extLst>
              <a:ext uri="{FF2B5EF4-FFF2-40B4-BE49-F238E27FC236}">
                <a16:creationId xmlns:a16="http://schemas.microsoft.com/office/drawing/2014/main" id="{60D31854-E252-863C-4183-7A8D349BD3A8}"/>
              </a:ext>
            </a:extLst>
          </p:cNvPr>
          <p:cNvSpPr txBox="1"/>
          <p:nvPr/>
        </p:nvSpPr>
        <p:spPr>
          <a:xfrm>
            <a:off x="246348" y="1813243"/>
            <a:ext cx="3672408" cy="307777"/>
          </a:xfrm>
          <a:prstGeom prst="rect">
            <a:avLst/>
          </a:prstGeom>
          <a:noFill/>
        </p:spPr>
        <p:txBody>
          <a:bodyPr wrap="square">
            <a:spAutoFit/>
          </a:bodyPr>
          <a:lstStyle/>
          <a:p>
            <a:r>
              <a:rPr lang="es-ES" sz="1400" dirty="0"/>
              <a:t>WHERE TRUNC(</a:t>
            </a:r>
            <a:r>
              <a:rPr lang="es-ES" sz="1400" dirty="0" err="1"/>
              <a:t>fecha_alta</a:t>
            </a:r>
            <a:r>
              <a:rPr lang="es-ES" sz="1400" dirty="0"/>
              <a:t>) = DATE '2024-01-01'</a:t>
            </a:r>
          </a:p>
        </p:txBody>
      </p:sp>
      <p:sp>
        <p:nvSpPr>
          <p:cNvPr id="14" name="Flecha: a la derecha 13">
            <a:extLst>
              <a:ext uri="{FF2B5EF4-FFF2-40B4-BE49-F238E27FC236}">
                <a16:creationId xmlns:a16="http://schemas.microsoft.com/office/drawing/2014/main" id="{64710E30-0DE2-EC15-7CBA-F9BA317E485A}"/>
              </a:ext>
            </a:extLst>
          </p:cNvPr>
          <p:cNvSpPr/>
          <p:nvPr/>
        </p:nvSpPr>
        <p:spPr>
          <a:xfrm>
            <a:off x="4151274" y="1940696"/>
            <a:ext cx="382528"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33348693-BA7F-2F20-7890-A633F9EBD1DF}"/>
              </a:ext>
            </a:extLst>
          </p:cNvPr>
          <p:cNvSpPr/>
          <p:nvPr/>
        </p:nvSpPr>
        <p:spPr>
          <a:xfrm>
            <a:off x="4760508" y="2949351"/>
            <a:ext cx="3730294" cy="7386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6" name="Rectángulo 15">
            <a:extLst>
              <a:ext uri="{FF2B5EF4-FFF2-40B4-BE49-F238E27FC236}">
                <a16:creationId xmlns:a16="http://schemas.microsoft.com/office/drawing/2014/main" id="{E37FAF71-DC09-10E6-566A-C8349A7C6128}"/>
              </a:ext>
            </a:extLst>
          </p:cNvPr>
          <p:cNvSpPr/>
          <p:nvPr/>
        </p:nvSpPr>
        <p:spPr>
          <a:xfrm>
            <a:off x="179512" y="2951053"/>
            <a:ext cx="3743954" cy="7369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7" name="Flecha: a la derecha 16">
            <a:extLst>
              <a:ext uri="{FF2B5EF4-FFF2-40B4-BE49-F238E27FC236}">
                <a16:creationId xmlns:a16="http://schemas.microsoft.com/office/drawing/2014/main" id="{2D61049B-3296-29AA-55A1-814DF5840C58}"/>
              </a:ext>
            </a:extLst>
          </p:cNvPr>
          <p:cNvSpPr/>
          <p:nvPr/>
        </p:nvSpPr>
        <p:spPr>
          <a:xfrm>
            <a:off x="4139952" y="3219822"/>
            <a:ext cx="382528"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4 Marcador de contenido">
            <a:extLst>
              <a:ext uri="{FF2B5EF4-FFF2-40B4-BE49-F238E27FC236}">
                <a16:creationId xmlns:a16="http://schemas.microsoft.com/office/drawing/2014/main" id="{A04655CC-1A54-001D-A670-5B4BE0C925DA}"/>
              </a:ext>
            </a:extLst>
          </p:cNvPr>
          <p:cNvSpPr txBox="1">
            <a:spLocks/>
          </p:cNvSpPr>
          <p:nvPr/>
        </p:nvSpPr>
        <p:spPr>
          <a:xfrm>
            <a:off x="468313" y="2494771"/>
            <a:ext cx="8568183" cy="437790"/>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EXISTS es mejor que IN. Para en cuanto encuentra la primera ocurrencia.</a:t>
            </a:r>
          </a:p>
          <a:p>
            <a:pPr lvl="2" indent="0">
              <a:buNone/>
            </a:pPr>
            <a:endParaRPr lang="es-ES" sz="1600" dirty="0"/>
          </a:p>
        </p:txBody>
      </p:sp>
      <p:sp>
        <p:nvSpPr>
          <p:cNvPr id="20" name="CuadroTexto 19">
            <a:extLst>
              <a:ext uri="{FF2B5EF4-FFF2-40B4-BE49-F238E27FC236}">
                <a16:creationId xmlns:a16="http://schemas.microsoft.com/office/drawing/2014/main" id="{DF280C2D-853C-141F-534C-EB0B3CFA8AE6}"/>
              </a:ext>
            </a:extLst>
          </p:cNvPr>
          <p:cNvSpPr txBox="1"/>
          <p:nvPr/>
        </p:nvSpPr>
        <p:spPr>
          <a:xfrm>
            <a:off x="5004048" y="2949351"/>
            <a:ext cx="3310870" cy="738664"/>
          </a:xfrm>
          <a:prstGeom prst="rect">
            <a:avLst/>
          </a:prstGeom>
          <a:noFill/>
        </p:spPr>
        <p:txBody>
          <a:bodyPr wrap="square">
            <a:spAutoFit/>
          </a:bodyPr>
          <a:lstStyle/>
          <a:p>
            <a:r>
              <a:rPr lang="es-ES" sz="1400" dirty="0"/>
              <a:t>WHERE EXISTS (</a:t>
            </a:r>
          </a:p>
          <a:p>
            <a:r>
              <a:rPr lang="es-ES" sz="1400" dirty="0"/>
              <a:t>  SELECT 1 FROM departamentos d WHERE </a:t>
            </a:r>
            <a:r>
              <a:rPr lang="es-ES" sz="1400" dirty="0" err="1"/>
              <a:t>d.id</a:t>
            </a:r>
            <a:r>
              <a:rPr lang="es-ES" sz="1400" dirty="0"/>
              <a:t> = </a:t>
            </a:r>
            <a:r>
              <a:rPr lang="es-ES" sz="1400" dirty="0" err="1"/>
              <a:t>e.departamento_id</a:t>
            </a:r>
            <a:r>
              <a:rPr lang="es-ES" sz="1400" dirty="0"/>
              <a:t>)</a:t>
            </a:r>
          </a:p>
        </p:txBody>
      </p:sp>
      <p:sp>
        <p:nvSpPr>
          <p:cNvPr id="22" name="CuadroTexto 21">
            <a:extLst>
              <a:ext uri="{FF2B5EF4-FFF2-40B4-BE49-F238E27FC236}">
                <a16:creationId xmlns:a16="http://schemas.microsoft.com/office/drawing/2014/main" id="{82A70928-BC24-F8DF-1ABD-ABD536362424}"/>
              </a:ext>
            </a:extLst>
          </p:cNvPr>
          <p:cNvSpPr txBox="1"/>
          <p:nvPr/>
        </p:nvSpPr>
        <p:spPr>
          <a:xfrm>
            <a:off x="256164" y="3044702"/>
            <a:ext cx="3880348" cy="523220"/>
          </a:xfrm>
          <a:prstGeom prst="rect">
            <a:avLst/>
          </a:prstGeom>
          <a:noFill/>
        </p:spPr>
        <p:txBody>
          <a:bodyPr wrap="square">
            <a:spAutoFit/>
          </a:bodyPr>
          <a:lstStyle/>
          <a:p>
            <a:r>
              <a:rPr lang="es-ES" sz="1400" dirty="0"/>
              <a:t>WHERE </a:t>
            </a:r>
            <a:r>
              <a:rPr lang="es-ES" sz="1400" dirty="0" err="1"/>
              <a:t>e.departamento_id</a:t>
            </a:r>
            <a:r>
              <a:rPr lang="es-ES" sz="1400" dirty="0"/>
              <a:t> IN (SELECT id FROM departamentos)</a:t>
            </a:r>
          </a:p>
        </p:txBody>
      </p:sp>
    </p:spTree>
    <p:extLst>
      <p:ext uri="{BB962C8B-B14F-4D97-AF65-F5344CB8AC3E}">
        <p14:creationId xmlns:p14="http://schemas.microsoft.com/office/powerpoint/2010/main" val="523980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39F4B-7EBD-41DF-BD49-F1AC2B94AF7C}"/>
            </a:ext>
          </a:extLst>
        </p:cNvPr>
        <p:cNvGrpSpPr/>
        <p:nvPr/>
      </p:nvGrpSpPr>
      <p:grpSpPr>
        <a:xfrm>
          <a:off x="0" y="0"/>
          <a:ext cx="0" cy="0"/>
          <a:chOff x="0" y="0"/>
          <a:chExt cx="0" cy="0"/>
        </a:xfrm>
      </p:grpSpPr>
      <p:sp>
        <p:nvSpPr>
          <p:cNvPr id="9" name="4 Marcador de contenido">
            <a:extLst>
              <a:ext uri="{FF2B5EF4-FFF2-40B4-BE49-F238E27FC236}">
                <a16:creationId xmlns:a16="http://schemas.microsoft.com/office/drawing/2014/main" id="{4832CBDD-C312-235E-6907-C5B17574D974}"/>
              </a:ext>
            </a:extLst>
          </p:cNvPr>
          <p:cNvSpPr txBox="1">
            <a:spLocks/>
          </p:cNvSpPr>
          <p:nvPr/>
        </p:nvSpPr>
        <p:spPr>
          <a:xfrm>
            <a:off x="468313" y="1361878"/>
            <a:ext cx="8568183" cy="638810"/>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Evita aplicar funciones sobre columnas que pueden estar indexadas.</a:t>
            </a:r>
          </a:p>
          <a:p>
            <a:pPr marL="342900" lvl="1" indent="-342900">
              <a:buFont typeface="Arial" panose="020B0604020202020204" pitchFamily="34" charset="0"/>
              <a:buChar char="•"/>
            </a:pPr>
            <a:endParaRPr lang="es-ES" sz="1600" dirty="0"/>
          </a:p>
          <a:p>
            <a:pPr marL="342900" lvl="1" indent="-342900">
              <a:buFont typeface="Arial" panose="020B0604020202020204" pitchFamily="34" charset="0"/>
              <a:buChar char="•"/>
            </a:pPr>
            <a:endParaRPr lang="es-ES" sz="1600" dirty="0"/>
          </a:p>
          <a:p>
            <a:pPr marL="342900" lvl="1" indent="-342900">
              <a:buFont typeface="Arial" panose="020B0604020202020204" pitchFamily="34" charset="0"/>
              <a:buChar char="•"/>
            </a:pPr>
            <a:endParaRPr lang="es-ES" sz="1600" dirty="0"/>
          </a:p>
          <a:p>
            <a:pPr marL="342900" lvl="1" indent="-342900">
              <a:buFont typeface="Arial" panose="020B0604020202020204" pitchFamily="34" charset="0"/>
              <a:buChar char="•"/>
            </a:pPr>
            <a:endParaRPr lang="es-ES" sz="1600" dirty="0"/>
          </a:p>
          <a:p>
            <a:pPr marL="342900" lvl="1" indent="-342900">
              <a:buFont typeface="Arial" panose="020B0604020202020204" pitchFamily="34" charset="0"/>
              <a:buChar char="•"/>
            </a:pPr>
            <a:endParaRPr lang="es-ES" sz="1600" dirty="0"/>
          </a:p>
          <a:p>
            <a:pPr lvl="2" indent="0">
              <a:buNone/>
            </a:pPr>
            <a:endParaRPr lang="es-ES" sz="1600" dirty="0"/>
          </a:p>
        </p:txBody>
      </p:sp>
      <p:sp>
        <p:nvSpPr>
          <p:cNvPr id="11" name="Rectángulo 10">
            <a:extLst>
              <a:ext uri="{FF2B5EF4-FFF2-40B4-BE49-F238E27FC236}">
                <a16:creationId xmlns:a16="http://schemas.microsoft.com/office/drawing/2014/main" id="{2D527991-F90C-E3A3-9C49-7DD84B3872B3}"/>
              </a:ext>
            </a:extLst>
          </p:cNvPr>
          <p:cNvSpPr/>
          <p:nvPr/>
        </p:nvSpPr>
        <p:spPr>
          <a:xfrm>
            <a:off x="4746848" y="1777960"/>
            <a:ext cx="3743954" cy="5568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0" name="Rectángulo 9">
            <a:extLst>
              <a:ext uri="{FF2B5EF4-FFF2-40B4-BE49-F238E27FC236}">
                <a16:creationId xmlns:a16="http://schemas.microsoft.com/office/drawing/2014/main" id="{1B10D6E3-DDC7-8CCD-27D7-BC31C0248F2B}"/>
              </a:ext>
            </a:extLst>
          </p:cNvPr>
          <p:cNvSpPr/>
          <p:nvPr/>
        </p:nvSpPr>
        <p:spPr>
          <a:xfrm>
            <a:off x="165852" y="1779662"/>
            <a:ext cx="3743954" cy="5568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AFA0726D-9E49-51D0-DB8B-2972B2246C93}"/>
              </a:ext>
            </a:extLst>
          </p:cNvPr>
          <p:cNvSpPr>
            <a:spLocks noGrp="1"/>
          </p:cNvSpPr>
          <p:nvPr>
            <p:ph idx="1"/>
          </p:nvPr>
        </p:nvSpPr>
        <p:spPr>
          <a:xfrm>
            <a:off x="457200" y="915566"/>
            <a:ext cx="8579296" cy="446310"/>
          </a:xfrm>
        </p:spPr>
        <p:txBody>
          <a:bodyPr>
            <a:normAutofit fontScale="62500" lnSpcReduction="20000"/>
          </a:bodyPr>
          <a:lstStyle/>
          <a:p>
            <a:r>
              <a:rPr lang="es-ES" sz="4400" dirty="0" err="1"/>
              <a:t>Where</a:t>
            </a:r>
            <a:endParaRPr lang="es-ES" dirty="0"/>
          </a:p>
        </p:txBody>
      </p:sp>
      <p:sp>
        <p:nvSpPr>
          <p:cNvPr id="4" name="3 Título">
            <a:extLst>
              <a:ext uri="{FF2B5EF4-FFF2-40B4-BE49-F238E27FC236}">
                <a16:creationId xmlns:a16="http://schemas.microsoft.com/office/drawing/2014/main" id="{ACDD3710-3E3E-8D82-4FE4-52EFBCE03BF9}"/>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FC4E8E4-7408-A3B7-4A08-532E31E059A0}"/>
              </a:ext>
            </a:extLst>
          </p:cNvPr>
          <p:cNvSpPr>
            <a:spLocks noGrp="1"/>
          </p:cNvSpPr>
          <p:nvPr>
            <p:ph type="body" sz="quarter" idx="14"/>
          </p:nvPr>
        </p:nvSpPr>
        <p:spPr/>
        <p:txBody>
          <a:bodyPr>
            <a:normAutofit fontScale="62500" lnSpcReduction="20000"/>
          </a:bodyPr>
          <a:lstStyle/>
          <a:p>
            <a:r>
              <a:rPr lang="es-ES" dirty="0"/>
              <a:t>Consultas</a:t>
            </a:r>
          </a:p>
        </p:txBody>
      </p:sp>
      <p:sp>
        <p:nvSpPr>
          <p:cNvPr id="3" name="CuadroTexto 2">
            <a:extLst>
              <a:ext uri="{FF2B5EF4-FFF2-40B4-BE49-F238E27FC236}">
                <a16:creationId xmlns:a16="http://schemas.microsoft.com/office/drawing/2014/main" id="{C84647BE-FA08-55BA-94EA-22FA659BDDBF}"/>
              </a:ext>
            </a:extLst>
          </p:cNvPr>
          <p:cNvSpPr txBox="1"/>
          <p:nvPr/>
        </p:nvSpPr>
        <p:spPr>
          <a:xfrm>
            <a:off x="4917002" y="1794751"/>
            <a:ext cx="3798168" cy="523220"/>
          </a:xfrm>
          <a:prstGeom prst="rect">
            <a:avLst/>
          </a:prstGeom>
          <a:noFill/>
        </p:spPr>
        <p:txBody>
          <a:bodyPr wrap="square">
            <a:spAutoFit/>
          </a:bodyPr>
          <a:lstStyle/>
          <a:p>
            <a:r>
              <a:rPr lang="es-ES" sz="1400" dirty="0"/>
              <a:t>WHERE </a:t>
            </a:r>
            <a:r>
              <a:rPr lang="es-ES" sz="1400" dirty="0" err="1"/>
              <a:t>fecha_alta</a:t>
            </a:r>
            <a:r>
              <a:rPr lang="es-ES" sz="1400" dirty="0"/>
              <a:t> &gt;= DATE '2024-01-01'</a:t>
            </a:r>
          </a:p>
          <a:p>
            <a:r>
              <a:rPr lang="es-ES" sz="1400" dirty="0"/>
              <a:t>AND </a:t>
            </a:r>
            <a:r>
              <a:rPr lang="es-ES" sz="1400" dirty="0" err="1"/>
              <a:t>fecha_alta</a:t>
            </a:r>
            <a:r>
              <a:rPr lang="es-ES" sz="1400" dirty="0"/>
              <a:t> &lt;  DATE '2024-01-02'</a:t>
            </a:r>
          </a:p>
        </p:txBody>
      </p:sp>
      <p:sp>
        <p:nvSpPr>
          <p:cNvPr id="7" name="CuadroTexto 6">
            <a:extLst>
              <a:ext uri="{FF2B5EF4-FFF2-40B4-BE49-F238E27FC236}">
                <a16:creationId xmlns:a16="http://schemas.microsoft.com/office/drawing/2014/main" id="{5E1C5DAB-2638-9CE6-04A9-5954CBDB7A96}"/>
              </a:ext>
            </a:extLst>
          </p:cNvPr>
          <p:cNvSpPr txBox="1"/>
          <p:nvPr/>
        </p:nvSpPr>
        <p:spPr>
          <a:xfrm>
            <a:off x="246348" y="1813243"/>
            <a:ext cx="3672408" cy="307777"/>
          </a:xfrm>
          <a:prstGeom prst="rect">
            <a:avLst/>
          </a:prstGeom>
          <a:noFill/>
        </p:spPr>
        <p:txBody>
          <a:bodyPr wrap="square">
            <a:spAutoFit/>
          </a:bodyPr>
          <a:lstStyle/>
          <a:p>
            <a:r>
              <a:rPr lang="es-ES" sz="1400" dirty="0"/>
              <a:t>WHERE TRUNC(</a:t>
            </a:r>
            <a:r>
              <a:rPr lang="es-ES" sz="1400" dirty="0" err="1"/>
              <a:t>fecha_alta</a:t>
            </a:r>
            <a:r>
              <a:rPr lang="es-ES" sz="1400" dirty="0"/>
              <a:t>) = DATE '2024-01-01'</a:t>
            </a:r>
          </a:p>
        </p:txBody>
      </p:sp>
      <p:sp>
        <p:nvSpPr>
          <p:cNvPr id="14" name="Flecha: a la derecha 13">
            <a:extLst>
              <a:ext uri="{FF2B5EF4-FFF2-40B4-BE49-F238E27FC236}">
                <a16:creationId xmlns:a16="http://schemas.microsoft.com/office/drawing/2014/main" id="{83F6E3C4-3CD0-3B45-6862-B146BF41CE9D}"/>
              </a:ext>
            </a:extLst>
          </p:cNvPr>
          <p:cNvSpPr/>
          <p:nvPr/>
        </p:nvSpPr>
        <p:spPr>
          <a:xfrm>
            <a:off x="4151274" y="1940696"/>
            <a:ext cx="382528"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7FECEC21-DF09-376A-7A45-7F731B94700F}"/>
              </a:ext>
            </a:extLst>
          </p:cNvPr>
          <p:cNvSpPr/>
          <p:nvPr/>
        </p:nvSpPr>
        <p:spPr>
          <a:xfrm>
            <a:off x="4760508" y="2949351"/>
            <a:ext cx="3730294" cy="7386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6" name="Rectángulo 15">
            <a:extLst>
              <a:ext uri="{FF2B5EF4-FFF2-40B4-BE49-F238E27FC236}">
                <a16:creationId xmlns:a16="http://schemas.microsoft.com/office/drawing/2014/main" id="{328F9E0C-DF88-65B2-C16E-86734F02EF62}"/>
              </a:ext>
            </a:extLst>
          </p:cNvPr>
          <p:cNvSpPr/>
          <p:nvPr/>
        </p:nvSpPr>
        <p:spPr>
          <a:xfrm>
            <a:off x="179512" y="2951053"/>
            <a:ext cx="3743954" cy="7369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7" name="Flecha: a la derecha 16">
            <a:extLst>
              <a:ext uri="{FF2B5EF4-FFF2-40B4-BE49-F238E27FC236}">
                <a16:creationId xmlns:a16="http://schemas.microsoft.com/office/drawing/2014/main" id="{4B2C015C-DDE6-14A3-BD08-EEA8D5A9004D}"/>
              </a:ext>
            </a:extLst>
          </p:cNvPr>
          <p:cNvSpPr/>
          <p:nvPr/>
        </p:nvSpPr>
        <p:spPr>
          <a:xfrm>
            <a:off x="4139952" y="3219822"/>
            <a:ext cx="382528"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4 Marcador de contenido">
            <a:extLst>
              <a:ext uri="{FF2B5EF4-FFF2-40B4-BE49-F238E27FC236}">
                <a16:creationId xmlns:a16="http://schemas.microsoft.com/office/drawing/2014/main" id="{5ED98104-B807-EAEB-4802-73D57A10CCE0}"/>
              </a:ext>
            </a:extLst>
          </p:cNvPr>
          <p:cNvSpPr txBox="1">
            <a:spLocks/>
          </p:cNvSpPr>
          <p:nvPr/>
        </p:nvSpPr>
        <p:spPr>
          <a:xfrm>
            <a:off x="468313" y="2494771"/>
            <a:ext cx="8568183" cy="437790"/>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EXISTS es mejor que IN. Para en cuanto encuentra la primera ocurrencia.</a:t>
            </a:r>
          </a:p>
          <a:p>
            <a:pPr lvl="2" indent="0">
              <a:buNone/>
            </a:pPr>
            <a:endParaRPr lang="es-ES" sz="1600" dirty="0"/>
          </a:p>
        </p:txBody>
      </p:sp>
      <p:sp>
        <p:nvSpPr>
          <p:cNvPr id="20" name="CuadroTexto 19">
            <a:extLst>
              <a:ext uri="{FF2B5EF4-FFF2-40B4-BE49-F238E27FC236}">
                <a16:creationId xmlns:a16="http://schemas.microsoft.com/office/drawing/2014/main" id="{EC49927C-0076-63A1-A232-F0662218609E}"/>
              </a:ext>
            </a:extLst>
          </p:cNvPr>
          <p:cNvSpPr txBox="1"/>
          <p:nvPr/>
        </p:nvSpPr>
        <p:spPr>
          <a:xfrm>
            <a:off x="5004048" y="2949351"/>
            <a:ext cx="3310870" cy="738664"/>
          </a:xfrm>
          <a:prstGeom prst="rect">
            <a:avLst/>
          </a:prstGeom>
          <a:noFill/>
        </p:spPr>
        <p:txBody>
          <a:bodyPr wrap="square">
            <a:spAutoFit/>
          </a:bodyPr>
          <a:lstStyle/>
          <a:p>
            <a:r>
              <a:rPr lang="es-ES" sz="1400" dirty="0"/>
              <a:t>WHERE EXISTS (</a:t>
            </a:r>
          </a:p>
          <a:p>
            <a:r>
              <a:rPr lang="es-ES" sz="1400" dirty="0"/>
              <a:t>  SELECT 1 FROM departamentos d WHERE </a:t>
            </a:r>
            <a:r>
              <a:rPr lang="es-ES" sz="1400" dirty="0" err="1"/>
              <a:t>d.id</a:t>
            </a:r>
            <a:r>
              <a:rPr lang="es-ES" sz="1400" dirty="0"/>
              <a:t> = </a:t>
            </a:r>
            <a:r>
              <a:rPr lang="es-ES" sz="1400" dirty="0" err="1"/>
              <a:t>e.departamento_id</a:t>
            </a:r>
            <a:r>
              <a:rPr lang="es-ES" sz="1400" dirty="0"/>
              <a:t>)</a:t>
            </a:r>
          </a:p>
        </p:txBody>
      </p:sp>
      <p:sp>
        <p:nvSpPr>
          <p:cNvPr id="22" name="CuadroTexto 21">
            <a:extLst>
              <a:ext uri="{FF2B5EF4-FFF2-40B4-BE49-F238E27FC236}">
                <a16:creationId xmlns:a16="http://schemas.microsoft.com/office/drawing/2014/main" id="{F2274E60-9A4E-5408-DA92-6149CB04C02B}"/>
              </a:ext>
            </a:extLst>
          </p:cNvPr>
          <p:cNvSpPr txBox="1"/>
          <p:nvPr/>
        </p:nvSpPr>
        <p:spPr>
          <a:xfrm>
            <a:off x="256164" y="3044702"/>
            <a:ext cx="3880348" cy="523220"/>
          </a:xfrm>
          <a:prstGeom prst="rect">
            <a:avLst/>
          </a:prstGeom>
          <a:noFill/>
        </p:spPr>
        <p:txBody>
          <a:bodyPr wrap="square">
            <a:spAutoFit/>
          </a:bodyPr>
          <a:lstStyle/>
          <a:p>
            <a:r>
              <a:rPr lang="es-ES" sz="1400" dirty="0"/>
              <a:t>WHERE </a:t>
            </a:r>
            <a:r>
              <a:rPr lang="es-ES" sz="1400" dirty="0" err="1"/>
              <a:t>e.departamento_id</a:t>
            </a:r>
            <a:r>
              <a:rPr lang="es-ES" sz="1400" dirty="0"/>
              <a:t> IN (SELECT id FROM departamentos)</a:t>
            </a:r>
          </a:p>
        </p:txBody>
      </p:sp>
    </p:spTree>
    <p:extLst>
      <p:ext uri="{BB962C8B-B14F-4D97-AF65-F5344CB8AC3E}">
        <p14:creationId xmlns:p14="http://schemas.microsoft.com/office/powerpoint/2010/main" val="3474847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9FC10-1242-E28D-F761-FC2359F03F00}"/>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59870467-EB7E-5CC3-724F-B16BECAC1844}"/>
              </a:ext>
            </a:extLst>
          </p:cNvPr>
          <p:cNvSpPr/>
          <p:nvPr/>
        </p:nvSpPr>
        <p:spPr>
          <a:xfrm>
            <a:off x="215747" y="1434132"/>
            <a:ext cx="3743954" cy="3441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3E1CA894-183A-CCB7-F738-A15EC8BF0AB4}"/>
              </a:ext>
            </a:extLst>
          </p:cNvPr>
          <p:cNvSpPr>
            <a:spLocks noGrp="1"/>
          </p:cNvSpPr>
          <p:nvPr>
            <p:ph idx="1"/>
          </p:nvPr>
        </p:nvSpPr>
        <p:spPr>
          <a:xfrm>
            <a:off x="457200" y="915566"/>
            <a:ext cx="8579296" cy="446310"/>
          </a:xfrm>
        </p:spPr>
        <p:txBody>
          <a:bodyPr>
            <a:normAutofit fontScale="62500" lnSpcReduction="20000"/>
          </a:bodyPr>
          <a:lstStyle/>
          <a:p>
            <a:r>
              <a:rPr lang="es-ES" sz="4400" dirty="0"/>
              <a:t>Uso de ROWNUM y FETCH FIRST</a:t>
            </a:r>
            <a:endParaRPr lang="es-ES" dirty="0"/>
          </a:p>
        </p:txBody>
      </p:sp>
      <p:sp>
        <p:nvSpPr>
          <p:cNvPr id="4" name="3 Título">
            <a:extLst>
              <a:ext uri="{FF2B5EF4-FFF2-40B4-BE49-F238E27FC236}">
                <a16:creationId xmlns:a16="http://schemas.microsoft.com/office/drawing/2014/main" id="{0998A99E-8464-B88F-176B-BA20457E607E}"/>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5F4127A7-559B-A4F4-980D-FBF538EDDFEB}"/>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F3C42168-B203-C393-5201-4454F4EB2D64}"/>
              </a:ext>
            </a:extLst>
          </p:cNvPr>
          <p:cNvSpPr txBox="1"/>
          <p:nvPr/>
        </p:nvSpPr>
        <p:spPr>
          <a:xfrm>
            <a:off x="323528" y="1541871"/>
            <a:ext cx="3528392" cy="2308324"/>
          </a:xfrm>
          <a:prstGeom prst="rect">
            <a:avLst/>
          </a:prstGeom>
          <a:noFill/>
        </p:spPr>
        <p:txBody>
          <a:bodyPr wrap="square">
            <a:spAutoFit/>
          </a:bodyPr>
          <a:lstStyle/>
          <a:p>
            <a:r>
              <a:rPr lang="en-US" sz="1200" dirty="0"/>
              <a:t>SELECT * FROM </a:t>
            </a:r>
            <a:r>
              <a:rPr lang="en-US" sz="1200" dirty="0" err="1"/>
              <a:t>empleados</a:t>
            </a:r>
            <a:r>
              <a:rPr lang="en-US" sz="1200" dirty="0"/>
              <a:t> WHERE ROWNUM &lt;= 10;</a:t>
            </a:r>
          </a:p>
          <a:p>
            <a:endParaRPr lang="en-US" sz="1200" dirty="0"/>
          </a:p>
          <a:p>
            <a:endParaRPr lang="en-US" sz="1200" dirty="0"/>
          </a:p>
          <a:p>
            <a:r>
              <a:rPr lang="en-US" sz="1200" dirty="0"/>
              <a:t>SELECT * FROM </a:t>
            </a:r>
            <a:r>
              <a:rPr lang="en-US" sz="1200" dirty="0" err="1"/>
              <a:t>empleados</a:t>
            </a:r>
            <a:endParaRPr lang="en-US" sz="1200" dirty="0"/>
          </a:p>
          <a:p>
            <a:r>
              <a:rPr lang="en-US" sz="1200" dirty="0"/>
              <a:t>ORDER BY </a:t>
            </a:r>
            <a:r>
              <a:rPr lang="en-US" sz="1200" dirty="0" err="1"/>
              <a:t>salario</a:t>
            </a:r>
            <a:r>
              <a:rPr lang="en-US" sz="1200" dirty="0"/>
              <a:t> DESC</a:t>
            </a:r>
          </a:p>
          <a:p>
            <a:r>
              <a:rPr lang="en-US" sz="1200" dirty="0"/>
              <a:t>FETCH FIRST 10 ROWS ONLY;</a:t>
            </a:r>
          </a:p>
          <a:p>
            <a:endParaRPr lang="en-US" sz="1200" dirty="0"/>
          </a:p>
          <a:p>
            <a:endParaRPr lang="en-US" sz="1200" dirty="0"/>
          </a:p>
          <a:p>
            <a:r>
              <a:rPr lang="en-US" sz="1200" dirty="0"/>
              <a:t>SELECT * FROM </a:t>
            </a:r>
            <a:r>
              <a:rPr lang="en-US" sz="1200" dirty="0" err="1"/>
              <a:t>empleados</a:t>
            </a:r>
            <a:endParaRPr lang="en-US" sz="1200" dirty="0"/>
          </a:p>
          <a:p>
            <a:r>
              <a:rPr lang="en-US" sz="1200" dirty="0"/>
              <a:t>ORDER BY </a:t>
            </a:r>
            <a:r>
              <a:rPr lang="en-US" sz="1200" dirty="0" err="1"/>
              <a:t>salario</a:t>
            </a:r>
            <a:r>
              <a:rPr lang="en-US" sz="1200" dirty="0"/>
              <a:t> DESC</a:t>
            </a:r>
          </a:p>
          <a:p>
            <a:r>
              <a:rPr lang="en-US" sz="1200" dirty="0"/>
              <a:t>OFFSET 10 ROWS FETCH NEXT 10 ROWS ONLY;</a:t>
            </a:r>
          </a:p>
          <a:p>
            <a:endParaRPr lang="en-US" sz="1200" dirty="0"/>
          </a:p>
        </p:txBody>
      </p:sp>
      <p:sp>
        <p:nvSpPr>
          <p:cNvPr id="9" name="4 Marcador de contenido">
            <a:extLst>
              <a:ext uri="{FF2B5EF4-FFF2-40B4-BE49-F238E27FC236}">
                <a16:creationId xmlns:a16="http://schemas.microsoft.com/office/drawing/2014/main" id="{59B258DE-3085-A306-0082-2D6B03937E76}"/>
              </a:ext>
            </a:extLst>
          </p:cNvPr>
          <p:cNvSpPr txBox="1">
            <a:spLocks/>
          </p:cNvSpPr>
          <p:nvPr/>
        </p:nvSpPr>
        <p:spPr>
          <a:xfrm>
            <a:off x="4211960" y="1470409"/>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Anteriormente filtrábamos usando ROWNUM.</a:t>
            </a:r>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r>
              <a:rPr lang="es-ES" sz="1800" dirty="0"/>
              <a:t>Actualmente (Oracle 12c+) se utiliza FETCH</a:t>
            </a:r>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r>
              <a:rPr lang="es-ES" sz="1800" dirty="0"/>
              <a:t>Con la clausura OFFSET podemos hacer los bloques que necesitemos.</a:t>
            </a:r>
          </a:p>
        </p:txBody>
      </p:sp>
      <p:sp>
        <p:nvSpPr>
          <p:cNvPr id="2" name="CuadroTexto 1">
            <a:extLst>
              <a:ext uri="{FF2B5EF4-FFF2-40B4-BE49-F238E27FC236}">
                <a16:creationId xmlns:a16="http://schemas.microsoft.com/office/drawing/2014/main" id="{32B67BBC-1032-5516-25D1-260527FD15CC}"/>
              </a:ext>
            </a:extLst>
          </p:cNvPr>
          <p:cNvSpPr txBox="1"/>
          <p:nvPr/>
        </p:nvSpPr>
        <p:spPr>
          <a:xfrm>
            <a:off x="7343135" y="4731990"/>
            <a:ext cx="1774078" cy="246221"/>
          </a:xfrm>
          <a:prstGeom prst="rect">
            <a:avLst/>
          </a:prstGeom>
          <a:noFill/>
        </p:spPr>
        <p:txBody>
          <a:bodyPr wrap="square">
            <a:spAutoFit/>
          </a:bodyPr>
          <a:lstStyle/>
          <a:p>
            <a:pPr algn="l"/>
            <a:r>
              <a:rPr lang="es-ES" sz="1000" b="0" i="0" dirty="0">
                <a:solidFill>
                  <a:srgbClr val="FF6A00"/>
                </a:solidFill>
                <a:effectLst/>
                <a:latin typeface="-apple-system"/>
              </a:rPr>
              <a:t>sesion2-</a:t>
            </a:r>
            <a:r>
              <a:rPr lang="es-ES" sz="1000" dirty="0">
                <a:solidFill>
                  <a:srgbClr val="FF6A00"/>
                </a:solidFill>
                <a:latin typeface="-apple-system"/>
              </a:rPr>
              <a:t>fetch</a:t>
            </a:r>
            <a:r>
              <a:rPr lang="es-ES" sz="1000" b="0" i="0" dirty="0">
                <a:solidFill>
                  <a:srgbClr val="FF6A00"/>
                </a:solidFill>
                <a:effectLst/>
                <a:latin typeface="-apple-system"/>
              </a:rPr>
              <a:t>.sql</a:t>
            </a:r>
          </a:p>
        </p:txBody>
      </p:sp>
    </p:spTree>
    <p:extLst>
      <p:ext uri="{BB962C8B-B14F-4D97-AF65-F5344CB8AC3E}">
        <p14:creationId xmlns:p14="http://schemas.microsoft.com/office/powerpoint/2010/main" val="3468419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D0FAB-1951-BFDF-8E48-5998F4162285}"/>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BA5A2F70-2E33-EFB7-93D1-BA72905711FA}"/>
              </a:ext>
            </a:extLst>
          </p:cNvPr>
          <p:cNvSpPr/>
          <p:nvPr/>
        </p:nvSpPr>
        <p:spPr>
          <a:xfrm>
            <a:off x="227537" y="1326394"/>
            <a:ext cx="3743954" cy="35496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F19A9364-1613-BEA9-97C5-2CC8B5F6B0F9}"/>
              </a:ext>
            </a:extLst>
          </p:cNvPr>
          <p:cNvSpPr>
            <a:spLocks noGrp="1"/>
          </p:cNvSpPr>
          <p:nvPr>
            <p:ph idx="1"/>
          </p:nvPr>
        </p:nvSpPr>
        <p:spPr>
          <a:xfrm>
            <a:off x="457200" y="915566"/>
            <a:ext cx="8579296" cy="446310"/>
          </a:xfrm>
        </p:spPr>
        <p:txBody>
          <a:bodyPr>
            <a:normAutofit fontScale="62500" lnSpcReduction="20000"/>
          </a:bodyPr>
          <a:lstStyle/>
          <a:p>
            <a:r>
              <a:rPr lang="en-US" sz="4400" dirty="0"/>
              <a:t>WITH (Common Table Expressions – CTE)</a:t>
            </a:r>
            <a:endParaRPr lang="es-ES" dirty="0"/>
          </a:p>
        </p:txBody>
      </p:sp>
      <p:sp>
        <p:nvSpPr>
          <p:cNvPr id="4" name="3 Título">
            <a:extLst>
              <a:ext uri="{FF2B5EF4-FFF2-40B4-BE49-F238E27FC236}">
                <a16:creationId xmlns:a16="http://schemas.microsoft.com/office/drawing/2014/main" id="{2EA1B7A4-A3BB-E5FA-6535-7866D173C11B}"/>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E357CD78-3A4C-31A8-014F-D0DA0F7D2B4B}"/>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0BFC0E0C-3517-8641-6129-FEDB3693E34C}"/>
              </a:ext>
            </a:extLst>
          </p:cNvPr>
          <p:cNvSpPr txBox="1"/>
          <p:nvPr/>
        </p:nvSpPr>
        <p:spPr>
          <a:xfrm>
            <a:off x="323528" y="1361876"/>
            <a:ext cx="3647963" cy="3600986"/>
          </a:xfrm>
          <a:prstGeom prst="rect">
            <a:avLst/>
          </a:prstGeom>
          <a:noFill/>
        </p:spPr>
        <p:txBody>
          <a:bodyPr wrap="square">
            <a:spAutoFit/>
          </a:bodyPr>
          <a:lstStyle/>
          <a:p>
            <a:r>
              <a:rPr lang="en-US" sz="1200" dirty="0"/>
              <a:t>WITH </a:t>
            </a:r>
            <a:r>
              <a:rPr lang="en-US" sz="1200" dirty="0" err="1"/>
              <a:t>empleados_activos</a:t>
            </a:r>
            <a:r>
              <a:rPr lang="en-US" sz="1200" dirty="0"/>
              <a:t> AS (</a:t>
            </a:r>
          </a:p>
          <a:p>
            <a:r>
              <a:rPr lang="en-US" sz="1200" dirty="0"/>
              <a:t>  SELECT * FROM </a:t>
            </a:r>
            <a:r>
              <a:rPr lang="en-US" sz="1200" dirty="0" err="1"/>
              <a:t>empleados</a:t>
            </a:r>
            <a:r>
              <a:rPr lang="en-US" sz="1200" dirty="0"/>
              <a:t> WHERE </a:t>
            </a:r>
            <a:r>
              <a:rPr lang="en-US" sz="1200" dirty="0" err="1"/>
              <a:t>activo</a:t>
            </a:r>
            <a:r>
              <a:rPr lang="en-US" sz="1200" dirty="0"/>
              <a:t> = ‘S'</a:t>
            </a:r>
          </a:p>
          <a:p>
            <a:r>
              <a:rPr lang="en-US" sz="1200" dirty="0"/>
              <a:t>)</a:t>
            </a:r>
          </a:p>
          <a:p>
            <a:r>
              <a:rPr lang="en-US" sz="1200" dirty="0"/>
              <a:t>SELECT </a:t>
            </a:r>
            <a:r>
              <a:rPr lang="en-US" sz="1200" dirty="0" err="1"/>
              <a:t>nombre</a:t>
            </a:r>
            <a:r>
              <a:rPr lang="en-US" sz="1200" dirty="0"/>
              <a:t>, </a:t>
            </a:r>
            <a:r>
              <a:rPr lang="en-US" sz="1200" dirty="0" err="1"/>
              <a:t>salario</a:t>
            </a:r>
            <a:endParaRPr lang="en-US" sz="1200" dirty="0"/>
          </a:p>
          <a:p>
            <a:r>
              <a:rPr lang="en-US" sz="1200" dirty="0"/>
              <a:t>FROM </a:t>
            </a:r>
            <a:r>
              <a:rPr lang="en-US" sz="1200" dirty="0" err="1"/>
              <a:t>empleados_activos</a:t>
            </a:r>
            <a:endParaRPr lang="en-US" sz="1200" dirty="0"/>
          </a:p>
          <a:p>
            <a:r>
              <a:rPr lang="en-US" sz="1200" dirty="0"/>
              <a:t>WHERE </a:t>
            </a:r>
            <a:r>
              <a:rPr lang="en-US" sz="1200" dirty="0" err="1"/>
              <a:t>salario</a:t>
            </a:r>
            <a:r>
              <a:rPr lang="en-US" sz="1200" dirty="0"/>
              <a:t> &gt; 4000;</a:t>
            </a:r>
          </a:p>
          <a:p>
            <a:endParaRPr lang="en-US" sz="1200" dirty="0"/>
          </a:p>
          <a:p>
            <a:r>
              <a:rPr lang="en-US" sz="1200" dirty="0"/>
              <a:t>WITH</a:t>
            </a:r>
          </a:p>
          <a:p>
            <a:r>
              <a:rPr lang="en-US" sz="1200" dirty="0"/>
              <a:t>  </a:t>
            </a:r>
            <a:r>
              <a:rPr lang="en-US" sz="1200" b="1" dirty="0" err="1"/>
              <a:t>depto_ventas</a:t>
            </a:r>
            <a:r>
              <a:rPr lang="en-US" sz="1200" b="1" dirty="0"/>
              <a:t> </a:t>
            </a:r>
            <a:r>
              <a:rPr lang="en-US" sz="1200" dirty="0"/>
              <a:t>AS (</a:t>
            </a:r>
          </a:p>
          <a:p>
            <a:r>
              <a:rPr lang="en-US" sz="1200" dirty="0"/>
              <a:t>    SELECT id FROM </a:t>
            </a:r>
            <a:r>
              <a:rPr lang="en-US" sz="1200" dirty="0" err="1"/>
              <a:t>departamentos</a:t>
            </a:r>
            <a:r>
              <a:rPr lang="en-US" sz="1200" dirty="0"/>
              <a:t> WHERE </a:t>
            </a:r>
            <a:r>
              <a:rPr lang="en-US" sz="1200" dirty="0" err="1"/>
              <a:t>nombre</a:t>
            </a:r>
            <a:r>
              <a:rPr lang="en-US" sz="1200" dirty="0"/>
              <a:t> = 'Ventas'</a:t>
            </a:r>
          </a:p>
          <a:p>
            <a:r>
              <a:rPr lang="en-US" sz="1200" dirty="0"/>
              <a:t>  ),</a:t>
            </a:r>
          </a:p>
          <a:p>
            <a:r>
              <a:rPr lang="en-US" sz="1200" dirty="0"/>
              <a:t>  </a:t>
            </a:r>
            <a:r>
              <a:rPr lang="en-US" sz="1200" dirty="0" err="1"/>
              <a:t>empleados_ventas</a:t>
            </a:r>
            <a:r>
              <a:rPr lang="en-US" sz="1200" dirty="0"/>
              <a:t> AS (</a:t>
            </a:r>
          </a:p>
          <a:p>
            <a:r>
              <a:rPr lang="en-US" sz="1200" dirty="0"/>
              <a:t>    SELECT * FROM </a:t>
            </a:r>
            <a:r>
              <a:rPr lang="en-US" sz="1200" dirty="0" err="1"/>
              <a:t>empleados</a:t>
            </a:r>
            <a:r>
              <a:rPr lang="en-US" sz="1200" dirty="0"/>
              <a:t> WHERE </a:t>
            </a:r>
            <a:r>
              <a:rPr lang="en-US" sz="1200" dirty="0" err="1"/>
              <a:t>departamento_id</a:t>
            </a:r>
            <a:r>
              <a:rPr lang="en-US" sz="1200" dirty="0"/>
              <a:t> IN (SELECT id FROM </a:t>
            </a:r>
            <a:r>
              <a:rPr lang="en-US" sz="1200" b="1" dirty="0" err="1"/>
              <a:t>depto_ventas</a:t>
            </a:r>
            <a:r>
              <a:rPr lang="en-US" sz="1200" dirty="0"/>
              <a:t>)</a:t>
            </a:r>
          </a:p>
          <a:p>
            <a:r>
              <a:rPr lang="en-US" sz="1200" dirty="0"/>
              <a:t>  )</a:t>
            </a:r>
          </a:p>
          <a:p>
            <a:r>
              <a:rPr lang="en-US" sz="1200" dirty="0"/>
              <a:t>SELECT </a:t>
            </a:r>
            <a:r>
              <a:rPr lang="en-US" sz="1200" dirty="0" err="1"/>
              <a:t>nombre</a:t>
            </a:r>
            <a:r>
              <a:rPr lang="en-US" sz="1200" dirty="0"/>
              <a:t>, </a:t>
            </a:r>
            <a:r>
              <a:rPr lang="en-US" sz="1200" dirty="0" err="1"/>
              <a:t>salario</a:t>
            </a:r>
            <a:endParaRPr lang="en-US" sz="1200" dirty="0"/>
          </a:p>
          <a:p>
            <a:r>
              <a:rPr lang="en-US" sz="1200" dirty="0"/>
              <a:t>FROM </a:t>
            </a:r>
            <a:r>
              <a:rPr lang="en-US" sz="1200" dirty="0" err="1"/>
              <a:t>empleados_ventas</a:t>
            </a:r>
            <a:endParaRPr lang="en-US" sz="1200" dirty="0"/>
          </a:p>
          <a:p>
            <a:r>
              <a:rPr lang="en-US" sz="1200" dirty="0"/>
              <a:t>WHERE </a:t>
            </a:r>
            <a:r>
              <a:rPr lang="en-US" sz="1200" dirty="0" err="1"/>
              <a:t>salario</a:t>
            </a:r>
            <a:r>
              <a:rPr lang="en-US" sz="1200" dirty="0"/>
              <a:t> &gt; 5000;</a:t>
            </a:r>
          </a:p>
        </p:txBody>
      </p:sp>
      <p:sp>
        <p:nvSpPr>
          <p:cNvPr id="9" name="4 Marcador de contenido">
            <a:extLst>
              <a:ext uri="{FF2B5EF4-FFF2-40B4-BE49-F238E27FC236}">
                <a16:creationId xmlns:a16="http://schemas.microsoft.com/office/drawing/2014/main" id="{55B772BF-62C9-C771-C43E-D47E7C5878B7}"/>
              </a:ext>
            </a:extLst>
          </p:cNvPr>
          <p:cNvSpPr txBox="1">
            <a:spLocks/>
          </p:cNvSpPr>
          <p:nvPr/>
        </p:nvSpPr>
        <p:spPr>
          <a:xfrm>
            <a:off x="4211960" y="1470409"/>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WITH</a:t>
            </a:r>
            <a:r>
              <a:rPr lang="es-ES" sz="1800" dirty="0"/>
              <a:t> permite </a:t>
            </a:r>
            <a:r>
              <a:rPr lang="es-ES" sz="1800" b="1" dirty="0"/>
              <a:t>estructurar consultas complejas</a:t>
            </a:r>
            <a:r>
              <a:rPr lang="es-ES" sz="1800" dirty="0"/>
              <a:t> y mejorar </a:t>
            </a:r>
            <a:r>
              <a:rPr lang="es-ES" sz="1800" b="1" dirty="0"/>
              <a:t>legibilidad y rendimiento</a:t>
            </a:r>
            <a:r>
              <a:rPr lang="es-ES" sz="1800" dirty="0"/>
              <a:t>.</a:t>
            </a:r>
          </a:p>
          <a:p>
            <a:pPr marL="342900" lvl="1" indent="-342900">
              <a:buFont typeface="Arial" panose="020B0604020202020204" pitchFamily="34" charset="0"/>
              <a:buChar char="•"/>
            </a:pPr>
            <a:r>
              <a:rPr lang="es-ES" sz="1800" dirty="0"/>
              <a:t>También facilita </a:t>
            </a:r>
            <a:r>
              <a:rPr lang="es-ES" sz="1800" b="1" dirty="0"/>
              <a:t>reutilizar resultados intermedios</a:t>
            </a:r>
            <a:r>
              <a:rPr lang="es-ES" sz="1800" dirty="0"/>
              <a:t>.</a:t>
            </a:r>
          </a:p>
          <a:p>
            <a:pPr marL="342900" lvl="1" indent="-342900">
              <a:buFont typeface="Arial" panose="020B0604020202020204" pitchFamily="34" charset="0"/>
              <a:buChar char="•"/>
            </a:pPr>
            <a:r>
              <a:rPr lang="es-ES" sz="1800" dirty="0"/>
              <a:t>Oracle crea un “bloque temporal” que puede optimizar o materializar internamente.</a:t>
            </a:r>
          </a:p>
          <a:p>
            <a:pPr marL="342900" lvl="1" indent="-342900">
              <a:buFont typeface="Arial" panose="020B0604020202020204" pitchFamily="34" charset="0"/>
              <a:buChar char="•"/>
            </a:pPr>
            <a:r>
              <a:rPr lang="es-ES" sz="1800" dirty="0"/>
              <a:t>Podemos encadenarlos.</a:t>
            </a:r>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Tree>
    <p:extLst>
      <p:ext uri="{BB962C8B-B14F-4D97-AF65-F5344CB8AC3E}">
        <p14:creationId xmlns:p14="http://schemas.microsoft.com/office/powerpoint/2010/main" val="1797613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347AE-2F46-870A-1BDA-DBCAC2CBDABB}"/>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F88707E2-E623-7CCD-13E2-ABF59C52604C}"/>
              </a:ext>
            </a:extLst>
          </p:cNvPr>
          <p:cNvSpPr/>
          <p:nvPr/>
        </p:nvSpPr>
        <p:spPr>
          <a:xfrm>
            <a:off x="227537" y="1326394"/>
            <a:ext cx="3743954" cy="35496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765DD291-A6EE-9513-5973-CD53C6280453}"/>
              </a:ext>
            </a:extLst>
          </p:cNvPr>
          <p:cNvSpPr>
            <a:spLocks noGrp="1"/>
          </p:cNvSpPr>
          <p:nvPr>
            <p:ph idx="1"/>
          </p:nvPr>
        </p:nvSpPr>
        <p:spPr>
          <a:xfrm>
            <a:off x="457200" y="915566"/>
            <a:ext cx="8579296" cy="446310"/>
          </a:xfrm>
        </p:spPr>
        <p:txBody>
          <a:bodyPr>
            <a:normAutofit fontScale="62500" lnSpcReduction="20000"/>
          </a:bodyPr>
          <a:lstStyle/>
          <a:p>
            <a:r>
              <a:rPr lang="en-US" sz="4400" dirty="0"/>
              <a:t>WITH (</a:t>
            </a:r>
            <a:r>
              <a:rPr lang="en-US" sz="4400" dirty="0" err="1"/>
              <a:t>Recursivo</a:t>
            </a:r>
            <a:r>
              <a:rPr lang="en-US" sz="4400" dirty="0"/>
              <a:t>)</a:t>
            </a:r>
            <a:endParaRPr lang="es-ES" dirty="0"/>
          </a:p>
        </p:txBody>
      </p:sp>
      <p:sp>
        <p:nvSpPr>
          <p:cNvPr id="4" name="3 Título">
            <a:extLst>
              <a:ext uri="{FF2B5EF4-FFF2-40B4-BE49-F238E27FC236}">
                <a16:creationId xmlns:a16="http://schemas.microsoft.com/office/drawing/2014/main" id="{E5F5FFC5-7E31-DD9A-0019-7E801F5C8485}"/>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F5B83455-2BFC-5DC7-D410-7879DA974950}"/>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9DA24220-38E2-BC7D-0D7D-0559DC48C913}"/>
              </a:ext>
            </a:extLst>
          </p:cNvPr>
          <p:cNvSpPr txBox="1"/>
          <p:nvPr/>
        </p:nvSpPr>
        <p:spPr>
          <a:xfrm>
            <a:off x="323528" y="1361876"/>
            <a:ext cx="3647963" cy="1938992"/>
          </a:xfrm>
          <a:prstGeom prst="rect">
            <a:avLst/>
          </a:prstGeom>
          <a:noFill/>
        </p:spPr>
        <p:txBody>
          <a:bodyPr wrap="square">
            <a:spAutoFit/>
          </a:bodyPr>
          <a:lstStyle/>
          <a:p>
            <a:r>
              <a:rPr lang="en-US" sz="1200" dirty="0"/>
              <a:t>WITH </a:t>
            </a:r>
            <a:r>
              <a:rPr lang="en-US" sz="1200" dirty="0" err="1"/>
              <a:t>rec_emps</a:t>
            </a:r>
            <a:r>
              <a:rPr lang="en-US" sz="1200" dirty="0"/>
              <a:t> (id, </a:t>
            </a:r>
            <a:r>
              <a:rPr lang="en-US" sz="1200" dirty="0" err="1"/>
              <a:t>nombre</a:t>
            </a:r>
            <a:r>
              <a:rPr lang="en-US" sz="1200" dirty="0"/>
              <a:t>, </a:t>
            </a:r>
            <a:r>
              <a:rPr lang="en-US" sz="1200" dirty="0" err="1"/>
              <a:t>jefe_id</a:t>
            </a:r>
            <a:r>
              <a:rPr lang="en-US" sz="1200" dirty="0"/>
              <a:t>, </a:t>
            </a:r>
            <a:r>
              <a:rPr lang="en-US" sz="1200" dirty="0" err="1"/>
              <a:t>nivel</a:t>
            </a:r>
            <a:r>
              <a:rPr lang="en-US" sz="1200" dirty="0"/>
              <a:t>) AS (</a:t>
            </a:r>
          </a:p>
          <a:p>
            <a:r>
              <a:rPr lang="en-US" sz="1200" dirty="0"/>
              <a:t>  SELECT id, </a:t>
            </a:r>
            <a:r>
              <a:rPr lang="en-US" sz="1200" dirty="0" err="1"/>
              <a:t>nombre</a:t>
            </a:r>
            <a:r>
              <a:rPr lang="en-US" sz="1200" dirty="0"/>
              <a:t>, </a:t>
            </a:r>
            <a:r>
              <a:rPr lang="en-US" sz="1200" dirty="0" err="1"/>
              <a:t>jefe_id</a:t>
            </a:r>
            <a:r>
              <a:rPr lang="en-US" sz="1200" dirty="0"/>
              <a:t>, 1</a:t>
            </a:r>
          </a:p>
          <a:p>
            <a:r>
              <a:rPr lang="en-US" sz="1200" dirty="0"/>
              <a:t>  FROM </a:t>
            </a:r>
            <a:r>
              <a:rPr lang="en-US" sz="1200" dirty="0" err="1"/>
              <a:t>empleados</a:t>
            </a:r>
            <a:endParaRPr lang="en-US" sz="1200" dirty="0"/>
          </a:p>
          <a:p>
            <a:r>
              <a:rPr lang="en-US" sz="1200" dirty="0"/>
              <a:t>  WHERE </a:t>
            </a:r>
            <a:r>
              <a:rPr lang="en-US" sz="1200" dirty="0" err="1"/>
              <a:t>jefe_id</a:t>
            </a:r>
            <a:r>
              <a:rPr lang="en-US" sz="1200" dirty="0"/>
              <a:t> IS NULL</a:t>
            </a:r>
          </a:p>
          <a:p>
            <a:r>
              <a:rPr lang="en-US" sz="1200" dirty="0"/>
              <a:t>  UNION ALL</a:t>
            </a:r>
          </a:p>
          <a:p>
            <a:r>
              <a:rPr lang="en-US" sz="1200" dirty="0"/>
              <a:t>  SELECT e.id, </a:t>
            </a:r>
            <a:r>
              <a:rPr lang="en-US" sz="1200" dirty="0" err="1"/>
              <a:t>e.nombre</a:t>
            </a:r>
            <a:r>
              <a:rPr lang="en-US" sz="1200" dirty="0"/>
              <a:t>, </a:t>
            </a:r>
            <a:r>
              <a:rPr lang="en-US" sz="1200" dirty="0" err="1"/>
              <a:t>e.jefe_id</a:t>
            </a:r>
            <a:r>
              <a:rPr lang="en-US" sz="1200" dirty="0"/>
              <a:t>, </a:t>
            </a:r>
            <a:r>
              <a:rPr lang="en-US" sz="1200" dirty="0" err="1"/>
              <a:t>r.nivel</a:t>
            </a:r>
            <a:r>
              <a:rPr lang="en-US" sz="1200" dirty="0"/>
              <a:t> + 1</a:t>
            </a:r>
          </a:p>
          <a:p>
            <a:r>
              <a:rPr lang="en-US" sz="1200" dirty="0"/>
              <a:t>  FROM </a:t>
            </a:r>
            <a:r>
              <a:rPr lang="en-US" sz="1200" dirty="0" err="1"/>
              <a:t>empleados</a:t>
            </a:r>
            <a:r>
              <a:rPr lang="en-US" sz="1200" dirty="0"/>
              <a:t> e</a:t>
            </a:r>
          </a:p>
          <a:p>
            <a:r>
              <a:rPr lang="en-US" sz="1200" dirty="0"/>
              <a:t>  JOIN </a:t>
            </a:r>
            <a:r>
              <a:rPr lang="en-US" sz="1200" dirty="0" err="1"/>
              <a:t>rec_emps</a:t>
            </a:r>
            <a:r>
              <a:rPr lang="en-US" sz="1200" dirty="0"/>
              <a:t> r ON </a:t>
            </a:r>
            <a:r>
              <a:rPr lang="en-US" sz="1200" dirty="0" err="1"/>
              <a:t>e.jefe_id</a:t>
            </a:r>
            <a:r>
              <a:rPr lang="en-US" sz="1200" dirty="0"/>
              <a:t> = r.id</a:t>
            </a:r>
          </a:p>
          <a:p>
            <a:r>
              <a:rPr lang="en-US" sz="1200" dirty="0"/>
              <a:t>)</a:t>
            </a:r>
          </a:p>
          <a:p>
            <a:r>
              <a:rPr lang="en-US" sz="1200" dirty="0"/>
              <a:t>SELECT * FROM </a:t>
            </a:r>
            <a:r>
              <a:rPr lang="en-US" sz="1200" dirty="0" err="1"/>
              <a:t>rec_emps</a:t>
            </a:r>
            <a:r>
              <a:rPr lang="en-US" sz="1200" dirty="0"/>
              <a:t> ORDER BY </a:t>
            </a:r>
            <a:r>
              <a:rPr lang="en-US" sz="1200" dirty="0" err="1"/>
              <a:t>nivel</a:t>
            </a:r>
            <a:r>
              <a:rPr lang="en-US" sz="1200" dirty="0"/>
              <a:t>;</a:t>
            </a:r>
          </a:p>
        </p:txBody>
      </p:sp>
      <p:sp>
        <p:nvSpPr>
          <p:cNvPr id="9" name="4 Marcador de contenido">
            <a:extLst>
              <a:ext uri="{FF2B5EF4-FFF2-40B4-BE49-F238E27FC236}">
                <a16:creationId xmlns:a16="http://schemas.microsoft.com/office/drawing/2014/main" id="{CBB1BBAC-FFA6-DAB9-8399-93FB144E1BC1}"/>
              </a:ext>
            </a:extLst>
          </p:cNvPr>
          <p:cNvSpPr txBox="1">
            <a:spLocks/>
          </p:cNvSpPr>
          <p:nvPr/>
        </p:nvSpPr>
        <p:spPr>
          <a:xfrm>
            <a:off x="4211960" y="1470409"/>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WITH</a:t>
            </a:r>
            <a:r>
              <a:rPr lang="es-ES" sz="1800" dirty="0"/>
              <a:t> permite </a:t>
            </a:r>
            <a:r>
              <a:rPr lang="es-ES" sz="1800" b="1" dirty="0"/>
              <a:t>estructurar consultas complejas</a:t>
            </a:r>
            <a:r>
              <a:rPr lang="es-ES" sz="1800" dirty="0"/>
              <a:t> y mejorar </a:t>
            </a:r>
            <a:r>
              <a:rPr lang="es-ES" sz="1800" b="1" dirty="0"/>
              <a:t>legibilidad y rendimiento</a:t>
            </a:r>
            <a:r>
              <a:rPr lang="es-ES" sz="1800" dirty="0"/>
              <a:t>.</a:t>
            </a:r>
          </a:p>
          <a:p>
            <a:pPr marL="342900" lvl="1" indent="-342900">
              <a:buFont typeface="Arial" panose="020B0604020202020204" pitchFamily="34" charset="0"/>
              <a:buChar char="•"/>
            </a:pPr>
            <a:r>
              <a:rPr lang="es-ES" sz="1800" dirty="0"/>
              <a:t>También facilita </a:t>
            </a:r>
            <a:r>
              <a:rPr lang="es-ES" sz="1800" b="1" dirty="0"/>
              <a:t>reutilizar resultados intermedios</a:t>
            </a:r>
            <a:r>
              <a:rPr lang="es-ES" sz="1800" dirty="0"/>
              <a:t>.</a:t>
            </a:r>
          </a:p>
          <a:p>
            <a:pPr marL="342900" lvl="1" indent="-342900">
              <a:buFont typeface="Arial" panose="020B0604020202020204" pitchFamily="34" charset="0"/>
              <a:buChar char="•"/>
            </a:pPr>
            <a:r>
              <a:rPr lang="es-ES" sz="1800" dirty="0"/>
              <a:t>Oracle crea un “bloque temporal” que puede optimizar o materializar internamente.</a:t>
            </a:r>
          </a:p>
          <a:p>
            <a:pPr marL="342900" lvl="1" indent="-342900">
              <a:buFont typeface="Arial" panose="020B0604020202020204" pitchFamily="34" charset="0"/>
              <a:buChar char="•"/>
            </a:pPr>
            <a:r>
              <a:rPr lang="es-ES" sz="1800" dirty="0"/>
              <a:t>Podemos encadenarlos.</a:t>
            </a:r>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Tree>
    <p:extLst>
      <p:ext uri="{BB962C8B-B14F-4D97-AF65-F5344CB8AC3E}">
        <p14:creationId xmlns:p14="http://schemas.microsoft.com/office/powerpoint/2010/main" val="622549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639CD-004E-1A89-3CAE-34BE22D601F2}"/>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4A389567-273E-BCA2-9BD3-39584AD8BCCE}"/>
              </a:ext>
            </a:extLst>
          </p:cNvPr>
          <p:cNvSpPr/>
          <p:nvPr/>
        </p:nvSpPr>
        <p:spPr>
          <a:xfrm>
            <a:off x="227537" y="1326394"/>
            <a:ext cx="3743954" cy="35496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24006C96-E8CD-D24F-0285-9B06114C633D}"/>
              </a:ext>
            </a:extLst>
          </p:cNvPr>
          <p:cNvSpPr>
            <a:spLocks noGrp="1"/>
          </p:cNvSpPr>
          <p:nvPr>
            <p:ph idx="1"/>
          </p:nvPr>
        </p:nvSpPr>
        <p:spPr>
          <a:xfrm>
            <a:off x="457200" y="915566"/>
            <a:ext cx="8579296" cy="446310"/>
          </a:xfrm>
        </p:spPr>
        <p:txBody>
          <a:bodyPr>
            <a:normAutofit fontScale="62500" lnSpcReduction="20000"/>
          </a:bodyPr>
          <a:lstStyle/>
          <a:p>
            <a:r>
              <a:rPr lang="en-US" sz="4400" dirty="0"/>
              <a:t>WITH (</a:t>
            </a:r>
            <a:r>
              <a:rPr lang="en-US" sz="4400" dirty="0" err="1"/>
              <a:t>Recursivo</a:t>
            </a:r>
            <a:r>
              <a:rPr lang="en-US" sz="4400" dirty="0"/>
              <a:t>)</a:t>
            </a:r>
            <a:endParaRPr lang="es-ES" dirty="0"/>
          </a:p>
        </p:txBody>
      </p:sp>
      <p:sp>
        <p:nvSpPr>
          <p:cNvPr id="4" name="3 Título">
            <a:extLst>
              <a:ext uri="{FF2B5EF4-FFF2-40B4-BE49-F238E27FC236}">
                <a16:creationId xmlns:a16="http://schemas.microsoft.com/office/drawing/2014/main" id="{C01C57BE-BE14-E8CA-5BA2-B38406AD13B5}"/>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BD20E54-E423-626C-22D6-539C76277786}"/>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C52E8ED5-7A3E-F64F-CCD0-7CBB02E33112}"/>
              </a:ext>
            </a:extLst>
          </p:cNvPr>
          <p:cNvSpPr txBox="1"/>
          <p:nvPr/>
        </p:nvSpPr>
        <p:spPr>
          <a:xfrm>
            <a:off x="323528" y="1361876"/>
            <a:ext cx="3647963" cy="1938992"/>
          </a:xfrm>
          <a:prstGeom prst="rect">
            <a:avLst/>
          </a:prstGeom>
          <a:noFill/>
        </p:spPr>
        <p:txBody>
          <a:bodyPr wrap="square">
            <a:spAutoFit/>
          </a:bodyPr>
          <a:lstStyle/>
          <a:p>
            <a:r>
              <a:rPr lang="en-US" sz="1200" dirty="0"/>
              <a:t>WITH </a:t>
            </a:r>
            <a:r>
              <a:rPr lang="en-US" sz="1200" dirty="0" err="1"/>
              <a:t>rec_emps</a:t>
            </a:r>
            <a:r>
              <a:rPr lang="en-US" sz="1200" dirty="0"/>
              <a:t> (id, </a:t>
            </a:r>
            <a:r>
              <a:rPr lang="en-US" sz="1200" dirty="0" err="1"/>
              <a:t>nombre</a:t>
            </a:r>
            <a:r>
              <a:rPr lang="en-US" sz="1200" dirty="0"/>
              <a:t>, </a:t>
            </a:r>
            <a:r>
              <a:rPr lang="en-US" sz="1200" dirty="0" err="1"/>
              <a:t>jefe_id</a:t>
            </a:r>
            <a:r>
              <a:rPr lang="en-US" sz="1200" dirty="0"/>
              <a:t>, </a:t>
            </a:r>
            <a:r>
              <a:rPr lang="en-US" sz="1200" dirty="0" err="1"/>
              <a:t>nivel</a:t>
            </a:r>
            <a:r>
              <a:rPr lang="en-US" sz="1200" dirty="0"/>
              <a:t>) AS (</a:t>
            </a:r>
          </a:p>
          <a:p>
            <a:r>
              <a:rPr lang="en-US" sz="1200" dirty="0"/>
              <a:t>  SELECT id, </a:t>
            </a:r>
            <a:r>
              <a:rPr lang="en-US" sz="1200" dirty="0" err="1"/>
              <a:t>nombre</a:t>
            </a:r>
            <a:r>
              <a:rPr lang="en-US" sz="1200" dirty="0"/>
              <a:t>, </a:t>
            </a:r>
            <a:r>
              <a:rPr lang="en-US" sz="1200" dirty="0" err="1"/>
              <a:t>jefe_id</a:t>
            </a:r>
            <a:r>
              <a:rPr lang="en-US" sz="1200" dirty="0"/>
              <a:t>, 1</a:t>
            </a:r>
          </a:p>
          <a:p>
            <a:r>
              <a:rPr lang="en-US" sz="1200" dirty="0"/>
              <a:t>  FROM </a:t>
            </a:r>
            <a:r>
              <a:rPr lang="en-US" sz="1200" dirty="0" err="1"/>
              <a:t>empleados</a:t>
            </a:r>
            <a:endParaRPr lang="en-US" sz="1200" dirty="0"/>
          </a:p>
          <a:p>
            <a:r>
              <a:rPr lang="en-US" sz="1200" dirty="0"/>
              <a:t>  WHERE </a:t>
            </a:r>
            <a:r>
              <a:rPr lang="en-US" sz="1200" dirty="0" err="1"/>
              <a:t>jefe_id</a:t>
            </a:r>
            <a:r>
              <a:rPr lang="en-US" sz="1200" dirty="0"/>
              <a:t> IS NULL</a:t>
            </a:r>
          </a:p>
          <a:p>
            <a:r>
              <a:rPr lang="en-US" sz="1200" dirty="0"/>
              <a:t>  UNION ALL</a:t>
            </a:r>
          </a:p>
          <a:p>
            <a:r>
              <a:rPr lang="en-US" sz="1200" dirty="0"/>
              <a:t>  SELECT e.id, </a:t>
            </a:r>
            <a:r>
              <a:rPr lang="en-US" sz="1200" dirty="0" err="1"/>
              <a:t>e.nombre</a:t>
            </a:r>
            <a:r>
              <a:rPr lang="en-US" sz="1200" dirty="0"/>
              <a:t>, </a:t>
            </a:r>
            <a:r>
              <a:rPr lang="en-US" sz="1200" dirty="0" err="1"/>
              <a:t>e.jefe_id</a:t>
            </a:r>
            <a:r>
              <a:rPr lang="en-US" sz="1200" dirty="0"/>
              <a:t>, </a:t>
            </a:r>
            <a:r>
              <a:rPr lang="en-US" sz="1200" dirty="0" err="1"/>
              <a:t>r.nivel</a:t>
            </a:r>
            <a:r>
              <a:rPr lang="en-US" sz="1200" dirty="0"/>
              <a:t> + 1</a:t>
            </a:r>
          </a:p>
          <a:p>
            <a:r>
              <a:rPr lang="en-US" sz="1200" dirty="0"/>
              <a:t>  FROM </a:t>
            </a:r>
            <a:r>
              <a:rPr lang="en-US" sz="1200" dirty="0" err="1"/>
              <a:t>empleados</a:t>
            </a:r>
            <a:r>
              <a:rPr lang="en-US" sz="1200" dirty="0"/>
              <a:t> e</a:t>
            </a:r>
          </a:p>
          <a:p>
            <a:r>
              <a:rPr lang="en-US" sz="1200" dirty="0"/>
              <a:t>  JOIN </a:t>
            </a:r>
            <a:r>
              <a:rPr lang="en-US" sz="1200" dirty="0" err="1"/>
              <a:t>rec_emps</a:t>
            </a:r>
            <a:r>
              <a:rPr lang="en-US" sz="1200" dirty="0"/>
              <a:t> r ON </a:t>
            </a:r>
            <a:r>
              <a:rPr lang="en-US" sz="1200" dirty="0" err="1"/>
              <a:t>e.jefe_id</a:t>
            </a:r>
            <a:r>
              <a:rPr lang="en-US" sz="1200" dirty="0"/>
              <a:t> = r.id</a:t>
            </a:r>
          </a:p>
          <a:p>
            <a:r>
              <a:rPr lang="en-US" sz="1200" dirty="0"/>
              <a:t>)</a:t>
            </a:r>
          </a:p>
          <a:p>
            <a:r>
              <a:rPr lang="en-US" sz="1200" dirty="0"/>
              <a:t>SELECT * FROM </a:t>
            </a:r>
            <a:r>
              <a:rPr lang="en-US" sz="1200" dirty="0" err="1"/>
              <a:t>rec_emps</a:t>
            </a:r>
            <a:r>
              <a:rPr lang="en-US" sz="1200" dirty="0"/>
              <a:t> ORDER BY </a:t>
            </a:r>
            <a:r>
              <a:rPr lang="en-US" sz="1200" dirty="0" err="1"/>
              <a:t>nivel</a:t>
            </a:r>
            <a:r>
              <a:rPr lang="en-US" sz="1200" dirty="0"/>
              <a:t>;</a:t>
            </a:r>
          </a:p>
        </p:txBody>
      </p:sp>
      <p:sp>
        <p:nvSpPr>
          <p:cNvPr id="9" name="4 Marcador de contenido">
            <a:extLst>
              <a:ext uri="{FF2B5EF4-FFF2-40B4-BE49-F238E27FC236}">
                <a16:creationId xmlns:a16="http://schemas.microsoft.com/office/drawing/2014/main" id="{9DBA0697-6589-19CC-1851-FA47BD96BCC0}"/>
              </a:ext>
            </a:extLst>
          </p:cNvPr>
          <p:cNvSpPr txBox="1">
            <a:spLocks/>
          </p:cNvSpPr>
          <p:nvPr/>
        </p:nvSpPr>
        <p:spPr>
          <a:xfrm>
            <a:off x="4211960" y="1470409"/>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WITH</a:t>
            </a:r>
            <a:r>
              <a:rPr lang="es-ES" sz="1800" dirty="0"/>
              <a:t> permite </a:t>
            </a:r>
            <a:r>
              <a:rPr lang="es-ES" sz="1800" b="1" dirty="0"/>
              <a:t>estructurar consultas complejas</a:t>
            </a:r>
            <a:r>
              <a:rPr lang="es-ES" sz="1800" dirty="0"/>
              <a:t> y mejorar </a:t>
            </a:r>
            <a:r>
              <a:rPr lang="es-ES" sz="1800" b="1" dirty="0"/>
              <a:t>legibilidad y rendimiento</a:t>
            </a:r>
            <a:r>
              <a:rPr lang="es-ES" sz="1800" dirty="0"/>
              <a:t>.</a:t>
            </a:r>
          </a:p>
          <a:p>
            <a:pPr marL="342900" lvl="1" indent="-342900">
              <a:buFont typeface="Arial" panose="020B0604020202020204" pitchFamily="34" charset="0"/>
              <a:buChar char="•"/>
            </a:pPr>
            <a:r>
              <a:rPr lang="es-ES" sz="1800" dirty="0"/>
              <a:t>También facilita </a:t>
            </a:r>
            <a:r>
              <a:rPr lang="es-ES" sz="1800" b="1" dirty="0"/>
              <a:t>reutilizar resultados intermedios</a:t>
            </a:r>
            <a:r>
              <a:rPr lang="es-ES" sz="1800" dirty="0"/>
              <a:t>.</a:t>
            </a:r>
          </a:p>
          <a:p>
            <a:pPr marL="342900" lvl="1" indent="-342900">
              <a:buFont typeface="Arial" panose="020B0604020202020204" pitchFamily="34" charset="0"/>
              <a:buChar char="•"/>
            </a:pPr>
            <a:r>
              <a:rPr lang="es-ES" sz="1800" dirty="0"/>
              <a:t>Oracle crea un “bloque temporal” que puede optimizar o materializar internamente.</a:t>
            </a:r>
          </a:p>
          <a:p>
            <a:pPr marL="342900" lvl="1" indent="-342900">
              <a:buFont typeface="Arial" panose="020B0604020202020204" pitchFamily="34" charset="0"/>
              <a:buChar char="•"/>
            </a:pPr>
            <a:r>
              <a:rPr lang="es-ES" sz="1800" dirty="0"/>
              <a:t>Podemos encadenarlos.</a:t>
            </a:r>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Tree>
    <p:extLst>
      <p:ext uri="{BB962C8B-B14F-4D97-AF65-F5344CB8AC3E}">
        <p14:creationId xmlns:p14="http://schemas.microsoft.com/office/powerpoint/2010/main" val="2253071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A9774-9EE4-F03D-7176-4BDBF32BD797}"/>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7CA412A1-80E2-AEB0-EAE3-41AB37BFC15B}"/>
              </a:ext>
            </a:extLst>
          </p:cNvPr>
          <p:cNvSpPr/>
          <p:nvPr/>
        </p:nvSpPr>
        <p:spPr>
          <a:xfrm>
            <a:off x="227537" y="1326394"/>
            <a:ext cx="3743954" cy="35496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CFB7E2C4-1AFB-F59C-E3B8-77B1FAA3CFEF}"/>
              </a:ext>
            </a:extLst>
          </p:cNvPr>
          <p:cNvSpPr>
            <a:spLocks noGrp="1"/>
          </p:cNvSpPr>
          <p:nvPr>
            <p:ph idx="1"/>
          </p:nvPr>
        </p:nvSpPr>
        <p:spPr>
          <a:xfrm>
            <a:off x="457200" y="915566"/>
            <a:ext cx="8579296" cy="446310"/>
          </a:xfrm>
        </p:spPr>
        <p:txBody>
          <a:bodyPr>
            <a:normAutofit fontScale="62500" lnSpcReduction="20000"/>
          </a:bodyPr>
          <a:lstStyle/>
          <a:p>
            <a:r>
              <a:rPr lang="en-US" sz="4400" dirty="0"/>
              <a:t>WITH (</a:t>
            </a:r>
            <a:r>
              <a:rPr lang="en-US" sz="4400" dirty="0" err="1"/>
              <a:t>Recursivo</a:t>
            </a:r>
            <a:r>
              <a:rPr lang="en-US" sz="4400" dirty="0"/>
              <a:t>)</a:t>
            </a:r>
            <a:endParaRPr lang="es-ES" dirty="0"/>
          </a:p>
        </p:txBody>
      </p:sp>
      <p:sp>
        <p:nvSpPr>
          <p:cNvPr id="4" name="3 Título">
            <a:extLst>
              <a:ext uri="{FF2B5EF4-FFF2-40B4-BE49-F238E27FC236}">
                <a16:creationId xmlns:a16="http://schemas.microsoft.com/office/drawing/2014/main" id="{0C0ED180-3563-B117-A78A-FF9337713D80}"/>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0AE892E7-4CC4-0BCD-D579-AEAB57DA835C}"/>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50236CDF-49C5-8CF2-01D7-8255B25A64CB}"/>
              </a:ext>
            </a:extLst>
          </p:cNvPr>
          <p:cNvSpPr txBox="1"/>
          <p:nvPr/>
        </p:nvSpPr>
        <p:spPr>
          <a:xfrm>
            <a:off x="323528" y="1347028"/>
            <a:ext cx="3647963" cy="3600986"/>
          </a:xfrm>
          <a:prstGeom prst="rect">
            <a:avLst/>
          </a:prstGeom>
          <a:noFill/>
        </p:spPr>
        <p:txBody>
          <a:bodyPr wrap="square">
            <a:spAutoFit/>
          </a:bodyPr>
          <a:lstStyle/>
          <a:p>
            <a:r>
              <a:rPr lang="en-US" sz="1200" dirty="0"/>
              <a:t>WITH </a:t>
            </a:r>
            <a:r>
              <a:rPr lang="en-US" sz="1200" dirty="0" err="1"/>
              <a:t>rec_emps</a:t>
            </a:r>
            <a:r>
              <a:rPr lang="en-US" sz="1200" dirty="0"/>
              <a:t> (id, </a:t>
            </a:r>
            <a:r>
              <a:rPr lang="en-US" sz="1200" dirty="0" err="1"/>
              <a:t>nombre</a:t>
            </a:r>
            <a:r>
              <a:rPr lang="en-US" sz="1200" dirty="0"/>
              <a:t>, </a:t>
            </a:r>
            <a:r>
              <a:rPr lang="en-US" sz="1200" dirty="0" err="1"/>
              <a:t>jefe_id</a:t>
            </a:r>
            <a:r>
              <a:rPr lang="en-US" sz="1200" dirty="0"/>
              <a:t>, </a:t>
            </a:r>
            <a:r>
              <a:rPr lang="en-US" sz="1200" dirty="0" err="1"/>
              <a:t>nivel</a:t>
            </a:r>
            <a:r>
              <a:rPr lang="en-US" sz="1200" dirty="0"/>
              <a:t>, </a:t>
            </a:r>
            <a:r>
              <a:rPr lang="en-US" sz="1200" dirty="0" err="1"/>
              <a:t>ruta</a:t>
            </a:r>
            <a:r>
              <a:rPr lang="en-US" sz="1200" dirty="0"/>
              <a:t>) AS (</a:t>
            </a:r>
          </a:p>
          <a:p>
            <a:r>
              <a:rPr lang="en-US" sz="1200" dirty="0"/>
              <a:t>  SELECT id, </a:t>
            </a:r>
            <a:r>
              <a:rPr lang="en-US" sz="1200" dirty="0" err="1"/>
              <a:t>nombre</a:t>
            </a:r>
            <a:r>
              <a:rPr lang="en-US" sz="1200" dirty="0"/>
              <a:t>, </a:t>
            </a:r>
            <a:r>
              <a:rPr lang="en-US" sz="1200" dirty="0" err="1"/>
              <a:t>jefe_id</a:t>
            </a:r>
            <a:r>
              <a:rPr lang="en-US" sz="1200" dirty="0"/>
              <a:t>, 1, </a:t>
            </a:r>
            <a:r>
              <a:rPr lang="en-US" sz="1200" dirty="0" err="1"/>
              <a:t>nombre</a:t>
            </a:r>
            <a:endParaRPr lang="en-US" sz="1200" dirty="0"/>
          </a:p>
          <a:p>
            <a:r>
              <a:rPr lang="en-US" sz="1200" dirty="0"/>
              <a:t>  FROM </a:t>
            </a:r>
            <a:r>
              <a:rPr lang="en-US" sz="1200" dirty="0" err="1"/>
              <a:t>empleados</a:t>
            </a:r>
            <a:endParaRPr lang="en-US" sz="1200" dirty="0"/>
          </a:p>
          <a:p>
            <a:r>
              <a:rPr lang="en-US" sz="1200" dirty="0"/>
              <a:t>  WHERE </a:t>
            </a:r>
            <a:r>
              <a:rPr lang="en-US" sz="1200" dirty="0" err="1"/>
              <a:t>jefe_id</a:t>
            </a:r>
            <a:r>
              <a:rPr lang="en-US" sz="1200" dirty="0"/>
              <a:t> IS NULL</a:t>
            </a:r>
          </a:p>
          <a:p>
            <a:r>
              <a:rPr lang="en-US" sz="1200" dirty="0"/>
              <a:t>  UNION ALL</a:t>
            </a:r>
          </a:p>
          <a:p>
            <a:r>
              <a:rPr lang="en-US" sz="1200" dirty="0"/>
              <a:t>  SELECT e.id, </a:t>
            </a:r>
            <a:r>
              <a:rPr lang="en-US" sz="1200" dirty="0" err="1"/>
              <a:t>e.nombre</a:t>
            </a:r>
            <a:r>
              <a:rPr lang="en-US" sz="1200" dirty="0"/>
              <a:t>, </a:t>
            </a:r>
            <a:r>
              <a:rPr lang="en-US" sz="1200" dirty="0" err="1"/>
              <a:t>e.jefe_id</a:t>
            </a:r>
            <a:r>
              <a:rPr lang="en-US" sz="1200" dirty="0"/>
              <a:t>, </a:t>
            </a:r>
            <a:r>
              <a:rPr lang="en-US" sz="1200" dirty="0" err="1"/>
              <a:t>r.nivel</a:t>
            </a:r>
            <a:r>
              <a:rPr lang="en-US" sz="1200" dirty="0"/>
              <a:t> + 1, </a:t>
            </a:r>
            <a:r>
              <a:rPr lang="en-US" sz="1200" dirty="0" err="1"/>
              <a:t>r.ruta</a:t>
            </a:r>
            <a:r>
              <a:rPr lang="en-US" sz="1200" dirty="0"/>
              <a:t> || ' -&gt; ' || </a:t>
            </a:r>
            <a:r>
              <a:rPr lang="en-US" sz="1200" dirty="0" err="1"/>
              <a:t>e.nombre</a:t>
            </a:r>
            <a:endParaRPr lang="en-US" sz="1200" dirty="0"/>
          </a:p>
          <a:p>
            <a:r>
              <a:rPr lang="en-US" sz="1200" dirty="0"/>
              <a:t>  FROM </a:t>
            </a:r>
            <a:r>
              <a:rPr lang="en-US" sz="1200" dirty="0" err="1"/>
              <a:t>empleados</a:t>
            </a:r>
            <a:r>
              <a:rPr lang="en-US" sz="1200" dirty="0"/>
              <a:t> e</a:t>
            </a:r>
          </a:p>
          <a:p>
            <a:r>
              <a:rPr lang="en-US" sz="1200" dirty="0"/>
              <a:t>  JOIN </a:t>
            </a:r>
            <a:r>
              <a:rPr lang="en-US" sz="1200" dirty="0" err="1"/>
              <a:t>rec_emps</a:t>
            </a:r>
            <a:r>
              <a:rPr lang="en-US" sz="1200" dirty="0"/>
              <a:t> r ON </a:t>
            </a:r>
            <a:r>
              <a:rPr lang="en-US" sz="1200" dirty="0" err="1"/>
              <a:t>e.jefe_id</a:t>
            </a:r>
            <a:r>
              <a:rPr lang="en-US" sz="1200" dirty="0"/>
              <a:t> = r.id</a:t>
            </a:r>
          </a:p>
          <a:p>
            <a:r>
              <a:rPr lang="en-US" sz="1200" dirty="0"/>
              <a:t>)</a:t>
            </a:r>
          </a:p>
          <a:p>
            <a:r>
              <a:rPr lang="en-US" sz="1200" dirty="0"/>
              <a:t>SELECT </a:t>
            </a:r>
          </a:p>
          <a:p>
            <a:r>
              <a:rPr lang="en-US" sz="1200" dirty="0"/>
              <a:t>    id,</a:t>
            </a:r>
          </a:p>
          <a:p>
            <a:r>
              <a:rPr lang="en-US" sz="1200" dirty="0"/>
              <a:t>    LPAD(' ', (nivel-1)*3) || </a:t>
            </a:r>
            <a:r>
              <a:rPr lang="en-US" sz="1200" dirty="0" err="1"/>
              <a:t>nombre</a:t>
            </a:r>
            <a:r>
              <a:rPr lang="en-US" sz="1200" dirty="0"/>
              <a:t> AS </a:t>
            </a:r>
            <a:r>
              <a:rPr lang="en-US" sz="1200" dirty="0" err="1"/>
              <a:t>nombre_indentado</a:t>
            </a:r>
            <a:r>
              <a:rPr lang="en-US" sz="1200" dirty="0"/>
              <a:t>,</a:t>
            </a:r>
          </a:p>
          <a:p>
            <a:r>
              <a:rPr lang="en-US" sz="1200" dirty="0"/>
              <a:t>    </a:t>
            </a:r>
            <a:r>
              <a:rPr lang="en-US" sz="1200" dirty="0" err="1"/>
              <a:t>jefe_id</a:t>
            </a:r>
            <a:r>
              <a:rPr lang="en-US" sz="1200" dirty="0"/>
              <a:t>,</a:t>
            </a:r>
          </a:p>
          <a:p>
            <a:r>
              <a:rPr lang="en-US" sz="1200" dirty="0"/>
              <a:t>    </a:t>
            </a:r>
            <a:r>
              <a:rPr lang="en-US" sz="1200" dirty="0" err="1"/>
              <a:t>nivel</a:t>
            </a:r>
            <a:r>
              <a:rPr lang="en-US" sz="1200" dirty="0"/>
              <a:t>,</a:t>
            </a:r>
          </a:p>
          <a:p>
            <a:r>
              <a:rPr lang="en-US" sz="1200" dirty="0"/>
              <a:t>    </a:t>
            </a:r>
            <a:r>
              <a:rPr lang="en-US" sz="1200" dirty="0" err="1"/>
              <a:t>ruta</a:t>
            </a:r>
            <a:endParaRPr lang="en-US" sz="1200" dirty="0"/>
          </a:p>
          <a:p>
            <a:r>
              <a:rPr lang="en-US" sz="1200" dirty="0"/>
              <a:t>FROM </a:t>
            </a:r>
            <a:r>
              <a:rPr lang="en-US" sz="1200" dirty="0" err="1"/>
              <a:t>rec_emps</a:t>
            </a:r>
            <a:r>
              <a:rPr lang="en-US" sz="1200" dirty="0"/>
              <a:t> </a:t>
            </a:r>
          </a:p>
          <a:p>
            <a:r>
              <a:rPr lang="en-US" sz="1200" dirty="0"/>
              <a:t>ORDER BY </a:t>
            </a:r>
            <a:r>
              <a:rPr lang="en-US" sz="1200" dirty="0" err="1"/>
              <a:t>nivel</a:t>
            </a:r>
            <a:r>
              <a:rPr lang="en-US" sz="1200" dirty="0"/>
              <a:t>, id;;</a:t>
            </a:r>
          </a:p>
        </p:txBody>
      </p:sp>
      <p:sp>
        <p:nvSpPr>
          <p:cNvPr id="9" name="4 Marcador de contenido">
            <a:extLst>
              <a:ext uri="{FF2B5EF4-FFF2-40B4-BE49-F238E27FC236}">
                <a16:creationId xmlns:a16="http://schemas.microsoft.com/office/drawing/2014/main" id="{C5466A25-CBD3-68F8-1402-87F4A94A1F0E}"/>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pic>
        <p:nvPicPr>
          <p:cNvPr id="3" name="Imagen 2">
            <a:extLst>
              <a:ext uri="{FF2B5EF4-FFF2-40B4-BE49-F238E27FC236}">
                <a16:creationId xmlns:a16="http://schemas.microsoft.com/office/drawing/2014/main" id="{55F92209-AB20-74A8-76E6-290370D59418}"/>
              </a:ext>
            </a:extLst>
          </p:cNvPr>
          <p:cNvPicPr>
            <a:picLocks noChangeAspect="1"/>
          </p:cNvPicPr>
          <p:nvPr/>
        </p:nvPicPr>
        <p:blipFill>
          <a:blip r:embed="rId2"/>
          <a:stretch>
            <a:fillRect/>
          </a:stretch>
        </p:blipFill>
        <p:spPr>
          <a:xfrm>
            <a:off x="4139952" y="1347614"/>
            <a:ext cx="4752528" cy="1556963"/>
          </a:xfrm>
          <a:prstGeom prst="rect">
            <a:avLst/>
          </a:prstGeom>
        </p:spPr>
      </p:pic>
      <p:sp>
        <p:nvSpPr>
          <p:cNvPr id="14" name="4 Marcador de contenido">
            <a:extLst>
              <a:ext uri="{FF2B5EF4-FFF2-40B4-BE49-F238E27FC236}">
                <a16:creationId xmlns:a16="http://schemas.microsoft.com/office/drawing/2014/main" id="{2044D424-E084-3FB2-2D20-2E23F663D150}"/>
              </a:ext>
            </a:extLst>
          </p:cNvPr>
          <p:cNvSpPr txBox="1">
            <a:spLocks/>
          </p:cNvSpPr>
          <p:nvPr/>
        </p:nvSpPr>
        <p:spPr>
          <a:xfrm>
            <a:off x="4139952" y="3003548"/>
            <a:ext cx="4824536" cy="1944216"/>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¿Por qué son Importantes?</a:t>
            </a:r>
          </a:p>
          <a:p>
            <a:pPr marL="877888" lvl="2" indent="-342900"/>
            <a:r>
              <a:rPr lang="es-ES" dirty="0"/>
              <a:t>Organigramas empresariales</a:t>
            </a:r>
          </a:p>
          <a:p>
            <a:pPr marL="877888" lvl="2" indent="-342900"/>
            <a:r>
              <a:rPr lang="es-ES" dirty="0"/>
              <a:t>Estructuras de categorías (e-</a:t>
            </a:r>
            <a:r>
              <a:rPr lang="es-ES" dirty="0" err="1"/>
              <a:t>commerce</a:t>
            </a:r>
            <a:r>
              <a:rPr lang="es-ES" dirty="0"/>
              <a:t>)</a:t>
            </a:r>
          </a:p>
          <a:p>
            <a:pPr marL="877888" lvl="2" indent="-342900"/>
            <a:r>
              <a:rPr lang="es-ES" dirty="0"/>
              <a:t>Menús navegacionales jerárquicos</a:t>
            </a:r>
          </a:p>
          <a:p>
            <a:pPr marL="877888" lvl="2" indent="-342900"/>
            <a:r>
              <a:rPr lang="es-ES" dirty="0"/>
              <a:t>Sistemas de archivos y directorios</a:t>
            </a:r>
          </a:p>
        </p:txBody>
      </p:sp>
      <p:sp>
        <p:nvSpPr>
          <p:cNvPr id="2" name="CuadroTexto 1">
            <a:extLst>
              <a:ext uri="{FF2B5EF4-FFF2-40B4-BE49-F238E27FC236}">
                <a16:creationId xmlns:a16="http://schemas.microsoft.com/office/drawing/2014/main" id="{5143B9B1-86C6-4BA0-9E4E-752BCBAEA99A}"/>
              </a:ext>
            </a:extLst>
          </p:cNvPr>
          <p:cNvSpPr txBox="1"/>
          <p:nvPr/>
        </p:nvSpPr>
        <p:spPr>
          <a:xfrm>
            <a:off x="7334426" y="4731990"/>
            <a:ext cx="1774078" cy="246221"/>
          </a:xfrm>
          <a:prstGeom prst="rect">
            <a:avLst/>
          </a:prstGeom>
          <a:noFill/>
        </p:spPr>
        <p:txBody>
          <a:bodyPr wrap="square">
            <a:spAutoFit/>
          </a:bodyPr>
          <a:lstStyle/>
          <a:p>
            <a:pPr algn="l"/>
            <a:r>
              <a:rPr lang="es-ES" sz="1000" b="0" i="0" dirty="0">
                <a:solidFill>
                  <a:srgbClr val="FF6A00"/>
                </a:solidFill>
                <a:effectLst/>
                <a:latin typeface="-apple-system"/>
              </a:rPr>
              <a:t>sesion2-with.sql</a:t>
            </a:r>
          </a:p>
        </p:txBody>
      </p:sp>
    </p:spTree>
    <p:extLst>
      <p:ext uri="{BB962C8B-B14F-4D97-AF65-F5344CB8AC3E}">
        <p14:creationId xmlns:p14="http://schemas.microsoft.com/office/powerpoint/2010/main" val="2554952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9D3BC-96F8-8881-C42A-1BA6342E4432}"/>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EC3C2AFE-5833-A7E0-7122-D6286D53AC7C}"/>
              </a:ext>
            </a:extLst>
          </p:cNvPr>
          <p:cNvSpPr/>
          <p:nvPr/>
        </p:nvSpPr>
        <p:spPr>
          <a:xfrm>
            <a:off x="227537" y="1326394"/>
            <a:ext cx="3743954" cy="35496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FFA2D53F-F4C9-FD85-2389-6A2BD33E0F63}"/>
              </a:ext>
            </a:extLst>
          </p:cNvPr>
          <p:cNvSpPr>
            <a:spLocks noGrp="1"/>
          </p:cNvSpPr>
          <p:nvPr>
            <p:ph idx="1"/>
          </p:nvPr>
        </p:nvSpPr>
        <p:spPr>
          <a:xfrm>
            <a:off x="457200" y="915566"/>
            <a:ext cx="8579296" cy="446310"/>
          </a:xfrm>
        </p:spPr>
        <p:txBody>
          <a:bodyPr>
            <a:normAutofit fontScale="62500" lnSpcReduction="20000"/>
          </a:bodyPr>
          <a:lstStyle/>
          <a:p>
            <a:r>
              <a:rPr lang="es-ES" sz="4400" dirty="0"/>
              <a:t>Evitar duplicados (DISTINCT y UNIQUE)</a:t>
            </a:r>
            <a:endParaRPr lang="es-ES" dirty="0"/>
          </a:p>
        </p:txBody>
      </p:sp>
      <p:sp>
        <p:nvSpPr>
          <p:cNvPr id="4" name="3 Título">
            <a:extLst>
              <a:ext uri="{FF2B5EF4-FFF2-40B4-BE49-F238E27FC236}">
                <a16:creationId xmlns:a16="http://schemas.microsoft.com/office/drawing/2014/main" id="{9BDA34ED-4F41-751B-E863-3E769F3159B4}"/>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6E84E9BA-BD60-0D91-E5DA-1C10736BD45F}"/>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BB4ACDDE-8DED-8450-8AEA-544D5DFB42CA}"/>
              </a:ext>
            </a:extLst>
          </p:cNvPr>
          <p:cNvSpPr txBox="1"/>
          <p:nvPr/>
        </p:nvSpPr>
        <p:spPr>
          <a:xfrm>
            <a:off x="323528" y="1347028"/>
            <a:ext cx="3647963" cy="2308324"/>
          </a:xfrm>
          <a:prstGeom prst="rect">
            <a:avLst/>
          </a:prstGeom>
          <a:noFill/>
        </p:spPr>
        <p:txBody>
          <a:bodyPr wrap="square">
            <a:spAutoFit/>
          </a:bodyPr>
          <a:lstStyle/>
          <a:p>
            <a:r>
              <a:rPr lang="en-US" sz="1200" dirty="0"/>
              <a:t>SELECT DISTINCT valor FROM </a:t>
            </a:r>
            <a:r>
              <a:rPr lang="en-US" sz="1200" dirty="0" err="1"/>
              <a:t>test_duplicados</a:t>
            </a:r>
            <a:r>
              <a:rPr lang="en-US" sz="1200" dirty="0"/>
              <a:t>;</a:t>
            </a:r>
          </a:p>
          <a:p>
            <a:endParaRPr lang="en-US" sz="1200" dirty="0"/>
          </a:p>
          <a:p>
            <a:endParaRPr lang="en-US" sz="1200" dirty="0"/>
          </a:p>
          <a:p>
            <a:endParaRPr lang="en-US" sz="1200" dirty="0"/>
          </a:p>
          <a:p>
            <a:endParaRPr lang="en-US" sz="1200" dirty="0"/>
          </a:p>
          <a:p>
            <a:r>
              <a:rPr lang="en-US" sz="1200" dirty="0"/>
              <a:t>SELECT UNIQUE valor FROM </a:t>
            </a:r>
            <a:r>
              <a:rPr lang="en-US" sz="1200" dirty="0" err="1"/>
              <a:t>test_duplicados</a:t>
            </a:r>
            <a:r>
              <a:rPr lang="en-US" sz="1200" dirty="0"/>
              <a:t>;</a:t>
            </a:r>
          </a:p>
          <a:p>
            <a:endParaRPr lang="en-US" sz="1200" dirty="0"/>
          </a:p>
          <a:p>
            <a:endParaRPr lang="en-US" sz="1200" dirty="0"/>
          </a:p>
          <a:p>
            <a:endParaRPr lang="en-US" sz="1200" dirty="0"/>
          </a:p>
          <a:p>
            <a:endParaRPr lang="en-US" sz="1200" dirty="0"/>
          </a:p>
          <a:p>
            <a:r>
              <a:rPr lang="en-US" sz="1200" dirty="0"/>
              <a:t>SELECT /*+ PARALLEL(8) */ DISTINCT valor FROM </a:t>
            </a:r>
            <a:r>
              <a:rPr lang="en-US" sz="1200" dirty="0" err="1"/>
              <a:t>test_duplicados</a:t>
            </a:r>
            <a:r>
              <a:rPr lang="en-US" sz="1200" dirty="0"/>
              <a:t>;</a:t>
            </a:r>
          </a:p>
        </p:txBody>
      </p:sp>
      <p:sp>
        <p:nvSpPr>
          <p:cNvPr id="9" name="4 Marcador de contenido">
            <a:extLst>
              <a:ext uri="{FF2B5EF4-FFF2-40B4-BE49-F238E27FC236}">
                <a16:creationId xmlns:a16="http://schemas.microsoft.com/office/drawing/2014/main" id="{64BAE2A6-C36B-7E80-0EA2-282C66F1A0A5}"/>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192794AF-E5A4-CEAF-2129-B728D0925C6D}"/>
              </a:ext>
            </a:extLst>
          </p:cNvPr>
          <p:cNvSpPr txBox="1">
            <a:spLocks/>
          </p:cNvSpPr>
          <p:nvPr/>
        </p:nvSpPr>
        <p:spPr>
          <a:xfrm>
            <a:off x="4005518" y="1326394"/>
            <a:ext cx="4824536" cy="1944216"/>
          </a:xfrm>
          <a:prstGeom prst="rect">
            <a:avLst/>
          </a:prstGeom>
        </p:spPr>
        <p:txBody>
          <a:bodyPr vert="horz" lIns="91440" tIns="45720" rIns="91440" bIns="45720" rtlCol="0">
            <a:normAutofit fontScale="92500" lnSpcReduction="20000"/>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_tradnl" dirty="0"/>
              <a:t>H</a:t>
            </a:r>
            <a:r>
              <a:rPr lang="es-ES" dirty="0"/>
              <a:t>ay que evitarlos, por que hace ordenaciones antes de quitar los duplicados.</a:t>
            </a:r>
          </a:p>
          <a:p>
            <a:pPr marL="342900" lvl="1" indent="-342900">
              <a:buFont typeface="Arial" panose="020B0604020202020204" pitchFamily="34" charset="0"/>
              <a:buChar char="•"/>
            </a:pPr>
            <a:r>
              <a:rPr lang="es-ES" dirty="0"/>
              <a:t>UNIQUE no es estándar SQL, es solo de Oracle, y no mejora la optimización</a:t>
            </a:r>
          </a:p>
          <a:p>
            <a:pPr marL="342900" lvl="1" indent="-342900">
              <a:buFont typeface="Arial" panose="020B0604020202020204" pitchFamily="34" charset="0"/>
              <a:buChar char="•"/>
            </a:pPr>
            <a:endParaRPr lang="es-ES" dirty="0"/>
          </a:p>
          <a:p>
            <a:pPr marL="342900" lvl="1" indent="-342900">
              <a:buFont typeface="Arial" panose="020B0604020202020204" pitchFamily="34" charset="0"/>
              <a:buChar char="•"/>
            </a:pPr>
            <a:r>
              <a:rPr lang="es-ES" dirty="0"/>
              <a:t>Paralelizamos la consulta, con un HINT</a:t>
            </a:r>
          </a:p>
          <a:p>
            <a:pPr marL="342900" lvl="1" indent="-342900">
              <a:buFont typeface="Arial" panose="020B0604020202020204" pitchFamily="34" charset="0"/>
              <a:buChar char="•"/>
            </a:pPr>
            <a:endParaRPr lang="es-ES" dirty="0"/>
          </a:p>
        </p:txBody>
      </p:sp>
      <p:sp>
        <p:nvSpPr>
          <p:cNvPr id="2" name="CuadroTexto 1">
            <a:extLst>
              <a:ext uri="{FF2B5EF4-FFF2-40B4-BE49-F238E27FC236}">
                <a16:creationId xmlns:a16="http://schemas.microsoft.com/office/drawing/2014/main" id="{B7E45819-E9C7-43BE-9932-D85664A5F5BE}"/>
              </a:ext>
            </a:extLst>
          </p:cNvPr>
          <p:cNvSpPr txBox="1"/>
          <p:nvPr/>
        </p:nvSpPr>
        <p:spPr>
          <a:xfrm>
            <a:off x="7334426" y="4731990"/>
            <a:ext cx="1774078" cy="246221"/>
          </a:xfrm>
          <a:prstGeom prst="rect">
            <a:avLst/>
          </a:prstGeom>
          <a:noFill/>
        </p:spPr>
        <p:txBody>
          <a:bodyPr wrap="square">
            <a:spAutoFit/>
          </a:bodyPr>
          <a:lstStyle/>
          <a:p>
            <a:pPr algn="l"/>
            <a:r>
              <a:rPr lang="es-ES" sz="1000" dirty="0" err="1">
                <a:solidFill>
                  <a:srgbClr val="FF6A00"/>
                </a:solidFill>
                <a:latin typeface="-apple-system"/>
              </a:rPr>
              <a:t>parallerl</a:t>
            </a:r>
            <a:r>
              <a:rPr lang="es-ES" sz="1000" b="0" i="0" dirty="0" err="1">
                <a:solidFill>
                  <a:srgbClr val="FF6A00"/>
                </a:solidFill>
                <a:effectLst/>
                <a:latin typeface="-apple-system"/>
              </a:rPr>
              <a:t>.sql</a:t>
            </a:r>
            <a:endParaRPr lang="es-ES" sz="1000" b="0" i="0" dirty="0">
              <a:solidFill>
                <a:srgbClr val="FF6A00"/>
              </a:solidFill>
              <a:effectLst/>
              <a:latin typeface="-apple-system"/>
            </a:endParaRPr>
          </a:p>
        </p:txBody>
      </p:sp>
    </p:spTree>
    <p:extLst>
      <p:ext uri="{BB962C8B-B14F-4D97-AF65-F5344CB8AC3E}">
        <p14:creationId xmlns:p14="http://schemas.microsoft.com/office/powerpoint/2010/main" val="3054727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90AF2-54E3-CF51-4BD3-D69F4C6F5CBB}"/>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25B69EB4-1355-37A3-2BE8-0C685233A0BE}"/>
              </a:ext>
            </a:extLst>
          </p:cNvPr>
          <p:cNvSpPr/>
          <p:nvPr/>
        </p:nvSpPr>
        <p:spPr>
          <a:xfrm>
            <a:off x="227536" y="1326394"/>
            <a:ext cx="8579295" cy="15333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401420A8-3232-E7A1-0B0B-534F70E4E567}"/>
              </a:ext>
            </a:extLst>
          </p:cNvPr>
          <p:cNvSpPr>
            <a:spLocks noGrp="1"/>
          </p:cNvSpPr>
          <p:nvPr>
            <p:ph idx="1"/>
          </p:nvPr>
        </p:nvSpPr>
        <p:spPr>
          <a:xfrm>
            <a:off x="457200" y="915566"/>
            <a:ext cx="8579296" cy="446310"/>
          </a:xfrm>
        </p:spPr>
        <p:txBody>
          <a:bodyPr>
            <a:normAutofit fontScale="62500" lnSpcReduction="20000"/>
          </a:bodyPr>
          <a:lstStyle/>
          <a:p>
            <a:r>
              <a:rPr lang="es-ES" sz="4400" dirty="0" err="1"/>
              <a:t>Explain</a:t>
            </a:r>
            <a:r>
              <a:rPr lang="es-ES" sz="4400" dirty="0"/>
              <a:t> Plan SIN paralelización</a:t>
            </a:r>
            <a:endParaRPr lang="es-ES" dirty="0"/>
          </a:p>
        </p:txBody>
      </p:sp>
      <p:sp>
        <p:nvSpPr>
          <p:cNvPr id="4" name="3 Título">
            <a:extLst>
              <a:ext uri="{FF2B5EF4-FFF2-40B4-BE49-F238E27FC236}">
                <a16:creationId xmlns:a16="http://schemas.microsoft.com/office/drawing/2014/main" id="{D22CDC67-B0D6-B4E6-12CE-557EA57BC445}"/>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197E4A5-2FAC-74B3-C6DC-44EDA594778B}"/>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C3FB03F5-A776-D7A6-10A5-2CB3B63138CF}"/>
              </a:ext>
            </a:extLst>
          </p:cNvPr>
          <p:cNvSpPr txBox="1"/>
          <p:nvPr/>
        </p:nvSpPr>
        <p:spPr>
          <a:xfrm>
            <a:off x="323528" y="1347028"/>
            <a:ext cx="8363272" cy="1323439"/>
          </a:xfrm>
          <a:prstGeom prst="rect">
            <a:avLst/>
          </a:prstGeom>
          <a:noFill/>
        </p:spPr>
        <p:txBody>
          <a:bodyPr wrap="square">
            <a:spAutoFit/>
          </a:bodyPr>
          <a:lstStyle/>
          <a:p>
            <a:r>
              <a:rPr lang="en-US" sz="1000" dirty="0">
                <a:latin typeface="Miriam Fixed" panose="020F0502020204030204" pitchFamily="49" charset="-79"/>
                <a:cs typeface="Miriam Fixed" panose="020F0502020204030204" pitchFamily="49" charset="-79"/>
              </a:rPr>
              <a:t>SELECT DISTINCT valor FROM </a:t>
            </a:r>
            <a:r>
              <a:rPr lang="en-US" sz="1000" dirty="0" err="1">
                <a:latin typeface="Miriam Fixed" panose="020F0502020204030204" pitchFamily="49" charset="-79"/>
                <a:cs typeface="Miriam Fixed" panose="020F0502020204030204" pitchFamily="49" charset="-79"/>
              </a:rPr>
              <a:t>test_duplicados</a:t>
            </a:r>
            <a:r>
              <a:rPr lang="en-US" sz="1000" dirty="0">
                <a:latin typeface="Miriam Fixed" panose="020F0502020204030204" pitchFamily="49" charset="-79"/>
                <a:cs typeface="Miriam Fixed" panose="020F0502020204030204" pitchFamily="49" charset="-79"/>
              </a:rPr>
              <a:t>;</a:t>
            </a:r>
          </a:p>
          <a:p>
            <a:r>
              <a:rPr lang="en-US" sz="1000" dirty="0">
                <a:latin typeface="Miriam Fixed" panose="020F0502020204030204" pitchFamily="49" charset="-79"/>
                <a:cs typeface="Miriam Fixed" panose="020F0502020204030204" pitchFamily="49" charset="-79"/>
              </a:rPr>
              <a:t>----------------------------------------------------------------------------------------------</a:t>
            </a:r>
          </a:p>
          <a:p>
            <a:r>
              <a:rPr lang="en-US" sz="1000" dirty="0">
                <a:latin typeface="Miriam Fixed" panose="020F0502020204030204" pitchFamily="49" charset="-79"/>
                <a:cs typeface="Miriam Fixed" panose="020F0502020204030204" pitchFamily="49" charset="-79"/>
              </a:rPr>
              <a:t>| Id  | Operation                  | Name            | Rows  | Bytes | Cost (%CPU)| Time     |</a:t>
            </a:r>
          </a:p>
          <a:p>
            <a:r>
              <a:rPr lang="en-US" sz="1000" dirty="0">
                <a:latin typeface="Miriam Fixed" panose="020F0502020204030204" pitchFamily="49" charset="-79"/>
                <a:cs typeface="Miriam Fixed" panose="020F0502020204030204" pitchFamily="49" charset="-79"/>
              </a:rPr>
              <a:t>----------------------------------------------------------------------------------------------</a:t>
            </a:r>
          </a:p>
          <a:p>
            <a:r>
              <a:rPr lang="en-US" sz="1000" dirty="0">
                <a:latin typeface="Miriam Fixed" panose="020F0502020204030204" pitchFamily="49" charset="-79"/>
                <a:cs typeface="Miriam Fixed" panose="020F0502020204030204" pitchFamily="49" charset="-79"/>
              </a:rPr>
              <a:t>|   0 | SELECT STATEMENT           |                 |  1000 |  4000 |  6340   (6)| 00:00:01 |</a:t>
            </a:r>
          </a:p>
          <a:p>
            <a:r>
              <a:rPr lang="en-US" sz="1000" dirty="0">
                <a:latin typeface="Miriam Fixed" panose="020F0502020204030204" pitchFamily="49" charset="-79"/>
                <a:cs typeface="Miriam Fixed" panose="020F0502020204030204" pitchFamily="49" charset="-79"/>
              </a:rPr>
              <a:t>|   1 |  HASH UNIQUE               |                 |  1000 |  4000 |  6340   (6)| 00:00:01 |</a:t>
            </a:r>
          </a:p>
          <a:p>
            <a:r>
              <a:rPr lang="en-US" sz="1000" dirty="0">
                <a:latin typeface="Miriam Fixed" panose="020F0502020204030204" pitchFamily="49" charset="-79"/>
                <a:cs typeface="Miriam Fixed" panose="020F0502020204030204" pitchFamily="49" charset="-79"/>
              </a:rPr>
              <a:t>|   2 |   TABLE ACCESS STORAGE FULL| TEST_DUPLICADOS |    10M|    38M|  6023   (1)| 00:00:01 |</a:t>
            </a:r>
          </a:p>
          <a:p>
            <a:r>
              <a:rPr lang="en-US" sz="1000" dirty="0">
                <a:latin typeface="Miriam Fixed" panose="020F0502020204030204" pitchFamily="49" charset="-79"/>
                <a:cs typeface="Miriam Fixed" panose="020F0502020204030204" pitchFamily="49" charset="-79"/>
              </a:rPr>
              <a:t>----------------------------------------------------------------------------------------------</a:t>
            </a:r>
          </a:p>
        </p:txBody>
      </p:sp>
      <p:sp>
        <p:nvSpPr>
          <p:cNvPr id="9" name="4 Marcador de contenido">
            <a:extLst>
              <a:ext uri="{FF2B5EF4-FFF2-40B4-BE49-F238E27FC236}">
                <a16:creationId xmlns:a16="http://schemas.microsoft.com/office/drawing/2014/main" id="{D0DD3DEA-B860-D57A-8EDA-F7699DFAAB60}"/>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D1F65AEC-533D-18A4-271C-06EE80360FF4}"/>
              </a:ext>
            </a:extLst>
          </p:cNvPr>
          <p:cNvSpPr txBox="1">
            <a:spLocks/>
          </p:cNvSpPr>
          <p:nvPr/>
        </p:nvSpPr>
        <p:spPr>
          <a:xfrm>
            <a:off x="323528" y="3009646"/>
            <a:ext cx="8064896" cy="1944216"/>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s-ES" sz="1600" dirty="0"/>
              <a:t>Paso a Paso:</a:t>
            </a:r>
          </a:p>
          <a:p>
            <a:pPr marL="342900" lvl="1" indent="-342900">
              <a:buFont typeface="Arial" panose="020B0604020202020204" pitchFamily="34" charset="0"/>
              <a:buChar char="•"/>
            </a:pPr>
            <a:r>
              <a:rPr lang="es-ES" sz="1600" dirty="0"/>
              <a:t>Id 2: TABLE ACCESS STORAGE FULL - Escanea toda la tabla (10M filas, 38MB)</a:t>
            </a:r>
          </a:p>
          <a:p>
            <a:pPr marL="342900" lvl="1" indent="-342900">
              <a:buFont typeface="Arial" panose="020B0604020202020204" pitchFamily="34" charset="0"/>
              <a:buChar char="•"/>
            </a:pPr>
            <a:r>
              <a:rPr lang="es-ES" sz="1600" dirty="0"/>
              <a:t>Id 1: HASH UNIQUE - Aplica un hash para eliminar duplicados en memoria</a:t>
            </a:r>
          </a:p>
          <a:p>
            <a:pPr marL="342900" lvl="1" indent="-342900">
              <a:buFont typeface="Arial" panose="020B0604020202020204" pitchFamily="34" charset="0"/>
              <a:buChar char="•"/>
            </a:pPr>
            <a:r>
              <a:rPr lang="es-ES" sz="1600" dirty="0"/>
              <a:t>Id 0: SELECT STATEMENT - Retorna el resultado final</a:t>
            </a:r>
          </a:p>
          <a:p>
            <a:pPr marL="342900" lvl="1" indent="-342900">
              <a:buFont typeface="Arial" panose="020B0604020202020204" pitchFamily="34" charset="0"/>
              <a:buChar char="•"/>
            </a:pPr>
            <a:r>
              <a:rPr lang="es-ES" sz="1600" dirty="0"/>
              <a:t>Costo Total: 6,340 - Procesamiento secuencial</a:t>
            </a:r>
          </a:p>
        </p:txBody>
      </p:sp>
    </p:spTree>
    <p:extLst>
      <p:ext uri="{BB962C8B-B14F-4D97-AF65-F5344CB8AC3E}">
        <p14:creationId xmlns:p14="http://schemas.microsoft.com/office/powerpoint/2010/main" val="2028682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F29F-9112-9D61-DABF-95E2F2DDABA4}"/>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9FC9C838-D655-03A5-B65B-A59B6B10279C}"/>
              </a:ext>
            </a:extLst>
          </p:cNvPr>
          <p:cNvSpPr/>
          <p:nvPr/>
        </p:nvSpPr>
        <p:spPr>
          <a:xfrm>
            <a:off x="118310" y="1326394"/>
            <a:ext cx="8918186" cy="19654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8220747E-32F7-F860-BA89-6B1FFCF0BB67}"/>
              </a:ext>
            </a:extLst>
          </p:cNvPr>
          <p:cNvSpPr>
            <a:spLocks noGrp="1"/>
          </p:cNvSpPr>
          <p:nvPr>
            <p:ph idx="1"/>
          </p:nvPr>
        </p:nvSpPr>
        <p:spPr>
          <a:xfrm>
            <a:off x="457200" y="915566"/>
            <a:ext cx="8579296" cy="446310"/>
          </a:xfrm>
        </p:spPr>
        <p:txBody>
          <a:bodyPr>
            <a:normAutofit fontScale="62500" lnSpcReduction="20000"/>
          </a:bodyPr>
          <a:lstStyle/>
          <a:p>
            <a:r>
              <a:rPr lang="es-ES" sz="4400" dirty="0" err="1"/>
              <a:t>Explain</a:t>
            </a:r>
            <a:r>
              <a:rPr lang="es-ES" sz="4400" dirty="0"/>
              <a:t> Plan CON paralelización</a:t>
            </a:r>
            <a:endParaRPr lang="es-ES" dirty="0"/>
          </a:p>
        </p:txBody>
      </p:sp>
      <p:sp>
        <p:nvSpPr>
          <p:cNvPr id="4" name="3 Título">
            <a:extLst>
              <a:ext uri="{FF2B5EF4-FFF2-40B4-BE49-F238E27FC236}">
                <a16:creationId xmlns:a16="http://schemas.microsoft.com/office/drawing/2014/main" id="{A11E0718-6F72-DA2E-0A14-AE010DDEF439}"/>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B795744D-61FF-6FB2-A427-DCC9B01BA469}"/>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3D811A4D-5131-7B79-2D35-C70C47CD7A5B}"/>
              </a:ext>
            </a:extLst>
          </p:cNvPr>
          <p:cNvSpPr txBox="1"/>
          <p:nvPr/>
        </p:nvSpPr>
        <p:spPr>
          <a:xfrm>
            <a:off x="128736" y="1342199"/>
            <a:ext cx="9015264" cy="2031325"/>
          </a:xfrm>
          <a:prstGeom prst="rect">
            <a:avLst/>
          </a:prstGeom>
          <a:noFill/>
        </p:spPr>
        <p:txBody>
          <a:bodyPr wrap="square">
            <a:spAutoFit/>
          </a:bodyPr>
          <a:lstStyle/>
          <a:p>
            <a:r>
              <a:rPr lang="en-US" sz="900" dirty="0">
                <a:latin typeface="Miriam Fixed" panose="020F0502020204030204" pitchFamily="49" charset="-79"/>
                <a:cs typeface="Miriam Fixed" panose="020F0502020204030204" pitchFamily="49" charset="-79"/>
              </a:rPr>
              <a:t>SELECT /*+ PARALLEL(8) */ DISTINCT valor FROM </a:t>
            </a:r>
            <a:r>
              <a:rPr lang="en-US" sz="900" dirty="0" err="1">
                <a:latin typeface="Miriam Fixed" panose="020F0502020204030204" pitchFamily="49" charset="-79"/>
                <a:cs typeface="Miriam Fixed" panose="020F0502020204030204" pitchFamily="49" charset="-79"/>
              </a:rPr>
              <a:t>test_duplicados</a:t>
            </a:r>
            <a:r>
              <a:rPr lang="en-US" sz="900" dirty="0">
                <a:latin typeface="Miriam Fixed" panose="020F0502020204030204" pitchFamily="49" charset="-79"/>
                <a:cs typeface="Miriam Fixed" panose="020F0502020204030204" pitchFamily="49" charset="-79"/>
              </a:rPr>
              <a:t>;</a:t>
            </a:r>
          </a:p>
          <a:p>
            <a:r>
              <a:rPr lang="en-US" sz="900" dirty="0">
                <a:latin typeface="Miriam Fixed" panose="020F0502020204030204" pitchFamily="49" charset="-79"/>
                <a:cs typeface="Miriam Fixed" panose="020F0502020204030204" pitchFamily="49" charset="-79"/>
              </a:rPr>
              <a:t>---------------------------------------------------------------------------------------------------------------------------------</a:t>
            </a:r>
          </a:p>
          <a:p>
            <a:r>
              <a:rPr lang="en-US" sz="900" dirty="0">
                <a:latin typeface="Miriam Fixed" panose="020F0502020204030204" pitchFamily="49" charset="-79"/>
                <a:cs typeface="Miriam Fixed" panose="020F0502020204030204" pitchFamily="49" charset="-79"/>
              </a:rPr>
              <a:t>| Id  | Operation                        | Name            | Rows  | Bytes | Cost (%CPU)| Time     |    TQ  |IN-OUT| PQ </a:t>
            </a:r>
            <a:r>
              <a:rPr lang="en-US" sz="900" dirty="0" err="1">
                <a:latin typeface="Miriam Fixed" panose="020F0502020204030204" pitchFamily="49" charset="-79"/>
                <a:cs typeface="Miriam Fixed" panose="020F0502020204030204" pitchFamily="49" charset="-79"/>
              </a:rPr>
              <a:t>Distrib</a:t>
            </a:r>
            <a:r>
              <a:rPr lang="en-US" sz="900" dirty="0">
                <a:latin typeface="Miriam Fixed" panose="020F0502020204030204" pitchFamily="49" charset="-79"/>
                <a:cs typeface="Miriam Fixed" panose="020F0502020204030204" pitchFamily="49" charset="-79"/>
              </a:rPr>
              <a:t> |</a:t>
            </a:r>
          </a:p>
          <a:p>
            <a:r>
              <a:rPr lang="en-US" sz="900" dirty="0">
                <a:latin typeface="Miriam Fixed" panose="020F0502020204030204" pitchFamily="49" charset="-79"/>
                <a:cs typeface="Miriam Fixed" panose="020F0502020204030204" pitchFamily="49" charset="-79"/>
              </a:rPr>
              <a:t>---------------------------------------------------------------------------------------------------------------------------------</a:t>
            </a:r>
          </a:p>
          <a:p>
            <a:r>
              <a:rPr lang="en-US" sz="900" dirty="0">
                <a:latin typeface="Miriam Fixed" panose="020F0502020204030204" pitchFamily="49" charset="-79"/>
                <a:cs typeface="Miriam Fixed" panose="020F0502020204030204" pitchFamily="49" charset="-79"/>
              </a:rPr>
              <a:t>|   0 | SELECT STATEMENT                 |                 |  1000 |  4000 |   875   (6)| 00:00:01 |        |      |            |</a:t>
            </a:r>
          </a:p>
          <a:p>
            <a:r>
              <a:rPr lang="en-US" sz="900" dirty="0">
                <a:latin typeface="Miriam Fixed" panose="020F0502020204030204" pitchFamily="49" charset="-79"/>
                <a:cs typeface="Miriam Fixed" panose="020F0502020204030204" pitchFamily="49" charset="-79"/>
              </a:rPr>
              <a:t>|   1 |  PX COORDINATOR                  |                 |       |       |            |          |        |      |            |</a:t>
            </a:r>
          </a:p>
          <a:p>
            <a:r>
              <a:rPr lang="en-US" sz="900" dirty="0">
                <a:latin typeface="Miriam Fixed" panose="020F0502020204030204" pitchFamily="49" charset="-79"/>
                <a:cs typeface="Miriam Fixed" panose="020F0502020204030204" pitchFamily="49" charset="-79"/>
              </a:rPr>
              <a:t>|   2 |   PX SEND QC (RANDOM)            | :TQ10001        |  1000 |  4000 |   875   (6)| 00:00:01 |  Q1,01 | P-&gt;S | QC (RAND)  |</a:t>
            </a:r>
          </a:p>
          <a:p>
            <a:r>
              <a:rPr lang="en-US" sz="900" dirty="0">
                <a:latin typeface="Miriam Fixed" panose="020F0502020204030204" pitchFamily="49" charset="-79"/>
                <a:cs typeface="Miriam Fixed" panose="020F0502020204030204" pitchFamily="49" charset="-79"/>
              </a:rPr>
              <a:t>|   3 |    HASH UNIQUE                   |                 |  1000 |  4000 |   875   (6)| 00:00:01 |  Q1,01 | PCWP |            |</a:t>
            </a:r>
          </a:p>
          <a:p>
            <a:r>
              <a:rPr lang="en-US" sz="900" dirty="0">
                <a:latin typeface="Miriam Fixed" panose="020F0502020204030204" pitchFamily="49" charset="-79"/>
                <a:cs typeface="Miriam Fixed" panose="020F0502020204030204" pitchFamily="49" charset="-79"/>
              </a:rPr>
              <a:t>|   4 |     PX RECEIVE                   |                 |  1000 |  4000 |   875   (6)| 00:00:01 |  Q1,01 | PCWP |            |</a:t>
            </a:r>
          </a:p>
          <a:p>
            <a:r>
              <a:rPr lang="en-US" sz="900" dirty="0">
                <a:latin typeface="Miriam Fixed" panose="020F0502020204030204" pitchFamily="49" charset="-79"/>
                <a:cs typeface="Miriam Fixed" panose="020F0502020204030204" pitchFamily="49" charset="-79"/>
              </a:rPr>
              <a:t>|   5 |      PX SEND HASH                | :TQ10000        |  1000 |  4000 |   875   (6)| 00:00:01 |  Q1,00 | P-&gt;P | HASH       |</a:t>
            </a:r>
          </a:p>
          <a:p>
            <a:r>
              <a:rPr lang="en-US" sz="900" dirty="0">
                <a:latin typeface="Miriam Fixed" panose="020F0502020204030204" pitchFamily="49" charset="-79"/>
                <a:cs typeface="Miriam Fixed" panose="020F0502020204030204" pitchFamily="49" charset="-79"/>
              </a:rPr>
              <a:t>|   6 |       HASH UNIQUE                |                 |  1000 |  4000 |   875   (6)| 00:00:01 |  Q1,00 | PCWP |            |</a:t>
            </a:r>
          </a:p>
          <a:p>
            <a:r>
              <a:rPr lang="en-US" sz="900" dirty="0">
                <a:latin typeface="Miriam Fixed" panose="020F0502020204030204" pitchFamily="49" charset="-79"/>
                <a:cs typeface="Miriam Fixed" panose="020F0502020204030204" pitchFamily="49" charset="-79"/>
              </a:rPr>
              <a:t>|   7 |        PX BLOCK ITERATOR         |                 |    10M|    38M|   836   (1)| 00:00:01 |  Q1,00 | PCWC |            |</a:t>
            </a:r>
          </a:p>
          <a:p>
            <a:r>
              <a:rPr lang="en-US" sz="900" dirty="0">
                <a:latin typeface="Miriam Fixed" panose="020F0502020204030204" pitchFamily="49" charset="-79"/>
                <a:cs typeface="Miriam Fixed" panose="020F0502020204030204" pitchFamily="49" charset="-79"/>
              </a:rPr>
              <a:t>|   8 |         TABLE ACCESS STORAGE FULL| TEST_DUPLICADOS |    10M|    38M|   836   (1)| 00:00:01 |  Q1,00 | PCWP |            |</a:t>
            </a:r>
          </a:p>
          <a:p>
            <a:r>
              <a:rPr lang="en-US" sz="900" dirty="0">
                <a:latin typeface="Miriam Fixed" panose="020F0502020204030204" pitchFamily="49" charset="-79"/>
                <a:cs typeface="Miriam Fixed" panose="020F0502020204030204" pitchFamily="49" charset="-79"/>
              </a:rPr>
              <a:t>---------------------------------------------------------------------------------------------------------------------------------</a:t>
            </a:r>
          </a:p>
        </p:txBody>
      </p:sp>
      <p:sp>
        <p:nvSpPr>
          <p:cNvPr id="9" name="4 Marcador de contenido">
            <a:extLst>
              <a:ext uri="{FF2B5EF4-FFF2-40B4-BE49-F238E27FC236}">
                <a16:creationId xmlns:a16="http://schemas.microsoft.com/office/drawing/2014/main" id="{57712B2C-B601-5BC0-ADEC-1F67F66B80BB}"/>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6" name="4 Marcador de contenido">
            <a:extLst>
              <a:ext uri="{FF2B5EF4-FFF2-40B4-BE49-F238E27FC236}">
                <a16:creationId xmlns:a16="http://schemas.microsoft.com/office/drawing/2014/main" id="{1B71E9F3-3D69-C936-6A13-CC800B418C81}"/>
              </a:ext>
            </a:extLst>
          </p:cNvPr>
          <p:cNvSpPr txBox="1">
            <a:spLocks/>
          </p:cNvSpPr>
          <p:nvPr/>
        </p:nvSpPr>
        <p:spPr>
          <a:xfrm>
            <a:off x="168706" y="3374145"/>
            <a:ext cx="8064896" cy="149726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s-ES" sz="1600" dirty="0"/>
              <a:t>Paso Beneficios del Paralelismo:</a:t>
            </a:r>
          </a:p>
          <a:p>
            <a:pPr lvl="2"/>
            <a:r>
              <a:rPr lang="es-ES" sz="1400" dirty="0"/>
              <a:t>Dividir y conquistar: 8 procesos trabajando simultáneamente</a:t>
            </a:r>
          </a:p>
          <a:p>
            <a:pPr lvl="2"/>
            <a:r>
              <a:rPr lang="es-ES" sz="1400" dirty="0"/>
              <a:t>Procesamiento local: Cada </a:t>
            </a:r>
            <a:r>
              <a:rPr lang="es-ES" sz="1400" dirty="0" err="1"/>
              <a:t>slave</a:t>
            </a:r>
            <a:r>
              <a:rPr lang="es-ES" sz="1400" dirty="0"/>
              <a:t> hace HASH UNIQUE en su segmento</a:t>
            </a:r>
          </a:p>
          <a:p>
            <a:pPr lvl="2"/>
            <a:r>
              <a:rPr lang="es-ES" sz="1400" dirty="0"/>
              <a:t>Distribución inteligente: Usa HASH para redistribuir datos eficientemente</a:t>
            </a:r>
          </a:p>
        </p:txBody>
      </p:sp>
    </p:spTree>
    <p:extLst>
      <p:ext uri="{BB962C8B-B14F-4D97-AF65-F5344CB8AC3E}">
        <p14:creationId xmlns:p14="http://schemas.microsoft.com/office/powerpoint/2010/main" val="1668237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37C1A-1842-F33D-DA28-18ABC10B5823}"/>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6E162435-A1B6-D4B5-CF02-5A4B066E83A6}"/>
              </a:ext>
            </a:extLst>
          </p:cNvPr>
          <p:cNvSpPr>
            <a:spLocks noGrp="1"/>
          </p:cNvSpPr>
          <p:nvPr>
            <p:ph idx="1"/>
          </p:nvPr>
        </p:nvSpPr>
        <p:spPr>
          <a:xfrm>
            <a:off x="457200" y="915566"/>
            <a:ext cx="8579296" cy="446310"/>
          </a:xfrm>
        </p:spPr>
        <p:txBody>
          <a:bodyPr>
            <a:normAutofit fontScale="62500" lnSpcReduction="20000"/>
          </a:bodyPr>
          <a:lstStyle/>
          <a:p>
            <a:r>
              <a:rPr lang="es-ES" sz="4400" dirty="0" err="1"/>
              <a:t>Explain</a:t>
            </a:r>
            <a:r>
              <a:rPr lang="es-ES" sz="4400" dirty="0"/>
              <a:t> Plan CON paralelización</a:t>
            </a:r>
            <a:endParaRPr lang="es-ES" dirty="0"/>
          </a:p>
        </p:txBody>
      </p:sp>
      <p:sp>
        <p:nvSpPr>
          <p:cNvPr id="4" name="3 Título">
            <a:extLst>
              <a:ext uri="{FF2B5EF4-FFF2-40B4-BE49-F238E27FC236}">
                <a16:creationId xmlns:a16="http://schemas.microsoft.com/office/drawing/2014/main" id="{3263A1DD-7B9E-D652-E6E2-FBB77C42C3A4}"/>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B07539EA-5E9E-E659-7171-77EFF5555D39}"/>
              </a:ext>
            </a:extLst>
          </p:cNvPr>
          <p:cNvSpPr>
            <a:spLocks noGrp="1"/>
          </p:cNvSpPr>
          <p:nvPr>
            <p:ph type="body" sz="quarter" idx="14"/>
          </p:nvPr>
        </p:nvSpPr>
        <p:spPr/>
        <p:txBody>
          <a:bodyPr>
            <a:normAutofit fontScale="62500" lnSpcReduction="20000"/>
          </a:bodyPr>
          <a:lstStyle/>
          <a:p>
            <a:r>
              <a:rPr lang="es-ES" dirty="0"/>
              <a:t>Consultas</a:t>
            </a:r>
          </a:p>
        </p:txBody>
      </p:sp>
      <p:sp>
        <p:nvSpPr>
          <p:cNvPr id="14" name="4 Marcador de contenido">
            <a:extLst>
              <a:ext uri="{FF2B5EF4-FFF2-40B4-BE49-F238E27FC236}">
                <a16:creationId xmlns:a16="http://schemas.microsoft.com/office/drawing/2014/main" id="{D074280A-791F-BC89-6DEE-EEBCDF544142}"/>
              </a:ext>
            </a:extLst>
          </p:cNvPr>
          <p:cNvSpPr txBox="1">
            <a:spLocks/>
          </p:cNvSpPr>
          <p:nvPr/>
        </p:nvSpPr>
        <p:spPr>
          <a:xfrm>
            <a:off x="323528" y="1386394"/>
            <a:ext cx="8579296" cy="3757106"/>
          </a:xfrm>
          <a:prstGeom prst="rect">
            <a:avLst/>
          </a:prstGeom>
        </p:spPr>
        <p:txBody>
          <a:bodyPr vert="horz" lIns="91440" tIns="45720" rIns="91440" bIns="45720" rtlCol="0">
            <a:normAutofit lnSpcReduction="10000"/>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s-ES" sz="1600" dirty="0"/>
              <a:t>Paso a Paso CON Paralelismo:</a:t>
            </a:r>
          </a:p>
          <a:p>
            <a:pPr marL="285750" lvl="1" indent="-285750">
              <a:buFont typeface="Arial" panose="020B0604020202020204" pitchFamily="34" charset="0"/>
              <a:buChar char="•"/>
            </a:pPr>
            <a:r>
              <a:rPr lang="es-ES" sz="1600" dirty="0"/>
              <a:t>Fase 1: Procesamiento Paralelo (</a:t>
            </a:r>
            <a:r>
              <a:rPr lang="es-ES" sz="1600" dirty="0" err="1"/>
              <a:t>Slaves</a:t>
            </a:r>
            <a:r>
              <a:rPr lang="es-ES" sz="1600" dirty="0"/>
              <a:t>)</a:t>
            </a:r>
          </a:p>
          <a:p>
            <a:pPr marL="820738" lvl="2" indent="-285750"/>
            <a:r>
              <a:rPr lang="es-ES" sz="1400" dirty="0"/>
              <a:t>Id 8: TABLE ACCESS STORAGE FULL - 8 procesos escanean la tabla en paralelo</a:t>
            </a:r>
          </a:p>
          <a:p>
            <a:pPr marL="820738" lvl="2" indent="-285750"/>
            <a:r>
              <a:rPr lang="es-ES" sz="1400" dirty="0"/>
              <a:t>Id 7: PX BLOCK ITERATOR - Divide la tabla en bloques para cada proceso paralelo</a:t>
            </a:r>
          </a:p>
          <a:p>
            <a:pPr marL="820738" lvl="2" indent="-285750"/>
            <a:r>
              <a:rPr lang="es-ES" sz="1400" dirty="0"/>
              <a:t>Id 6: HASH UNIQUE - Cada proceso elimina duplicados localmente</a:t>
            </a:r>
          </a:p>
          <a:p>
            <a:pPr marL="285750" lvl="1" indent="-285750">
              <a:buFont typeface="Arial" panose="020B0604020202020204" pitchFamily="34" charset="0"/>
              <a:buChar char="•"/>
            </a:pPr>
            <a:r>
              <a:rPr lang="es-ES" sz="1600" dirty="0"/>
              <a:t>Fase 2: Consolidación (</a:t>
            </a:r>
            <a:r>
              <a:rPr lang="es-ES" sz="1600" dirty="0" err="1"/>
              <a:t>Slaves</a:t>
            </a:r>
            <a:r>
              <a:rPr lang="es-ES" sz="1600" dirty="0"/>
              <a:t> → </a:t>
            </a:r>
            <a:r>
              <a:rPr lang="es-ES" sz="1600" dirty="0" err="1"/>
              <a:t>Slaves</a:t>
            </a:r>
            <a:r>
              <a:rPr lang="es-ES" sz="1600" dirty="0"/>
              <a:t>)</a:t>
            </a:r>
          </a:p>
          <a:p>
            <a:pPr marL="820738" lvl="2" indent="-285750"/>
            <a:r>
              <a:rPr lang="es-ES" sz="1400" dirty="0"/>
              <a:t>Id 5: PX SEND HASH - Los procesos envían resultados usando distribución HASH</a:t>
            </a:r>
          </a:p>
          <a:p>
            <a:pPr marL="820738" lvl="2" indent="-285750"/>
            <a:r>
              <a:rPr lang="es-ES" sz="1400" dirty="0"/>
              <a:t>Id 4: PX RECEIVE - Procesos reciben datos de otros procesos</a:t>
            </a:r>
          </a:p>
          <a:p>
            <a:pPr marL="285750" lvl="1" indent="-285750">
              <a:buFont typeface="Arial" panose="020B0604020202020204" pitchFamily="34" charset="0"/>
              <a:buChar char="•"/>
            </a:pPr>
            <a:r>
              <a:rPr lang="es-ES" sz="1600" dirty="0"/>
              <a:t>Fase 3: Unificación Final (</a:t>
            </a:r>
            <a:r>
              <a:rPr lang="es-ES" sz="1600" dirty="0" err="1"/>
              <a:t>Slaves</a:t>
            </a:r>
            <a:r>
              <a:rPr lang="es-ES" sz="1600" dirty="0"/>
              <a:t> → </a:t>
            </a:r>
            <a:r>
              <a:rPr lang="es-ES" sz="1600" dirty="0" err="1"/>
              <a:t>Coordinator</a:t>
            </a:r>
            <a:r>
              <a:rPr lang="es-ES" sz="1600" dirty="0"/>
              <a:t>)</a:t>
            </a:r>
          </a:p>
          <a:p>
            <a:pPr marL="820738" lvl="2" indent="-285750"/>
            <a:r>
              <a:rPr lang="es-ES" sz="1400" dirty="0"/>
              <a:t>Id 3: HASH UNIQUE - Eliminación final de duplicados</a:t>
            </a:r>
          </a:p>
          <a:p>
            <a:pPr marL="820738" lvl="2" indent="-285750"/>
            <a:r>
              <a:rPr lang="es-ES" sz="1400" dirty="0"/>
              <a:t>Id 2: PX SEND QC (RANDOM) - Envío aleatorio al coordinador</a:t>
            </a:r>
          </a:p>
          <a:p>
            <a:pPr marL="820738" lvl="2" indent="-285750"/>
            <a:r>
              <a:rPr lang="es-ES" sz="1400" dirty="0"/>
              <a:t>Id 1: PX COORDINATOR - Proceso coordinador que orquesta el paralelismo</a:t>
            </a:r>
          </a:p>
          <a:p>
            <a:pPr marL="820738" lvl="2" indent="-285750"/>
            <a:r>
              <a:rPr lang="es-ES" sz="1400" dirty="0"/>
              <a:t>Id 0: SELECT STATEMENT - Resultado final</a:t>
            </a:r>
          </a:p>
          <a:p>
            <a:pPr lvl="1"/>
            <a:r>
              <a:rPr lang="es-ES" sz="1600" dirty="0"/>
              <a:t>Costo Total: 875 - Procesamiento paralelo</a:t>
            </a:r>
          </a:p>
        </p:txBody>
      </p:sp>
    </p:spTree>
    <p:extLst>
      <p:ext uri="{BB962C8B-B14F-4D97-AF65-F5344CB8AC3E}">
        <p14:creationId xmlns:p14="http://schemas.microsoft.com/office/powerpoint/2010/main" val="1803533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DDB8C-59A1-A531-ACA4-9BB31E3EB835}"/>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6D396781-C050-5103-562E-55DB0DE03519}"/>
              </a:ext>
            </a:extLst>
          </p:cNvPr>
          <p:cNvSpPr>
            <a:spLocks noGrp="1"/>
          </p:cNvSpPr>
          <p:nvPr>
            <p:ph idx="1"/>
          </p:nvPr>
        </p:nvSpPr>
        <p:spPr>
          <a:xfrm>
            <a:off x="457200" y="915566"/>
            <a:ext cx="8579296" cy="446310"/>
          </a:xfrm>
        </p:spPr>
        <p:txBody>
          <a:bodyPr>
            <a:normAutofit fontScale="62500" lnSpcReduction="20000"/>
          </a:bodyPr>
          <a:lstStyle/>
          <a:p>
            <a:r>
              <a:rPr lang="es-ES" sz="4400" dirty="0" err="1"/>
              <a:t>Explain</a:t>
            </a:r>
            <a:r>
              <a:rPr lang="es-ES" sz="4400" dirty="0"/>
              <a:t> Plan CON paralelización</a:t>
            </a:r>
            <a:endParaRPr lang="es-ES" dirty="0"/>
          </a:p>
        </p:txBody>
      </p:sp>
      <p:sp>
        <p:nvSpPr>
          <p:cNvPr id="4" name="3 Título">
            <a:extLst>
              <a:ext uri="{FF2B5EF4-FFF2-40B4-BE49-F238E27FC236}">
                <a16:creationId xmlns:a16="http://schemas.microsoft.com/office/drawing/2014/main" id="{52F3A9A8-12D6-BC0C-1A65-6954B7ECD546}"/>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CBD2C2DF-9931-CE0A-2E9C-CADB9712E789}"/>
              </a:ext>
            </a:extLst>
          </p:cNvPr>
          <p:cNvSpPr>
            <a:spLocks noGrp="1"/>
          </p:cNvSpPr>
          <p:nvPr>
            <p:ph type="body" sz="quarter" idx="14"/>
          </p:nvPr>
        </p:nvSpPr>
        <p:spPr/>
        <p:txBody>
          <a:bodyPr>
            <a:normAutofit fontScale="62500" lnSpcReduction="20000"/>
          </a:bodyPr>
          <a:lstStyle/>
          <a:p>
            <a:r>
              <a:rPr lang="es-ES" dirty="0"/>
              <a:t>Consultas</a:t>
            </a:r>
          </a:p>
        </p:txBody>
      </p:sp>
      <p:sp>
        <p:nvSpPr>
          <p:cNvPr id="14" name="4 Marcador de contenido">
            <a:extLst>
              <a:ext uri="{FF2B5EF4-FFF2-40B4-BE49-F238E27FC236}">
                <a16:creationId xmlns:a16="http://schemas.microsoft.com/office/drawing/2014/main" id="{5DD114B1-6153-3238-A4C3-78042B92093B}"/>
              </a:ext>
            </a:extLst>
          </p:cNvPr>
          <p:cNvSpPr txBox="1">
            <a:spLocks/>
          </p:cNvSpPr>
          <p:nvPr/>
        </p:nvSpPr>
        <p:spPr>
          <a:xfrm>
            <a:off x="323528" y="1386394"/>
            <a:ext cx="8579296" cy="291354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s-ES" sz="1600" dirty="0"/>
              <a:t>Paso a Paso CON Columnas del </a:t>
            </a:r>
            <a:r>
              <a:rPr lang="es-ES" sz="1600" dirty="0" err="1"/>
              <a:t>Parallel</a:t>
            </a:r>
            <a:r>
              <a:rPr lang="es-ES" sz="1600" dirty="0"/>
              <a:t> </a:t>
            </a:r>
            <a:r>
              <a:rPr lang="es-ES" sz="1600" dirty="0" err="1"/>
              <a:t>Query</a:t>
            </a:r>
            <a:r>
              <a:rPr lang="es-ES" sz="1600" dirty="0"/>
              <a:t> (PQ):</a:t>
            </a:r>
          </a:p>
          <a:p>
            <a:pPr marL="285750" lvl="1" indent="-285750">
              <a:buFont typeface="Arial" panose="020B0604020202020204" pitchFamily="34" charset="0"/>
              <a:buChar char="•"/>
            </a:pPr>
            <a:r>
              <a:rPr lang="es-ES" sz="1600" dirty="0"/>
              <a:t>TQ: Table </a:t>
            </a:r>
            <a:r>
              <a:rPr lang="es-ES" sz="1600" dirty="0" err="1"/>
              <a:t>Queue</a:t>
            </a:r>
            <a:r>
              <a:rPr lang="es-ES" sz="1600" dirty="0"/>
              <a:t> - Canal de comunicación entre procesos</a:t>
            </a:r>
          </a:p>
          <a:p>
            <a:pPr marL="285750" lvl="1" indent="-285750">
              <a:buFont typeface="Arial" panose="020B0604020202020204" pitchFamily="34" charset="0"/>
              <a:buChar char="•"/>
            </a:pPr>
            <a:r>
              <a:rPr lang="es-ES" sz="1600" dirty="0"/>
              <a:t>IN-OUT:</a:t>
            </a:r>
          </a:p>
          <a:p>
            <a:pPr marL="820738" lvl="2" indent="-285750"/>
            <a:r>
              <a:rPr lang="es-ES" sz="1600" dirty="0"/>
              <a:t>P-&gt;S: </a:t>
            </a:r>
            <a:r>
              <a:rPr lang="es-ES" sz="1600" dirty="0" err="1"/>
              <a:t>Parallel</a:t>
            </a:r>
            <a:r>
              <a:rPr lang="es-ES" sz="1600" dirty="0"/>
              <a:t> </a:t>
            </a:r>
            <a:r>
              <a:rPr lang="es-ES" sz="1600" dirty="0" err="1"/>
              <a:t>to</a:t>
            </a:r>
            <a:r>
              <a:rPr lang="es-ES" sz="1600" dirty="0"/>
              <a:t> Serial</a:t>
            </a:r>
          </a:p>
          <a:p>
            <a:pPr marL="820738" lvl="2" indent="-285750"/>
            <a:r>
              <a:rPr lang="es-ES" sz="1600" dirty="0"/>
              <a:t>P-&gt;P: </a:t>
            </a:r>
            <a:r>
              <a:rPr lang="es-ES" sz="1600" dirty="0" err="1"/>
              <a:t>Parallel</a:t>
            </a:r>
            <a:r>
              <a:rPr lang="es-ES" sz="1600" dirty="0"/>
              <a:t> </a:t>
            </a:r>
            <a:r>
              <a:rPr lang="es-ES" sz="1600" dirty="0" err="1"/>
              <a:t>to</a:t>
            </a:r>
            <a:r>
              <a:rPr lang="es-ES" sz="1600" dirty="0"/>
              <a:t> </a:t>
            </a:r>
            <a:r>
              <a:rPr lang="es-ES" sz="1600" dirty="0" err="1"/>
              <a:t>Parallel</a:t>
            </a:r>
            <a:endParaRPr lang="es-ES" sz="1600" dirty="0"/>
          </a:p>
          <a:p>
            <a:pPr marL="820738" lvl="2" indent="-285750"/>
            <a:r>
              <a:rPr lang="es-ES" sz="1600" dirty="0"/>
              <a:t>PCWP: </a:t>
            </a:r>
            <a:r>
              <a:rPr lang="es-ES" sz="1600" dirty="0" err="1"/>
              <a:t>Parallel</a:t>
            </a:r>
            <a:r>
              <a:rPr lang="es-ES" sz="1600" dirty="0"/>
              <a:t> </a:t>
            </a:r>
            <a:r>
              <a:rPr lang="es-ES" sz="1600" dirty="0" err="1"/>
              <a:t>Combined</a:t>
            </a:r>
            <a:r>
              <a:rPr lang="es-ES" sz="1600" dirty="0"/>
              <a:t> </a:t>
            </a:r>
            <a:r>
              <a:rPr lang="es-ES" sz="1600" dirty="0" err="1"/>
              <a:t>With</a:t>
            </a:r>
            <a:r>
              <a:rPr lang="es-ES" sz="1600" dirty="0"/>
              <a:t> </a:t>
            </a:r>
            <a:r>
              <a:rPr lang="es-ES" sz="1600" dirty="0" err="1"/>
              <a:t>Parent</a:t>
            </a:r>
            <a:endParaRPr lang="es-ES" sz="1600" dirty="0"/>
          </a:p>
          <a:p>
            <a:pPr marL="820738" lvl="2" indent="-285750"/>
            <a:r>
              <a:rPr lang="es-ES" sz="1600" dirty="0"/>
              <a:t>PCWC: </a:t>
            </a:r>
            <a:r>
              <a:rPr lang="es-ES" sz="1600" dirty="0" err="1"/>
              <a:t>Parallel</a:t>
            </a:r>
            <a:r>
              <a:rPr lang="es-ES" sz="1600" dirty="0"/>
              <a:t> </a:t>
            </a:r>
            <a:r>
              <a:rPr lang="es-ES" sz="1600" dirty="0" err="1"/>
              <a:t>Combined</a:t>
            </a:r>
            <a:r>
              <a:rPr lang="es-ES" sz="1600" dirty="0"/>
              <a:t> </a:t>
            </a:r>
            <a:r>
              <a:rPr lang="es-ES" sz="1600" dirty="0" err="1"/>
              <a:t>With</a:t>
            </a:r>
            <a:r>
              <a:rPr lang="es-ES" sz="1600" dirty="0"/>
              <a:t> Child</a:t>
            </a:r>
          </a:p>
          <a:p>
            <a:pPr marL="285750" lvl="1" indent="-285750">
              <a:buFont typeface="Arial" panose="020B0604020202020204" pitchFamily="34" charset="0"/>
              <a:buChar char="•"/>
            </a:pPr>
            <a:r>
              <a:rPr lang="es-ES" sz="1600" dirty="0"/>
              <a:t>PQ </a:t>
            </a:r>
            <a:r>
              <a:rPr lang="es-ES" sz="1600" dirty="0" err="1"/>
              <a:t>Distrib</a:t>
            </a:r>
            <a:r>
              <a:rPr lang="es-ES" sz="1600" dirty="0"/>
              <a:t>: Cómo se distribuyen los datos</a:t>
            </a:r>
          </a:p>
        </p:txBody>
      </p:sp>
    </p:spTree>
    <p:extLst>
      <p:ext uri="{BB962C8B-B14F-4D97-AF65-F5344CB8AC3E}">
        <p14:creationId xmlns:p14="http://schemas.microsoft.com/office/powerpoint/2010/main" val="3535644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614D5-3FB5-B596-7015-FB66A12DA98A}"/>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89BFDAA4-5B36-3674-4881-DA2C44BC23A4}"/>
              </a:ext>
            </a:extLst>
          </p:cNvPr>
          <p:cNvSpPr>
            <a:spLocks noGrp="1"/>
          </p:cNvSpPr>
          <p:nvPr>
            <p:ph idx="1"/>
          </p:nvPr>
        </p:nvSpPr>
        <p:spPr>
          <a:xfrm>
            <a:off x="457200" y="915566"/>
            <a:ext cx="8579296" cy="446310"/>
          </a:xfrm>
        </p:spPr>
        <p:txBody>
          <a:bodyPr>
            <a:normAutofit fontScale="62500" lnSpcReduction="20000"/>
          </a:bodyPr>
          <a:lstStyle/>
          <a:p>
            <a:r>
              <a:rPr lang="en-US" sz="4400" dirty="0"/>
              <a:t>ORDER - </a:t>
            </a:r>
            <a:r>
              <a:rPr lang="es-ES" sz="4400" dirty="0"/>
              <a:t>Conceptos clave y reglas inmutables</a:t>
            </a:r>
            <a:endParaRPr lang="es-ES" dirty="0"/>
          </a:p>
        </p:txBody>
      </p:sp>
      <p:sp>
        <p:nvSpPr>
          <p:cNvPr id="4" name="3 Título">
            <a:extLst>
              <a:ext uri="{FF2B5EF4-FFF2-40B4-BE49-F238E27FC236}">
                <a16:creationId xmlns:a16="http://schemas.microsoft.com/office/drawing/2014/main" id="{0F7D9676-366E-D15A-45FC-87406C57B22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D610F470-CF08-7EDA-4094-B3EC03B7678C}"/>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058AE431-40BD-B9E7-1D0E-276597CE4C37}"/>
              </a:ext>
            </a:extLst>
          </p:cNvPr>
          <p:cNvSpPr txBox="1">
            <a:spLocks/>
          </p:cNvSpPr>
          <p:nvPr/>
        </p:nvSpPr>
        <p:spPr>
          <a:xfrm>
            <a:off x="179512" y="1383294"/>
            <a:ext cx="857929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b="1" dirty="0"/>
              <a:t>Orden determinista</a:t>
            </a:r>
            <a:r>
              <a:rPr lang="es-ES" sz="1800" dirty="0"/>
              <a:t>: SQL </a:t>
            </a:r>
            <a:r>
              <a:rPr lang="es-ES" sz="1800" b="1" dirty="0"/>
              <a:t>solo garantiza orden</a:t>
            </a:r>
            <a:r>
              <a:rPr lang="es-ES" sz="1800" dirty="0"/>
              <a:t> cuando hay un </a:t>
            </a:r>
            <a:r>
              <a:rPr lang="es-ES" dirty="0"/>
              <a:t>ORDER BY</a:t>
            </a:r>
            <a:r>
              <a:rPr lang="es-ES" sz="1800" dirty="0"/>
              <a:t> en el </a:t>
            </a:r>
            <a:r>
              <a:rPr lang="es-ES" dirty="0"/>
              <a:t>SELECT</a:t>
            </a:r>
            <a:r>
              <a:rPr lang="es-ES" sz="1800" dirty="0"/>
              <a:t> </a:t>
            </a:r>
            <a:r>
              <a:rPr lang="es-ES" sz="1800" b="1" dirty="0"/>
              <a:t>externo</a:t>
            </a:r>
            <a:r>
              <a:rPr lang="es-ES" sz="1800" dirty="0"/>
              <a:t> (la consulta que devuelve filas al cliente). Cualquier </a:t>
            </a:r>
            <a:r>
              <a:rPr lang="es-ES" dirty="0"/>
              <a:t>ORDER BY</a:t>
            </a:r>
            <a:r>
              <a:rPr lang="es-ES" sz="1800" dirty="0"/>
              <a:t> en subconsultas/</a:t>
            </a:r>
            <a:r>
              <a:rPr lang="es-ES" sz="1800" dirty="0" err="1"/>
              <a:t>CTEs</a:t>
            </a:r>
            <a:r>
              <a:rPr lang="es-ES" sz="1800" dirty="0"/>
              <a:t> puede ser ignorado por el optimizador salvo:</a:t>
            </a:r>
          </a:p>
          <a:p>
            <a:pPr marL="877888" lvl="2" indent="-342900"/>
            <a:r>
              <a:rPr lang="es-ES" sz="1600" dirty="0"/>
              <a:t>Que se combine con </a:t>
            </a:r>
            <a:r>
              <a:rPr lang="es-ES" dirty="0"/>
              <a:t>FETCH</a:t>
            </a:r>
            <a:r>
              <a:rPr lang="es-ES" sz="1600" dirty="0"/>
              <a:t>/</a:t>
            </a:r>
            <a:r>
              <a:rPr lang="es-ES" dirty="0"/>
              <a:t>OFFSET</a:t>
            </a:r>
            <a:r>
              <a:rPr lang="es-ES" sz="1600" dirty="0"/>
              <a:t> </a:t>
            </a:r>
          </a:p>
          <a:p>
            <a:pPr marL="877888" lvl="2" indent="-342900"/>
            <a:r>
              <a:rPr lang="es-ES" sz="1600" dirty="0"/>
              <a:t>Forme parte del </a:t>
            </a:r>
            <a:r>
              <a:rPr lang="es-ES" dirty="0"/>
              <a:t>ORDER SIBLINGS</a:t>
            </a:r>
            <a:r>
              <a:rPr lang="es-ES" sz="1600" dirty="0"/>
              <a:t> </a:t>
            </a:r>
          </a:p>
          <a:p>
            <a:pPr marL="877888" lvl="2" indent="-342900"/>
            <a:r>
              <a:rPr lang="es-ES" sz="1600" dirty="0"/>
              <a:t>O de una cláusula </a:t>
            </a:r>
            <a:r>
              <a:rPr lang="es-ES" dirty="0"/>
              <a:t>ROW_NUMBER()</a:t>
            </a:r>
            <a:r>
              <a:rPr lang="es-ES" sz="1600" dirty="0"/>
              <a:t>/analítica.</a:t>
            </a:r>
          </a:p>
          <a:p>
            <a:pPr marL="342900" lvl="1" indent="-342900">
              <a:buFont typeface="Arial" panose="020B0604020202020204" pitchFamily="34" charset="0"/>
              <a:buChar char="•"/>
            </a:pPr>
            <a:r>
              <a:rPr lang="es-ES" sz="1800" dirty="0"/>
              <a:t>Orden lógico de ejecución: ORDER BY se aplica tras la proyección (SELECT) y tras GROUP BY/HAVING (si existieran). Es la última operación antes de devolver filas.</a:t>
            </a:r>
          </a:p>
          <a:p>
            <a:pPr marL="342900" lvl="1" indent="-342900">
              <a:buFont typeface="Arial" panose="020B0604020202020204" pitchFamily="34" charset="0"/>
              <a:buChar char="•"/>
            </a:pPr>
            <a:r>
              <a:rPr lang="es-ES" sz="1800" b="1" dirty="0"/>
              <a:t>Orden físico vs lógico</a:t>
            </a:r>
            <a:r>
              <a:rPr lang="es-ES" sz="1800" dirty="0"/>
              <a:t>: Oracle puede evitar una </a:t>
            </a:r>
            <a:r>
              <a:rPr lang="es-ES" dirty="0"/>
              <a:t>SORT</a:t>
            </a:r>
            <a:r>
              <a:rPr lang="es-ES" sz="1800" dirty="0"/>
              <a:t> si lee los datos ya ordenados (por ejemplo, mediante un </a:t>
            </a:r>
            <a:r>
              <a:rPr lang="es-ES" dirty="0"/>
              <a:t>INDEX RANGE SCAN</a:t>
            </a:r>
            <a:r>
              <a:rPr lang="es-ES" sz="1800" dirty="0"/>
              <a:t> que ya produce el orden necesario).</a:t>
            </a:r>
          </a:p>
          <a:p>
            <a:pPr marL="342900" lvl="1" indent="-342900">
              <a:buFont typeface="Arial" panose="020B0604020202020204" pitchFamily="34" charset="0"/>
              <a:buChar char="•"/>
            </a:pPr>
            <a:endParaRPr lang="es-ES" sz="1800" dirty="0"/>
          </a:p>
        </p:txBody>
      </p:sp>
    </p:spTree>
    <p:extLst>
      <p:ext uri="{BB962C8B-B14F-4D97-AF65-F5344CB8AC3E}">
        <p14:creationId xmlns:p14="http://schemas.microsoft.com/office/powerpoint/2010/main" val="3124869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5D1E0-816C-1F60-BA89-72A2E1A7FC28}"/>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52163E19-3370-67CC-2CEB-3262687BC855}"/>
              </a:ext>
            </a:extLst>
          </p:cNvPr>
          <p:cNvSpPr>
            <a:spLocks noGrp="1"/>
          </p:cNvSpPr>
          <p:nvPr>
            <p:ph idx="1"/>
          </p:nvPr>
        </p:nvSpPr>
        <p:spPr>
          <a:xfrm>
            <a:off x="457200" y="915566"/>
            <a:ext cx="8579296" cy="446310"/>
          </a:xfrm>
        </p:spPr>
        <p:txBody>
          <a:bodyPr>
            <a:normAutofit fontScale="62500" lnSpcReduction="20000"/>
          </a:bodyPr>
          <a:lstStyle/>
          <a:p>
            <a:r>
              <a:rPr lang="en-US" sz="4400" dirty="0"/>
              <a:t>ORDER - </a:t>
            </a:r>
            <a:r>
              <a:rPr lang="es-ES" sz="4400" dirty="0"/>
              <a:t>Sintaxis y formas de especificar orden</a:t>
            </a:r>
          </a:p>
        </p:txBody>
      </p:sp>
      <p:sp>
        <p:nvSpPr>
          <p:cNvPr id="4" name="3 Título">
            <a:extLst>
              <a:ext uri="{FF2B5EF4-FFF2-40B4-BE49-F238E27FC236}">
                <a16:creationId xmlns:a16="http://schemas.microsoft.com/office/drawing/2014/main" id="{0D83A011-F04B-0532-37A1-DB2A8E94ECC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D392474-FA46-450C-569D-8F12193270E6}"/>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0695ECC7-4A63-989D-3119-305727C3DF2C}"/>
              </a:ext>
            </a:extLst>
          </p:cNvPr>
          <p:cNvSpPr txBox="1">
            <a:spLocks/>
          </p:cNvSpPr>
          <p:nvPr/>
        </p:nvSpPr>
        <p:spPr>
          <a:xfrm>
            <a:off x="323528" y="1347614"/>
            <a:ext cx="8712968"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b="1" dirty="0"/>
              <a:t>ORDER BY columna1 ASC, columna2 DESC </a:t>
            </a:r>
          </a:p>
          <a:p>
            <a:pPr marL="342900" lvl="1" indent="-342900">
              <a:buFont typeface="Arial" panose="020B0604020202020204" pitchFamily="34" charset="0"/>
              <a:buChar char="•"/>
            </a:pPr>
            <a:r>
              <a:rPr lang="es-ES" sz="1800" b="1" dirty="0"/>
              <a:t>ORDER BY 1, 3. </a:t>
            </a:r>
            <a:r>
              <a:rPr lang="es-ES" sz="1800" dirty="0"/>
              <a:t>Ordinales (posición en SELECT). Evítalos en código mantenible: frágiles ante cambios.</a:t>
            </a:r>
          </a:p>
          <a:p>
            <a:pPr marL="342900" lvl="1" indent="-342900">
              <a:buFont typeface="Arial" panose="020B0604020202020204" pitchFamily="34" charset="0"/>
              <a:buChar char="•"/>
            </a:pPr>
            <a:r>
              <a:rPr lang="es-ES" sz="1800" dirty="0"/>
              <a:t>ORDER BY alias. Puedes ordenar por un alias definido en el SELECT (si el alias es único).</a:t>
            </a:r>
          </a:p>
          <a:p>
            <a:pPr marL="342900" lvl="1" indent="-342900">
              <a:buFont typeface="Arial" panose="020B0604020202020204" pitchFamily="34" charset="0"/>
              <a:buChar char="•"/>
            </a:pPr>
            <a:r>
              <a:rPr lang="es-ES" sz="1800" dirty="0"/>
              <a:t>ORDER BY </a:t>
            </a:r>
            <a:r>
              <a:rPr lang="es-ES" sz="1800" dirty="0" err="1"/>
              <a:t>expression</a:t>
            </a:r>
            <a:r>
              <a:rPr lang="es-ES" sz="1800" dirty="0"/>
              <a:t> . Cualquier expresión válida (UPPER(</a:t>
            </a:r>
            <a:r>
              <a:rPr lang="es-ES" sz="1800" dirty="0" err="1"/>
              <a:t>name</a:t>
            </a:r>
            <a:r>
              <a:rPr lang="es-ES" sz="1800" dirty="0"/>
              <a:t>), salario*12, CASE ... END).</a:t>
            </a:r>
          </a:p>
          <a:p>
            <a:pPr marL="342900" lvl="1" indent="-342900">
              <a:buFont typeface="Arial" panose="020B0604020202020204" pitchFamily="34" charset="0"/>
              <a:buChar char="•"/>
            </a:pPr>
            <a:r>
              <a:rPr lang="es-ES" sz="1800" dirty="0"/>
              <a:t>ORDER BY NLSSORT(</a:t>
            </a:r>
            <a:r>
              <a:rPr lang="es-ES" sz="1800" dirty="0" err="1"/>
              <a:t>name</a:t>
            </a:r>
            <a:r>
              <a:rPr lang="es-ES" sz="1800" dirty="0"/>
              <a:t>, 'NLS_SORT=BINARY_CI')  </a:t>
            </a:r>
            <a:r>
              <a:rPr lang="es-ES" sz="1800" dirty="0" err="1"/>
              <a:t>collation</a:t>
            </a:r>
            <a:r>
              <a:rPr lang="es-ES" sz="1800" dirty="0"/>
              <a:t>/ordenación cultural.</a:t>
            </a:r>
          </a:p>
          <a:p>
            <a:pPr marL="342900" lvl="1" indent="-342900">
              <a:buFont typeface="Arial" panose="020B0604020202020204" pitchFamily="34" charset="0"/>
              <a:buChar char="•"/>
            </a:pPr>
            <a:r>
              <a:rPr lang="es-ES" sz="1800" dirty="0"/>
              <a:t>ORDER BY ... NULLS FIRST|NULLS LAST.  Control explícito del tratamiento de NULL.</a:t>
            </a:r>
          </a:p>
          <a:p>
            <a:pPr marL="342900" lvl="1" indent="-342900">
              <a:buFont typeface="Arial" panose="020B0604020202020204" pitchFamily="34" charset="0"/>
              <a:buChar char="•"/>
            </a:pPr>
            <a:r>
              <a:rPr lang="es-ES" sz="1800" dirty="0"/>
              <a:t>FETCH FIRST n ROWS ONLY, OFFSET y FETCH. Paginación estándar (Oracle 12c+). WITH TIES permite incluir empates.</a:t>
            </a:r>
          </a:p>
          <a:p>
            <a:pPr marL="342900" lvl="1" indent="-342900">
              <a:buFont typeface="Arial" panose="020B0604020202020204" pitchFamily="34" charset="0"/>
              <a:buChar char="•"/>
            </a:pPr>
            <a:endParaRPr lang="es-ES" sz="1800" dirty="0"/>
          </a:p>
        </p:txBody>
      </p:sp>
    </p:spTree>
    <p:extLst>
      <p:ext uri="{BB962C8B-B14F-4D97-AF65-F5344CB8AC3E}">
        <p14:creationId xmlns:p14="http://schemas.microsoft.com/office/powerpoint/2010/main" val="394862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4D36E-D640-8607-E346-4AECAB5AC8D1}"/>
            </a:ext>
          </a:extLst>
        </p:cNvPr>
        <p:cNvGrpSpPr/>
        <p:nvPr/>
      </p:nvGrpSpPr>
      <p:grpSpPr>
        <a:xfrm>
          <a:off x="0" y="0"/>
          <a:ext cx="0" cy="0"/>
          <a:chOff x="0" y="0"/>
          <a:chExt cx="0" cy="0"/>
        </a:xfrm>
      </p:grpSpPr>
      <p:sp>
        <p:nvSpPr>
          <p:cNvPr id="18" name="Rectángulo 17">
            <a:extLst>
              <a:ext uri="{FF2B5EF4-FFF2-40B4-BE49-F238E27FC236}">
                <a16:creationId xmlns:a16="http://schemas.microsoft.com/office/drawing/2014/main" id="{365B0DC7-0CFD-61EC-C647-392910BC6D3A}"/>
              </a:ext>
            </a:extLst>
          </p:cNvPr>
          <p:cNvSpPr/>
          <p:nvPr/>
        </p:nvSpPr>
        <p:spPr>
          <a:xfrm>
            <a:off x="2483768" y="2643758"/>
            <a:ext cx="4464496" cy="5040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2FB0B879-F8D0-7682-E466-79E0A153F7A4}"/>
              </a:ext>
            </a:extLst>
          </p:cNvPr>
          <p:cNvSpPr>
            <a:spLocks noGrp="1"/>
          </p:cNvSpPr>
          <p:nvPr>
            <p:ph idx="1"/>
          </p:nvPr>
        </p:nvSpPr>
        <p:spPr>
          <a:xfrm>
            <a:off x="457200" y="915566"/>
            <a:ext cx="8579296" cy="446310"/>
          </a:xfrm>
        </p:spPr>
        <p:txBody>
          <a:bodyPr>
            <a:normAutofit fontScale="62500" lnSpcReduction="20000"/>
          </a:bodyPr>
          <a:lstStyle/>
          <a:p>
            <a:r>
              <a:rPr lang="en-US" sz="4400" dirty="0"/>
              <a:t>ORDER - </a:t>
            </a:r>
            <a:r>
              <a:rPr lang="es-ES" sz="4400" dirty="0"/>
              <a:t>NULLS FIRST / NULLS LAST</a:t>
            </a:r>
          </a:p>
        </p:txBody>
      </p:sp>
      <p:sp>
        <p:nvSpPr>
          <p:cNvPr id="4" name="3 Título">
            <a:extLst>
              <a:ext uri="{FF2B5EF4-FFF2-40B4-BE49-F238E27FC236}">
                <a16:creationId xmlns:a16="http://schemas.microsoft.com/office/drawing/2014/main" id="{4D86F622-A4E2-D9BB-4A47-747397822188}"/>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179C3F5-C3E3-4E50-2163-32078C25CA27}"/>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C19395F0-97A1-3278-5550-0AABF0CC8797}"/>
              </a:ext>
            </a:extLst>
          </p:cNvPr>
          <p:cNvSpPr txBox="1">
            <a:spLocks/>
          </p:cNvSpPr>
          <p:nvPr/>
        </p:nvSpPr>
        <p:spPr>
          <a:xfrm>
            <a:off x="323528" y="1347614"/>
            <a:ext cx="8712968"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p:txBody>
      </p:sp>
      <p:sp>
        <p:nvSpPr>
          <p:cNvPr id="15" name="4 Marcador de contenido">
            <a:extLst>
              <a:ext uri="{FF2B5EF4-FFF2-40B4-BE49-F238E27FC236}">
                <a16:creationId xmlns:a16="http://schemas.microsoft.com/office/drawing/2014/main" id="{69FA50CC-AFE4-A99A-EBA4-9E57972A1B2F}"/>
              </a:ext>
            </a:extLst>
          </p:cNvPr>
          <p:cNvSpPr txBox="1">
            <a:spLocks/>
          </p:cNvSpPr>
          <p:nvPr/>
        </p:nvSpPr>
        <p:spPr>
          <a:xfrm>
            <a:off x="475928" y="1500014"/>
            <a:ext cx="8712968"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800" dirty="0"/>
              <a:t>En Oracle, el comportamiento por defecto depende de ASC/DESC:ASC → NULLS FIRST (en versiones antiguas: Oracle coloca </a:t>
            </a:r>
            <a:r>
              <a:rPr lang="es-ES" sz="1800" dirty="0" err="1"/>
              <a:t>NULLs</a:t>
            </a:r>
            <a:r>
              <a:rPr lang="es-ES" sz="1800" dirty="0"/>
              <a:t> primero con ASC).DESC → NULLS LAST.</a:t>
            </a:r>
          </a:p>
          <a:p>
            <a:pPr marL="342900" lvl="1" indent="-342900">
              <a:buFont typeface="Arial" panose="020B0604020202020204" pitchFamily="34" charset="0"/>
              <a:buChar char="•"/>
            </a:pPr>
            <a:r>
              <a:rPr lang="es-ES" sz="1800" b="1" dirty="0"/>
              <a:t>Recomendación</a:t>
            </a:r>
            <a:r>
              <a:rPr lang="es-ES" sz="1800" dirty="0"/>
              <a:t>: no confiar en el comportamiento por defecto; </a:t>
            </a:r>
            <a:r>
              <a:rPr lang="es-ES" sz="1800" dirty="0" err="1"/>
              <a:t>explícitalo</a:t>
            </a:r>
            <a:r>
              <a:rPr lang="es-ES" sz="1800" dirty="0"/>
              <a:t>:</a:t>
            </a:r>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r>
              <a:rPr lang="es-ES" sz="1800" dirty="0"/>
              <a:t>Implicación de índices: columnas con muchos </a:t>
            </a:r>
            <a:r>
              <a:rPr lang="es-ES" dirty="0"/>
              <a:t>NULL</a:t>
            </a:r>
            <a:r>
              <a:rPr lang="es-ES" sz="1800" dirty="0"/>
              <a:t> pueden afectar el uso de índices para ordenar; usar funciones de normalización si necesario (</a:t>
            </a:r>
            <a:r>
              <a:rPr lang="es-ES" dirty="0"/>
              <a:t>NVL(col, 'ZZZ')</a:t>
            </a:r>
            <a:r>
              <a:rPr lang="es-ES" sz="1800" dirty="0"/>
              <a:t>) — pero ojo: función sobre columna puede impedir uso de índice</a:t>
            </a:r>
          </a:p>
        </p:txBody>
      </p:sp>
      <p:sp>
        <p:nvSpPr>
          <p:cNvPr id="17" name="CuadroTexto 16">
            <a:extLst>
              <a:ext uri="{FF2B5EF4-FFF2-40B4-BE49-F238E27FC236}">
                <a16:creationId xmlns:a16="http://schemas.microsoft.com/office/drawing/2014/main" id="{4E90793E-FB94-9914-AC51-C9C5A6538C1D}"/>
              </a:ext>
            </a:extLst>
          </p:cNvPr>
          <p:cNvSpPr txBox="1"/>
          <p:nvPr/>
        </p:nvSpPr>
        <p:spPr>
          <a:xfrm>
            <a:off x="2741488" y="2715766"/>
            <a:ext cx="4594412" cy="369332"/>
          </a:xfrm>
          <a:prstGeom prst="rect">
            <a:avLst/>
          </a:prstGeom>
          <a:noFill/>
        </p:spPr>
        <p:txBody>
          <a:bodyPr wrap="square">
            <a:spAutoFit/>
          </a:bodyPr>
          <a:lstStyle/>
          <a:p>
            <a:r>
              <a:rPr lang="es-ES" dirty="0"/>
              <a:t>ORDER BY </a:t>
            </a:r>
            <a:r>
              <a:rPr lang="es-ES" dirty="0" err="1"/>
              <a:t>fecha_baja</a:t>
            </a:r>
            <a:r>
              <a:rPr lang="es-ES" dirty="0"/>
              <a:t> ESC NULLS LAST</a:t>
            </a:r>
          </a:p>
        </p:txBody>
      </p:sp>
    </p:spTree>
    <p:extLst>
      <p:ext uri="{BB962C8B-B14F-4D97-AF65-F5344CB8AC3E}">
        <p14:creationId xmlns:p14="http://schemas.microsoft.com/office/powerpoint/2010/main" val="3459141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E1CEE-F8D1-A216-F4C1-6436C4277070}"/>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BBC8AB17-8BC0-7995-1D50-58E9B6D8C5C0}"/>
              </a:ext>
            </a:extLst>
          </p:cNvPr>
          <p:cNvSpPr>
            <a:spLocks noGrp="1"/>
          </p:cNvSpPr>
          <p:nvPr>
            <p:ph idx="1"/>
          </p:nvPr>
        </p:nvSpPr>
        <p:spPr>
          <a:xfrm>
            <a:off x="457200" y="915566"/>
            <a:ext cx="8579296" cy="446310"/>
          </a:xfrm>
        </p:spPr>
        <p:txBody>
          <a:bodyPr>
            <a:normAutofit fontScale="62500" lnSpcReduction="20000"/>
          </a:bodyPr>
          <a:lstStyle/>
          <a:p>
            <a:r>
              <a:rPr lang="en-US" sz="4400" dirty="0"/>
              <a:t>ORDER - </a:t>
            </a:r>
            <a:r>
              <a:rPr lang="es-ES" sz="4400" dirty="0" err="1"/>
              <a:t>Tips</a:t>
            </a:r>
            <a:endParaRPr lang="es-ES" sz="4400" dirty="0"/>
          </a:p>
        </p:txBody>
      </p:sp>
      <p:sp>
        <p:nvSpPr>
          <p:cNvPr id="4" name="3 Título">
            <a:extLst>
              <a:ext uri="{FF2B5EF4-FFF2-40B4-BE49-F238E27FC236}">
                <a16:creationId xmlns:a16="http://schemas.microsoft.com/office/drawing/2014/main" id="{14FB8578-A7E7-00AD-7FE4-A6032D3D067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22040E84-2180-26D5-B1D0-7B5BECBBA907}"/>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25B3AB9F-22D7-1F5C-2EF6-B27180C40825}"/>
              </a:ext>
            </a:extLst>
          </p:cNvPr>
          <p:cNvSpPr txBox="1">
            <a:spLocks/>
          </p:cNvSpPr>
          <p:nvPr/>
        </p:nvSpPr>
        <p:spPr>
          <a:xfrm>
            <a:off x="323528" y="1347614"/>
            <a:ext cx="8712968"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p:txBody>
      </p:sp>
      <p:sp>
        <p:nvSpPr>
          <p:cNvPr id="15" name="4 Marcador de contenido">
            <a:extLst>
              <a:ext uri="{FF2B5EF4-FFF2-40B4-BE49-F238E27FC236}">
                <a16:creationId xmlns:a16="http://schemas.microsoft.com/office/drawing/2014/main" id="{FF4B66DC-E3DC-901B-B4B5-0C6F73E662B2}"/>
              </a:ext>
            </a:extLst>
          </p:cNvPr>
          <p:cNvSpPr txBox="1">
            <a:spLocks/>
          </p:cNvSpPr>
          <p:nvPr/>
        </p:nvSpPr>
        <p:spPr>
          <a:xfrm>
            <a:off x="475928" y="1347614"/>
            <a:ext cx="8344544" cy="37740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ORDER BY alias</a:t>
            </a:r>
            <a:r>
              <a:rPr lang="es-ES" sz="1800" dirty="0"/>
              <a:t> está permitido; Oracle resuelve el alias tras la fase de proyección.</a:t>
            </a:r>
          </a:p>
          <a:p>
            <a:pPr marL="342900" lvl="1" indent="-342900">
              <a:buFont typeface="Arial" panose="020B0604020202020204" pitchFamily="34" charset="0"/>
              <a:buChar char="•"/>
            </a:pPr>
            <a:r>
              <a:rPr lang="es-ES" sz="1800" b="1" dirty="0"/>
              <a:t>Performance</a:t>
            </a:r>
            <a:r>
              <a:rPr lang="es-ES" sz="1800" dirty="0"/>
              <a:t>: ordenar por una expresión que aplica función a la columna (</a:t>
            </a:r>
            <a:r>
              <a:rPr lang="es-ES" dirty="0"/>
              <a:t>UPPER(</a:t>
            </a:r>
            <a:r>
              <a:rPr lang="es-ES" dirty="0" err="1"/>
              <a:t>name</a:t>
            </a:r>
            <a:r>
              <a:rPr lang="es-ES" dirty="0"/>
              <a:t>)</a:t>
            </a:r>
            <a:r>
              <a:rPr lang="es-ES" sz="1800" dirty="0"/>
              <a:t>) normalmente fuerza un </a:t>
            </a:r>
            <a:r>
              <a:rPr lang="es-ES" sz="1800" i="1" dirty="0" err="1"/>
              <a:t>sort</a:t>
            </a:r>
            <a:r>
              <a:rPr lang="es-ES" sz="1800" dirty="0"/>
              <a:t> en memoria/temporal a menos que exista un índice </a:t>
            </a:r>
            <a:r>
              <a:rPr lang="es-ES" sz="1800" dirty="0" err="1"/>
              <a:t>function-based</a:t>
            </a:r>
            <a:r>
              <a:rPr lang="es-ES" sz="1800" dirty="0"/>
              <a:t> (</a:t>
            </a:r>
            <a:r>
              <a:rPr lang="es-ES" dirty="0"/>
              <a:t>CREATE INDEX </a:t>
            </a:r>
            <a:r>
              <a:rPr lang="es-ES" dirty="0" err="1"/>
              <a:t>idx_upper_name</a:t>
            </a:r>
            <a:r>
              <a:rPr lang="es-ES" dirty="0"/>
              <a:t> ON t (UPPER(</a:t>
            </a:r>
            <a:r>
              <a:rPr lang="es-ES" dirty="0" err="1"/>
              <a:t>name</a:t>
            </a:r>
            <a:r>
              <a:rPr lang="es-ES" dirty="0"/>
              <a:t>))</a:t>
            </a:r>
            <a:r>
              <a:rPr lang="es-ES" sz="1800" dirty="0"/>
              <a:t>).</a:t>
            </a:r>
          </a:p>
          <a:p>
            <a:pPr marL="342900" lvl="1" indent="-342900">
              <a:buFont typeface="Arial" panose="020B0604020202020204" pitchFamily="34" charset="0"/>
              <a:buChar char="•"/>
            </a:pPr>
            <a:r>
              <a:rPr lang="es-ES" sz="1800" dirty="0"/>
              <a:t>Oracle </a:t>
            </a:r>
            <a:r>
              <a:rPr lang="es-ES" sz="1800" b="1" dirty="0"/>
              <a:t>no siempre</a:t>
            </a:r>
            <a:r>
              <a:rPr lang="es-ES" sz="1800" dirty="0"/>
              <a:t> realiza un </a:t>
            </a:r>
            <a:r>
              <a:rPr lang="es-ES" dirty="0"/>
              <a:t>SORT ORDER BY</a:t>
            </a:r>
            <a:r>
              <a:rPr lang="es-ES" sz="1800" dirty="0"/>
              <a:t>. Si el </a:t>
            </a:r>
            <a:r>
              <a:rPr lang="es-ES" dirty="0"/>
              <a:t>ORDER BY</a:t>
            </a:r>
            <a:r>
              <a:rPr lang="es-ES" sz="1800" dirty="0"/>
              <a:t> coincide exactamente con el orden producido por un acceso por índice (</a:t>
            </a:r>
            <a:r>
              <a:rPr lang="es-ES" sz="1800" dirty="0" err="1"/>
              <a:t>index</a:t>
            </a:r>
            <a:r>
              <a:rPr lang="es-ES" sz="1800" dirty="0"/>
              <a:t> </a:t>
            </a:r>
            <a:r>
              <a:rPr lang="es-ES" sz="1800" dirty="0" err="1"/>
              <a:t>range</a:t>
            </a:r>
            <a:r>
              <a:rPr lang="es-ES" sz="1800" dirty="0"/>
              <a:t> </a:t>
            </a:r>
            <a:r>
              <a:rPr lang="es-ES" sz="1800" dirty="0" err="1"/>
              <a:t>scan</a:t>
            </a:r>
            <a:r>
              <a:rPr lang="es-ES" sz="1800" dirty="0"/>
              <a:t>) y no existe otra operación que reordene antes (por ejemplo, </a:t>
            </a:r>
            <a:r>
              <a:rPr lang="es-ES" dirty="0"/>
              <a:t>UNION</a:t>
            </a:r>
            <a:r>
              <a:rPr lang="es-ES" sz="1800" dirty="0"/>
              <a:t> o </a:t>
            </a:r>
            <a:r>
              <a:rPr lang="es-ES" dirty="0"/>
              <a:t>GROUP BY</a:t>
            </a:r>
            <a:r>
              <a:rPr lang="es-ES" sz="1800" dirty="0"/>
              <a:t>), entonces Oracle puede devolver las filas ya ordenadas sin </a:t>
            </a:r>
            <a:r>
              <a:rPr lang="es-ES" sz="1800" dirty="0" err="1"/>
              <a:t>sort</a:t>
            </a:r>
            <a:r>
              <a:rPr lang="es-ES" sz="1800" dirty="0"/>
              <a:t>.</a:t>
            </a:r>
          </a:p>
        </p:txBody>
      </p:sp>
    </p:spTree>
    <p:extLst>
      <p:ext uri="{BB962C8B-B14F-4D97-AF65-F5344CB8AC3E}">
        <p14:creationId xmlns:p14="http://schemas.microsoft.com/office/powerpoint/2010/main" val="1400849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F04DF-B71F-1E32-04BC-C5887BC258C4}"/>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604C932F-6E60-CC45-DCFD-E8641E57DD4C}"/>
              </a:ext>
            </a:extLst>
          </p:cNvPr>
          <p:cNvSpPr/>
          <p:nvPr/>
        </p:nvSpPr>
        <p:spPr>
          <a:xfrm>
            <a:off x="227537" y="1326394"/>
            <a:ext cx="3743954" cy="35496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0744BA3C-EE92-1129-B674-2E4C6EDA7D56}"/>
              </a:ext>
            </a:extLst>
          </p:cNvPr>
          <p:cNvSpPr>
            <a:spLocks noGrp="1"/>
          </p:cNvSpPr>
          <p:nvPr>
            <p:ph idx="1"/>
          </p:nvPr>
        </p:nvSpPr>
        <p:spPr>
          <a:xfrm>
            <a:off x="457200" y="915566"/>
            <a:ext cx="8579296" cy="446310"/>
          </a:xfrm>
        </p:spPr>
        <p:txBody>
          <a:bodyPr>
            <a:normAutofit fontScale="62500" lnSpcReduction="20000"/>
          </a:bodyPr>
          <a:lstStyle/>
          <a:p>
            <a:r>
              <a:rPr lang="es-ES" sz="4400" dirty="0"/>
              <a:t>ORDER BY – Evitar </a:t>
            </a:r>
            <a:r>
              <a:rPr lang="es-ES" sz="4400" dirty="0" err="1"/>
              <a:t>Sort</a:t>
            </a:r>
            <a:r>
              <a:rPr lang="es-ES" sz="4400" dirty="0"/>
              <a:t> </a:t>
            </a:r>
            <a:endParaRPr lang="es-ES" dirty="0"/>
          </a:p>
        </p:txBody>
      </p:sp>
      <p:sp>
        <p:nvSpPr>
          <p:cNvPr id="4" name="3 Título">
            <a:extLst>
              <a:ext uri="{FF2B5EF4-FFF2-40B4-BE49-F238E27FC236}">
                <a16:creationId xmlns:a16="http://schemas.microsoft.com/office/drawing/2014/main" id="{C5E19573-1F8F-E6DD-9E4E-B5E6765634DF}"/>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8F8BF5F9-61A7-B3A2-825C-FF2D4743B896}"/>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50DBDDCB-191A-464A-9D5F-1A9854977123}"/>
              </a:ext>
            </a:extLst>
          </p:cNvPr>
          <p:cNvSpPr txBox="1"/>
          <p:nvPr/>
        </p:nvSpPr>
        <p:spPr>
          <a:xfrm>
            <a:off x="323528" y="1347028"/>
            <a:ext cx="3647963" cy="1384995"/>
          </a:xfrm>
          <a:prstGeom prst="rect">
            <a:avLst/>
          </a:prstGeom>
          <a:noFill/>
        </p:spPr>
        <p:txBody>
          <a:bodyPr wrap="square">
            <a:spAutoFit/>
          </a:bodyPr>
          <a:lstStyle/>
          <a:p>
            <a:r>
              <a:rPr lang="en-US" sz="1200" dirty="0"/>
              <a:t>SELECT id, </a:t>
            </a:r>
            <a:r>
              <a:rPr lang="en-US" sz="1200" dirty="0" err="1"/>
              <a:t>nombre</a:t>
            </a:r>
            <a:r>
              <a:rPr lang="en-US" sz="1200" dirty="0"/>
              <a:t>, </a:t>
            </a:r>
            <a:r>
              <a:rPr lang="en-US" sz="1200" dirty="0" err="1"/>
              <a:t>salario</a:t>
            </a:r>
            <a:endParaRPr lang="en-US" sz="1200" dirty="0"/>
          </a:p>
          <a:p>
            <a:r>
              <a:rPr lang="en-US" sz="1200" dirty="0"/>
              <a:t>FROM </a:t>
            </a:r>
            <a:r>
              <a:rPr lang="en-US" sz="1200" dirty="0" err="1"/>
              <a:t>empleados</a:t>
            </a:r>
            <a:endParaRPr lang="en-US" sz="1200" dirty="0"/>
          </a:p>
          <a:p>
            <a:r>
              <a:rPr lang="en-US" sz="1200" dirty="0"/>
              <a:t>WHERE </a:t>
            </a:r>
            <a:r>
              <a:rPr lang="en-US" sz="1200" dirty="0" err="1"/>
              <a:t>departamento_id</a:t>
            </a:r>
            <a:r>
              <a:rPr lang="en-US" sz="1200" dirty="0"/>
              <a:t> = :d</a:t>
            </a:r>
          </a:p>
          <a:p>
            <a:r>
              <a:rPr lang="en-US" sz="1200" dirty="0"/>
              <a:t>ORDER BY </a:t>
            </a:r>
            <a:r>
              <a:rPr lang="en-US" sz="1200" dirty="0" err="1"/>
              <a:t>salario</a:t>
            </a:r>
            <a:r>
              <a:rPr lang="en-US" sz="1200" dirty="0"/>
              <a:t> DESC;</a:t>
            </a:r>
          </a:p>
          <a:p>
            <a:endParaRPr lang="en-US" sz="1200" dirty="0"/>
          </a:p>
          <a:p>
            <a:r>
              <a:rPr lang="en-US" sz="1200" dirty="0"/>
              <a:t>CREATE INDEX IDX_EMP_DEPT_SAL ON </a:t>
            </a:r>
            <a:r>
              <a:rPr lang="en-US" sz="1200" dirty="0" err="1"/>
              <a:t>empleados</a:t>
            </a:r>
            <a:r>
              <a:rPr lang="en-US" sz="1200" dirty="0"/>
              <a:t>(</a:t>
            </a:r>
            <a:r>
              <a:rPr lang="en-US" sz="1200" dirty="0" err="1"/>
              <a:t>departamento_id</a:t>
            </a:r>
            <a:r>
              <a:rPr lang="en-US" sz="1200" dirty="0"/>
              <a:t>, </a:t>
            </a:r>
            <a:r>
              <a:rPr lang="en-US" sz="1200" dirty="0" err="1"/>
              <a:t>salario</a:t>
            </a:r>
            <a:r>
              <a:rPr lang="en-US" sz="1200" dirty="0"/>
              <a:t> DESC);</a:t>
            </a:r>
          </a:p>
        </p:txBody>
      </p:sp>
      <p:sp>
        <p:nvSpPr>
          <p:cNvPr id="9" name="4 Marcador de contenido">
            <a:extLst>
              <a:ext uri="{FF2B5EF4-FFF2-40B4-BE49-F238E27FC236}">
                <a16:creationId xmlns:a16="http://schemas.microsoft.com/office/drawing/2014/main" id="{73A9EDDE-E0E7-8A8D-2B07-3A4A06C2636D}"/>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B09C3AA8-003B-7A7B-A55B-17A676321D86}"/>
              </a:ext>
            </a:extLst>
          </p:cNvPr>
          <p:cNvSpPr txBox="1">
            <a:spLocks/>
          </p:cNvSpPr>
          <p:nvPr/>
        </p:nvSpPr>
        <p:spPr>
          <a:xfrm>
            <a:off x="4005518" y="1326394"/>
            <a:ext cx="5030978" cy="3189572"/>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Condiciones favorables para evitar </a:t>
            </a:r>
            <a:r>
              <a:rPr lang="es-ES" dirty="0" err="1"/>
              <a:t>sort</a:t>
            </a:r>
            <a:r>
              <a:rPr lang="es-ES" dirty="0"/>
              <a:t>:</a:t>
            </a:r>
          </a:p>
          <a:p>
            <a:pPr marL="877888" lvl="2" indent="-342900"/>
            <a:r>
              <a:rPr lang="es-ES" dirty="0"/>
              <a:t>ORDER BY usa las columnas en el mismo orden que un índice b-</a:t>
            </a:r>
            <a:r>
              <a:rPr lang="es-ES" dirty="0" err="1"/>
              <a:t>tree</a:t>
            </a:r>
            <a:r>
              <a:rPr lang="es-ES" dirty="0"/>
              <a:t> (</a:t>
            </a:r>
            <a:r>
              <a:rPr lang="es-ES" dirty="0" err="1"/>
              <a:t>left</a:t>
            </a:r>
            <a:r>
              <a:rPr lang="es-ES" dirty="0"/>
              <a:t> </a:t>
            </a:r>
            <a:r>
              <a:rPr lang="es-ES" dirty="0" err="1"/>
              <a:t>prefix</a:t>
            </a:r>
            <a:r>
              <a:rPr lang="es-ES" dirty="0"/>
              <a:t>).</a:t>
            </a:r>
          </a:p>
          <a:p>
            <a:pPr marL="877888" lvl="2" indent="-342900"/>
            <a:r>
              <a:rPr lang="es-ES" dirty="0"/>
              <a:t>No hay funciones sobre esas columnas en el ORDER BY.</a:t>
            </a:r>
          </a:p>
          <a:p>
            <a:pPr marL="877888" lvl="2" indent="-342900"/>
            <a:r>
              <a:rPr lang="es-ES" dirty="0"/>
              <a:t>El plan usa INDEX RANGE SCAN como fuente de filas.</a:t>
            </a:r>
          </a:p>
          <a:p>
            <a:pPr marL="877888" lvl="2" indent="-342900"/>
            <a:r>
              <a:rPr lang="es-ES" dirty="0"/>
              <a:t>No hay DISTINCT, GROUP BY, u operaciones que obliguen a reordenar.</a:t>
            </a:r>
          </a:p>
        </p:txBody>
      </p:sp>
    </p:spTree>
    <p:extLst>
      <p:ext uri="{BB962C8B-B14F-4D97-AF65-F5344CB8AC3E}">
        <p14:creationId xmlns:p14="http://schemas.microsoft.com/office/powerpoint/2010/main" val="1792823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44947-EB03-2BB7-47C6-8B59F26207B1}"/>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326F6E87-D92D-8687-0F1E-D340F72138C0}"/>
              </a:ext>
            </a:extLst>
          </p:cNvPr>
          <p:cNvSpPr/>
          <p:nvPr/>
        </p:nvSpPr>
        <p:spPr>
          <a:xfrm>
            <a:off x="227537" y="1326394"/>
            <a:ext cx="3743954" cy="35496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65DE0BCD-5234-D9AC-715F-DAB6C1687789}"/>
              </a:ext>
            </a:extLst>
          </p:cNvPr>
          <p:cNvSpPr>
            <a:spLocks noGrp="1"/>
          </p:cNvSpPr>
          <p:nvPr>
            <p:ph idx="1"/>
          </p:nvPr>
        </p:nvSpPr>
        <p:spPr>
          <a:xfrm>
            <a:off x="457200" y="915566"/>
            <a:ext cx="8579296" cy="446310"/>
          </a:xfrm>
        </p:spPr>
        <p:txBody>
          <a:bodyPr>
            <a:normAutofit fontScale="62500" lnSpcReduction="20000"/>
          </a:bodyPr>
          <a:lstStyle/>
          <a:p>
            <a:r>
              <a:rPr lang="es-ES" sz="4400" dirty="0"/>
              <a:t>ORDER BY - Paginación</a:t>
            </a:r>
            <a:endParaRPr lang="es-ES" dirty="0"/>
          </a:p>
        </p:txBody>
      </p:sp>
      <p:sp>
        <p:nvSpPr>
          <p:cNvPr id="4" name="3 Título">
            <a:extLst>
              <a:ext uri="{FF2B5EF4-FFF2-40B4-BE49-F238E27FC236}">
                <a16:creationId xmlns:a16="http://schemas.microsoft.com/office/drawing/2014/main" id="{F2CB55F2-E871-D638-B823-38643117DA8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64FC73B-EF18-983F-0D6E-99D10DE84E53}"/>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F614B729-5453-38A1-5465-72DCF9DC2941}"/>
              </a:ext>
            </a:extLst>
          </p:cNvPr>
          <p:cNvSpPr txBox="1"/>
          <p:nvPr/>
        </p:nvSpPr>
        <p:spPr>
          <a:xfrm>
            <a:off x="323528" y="1347028"/>
            <a:ext cx="3647963" cy="3231654"/>
          </a:xfrm>
          <a:prstGeom prst="rect">
            <a:avLst/>
          </a:prstGeom>
          <a:noFill/>
        </p:spPr>
        <p:txBody>
          <a:bodyPr wrap="square">
            <a:spAutoFit/>
          </a:bodyPr>
          <a:lstStyle/>
          <a:p>
            <a:r>
              <a:rPr lang="en-US" sz="1200" dirty="0"/>
              <a:t>SELECT * FROM (</a:t>
            </a:r>
          </a:p>
          <a:p>
            <a:r>
              <a:rPr lang="en-US" sz="1200" dirty="0"/>
              <a:t>  SELECT * FROM </a:t>
            </a:r>
            <a:r>
              <a:rPr lang="en-US" sz="1200" dirty="0" err="1"/>
              <a:t>empleados</a:t>
            </a:r>
            <a:r>
              <a:rPr lang="en-US" sz="1200" dirty="0"/>
              <a:t> ORDER BY </a:t>
            </a:r>
            <a:r>
              <a:rPr lang="en-US" sz="1200" dirty="0" err="1"/>
              <a:t>salario</a:t>
            </a:r>
            <a:r>
              <a:rPr lang="en-US" sz="1200" dirty="0"/>
              <a:t> DESC</a:t>
            </a:r>
          </a:p>
          <a:p>
            <a:r>
              <a:rPr lang="en-US" sz="1200" dirty="0"/>
              <a:t>) WHERE ROWNUM &lt;= 10;</a:t>
            </a:r>
          </a:p>
          <a:p>
            <a:endParaRPr lang="en-US" sz="1200" dirty="0"/>
          </a:p>
          <a:p>
            <a:endParaRPr lang="en-US" sz="1200" dirty="0"/>
          </a:p>
          <a:p>
            <a:endParaRPr lang="en-US" sz="1200" dirty="0"/>
          </a:p>
          <a:p>
            <a:endParaRPr lang="en-US" sz="1200" dirty="0"/>
          </a:p>
          <a:p>
            <a:r>
              <a:rPr lang="en-US" sz="1200" dirty="0"/>
              <a:t>SELECT id, name FROM </a:t>
            </a:r>
            <a:r>
              <a:rPr lang="en-US" sz="1200" dirty="0" err="1"/>
              <a:t>empleados</a:t>
            </a:r>
            <a:endParaRPr lang="en-US" sz="1200" dirty="0"/>
          </a:p>
          <a:p>
            <a:r>
              <a:rPr lang="en-US" sz="1200" dirty="0"/>
              <a:t>ORDER BY </a:t>
            </a:r>
            <a:r>
              <a:rPr lang="en-US" sz="1200" dirty="0" err="1"/>
              <a:t>salario</a:t>
            </a:r>
            <a:r>
              <a:rPr lang="en-US" sz="1200" dirty="0"/>
              <a:t> DESC</a:t>
            </a:r>
          </a:p>
          <a:p>
            <a:r>
              <a:rPr lang="en-US" sz="1200" dirty="0"/>
              <a:t>OFFSET 100 ROWS FETCH NEXT 50 ROWS ONLY;</a:t>
            </a:r>
          </a:p>
          <a:p>
            <a:endParaRPr lang="en-US" sz="1200" dirty="0"/>
          </a:p>
          <a:p>
            <a:endParaRPr lang="en-US" sz="1200" dirty="0"/>
          </a:p>
          <a:p>
            <a:endParaRPr lang="en-US" sz="1200" dirty="0"/>
          </a:p>
          <a:p>
            <a:r>
              <a:rPr lang="en-US" sz="1200" dirty="0"/>
              <a:t>SELECT id, name FROM </a:t>
            </a:r>
            <a:r>
              <a:rPr lang="en-US" sz="1200" dirty="0" err="1"/>
              <a:t>empleados</a:t>
            </a:r>
            <a:endParaRPr lang="en-US" sz="1200" dirty="0"/>
          </a:p>
          <a:p>
            <a:r>
              <a:rPr lang="en-US" sz="1200" dirty="0"/>
              <a:t>WHERE id&gt;:LAST_ID</a:t>
            </a:r>
          </a:p>
          <a:p>
            <a:r>
              <a:rPr lang="en-US" sz="1200" dirty="0"/>
              <a:t>ORDER BY </a:t>
            </a:r>
            <a:r>
              <a:rPr lang="en-US" sz="1200" dirty="0" err="1"/>
              <a:t>salario</a:t>
            </a:r>
            <a:r>
              <a:rPr lang="en-US" sz="1200" dirty="0"/>
              <a:t> DESC</a:t>
            </a:r>
          </a:p>
          <a:p>
            <a:r>
              <a:rPr lang="en-US" sz="1200" dirty="0"/>
              <a:t>FETCH NEXT 50 ROWS ONLY;</a:t>
            </a:r>
          </a:p>
        </p:txBody>
      </p:sp>
      <p:sp>
        <p:nvSpPr>
          <p:cNvPr id="9" name="4 Marcador de contenido">
            <a:extLst>
              <a:ext uri="{FF2B5EF4-FFF2-40B4-BE49-F238E27FC236}">
                <a16:creationId xmlns:a16="http://schemas.microsoft.com/office/drawing/2014/main" id="{E9C8C82C-AD62-DC45-21F0-1C2ABA554263}"/>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5A4EF89C-CF23-0577-BCAB-DFF222775A04}"/>
              </a:ext>
            </a:extLst>
          </p:cNvPr>
          <p:cNvSpPr txBox="1">
            <a:spLocks/>
          </p:cNvSpPr>
          <p:nvPr/>
        </p:nvSpPr>
        <p:spPr>
          <a:xfrm>
            <a:off x="4005518" y="1326394"/>
            <a:ext cx="5030978" cy="3693628"/>
          </a:xfrm>
          <a:prstGeom prst="rect">
            <a:avLst/>
          </a:prstGeom>
        </p:spPr>
        <p:txBody>
          <a:bodyPr vert="horz" lIns="91440" tIns="45720" rIns="91440" bIns="45720" rtlCol="0">
            <a:normAutofit fontScale="92500" lnSpcReduction="10000"/>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Antiguamente</a:t>
            </a:r>
          </a:p>
          <a:p>
            <a:pPr marL="342900" lvl="1" indent="-342900">
              <a:buFont typeface="Arial" panose="020B0604020202020204" pitchFamily="34" charset="0"/>
              <a:buChar char="•"/>
            </a:pPr>
            <a:endParaRPr lang="es-ES" dirty="0"/>
          </a:p>
          <a:p>
            <a:pPr marL="342900" lvl="1" indent="-342900">
              <a:buFont typeface="Arial" panose="020B0604020202020204" pitchFamily="34" charset="0"/>
              <a:buChar char="•"/>
            </a:pPr>
            <a:endParaRPr lang="es-ES" dirty="0"/>
          </a:p>
          <a:p>
            <a:pPr marL="342900" lvl="1" indent="-342900">
              <a:buFont typeface="Arial" panose="020B0604020202020204" pitchFamily="34" charset="0"/>
              <a:buChar char="•"/>
            </a:pPr>
            <a:r>
              <a:rPr lang="es-ES" dirty="0"/>
              <a:t>A partir de 12</a:t>
            </a:r>
          </a:p>
          <a:p>
            <a:pPr marL="342900" lvl="1" indent="-342900">
              <a:buFont typeface="Arial" panose="020B0604020202020204" pitchFamily="34" charset="0"/>
              <a:buChar char="•"/>
            </a:pPr>
            <a:endParaRPr lang="es-ES" dirty="0"/>
          </a:p>
          <a:p>
            <a:pPr marL="342900" lvl="1" indent="-342900">
              <a:buFont typeface="Arial" panose="020B0604020202020204" pitchFamily="34" charset="0"/>
              <a:buChar char="•"/>
            </a:pPr>
            <a:endParaRPr lang="es-ES" dirty="0"/>
          </a:p>
          <a:p>
            <a:pPr marL="342900" lvl="1" indent="-342900">
              <a:buFont typeface="Arial" panose="020B0604020202020204" pitchFamily="34" charset="0"/>
              <a:buChar char="•"/>
            </a:pPr>
            <a:r>
              <a:rPr lang="es-ES" dirty="0"/>
              <a:t>Consejo de rendimiento: para grandes OFFSET (paginar muy lejos), se suelen usar técnicas de </a:t>
            </a:r>
            <a:r>
              <a:rPr lang="es-ES" dirty="0" err="1"/>
              <a:t>seek-pagination</a:t>
            </a:r>
            <a:r>
              <a:rPr lang="es-ES" dirty="0"/>
              <a:t> (</a:t>
            </a:r>
            <a:r>
              <a:rPr lang="es-ES" dirty="0" err="1"/>
              <a:t>keyset</a:t>
            </a:r>
            <a:r>
              <a:rPr lang="es-ES" dirty="0"/>
              <a:t> </a:t>
            </a:r>
            <a:r>
              <a:rPr lang="es-ES" dirty="0" err="1"/>
              <a:t>pagination</a:t>
            </a:r>
            <a:r>
              <a:rPr lang="es-ES" dirty="0"/>
              <a:t>) usando WHERE (salario, id) &lt; (:</a:t>
            </a:r>
            <a:r>
              <a:rPr lang="es-ES" dirty="0" err="1"/>
              <a:t>last_salary</a:t>
            </a:r>
            <a:r>
              <a:rPr lang="es-ES" dirty="0"/>
              <a:t>, :</a:t>
            </a:r>
            <a:r>
              <a:rPr lang="es-ES" dirty="0" err="1"/>
              <a:t>last_id</a:t>
            </a:r>
            <a:r>
              <a:rPr lang="es-ES" dirty="0"/>
              <a:t>) para evitar costosos </a:t>
            </a:r>
            <a:r>
              <a:rPr lang="es-ES" dirty="0" err="1"/>
              <a:t>offsets</a:t>
            </a:r>
            <a:r>
              <a:rPr lang="es-ES" dirty="0"/>
              <a:t>..</a:t>
            </a:r>
          </a:p>
        </p:txBody>
      </p:sp>
    </p:spTree>
    <p:extLst>
      <p:ext uri="{BB962C8B-B14F-4D97-AF65-F5344CB8AC3E}">
        <p14:creationId xmlns:p14="http://schemas.microsoft.com/office/powerpoint/2010/main" val="1967069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0B1B1-BB7C-AEAB-7715-B17605FD81CB}"/>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ADA4DDEE-DF05-AC94-EC6E-8E939757DD33}"/>
              </a:ext>
            </a:extLst>
          </p:cNvPr>
          <p:cNvSpPr/>
          <p:nvPr/>
        </p:nvSpPr>
        <p:spPr>
          <a:xfrm>
            <a:off x="227537" y="1326394"/>
            <a:ext cx="3743954" cy="13893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883364DB-61CD-FC62-063E-FD622778FB66}"/>
              </a:ext>
            </a:extLst>
          </p:cNvPr>
          <p:cNvSpPr>
            <a:spLocks noGrp="1"/>
          </p:cNvSpPr>
          <p:nvPr>
            <p:ph idx="1"/>
          </p:nvPr>
        </p:nvSpPr>
        <p:spPr>
          <a:xfrm>
            <a:off x="457200" y="915566"/>
            <a:ext cx="8579296" cy="446310"/>
          </a:xfrm>
        </p:spPr>
        <p:txBody>
          <a:bodyPr>
            <a:normAutofit fontScale="62500" lnSpcReduction="20000"/>
          </a:bodyPr>
          <a:lstStyle/>
          <a:p>
            <a:r>
              <a:rPr lang="es-ES" sz="4400" dirty="0"/>
              <a:t>ORDER BY - Orden y funciones analíticas / ventanas</a:t>
            </a:r>
            <a:endParaRPr lang="es-ES" dirty="0"/>
          </a:p>
        </p:txBody>
      </p:sp>
      <p:sp>
        <p:nvSpPr>
          <p:cNvPr id="4" name="3 Título">
            <a:extLst>
              <a:ext uri="{FF2B5EF4-FFF2-40B4-BE49-F238E27FC236}">
                <a16:creationId xmlns:a16="http://schemas.microsoft.com/office/drawing/2014/main" id="{0D3BC939-8C66-7C55-5924-32B65606A1F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55611091-7393-A466-5754-B070463C55AD}"/>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4518EC4E-6AB8-B7C2-DC23-AE9CC57A98CA}"/>
              </a:ext>
            </a:extLst>
          </p:cNvPr>
          <p:cNvSpPr txBox="1"/>
          <p:nvPr/>
        </p:nvSpPr>
        <p:spPr>
          <a:xfrm>
            <a:off x="323528" y="1530989"/>
            <a:ext cx="3647963" cy="1015663"/>
          </a:xfrm>
          <a:prstGeom prst="rect">
            <a:avLst/>
          </a:prstGeom>
          <a:noFill/>
        </p:spPr>
        <p:txBody>
          <a:bodyPr wrap="square">
            <a:spAutoFit/>
          </a:bodyPr>
          <a:lstStyle/>
          <a:p>
            <a:r>
              <a:rPr lang="en-US" sz="1200" dirty="0"/>
              <a:t>SELECT id, name, salary,</a:t>
            </a:r>
          </a:p>
          <a:p>
            <a:r>
              <a:rPr lang="en-US" sz="1200" dirty="0"/>
              <a:t>       ROW_NUMBER() OVER (PARTITION BY </a:t>
            </a:r>
            <a:r>
              <a:rPr lang="en-US" sz="1200" dirty="0" err="1"/>
              <a:t>departamento_id</a:t>
            </a:r>
            <a:r>
              <a:rPr lang="en-US" sz="1200" dirty="0"/>
              <a:t> ORDER BY salary DESC) AS </a:t>
            </a:r>
            <a:r>
              <a:rPr lang="en-US" sz="1200" dirty="0" err="1"/>
              <a:t>rn</a:t>
            </a:r>
            <a:endParaRPr lang="en-US" sz="1200" dirty="0"/>
          </a:p>
          <a:p>
            <a:r>
              <a:rPr lang="en-US" sz="1200" dirty="0"/>
              <a:t>FROM </a:t>
            </a:r>
            <a:r>
              <a:rPr lang="en-US" sz="1200" dirty="0" err="1"/>
              <a:t>empleados</a:t>
            </a:r>
            <a:r>
              <a:rPr lang="en-US" sz="1200" dirty="0"/>
              <a:t>;</a:t>
            </a:r>
          </a:p>
          <a:p>
            <a:endParaRPr lang="en-US" sz="1200" dirty="0"/>
          </a:p>
        </p:txBody>
      </p:sp>
      <p:sp>
        <p:nvSpPr>
          <p:cNvPr id="9" name="4 Marcador de contenido">
            <a:extLst>
              <a:ext uri="{FF2B5EF4-FFF2-40B4-BE49-F238E27FC236}">
                <a16:creationId xmlns:a16="http://schemas.microsoft.com/office/drawing/2014/main" id="{A9CBD3BB-013F-3538-BA98-CEBBAD70F063}"/>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4E7F83D2-AB74-2A39-332B-DA8F7D0177A3}"/>
              </a:ext>
            </a:extLst>
          </p:cNvPr>
          <p:cNvSpPr txBox="1">
            <a:spLocks/>
          </p:cNvSpPr>
          <p:nvPr/>
        </p:nvSpPr>
        <p:spPr>
          <a:xfrm>
            <a:off x="4005518" y="1326394"/>
            <a:ext cx="5030978" cy="3693628"/>
          </a:xfrm>
          <a:prstGeom prst="rect">
            <a:avLst/>
          </a:prstGeom>
        </p:spPr>
        <p:txBody>
          <a:bodyPr vert="horz" lIns="91440" tIns="45720" rIns="91440" bIns="45720" rtlCol="0">
            <a:normAutofit lnSpcReduction="10000"/>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Las funciones analíticas usan ORDER BY dentro de la cláusula OVER(...). Esto no ordena el resultado final; define el </a:t>
            </a:r>
            <a:r>
              <a:rPr lang="es-ES" i="1" dirty="0"/>
              <a:t>marco</a:t>
            </a:r>
            <a:r>
              <a:rPr lang="es-ES" dirty="0"/>
              <a:t> lógico para la función.</a:t>
            </a:r>
          </a:p>
          <a:p>
            <a:pPr marL="342900" lvl="1" indent="-342900">
              <a:buFont typeface="Arial" panose="020B0604020202020204" pitchFamily="34" charset="0"/>
              <a:buChar char="•"/>
            </a:pPr>
            <a:r>
              <a:rPr lang="es-ES" dirty="0"/>
              <a:t>ROW_NUMBER() + ORDER BY es patrón frecuente para obtener el top-N por grupo sin GROUP BY</a:t>
            </a:r>
          </a:p>
          <a:p>
            <a:pPr marL="342900" lvl="1" indent="-342900">
              <a:buFont typeface="Arial" panose="020B0604020202020204" pitchFamily="34" charset="0"/>
              <a:buChar char="•"/>
            </a:pPr>
            <a:r>
              <a:rPr lang="es-ES" dirty="0"/>
              <a:t>Las funciones analíticas permiten </a:t>
            </a:r>
            <a:r>
              <a:rPr lang="es-ES" b="1" dirty="0"/>
              <a:t>evitar </a:t>
            </a:r>
            <a:r>
              <a:rPr lang="es-ES" b="1" dirty="0" err="1"/>
              <a:t>sorts</a:t>
            </a:r>
            <a:r>
              <a:rPr lang="es-ES" b="1" dirty="0"/>
              <a:t> adicionales</a:t>
            </a:r>
            <a:r>
              <a:rPr lang="es-ES" dirty="0"/>
              <a:t> en algunos casos, pero internamente pueden requerir ordenaciones o hash-</a:t>
            </a:r>
            <a:r>
              <a:rPr lang="es-ES" dirty="0" err="1"/>
              <a:t>partitioning</a:t>
            </a:r>
            <a:r>
              <a:rPr lang="es-ES" dirty="0"/>
              <a:t> según el plan.</a:t>
            </a:r>
          </a:p>
        </p:txBody>
      </p:sp>
    </p:spTree>
    <p:extLst>
      <p:ext uri="{BB962C8B-B14F-4D97-AF65-F5344CB8AC3E}">
        <p14:creationId xmlns:p14="http://schemas.microsoft.com/office/powerpoint/2010/main" val="1056233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749ED-8687-4B5A-3600-5EDE54709755}"/>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9773897B-413C-83B2-DC33-5158F70CDEC8}"/>
              </a:ext>
            </a:extLst>
          </p:cNvPr>
          <p:cNvSpPr/>
          <p:nvPr/>
        </p:nvSpPr>
        <p:spPr>
          <a:xfrm>
            <a:off x="227536" y="1326394"/>
            <a:ext cx="4508505"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07C5AC26-82F5-FC2D-C7CE-AA0C0D21426D}"/>
              </a:ext>
            </a:extLst>
          </p:cNvPr>
          <p:cNvSpPr>
            <a:spLocks noGrp="1"/>
          </p:cNvSpPr>
          <p:nvPr>
            <p:ph idx="1"/>
          </p:nvPr>
        </p:nvSpPr>
        <p:spPr>
          <a:xfrm>
            <a:off x="457200" y="915566"/>
            <a:ext cx="8579296" cy="446310"/>
          </a:xfrm>
        </p:spPr>
        <p:txBody>
          <a:bodyPr>
            <a:normAutofit fontScale="62500" lnSpcReduction="20000"/>
          </a:bodyPr>
          <a:lstStyle/>
          <a:p>
            <a:r>
              <a:rPr lang="es-ES" sz="4400" dirty="0"/>
              <a:t>ORDER BY - </a:t>
            </a:r>
            <a:r>
              <a:rPr lang="en-US" sz="4400" dirty="0"/>
              <a:t>ROW_NUMBER() OVER(PARTITION BY)</a:t>
            </a:r>
            <a:endParaRPr lang="es-ES" dirty="0"/>
          </a:p>
        </p:txBody>
      </p:sp>
      <p:sp>
        <p:nvSpPr>
          <p:cNvPr id="4" name="3 Título">
            <a:extLst>
              <a:ext uri="{FF2B5EF4-FFF2-40B4-BE49-F238E27FC236}">
                <a16:creationId xmlns:a16="http://schemas.microsoft.com/office/drawing/2014/main" id="{B6111E21-832C-853E-9C3F-DEC3921B123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C263141D-70BC-C5DC-BFE9-23368B2EBD46}"/>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8C3A0008-5B29-91F4-1B18-1A3CB4429D1C}"/>
              </a:ext>
            </a:extLst>
          </p:cNvPr>
          <p:cNvSpPr txBox="1"/>
          <p:nvPr/>
        </p:nvSpPr>
        <p:spPr>
          <a:xfrm>
            <a:off x="242090" y="1334949"/>
            <a:ext cx="4504758" cy="3154710"/>
          </a:xfrm>
          <a:prstGeom prst="rect">
            <a:avLst/>
          </a:prstGeom>
          <a:noFill/>
        </p:spPr>
        <p:txBody>
          <a:bodyPr wrap="square">
            <a:spAutoFit/>
          </a:bodyPr>
          <a:lstStyle/>
          <a:p>
            <a:r>
              <a:rPr lang="en-US" sz="1100" dirty="0"/>
              <a:t>SELECT </a:t>
            </a:r>
          </a:p>
          <a:p>
            <a:r>
              <a:rPr lang="en-US" sz="1100" dirty="0"/>
              <a:t>    </a:t>
            </a:r>
            <a:r>
              <a:rPr lang="en-US" sz="1100" dirty="0" err="1"/>
              <a:t>venta_id</a:t>
            </a:r>
            <a:r>
              <a:rPr lang="en-US" sz="1100" dirty="0"/>
              <a:t>,</a:t>
            </a:r>
          </a:p>
          <a:p>
            <a:r>
              <a:rPr lang="en-US" sz="1100" dirty="0"/>
              <a:t>    </a:t>
            </a:r>
            <a:r>
              <a:rPr lang="en-US" sz="1100" dirty="0" err="1"/>
              <a:t>vendedor_id</a:t>
            </a:r>
            <a:r>
              <a:rPr lang="en-US" sz="1100" dirty="0"/>
              <a:t>,</a:t>
            </a:r>
          </a:p>
          <a:p>
            <a:r>
              <a:rPr lang="en-US" sz="1100" dirty="0"/>
              <a:t>    region,</a:t>
            </a:r>
          </a:p>
          <a:p>
            <a:r>
              <a:rPr lang="en-US" sz="1100" dirty="0"/>
              <a:t>    </a:t>
            </a:r>
            <a:r>
              <a:rPr lang="en-US" sz="1100" dirty="0" err="1"/>
              <a:t>producto</a:t>
            </a:r>
            <a:r>
              <a:rPr lang="en-US" sz="1100" dirty="0"/>
              <a:t>,</a:t>
            </a:r>
          </a:p>
          <a:p>
            <a:r>
              <a:rPr lang="en-US" sz="1100" dirty="0"/>
              <a:t>    </a:t>
            </a:r>
            <a:r>
              <a:rPr lang="en-US" sz="1100" dirty="0" err="1"/>
              <a:t>monto_venta</a:t>
            </a:r>
            <a:r>
              <a:rPr lang="en-US" sz="1100" dirty="0"/>
              <a:t>,</a:t>
            </a:r>
          </a:p>
          <a:p>
            <a:r>
              <a:rPr lang="en-US" sz="1100" dirty="0"/>
              <a:t>    -- ROW_NUMBER: </a:t>
            </a:r>
            <a:r>
              <a:rPr lang="en-US" sz="1100" dirty="0" err="1"/>
              <a:t>Siempre</a:t>
            </a:r>
            <a:r>
              <a:rPr lang="en-US" sz="1100" dirty="0"/>
              <a:t> </a:t>
            </a:r>
            <a:r>
              <a:rPr lang="en-US" sz="1100" dirty="0" err="1"/>
              <a:t>números</a:t>
            </a:r>
            <a:r>
              <a:rPr lang="en-US" sz="1100" dirty="0"/>
              <a:t> </a:t>
            </a:r>
            <a:r>
              <a:rPr lang="en-US" sz="1100" dirty="0" err="1"/>
              <a:t>consecutivos</a:t>
            </a:r>
            <a:r>
              <a:rPr lang="en-US" sz="1100" dirty="0"/>
              <a:t> </a:t>
            </a:r>
            <a:r>
              <a:rPr lang="en-US" sz="1100" dirty="0" err="1"/>
              <a:t>únicos</a:t>
            </a:r>
            <a:r>
              <a:rPr lang="en-US" sz="1100" dirty="0"/>
              <a:t> (1,2,3,4...)</a:t>
            </a:r>
          </a:p>
          <a:p>
            <a:r>
              <a:rPr lang="en-US" sz="1100" dirty="0"/>
              <a:t>    </a:t>
            </a:r>
            <a:r>
              <a:rPr lang="en-US" sz="1100" b="1" dirty="0"/>
              <a:t>ROW_NUMBER() OVER (PARTITION BY region ORDER BY </a:t>
            </a:r>
            <a:r>
              <a:rPr lang="en-US" sz="1100" b="1" dirty="0" err="1"/>
              <a:t>monto_venta</a:t>
            </a:r>
            <a:r>
              <a:rPr lang="en-US" sz="1100" b="1" dirty="0"/>
              <a:t> DESC) </a:t>
            </a:r>
            <a:r>
              <a:rPr lang="en-US" sz="1100" dirty="0"/>
              <a:t>as </a:t>
            </a:r>
            <a:r>
              <a:rPr lang="en-US" sz="1100" dirty="0" err="1"/>
              <a:t>row_num</a:t>
            </a:r>
            <a:r>
              <a:rPr lang="en-US" sz="1100" dirty="0"/>
              <a:t>,</a:t>
            </a:r>
          </a:p>
          <a:p>
            <a:r>
              <a:rPr lang="en-US" sz="1100" dirty="0"/>
              <a:t>    -- RANK: </a:t>
            </a:r>
            <a:r>
              <a:rPr lang="en-US" sz="1100" dirty="0" err="1"/>
              <a:t>Mismo</a:t>
            </a:r>
            <a:r>
              <a:rPr lang="en-US" sz="1100" dirty="0"/>
              <a:t> </a:t>
            </a:r>
            <a:r>
              <a:rPr lang="en-US" sz="1100" dirty="0" err="1"/>
              <a:t>número</a:t>
            </a:r>
            <a:r>
              <a:rPr lang="en-US" sz="1100" dirty="0"/>
              <a:t> para </a:t>
            </a:r>
            <a:r>
              <a:rPr lang="en-US" sz="1100" dirty="0" err="1"/>
              <a:t>empates</a:t>
            </a:r>
            <a:r>
              <a:rPr lang="en-US" sz="1100" dirty="0"/>
              <a:t>, </a:t>
            </a:r>
            <a:r>
              <a:rPr lang="en-US" sz="1100" dirty="0" err="1"/>
              <a:t>salta</a:t>
            </a:r>
            <a:r>
              <a:rPr lang="en-US" sz="1100" dirty="0"/>
              <a:t> </a:t>
            </a:r>
            <a:r>
              <a:rPr lang="en-US" sz="1100" dirty="0" err="1"/>
              <a:t>números</a:t>
            </a:r>
            <a:r>
              <a:rPr lang="en-US" sz="1100" dirty="0"/>
              <a:t> (1,2,2,4...)</a:t>
            </a:r>
          </a:p>
          <a:p>
            <a:r>
              <a:rPr lang="en-US" sz="1100" dirty="0"/>
              <a:t>    </a:t>
            </a:r>
            <a:r>
              <a:rPr lang="en-US" sz="1100" b="1" dirty="0"/>
              <a:t>RANK</a:t>
            </a:r>
            <a:r>
              <a:rPr lang="en-US" sz="1100" dirty="0"/>
              <a:t>() OVER (PARTITION BY region ORDER BY </a:t>
            </a:r>
            <a:r>
              <a:rPr lang="en-US" sz="1100" dirty="0" err="1"/>
              <a:t>monto_venta</a:t>
            </a:r>
            <a:r>
              <a:rPr lang="en-US" sz="1100" dirty="0"/>
              <a:t> DESC) as </a:t>
            </a:r>
            <a:r>
              <a:rPr lang="en-US" sz="1100" dirty="0" err="1"/>
              <a:t>rank_num</a:t>
            </a:r>
            <a:r>
              <a:rPr lang="en-US" sz="1100" dirty="0"/>
              <a:t>,</a:t>
            </a:r>
          </a:p>
          <a:p>
            <a:r>
              <a:rPr lang="en-US" sz="1100" dirty="0"/>
              <a:t>    -- DENSE_RANK: </a:t>
            </a:r>
            <a:r>
              <a:rPr lang="en-US" sz="1100" dirty="0" err="1"/>
              <a:t>Mismo</a:t>
            </a:r>
            <a:r>
              <a:rPr lang="en-US" sz="1100" dirty="0"/>
              <a:t> </a:t>
            </a:r>
            <a:r>
              <a:rPr lang="en-US" sz="1100" dirty="0" err="1"/>
              <a:t>número</a:t>
            </a:r>
            <a:r>
              <a:rPr lang="en-US" sz="1100" dirty="0"/>
              <a:t> para </a:t>
            </a:r>
            <a:r>
              <a:rPr lang="en-US" sz="1100" dirty="0" err="1"/>
              <a:t>empates</a:t>
            </a:r>
            <a:r>
              <a:rPr lang="en-US" sz="1100" dirty="0"/>
              <a:t>, no </a:t>
            </a:r>
            <a:r>
              <a:rPr lang="en-US" sz="1100" dirty="0" err="1"/>
              <a:t>salta</a:t>
            </a:r>
            <a:r>
              <a:rPr lang="en-US" sz="1100" dirty="0"/>
              <a:t> (1,2,2,3...)</a:t>
            </a:r>
          </a:p>
          <a:p>
            <a:r>
              <a:rPr lang="en-US" sz="1100" dirty="0"/>
              <a:t>    </a:t>
            </a:r>
            <a:r>
              <a:rPr lang="en-US" sz="1100" b="1" u="sng" dirty="0"/>
              <a:t>DENSE_RANK</a:t>
            </a:r>
            <a:r>
              <a:rPr lang="en-US" sz="1100" dirty="0"/>
              <a:t>() OVER (PARTITION BY region ORDER BY </a:t>
            </a:r>
            <a:r>
              <a:rPr lang="en-US" sz="1100" dirty="0" err="1"/>
              <a:t>monto_venta</a:t>
            </a:r>
            <a:r>
              <a:rPr lang="en-US" sz="1100" dirty="0"/>
              <a:t> DESC) as </a:t>
            </a:r>
            <a:r>
              <a:rPr lang="en-US" sz="1100" dirty="0" err="1"/>
              <a:t>dense_rank_num</a:t>
            </a:r>
            <a:endParaRPr lang="en-US" sz="1100" dirty="0"/>
          </a:p>
          <a:p>
            <a:r>
              <a:rPr lang="en-US" sz="1100" dirty="0"/>
              <a:t>FROM </a:t>
            </a:r>
            <a:r>
              <a:rPr lang="en-US" sz="1100" dirty="0" err="1"/>
              <a:t>ventas</a:t>
            </a:r>
            <a:endParaRPr lang="en-US" sz="1100" dirty="0"/>
          </a:p>
          <a:p>
            <a:r>
              <a:rPr lang="en-US" sz="1100" dirty="0"/>
              <a:t>ORDER BY region, </a:t>
            </a:r>
            <a:r>
              <a:rPr lang="en-US" sz="1100" dirty="0" err="1"/>
              <a:t>monto_venta</a:t>
            </a:r>
            <a:r>
              <a:rPr lang="en-US" sz="1100" dirty="0"/>
              <a:t> DESC;</a:t>
            </a:r>
          </a:p>
          <a:p>
            <a:endParaRPr lang="en-US" sz="1200" dirty="0"/>
          </a:p>
        </p:txBody>
      </p:sp>
      <p:sp>
        <p:nvSpPr>
          <p:cNvPr id="9" name="4 Marcador de contenido">
            <a:extLst>
              <a:ext uri="{FF2B5EF4-FFF2-40B4-BE49-F238E27FC236}">
                <a16:creationId xmlns:a16="http://schemas.microsoft.com/office/drawing/2014/main" id="{D5695E3F-36C7-BE90-9A2F-8F8D6DA9B419}"/>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63DC6D8B-30C9-AC8F-D60C-D1277F1D7512}"/>
              </a:ext>
            </a:extLst>
          </p:cNvPr>
          <p:cNvSpPr txBox="1">
            <a:spLocks/>
          </p:cNvSpPr>
          <p:nvPr/>
        </p:nvSpPr>
        <p:spPr>
          <a:xfrm>
            <a:off x="4746848" y="1449872"/>
            <a:ext cx="395085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Es una </a:t>
            </a:r>
            <a:r>
              <a:rPr lang="es-ES" sz="1600" b="1" dirty="0"/>
              <a:t>función de ventana (</a:t>
            </a:r>
            <a:r>
              <a:rPr lang="es-ES" sz="1600" b="1" dirty="0" err="1"/>
              <a:t>window</a:t>
            </a:r>
            <a:r>
              <a:rPr lang="es-ES" sz="1600" b="1" dirty="0"/>
              <a:t> </a:t>
            </a:r>
            <a:r>
              <a:rPr lang="es-ES" sz="1600" b="1" dirty="0" err="1"/>
              <a:t>function</a:t>
            </a:r>
            <a:r>
              <a:rPr lang="es-ES" sz="1600" b="1" dirty="0"/>
              <a:t>)</a:t>
            </a:r>
            <a:r>
              <a:rPr lang="es-ES" sz="1600" dirty="0"/>
              <a:t> que asigna un número secuencial único a cada fila dentro de su partición, basado en el orden especificado.</a:t>
            </a:r>
          </a:p>
          <a:p>
            <a:pPr marL="342900" lvl="1" indent="-342900">
              <a:buFont typeface="Arial" panose="020B0604020202020204" pitchFamily="34" charset="0"/>
              <a:buChar char="•"/>
            </a:pPr>
            <a:r>
              <a:rPr lang="es-ES" sz="1600" dirty="0"/>
              <a:t>Cómo Funciona:</a:t>
            </a:r>
          </a:p>
          <a:p>
            <a:pPr marL="877888" lvl="2" indent="-342900"/>
            <a:r>
              <a:rPr lang="es-ES" sz="1600" dirty="0"/>
              <a:t>PARTITION BY: Divide los datos en grupos</a:t>
            </a:r>
          </a:p>
          <a:p>
            <a:pPr marL="877888" lvl="2" indent="-342900"/>
            <a:r>
              <a:rPr lang="es-ES" sz="1600" dirty="0"/>
              <a:t>ORDER BY: Ordena las filas dentro de cada grupo</a:t>
            </a:r>
          </a:p>
          <a:p>
            <a:pPr marL="877888" lvl="2" indent="-342900"/>
            <a:r>
              <a:rPr lang="es-ES" sz="1600" dirty="0"/>
              <a:t>ROW_NUMBER(): Asigna números 1, 2, 3... dentro de cada grupo</a:t>
            </a:r>
          </a:p>
        </p:txBody>
      </p:sp>
      <p:sp>
        <p:nvSpPr>
          <p:cNvPr id="2" name="CuadroTexto 1">
            <a:extLst>
              <a:ext uri="{FF2B5EF4-FFF2-40B4-BE49-F238E27FC236}">
                <a16:creationId xmlns:a16="http://schemas.microsoft.com/office/drawing/2014/main" id="{DE29FAF5-F0EA-D3AF-DE01-F8190AA4AD3C}"/>
              </a:ext>
            </a:extLst>
          </p:cNvPr>
          <p:cNvSpPr txBox="1"/>
          <p:nvPr/>
        </p:nvSpPr>
        <p:spPr>
          <a:xfrm>
            <a:off x="7343135" y="4731990"/>
            <a:ext cx="1774078" cy="246221"/>
          </a:xfrm>
          <a:prstGeom prst="rect">
            <a:avLst/>
          </a:prstGeom>
          <a:noFill/>
        </p:spPr>
        <p:txBody>
          <a:bodyPr wrap="square">
            <a:spAutoFit/>
          </a:bodyPr>
          <a:lstStyle/>
          <a:p>
            <a:pPr algn="l"/>
            <a:r>
              <a:rPr lang="es-ES" sz="1000" b="0" i="0" dirty="0" err="1">
                <a:solidFill>
                  <a:srgbClr val="FF6A00"/>
                </a:solidFill>
                <a:effectLst/>
                <a:latin typeface="-apple-system"/>
              </a:rPr>
              <a:t>over-partition-by.sql</a:t>
            </a:r>
            <a:endParaRPr lang="es-ES" sz="1000" b="0" i="0" dirty="0">
              <a:solidFill>
                <a:srgbClr val="FF6A00"/>
              </a:solidFill>
              <a:effectLst/>
              <a:latin typeface="-apple-system"/>
            </a:endParaRPr>
          </a:p>
        </p:txBody>
      </p:sp>
    </p:spTree>
    <p:extLst>
      <p:ext uri="{BB962C8B-B14F-4D97-AF65-F5344CB8AC3E}">
        <p14:creationId xmlns:p14="http://schemas.microsoft.com/office/powerpoint/2010/main" val="8910300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3151E-26C9-A57E-5F5C-D743AB4824D6}"/>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32650A7F-1453-E2E5-8BD9-AE6345FEC5FC}"/>
              </a:ext>
            </a:extLst>
          </p:cNvPr>
          <p:cNvSpPr/>
          <p:nvPr/>
        </p:nvSpPr>
        <p:spPr>
          <a:xfrm>
            <a:off x="227537" y="1326394"/>
            <a:ext cx="3743954" cy="195892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EBBFF353-C252-AEFF-8468-FB3D558B8DFD}"/>
              </a:ext>
            </a:extLst>
          </p:cNvPr>
          <p:cNvSpPr>
            <a:spLocks noGrp="1"/>
          </p:cNvSpPr>
          <p:nvPr>
            <p:ph idx="1"/>
          </p:nvPr>
        </p:nvSpPr>
        <p:spPr>
          <a:xfrm>
            <a:off x="457200" y="915566"/>
            <a:ext cx="8579296" cy="446310"/>
          </a:xfrm>
        </p:spPr>
        <p:txBody>
          <a:bodyPr>
            <a:normAutofit fontScale="62500" lnSpcReduction="20000"/>
          </a:bodyPr>
          <a:lstStyle/>
          <a:p>
            <a:r>
              <a:rPr lang="es-ES" sz="4400" dirty="0"/>
              <a:t>NLS, </a:t>
            </a:r>
            <a:r>
              <a:rPr lang="es-ES" sz="4400" dirty="0" err="1"/>
              <a:t>Collation</a:t>
            </a:r>
            <a:r>
              <a:rPr lang="es-ES" sz="4400" dirty="0"/>
              <a:t> y Ordenamiento Case-</a:t>
            </a:r>
            <a:r>
              <a:rPr lang="es-ES" sz="4400" dirty="0" err="1"/>
              <a:t>Insensitive</a:t>
            </a:r>
            <a:endParaRPr lang="es-ES" dirty="0"/>
          </a:p>
        </p:txBody>
      </p:sp>
      <p:sp>
        <p:nvSpPr>
          <p:cNvPr id="4" name="3 Título">
            <a:extLst>
              <a:ext uri="{FF2B5EF4-FFF2-40B4-BE49-F238E27FC236}">
                <a16:creationId xmlns:a16="http://schemas.microsoft.com/office/drawing/2014/main" id="{CBA7CA1F-C78D-9434-A471-5B4DB1F30D4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09F8721-F26F-C73A-3B80-42F108046CB3}"/>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24244B5F-66AE-6D6B-4DE6-6A22E23FBEE6}"/>
              </a:ext>
            </a:extLst>
          </p:cNvPr>
          <p:cNvSpPr txBox="1"/>
          <p:nvPr/>
        </p:nvSpPr>
        <p:spPr>
          <a:xfrm>
            <a:off x="323528" y="1530989"/>
            <a:ext cx="3647963" cy="1754326"/>
          </a:xfrm>
          <a:prstGeom prst="rect">
            <a:avLst/>
          </a:prstGeom>
          <a:noFill/>
        </p:spPr>
        <p:txBody>
          <a:bodyPr wrap="square">
            <a:spAutoFit/>
          </a:bodyPr>
          <a:lstStyle/>
          <a:p>
            <a:r>
              <a:rPr lang="en-US" sz="1200" dirty="0"/>
              <a:t>S-- Ver </a:t>
            </a:r>
            <a:r>
              <a:rPr lang="en-US" sz="1200" dirty="0" err="1"/>
              <a:t>parámetros</a:t>
            </a:r>
            <a:r>
              <a:rPr lang="en-US" sz="1200" dirty="0"/>
              <a:t> NLS </a:t>
            </a:r>
            <a:r>
              <a:rPr lang="en-US" sz="1200" dirty="0" err="1"/>
              <a:t>actuales</a:t>
            </a:r>
            <a:endParaRPr lang="en-US" sz="1200" dirty="0"/>
          </a:p>
          <a:p>
            <a:r>
              <a:rPr lang="en-US" sz="1200" dirty="0"/>
              <a:t>SELECT * FROM NLS_SESSION_PARAMETERS;</a:t>
            </a:r>
          </a:p>
          <a:p>
            <a:endParaRPr lang="en-US" sz="1200" dirty="0"/>
          </a:p>
          <a:p>
            <a:r>
              <a:rPr lang="en-US" sz="1200" dirty="0"/>
              <a:t>-- </a:t>
            </a:r>
            <a:r>
              <a:rPr lang="en-US" sz="1200" dirty="0" err="1"/>
              <a:t>Parámetros</a:t>
            </a:r>
            <a:r>
              <a:rPr lang="en-US" sz="1200" dirty="0"/>
              <a:t> </a:t>
            </a:r>
            <a:r>
              <a:rPr lang="en-US" sz="1200" dirty="0" err="1"/>
              <a:t>importantes</a:t>
            </a:r>
            <a:r>
              <a:rPr lang="en-US" sz="1200" dirty="0"/>
              <a:t>:</a:t>
            </a:r>
          </a:p>
          <a:p>
            <a:r>
              <a:rPr lang="en-US" sz="1200" dirty="0"/>
              <a:t>SELECT PARAMETER, VALUE </a:t>
            </a:r>
          </a:p>
          <a:p>
            <a:r>
              <a:rPr lang="en-US" sz="1200" dirty="0"/>
              <a:t>FROM NLS_SESSION_PARAMETERS </a:t>
            </a:r>
          </a:p>
          <a:p>
            <a:r>
              <a:rPr lang="en-US" sz="1200" dirty="0"/>
              <a:t>WHERE PARAMETER IN ('NLS_SORT', 'NLS_COMP', 'NLS_LANGUAGE');</a:t>
            </a:r>
          </a:p>
          <a:p>
            <a:endParaRPr lang="en-US" sz="1200" dirty="0"/>
          </a:p>
        </p:txBody>
      </p:sp>
      <p:sp>
        <p:nvSpPr>
          <p:cNvPr id="9" name="4 Marcador de contenido">
            <a:extLst>
              <a:ext uri="{FF2B5EF4-FFF2-40B4-BE49-F238E27FC236}">
                <a16:creationId xmlns:a16="http://schemas.microsoft.com/office/drawing/2014/main" id="{9011C200-8A57-8806-2E5A-35D0BA921A5C}"/>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7E1E8538-77D8-F2F0-E16F-F68BDBE98F9D}"/>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NLS es el sistema de Oracle para soportar diferentes idiomas, caracteres, y reglas culturales de ordenamiento.</a:t>
            </a:r>
          </a:p>
          <a:p>
            <a:pPr marL="342900" lvl="1" indent="-342900">
              <a:buFont typeface="Arial" panose="020B0604020202020204" pitchFamily="34" charset="0"/>
              <a:buChar char="•"/>
            </a:pPr>
            <a:r>
              <a:rPr lang="es-ES" sz="1600" b="1" dirty="0"/>
              <a:t>NLS_SORT</a:t>
            </a:r>
            <a:r>
              <a:rPr lang="es-ES" sz="1600" dirty="0"/>
              <a:t> - Define el método de ordenamiento</a:t>
            </a:r>
          </a:p>
          <a:p>
            <a:pPr marL="877888" lvl="2" indent="-342900"/>
            <a:r>
              <a:rPr lang="es-ES" sz="1600" dirty="0"/>
              <a:t>BINARY: Ordenamiento por valor binario (case-sensitive)</a:t>
            </a:r>
          </a:p>
          <a:p>
            <a:pPr marL="877888" lvl="2" indent="-342900"/>
            <a:r>
              <a:rPr lang="es-ES" sz="1600" dirty="0"/>
              <a:t>BINARY_CI: Case-</a:t>
            </a:r>
            <a:r>
              <a:rPr lang="es-ES" sz="1600" dirty="0" err="1"/>
              <a:t>Insensitive</a:t>
            </a:r>
            <a:endParaRPr lang="es-ES" sz="1600" dirty="0"/>
          </a:p>
          <a:p>
            <a:pPr marL="877888" lvl="2" indent="-342900"/>
            <a:r>
              <a:rPr lang="es-ES" sz="1600" dirty="0"/>
              <a:t>SPANISH: Ordenamiento según reglas del español</a:t>
            </a:r>
          </a:p>
          <a:p>
            <a:pPr marL="877888" lvl="2" indent="-342900"/>
            <a:r>
              <a:rPr lang="es-ES" sz="1600" dirty="0"/>
              <a:t>SPANISH_CI: Español case-</a:t>
            </a:r>
            <a:r>
              <a:rPr lang="es-ES" sz="1600" dirty="0" err="1"/>
              <a:t>insensitive</a:t>
            </a:r>
            <a:endParaRPr lang="es-ES" sz="1600" dirty="0"/>
          </a:p>
        </p:txBody>
      </p:sp>
      <p:sp>
        <p:nvSpPr>
          <p:cNvPr id="2" name="4 Marcador de contenido">
            <a:extLst>
              <a:ext uri="{FF2B5EF4-FFF2-40B4-BE49-F238E27FC236}">
                <a16:creationId xmlns:a16="http://schemas.microsoft.com/office/drawing/2014/main" id="{07143FD7-2764-0128-991D-39EB3B757B59}"/>
              </a:ext>
            </a:extLst>
          </p:cNvPr>
          <p:cNvSpPr txBox="1">
            <a:spLocks/>
          </p:cNvSpPr>
          <p:nvPr/>
        </p:nvSpPr>
        <p:spPr>
          <a:xfrm>
            <a:off x="227537" y="3377728"/>
            <a:ext cx="4032448" cy="1570286"/>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b="1" dirty="0"/>
              <a:t>NLS_COMP</a:t>
            </a:r>
            <a:r>
              <a:rPr lang="es-ES" sz="1600" dirty="0"/>
              <a:t> - Define el método de comparación</a:t>
            </a:r>
          </a:p>
          <a:p>
            <a:pPr marL="877888" lvl="2" indent="-342900"/>
            <a:r>
              <a:rPr lang="es-ES" sz="1400" dirty="0"/>
              <a:t>BINARY: Comparaciones exactas (case-sensitive)</a:t>
            </a:r>
          </a:p>
          <a:p>
            <a:pPr marL="877888" lvl="2" indent="-342900"/>
            <a:r>
              <a:rPr lang="es-ES" sz="1400" dirty="0"/>
              <a:t>LINGUISTIC: Usa reglas de NLS_SORT</a:t>
            </a:r>
          </a:p>
          <a:p>
            <a:pPr lvl="1"/>
            <a:endParaRPr lang="es-ES" sz="1600" dirty="0"/>
          </a:p>
        </p:txBody>
      </p:sp>
    </p:spTree>
    <p:extLst>
      <p:ext uri="{BB962C8B-B14F-4D97-AF65-F5344CB8AC3E}">
        <p14:creationId xmlns:p14="http://schemas.microsoft.com/office/powerpoint/2010/main" val="480871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A4C21-04D3-F048-E744-649941BDC1F4}"/>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27335FD5-ABAC-8DA9-F794-75F35F3F3B80}"/>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288425B4-B8E4-BD2D-28DB-7F3D29E656F5}"/>
              </a:ext>
            </a:extLst>
          </p:cNvPr>
          <p:cNvSpPr>
            <a:spLocks noGrp="1"/>
          </p:cNvSpPr>
          <p:nvPr>
            <p:ph idx="1"/>
          </p:nvPr>
        </p:nvSpPr>
        <p:spPr>
          <a:xfrm>
            <a:off x="457200" y="915566"/>
            <a:ext cx="8579296" cy="446310"/>
          </a:xfrm>
        </p:spPr>
        <p:txBody>
          <a:bodyPr>
            <a:normAutofit lnSpcReduction="10000"/>
          </a:bodyPr>
          <a:lstStyle/>
          <a:p>
            <a:r>
              <a:rPr lang="es-ES_tradnl" dirty="0"/>
              <a:t>ORDER BY - Índices y NLS_SORT</a:t>
            </a:r>
            <a:endParaRPr lang="es-ES" dirty="0"/>
          </a:p>
        </p:txBody>
      </p:sp>
      <p:sp>
        <p:nvSpPr>
          <p:cNvPr id="4" name="3 Título">
            <a:extLst>
              <a:ext uri="{FF2B5EF4-FFF2-40B4-BE49-F238E27FC236}">
                <a16:creationId xmlns:a16="http://schemas.microsoft.com/office/drawing/2014/main" id="{C78B7C03-3B35-97F4-7A99-03C2918FD6B0}"/>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41A8740E-0D87-549C-A941-C704C71185F3}"/>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47BFDD55-4163-E4ED-4029-453F24A38DC5}"/>
              </a:ext>
            </a:extLst>
          </p:cNvPr>
          <p:cNvSpPr txBox="1"/>
          <p:nvPr/>
        </p:nvSpPr>
        <p:spPr>
          <a:xfrm>
            <a:off x="251520" y="1419622"/>
            <a:ext cx="3647963" cy="3600986"/>
          </a:xfrm>
          <a:prstGeom prst="rect">
            <a:avLst/>
          </a:prstGeom>
          <a:noFill/>
        </p:spPr>
        <p:txBody>
          <a:bodyPr wrap="square">
            <a:spAutoFit/>
          </a:bodyPr>
          <a:lstStyle/>
          <a:p>
            <a:r>
              <a:rPr lang="en-US" sz="1200" dirty="0"/>
              <a:t>-- Mala practica</a:t>
            </a:r>
          </a:p>
          <a:p>
            <a:r>
              <a:rPr lang="en-US" sz="1200" dirty="0"/>
              <a:t>SELECT * FROM </a:t>
            </a:r>
            <a:r>
              <a:rPr lang="en-US" sz="1200" dirty="0" err="1"/>
              <a:t>empleados</a:t>
            </a:r>
            <a:r>
              <a:rPr lang="en-US" sz="1200" dirty="0"/>
              <a:t> </a:t>
            </a:r>
          </a:p>
          <a:p>
            <a:r>
              <a:rPr lang="en-US" sz="1200" dirty="0"/>
              <a:t>WHERE NLSSORT(</a:t>
            </a:r>
            <a:r>
              <a:rPr lang="en-US" sz="1200" dirty="0" err="1"/>
              <a:t>nombre</a:t>
            </a:r>
            <a:r>
              <a:rPr lang="en-US" sz="1200" dirty="0"/>
              <a:t>, 'NLS_SORT=BINARY_CI') = NLSSORT('MARIA', 'NLS_SORT=BINARY_CI’);</a:t>
            </a:r>
          </a:p>
          <a:p>
            <a:endParaRPr lang="en-US" sz="1200" dirty="0"/>
          </a:p>
          <a:p>
            <a:r>
              <a:rPr lang="en-US" sz="1200" dirty="0"/>
              <a:t>-- </a:t>
            </a:r>
            <a:r>
              <a:rPr lang="en-US" sz="1200" dirty="0" err="1"/>
              <a:t>Configurar</a:t>
            </a:r>
            <a:r>
              <a:rPr lang="en-US" sz="1200" dirty="0"/>
              <a:t> a </a:t>
            </a:r>
            <a:r>
              <a:rPr lang="en-US" sz="1200" dirty="0" err="1"/>
              <a:t>nivel</a:t>
            </a:r>
            <a:r>
              <a:rPr lang="en-US" sz="1200" dirty="0"/>
              <a:t> de </a:t>
            </a:r>
            <a:r>
              <a:rPr lang="en-US" sz="1200" dirty="0" err="1"/>
              <a:t>sesión</a:t>
            </a:r>
            <a:endParaRPr lang="en-US" sz="1200" dirty="0"/>
          </a:p>
          <a:p>
            <a:r>
              <a:rPr lang="en-US" sz="1200" dirty="0"/>
              <a:t>ALTER SESSION SET NLS_COMP = 'LINGUISTIC';</a:t>
            </a:r>
          </a:p>
          <a:p>
            <a:r>
              <a:rPr lang="en-US" sz="1200" dirty="0"/>
              <a:t>ALTER SESSION SET NLS_SORT = 'BINARY_CI';</a:t>
            </a:r>
          </a:p>
          <a:p>
            <a:r>
              <a:rPr lang="en-US" sz="1200" dirty="0"/>
              <a:t>SELECT * FROM </a:t>
            </a:r>
            <a:r>
              <a:rPr lang="en-US" sz="1200" dirty="0" err="1"/>
              <a:t>empleados</a:t>
            </a:r>
            <a:r>
              <a:rPr lang="en-US" sz="1200" dirty="0"/>
              <a:t> WHERE </a:t>
            </a:r>
            <a:r>
              <a:rPr lang="en-US" sz="1200" dirty="0" err="1"/>
              <a:t>nombre</a:t>
            </a:r>
            <a:r>
              <a:rPr lang="en-US" sz="1200" dirty="0"/>
              <a:t> = 'MARIA’;</a:t>
            </a:r>
          </a:p>
          <a:p>
            <a:endParaRPr lang="en-US" sz="1200" dirty="0"/>
          </a:p>
          <a:p>
            <a:r>
              <a:rPr lang="en-US" sz="1200" dirty="0"/>
              <a:t> -- Crear </a:t>
            </a:r>
            <a:r>
              <a:rPr lang="en-US" sz="1200" dirty="0" err="1"/>
              <a:t>índice</a:t>
            </a:r>
            <a:r>
              <a:rPr lang="en-US" sz="1200" dirty="0"/>
              <a:t> </a:t>
            </a:r>
            <a:r>
              <a:rPr lang="en-US" sz="1200" dirty="0" err="1"/>
              <a:t>basado</a:t>
            </a:r>
            <a:r>
              <a:rPr lang="en-US" sz="1200" dirty="0"/>
              <a:t> </a:t>
            </a:r>
            <a:r>
              <a:rPr lang="en-US" sz="1200" dirty="0" err="1"/>
              <a:t>en</a:t>
            </a:r>
            <a:r>
              <a:rPr lang="en-US" sz="1200" dirty="0"/>
              <a:t> </a:t>
            </a:r>
            <a:r>
              <a:rPr lang="en-US" sz="1200" dirty="0" err="1"/>
              <a:t>función</a:t>
            </a:r>
            <a:r>
              <a:rPr lang="en-US" sz="1200" dirty="0"/>
              <a:t> para NLSSORT</a:t>
            </a:r>
          </a:p>
          <a:p>
            <a:r>
              <a:rPr lang="en-US" sz="1200" dirty="0"/>
              <a:t>CREATE INDEX </a:t>
            </a:r>
            <a:r>
              <a:rPr lang="en-US" sz="1200" dirty="0" err="1"/>
              <a:t>idx_clientes_nombre_ci</a:t>
            </a:r>
            <a:r>
              <a:rPr lang="en-US" sz="1200" dirty="0"/>
              <a:t> ON </a:t>
            </a:r>
            <a:r>
              <a:rPr lang="en-US" sz="1200" dirty="0" err="1"/>
              <a:t>clientes</a:t>
            </a:r>
            <a:r>
              <a:rPr lang="en-US" sz="1200" dirty="0"/>
              <a:t>(NLSSORT(</a:t>
            </a:r>
            <a:r>
              <a:rPr lang="en-US" sz="1200" dirty="0" err="1"/>
              <a:t>nombre</a:t>
            </a:r>
            <a:r>
              <a:rPr lang="en-US" sz="1200" dirty="0"/>
              <a:t>, 'NLS_SORT=BINARY_CI'));</a:t>
            </a:r>
          </a:p>
          <a:p>
            <a:endParaRPr lang="en-US" sz="1200" dirty="0"/>
          </a:p>
          <a:p>
            <a:r>
              <a:rPr lang="en-US" sz="1200" dirty="0"/>
              <a:t>-- </a:t>
            </a:r>
            <a:r>
              <a:rPr lang="en-US" sz="1200" dirty="0" err="1"/>
              <a:t>Ahora</a:t>
            </a:r>
            <a:r>
              <a:rPr lang="en-US" sz="1200" dirty="0"/>
              <a:t> </a:t>
            </a:r>
            <a:r>
              <a:rPr lang="en-US" sz="1200" dirty="0" err="1"/>
              <a:t>esta</a:t>
            </a:r>
            <a:r>
              <a:rPr lang="en-US" sz="1200" dirty="0"/>
              <a:t> consulta </a:t>
            </a:r>
            <a:r>
              <a:rPr lang="en-US" sz="1200" dirty="0" err="1"/>
              <a:t>puede</a:t>
            </a:r>
            <a:r>
              <a:rPr lang="en-US" sz="1200" dirty="0"/>
              <a:t> usar </a:t>
            </a:r>
            <a:r>
              <a:rPr lang="en-US" sz="1200" dirty="0" err="1"/>
              <a:t>el</a:t>
            </a:r>
            <a:r>
              <a:rPr lang="en-US" sz="1200" dirty="0"/>
              <a:t> </a:t>
            </a:r>
            <a:r>
              <a:rPr lang="en-US" sz="1200" dirty="0" err="1"/>
              <a:t>índice</a:t>
            </a:r>
            <a:endParaRPr lang="en-US" sz="1200" dirty="0"/>
          </a:p>
          <a:p>
            <a:r>
              <a:rPr lang="en-US" sz="1200" dirty="0"/>
              <a:t>SELECT id, </a:t>
            </a:r>
            <a:r>
              <a:rPr lang="en-US" sz="1200" dirty="0" err="1"/>
              <a:t>nombre</a:t>
            </a:r>
            <a:r>
              <a:rPr lang="en-US" sz="1200" dirty="0"/>
              <a:t>, email</a:t>
            </a:r>
          </a:p>
          <a:p>
            <a:r>
              <a:rPr lang="en-US" sz="1200" dirty="0"/>
              <a:t>FROM </a:t>
            </a:r>
            <a:r>
              <a:rPr lang="en-US" sz="1200" dirty="0" err="1"/>
              <a:t>clientes</a:t>
            </a:r>
            <a:endParaRPr lang="en-US" sz="1200" dirty="0"/>
          </a:p>
          <a:p>
            <a:r>
              <a:rPr lang="en-US" sz="1200" dirty="0"/>
              <a:t>WHERE NLSSORT(</a:t>
            </a:r>
            <a:r>
              <a:rPr lang="en-US" sz="1200" dirty="0" err="1"/>
              <a:t>nombre</a:t>
            </a:r>
            <a:r>
              <a:rPr lang="en-US" sz="1200" dirty="0"/>
              <a:t>, 'NLS_SORT=BINARY_CI') = NLSSORT('maria </a:t>
            </a:r>
            <a:r>
              <a:rPr lang="en-US" sz="1200" dirty="0" err="1"/>
              <a:t>garcia</a:t>
            </a:r>
            <a:r>
              <a:rPr lang="en-US" sz="1200" dirty="0"/>
              <a:t>', 'NLS_SORT=BINARY_CI');</a:t>
            </a:r>
          </a:p>
        </p:txBody>
      </p:sp>
      <p:sp>
        <p:nvSpPr>
          <p:cNvPr id="9" name="4 Marcador de contenido">
            <a:extLst>
              <a:ext uri="{FF2B5EF4-FFF2-40B4-BE49-F238E27FC236}">
                <a16:creationId xmlns:a16="http://schemas.microsoft.com/office/drawing/2014/main" id="{FB3D0665-32E1-50CD-1A9E-CBF7DD05C2EA}"/>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90BF8AD6-B4BB-43DF-0873-97CC0B500B22}"/>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Importante: El uso de NLSSORT() en el WHERE puede evitar el uso de índices.</a:t>
            </a:r>
          </a:p>
          <a:p>
            <a:pPr marL="342900" lvl="1" indent="-342900">
              <a:buFont typeface="Arial" panose="020B0604020202020204" pitchFamily="34" charset="0"/>
              <a:buChar char="•"/>
            </a:pPr>
            <a:r>
              <a:rPr lang="es-ES" sz="1600" dirty="0"/>
              <a:t>Otros:</a:t>
            </a:r>
          </a:p>
          <a:p>
            <a:pPr marL="877888" lvl="2" indent="-342900"/>
            <a:r>
              <a:rPr lang="es-ES" sz="1600" dirty="0"/>
              <a:t>GENERIC_BASELETTER Ignora acentos</a:t>
            </a:r>
          </a:p>
          <a:p>
            <a:pPr marL="877888" lvl="2" indent="-342900"/>
            <a:r>
              <a:rPr lang="es-ES" sz="1600" dirty="0"/>
              <a:t>GENERIC_M Ignora acentos y case</a:t>
            </a:r>
          </a:p>
          <a:p>
            <a:pPr marL="342900" lvl="1" indent="-342900">
              <a:buFont typeface="Arial" panose="020B0604020202020204" pitchFamily="34" charset="0"/>
              <a:buChar char="•"/>
            </a:pPr>
            <a:endParaRPr lang="es-ES" sz="1600" dirty="0"/>
          </a:p>
        </p:txBody>
      </p:sp>
    </p:spTree>
    <p:extLst>
      <p:ext uri="{BB962C8B-B14F-4D97-AF65-F5344CB8AC3E}">
        <p14:creationId xmlns:p14="http://schemas.microsoft.com/office/powerpoint/2010/main" val="3162329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B03C9-3B07-F803-3F0E-C076B4BDE044}"/>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9AE97FE6-50FD-42B2-389A-B48B45C8FC20}"/>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BB087BA7-4B5B-3FF6-304A-754A7B667043}"/>
              </a:ext>
            </a:extLst>
          </p:cNvPr>
          <p:cNvSpPr>
            <a:spLocks noGrp="1"/>
          </p:cNvSpPr>
          <p:nvPr>
            <p:ph idx="1"/>
          </p:nvPr>
        </p:nvSpPr>
        <p:spPr>
          <a:xfrm>
            <a:off x="457200" y="915566"/>
            <a:ext cx="8579296" cy="446310"/>
          </a:xfrm>
        </p:spPr>
        <p:txBody>
          <a:bodyPr>
            <a:normAutofit lnSpcReduction="10000"/>
          </a:bodyPr>
          <a:lstStyle/>
          <a:p>
            <a:r>
              <a:rPr lang="es-ES_tradnl" dirty="0"/>
              <a:t>ORDER BY - </a:t>
            </a:r>
            <a:r>
              <a:rPr lang="es-ES" dirty="0"/>
              <a:t>Orden en vistas/</a:t>
            </a:r>
            <a:r>
              <a:rPr lang="es-ES" dirty="0" err="1"/>
              <a:t>materialized</a:t>
            </a:r>
            <a:r>
              <a:rPr lang="es-ES" dirty="0"/>
              <a:t> </a:t>
            </a:r>
            <a:r>
              <a:rPr lang="es-ES" dirty="0" err="1"/>
              <a:t>views</a:t>
            </a:r>
            <a:endParaRPr lang="es-ES" dirty="0"/>
          </a:p>
        </p:txBody>
      </p:sp>
      <p:sp>
        <p:nvSpPr>
          <p:cNvPr id="4" name="3 Título">
            <a:extLst>
              <a:ext uri="{FF2B5EF4-FFF2-40B4-BE49-F238E27FC236}">
                <a16:creationId xmlns:a16="http://schemas.microsoft.com/office/drawing/2014/main" id="{8E071F53-D9DC-D790-93D1-D40A45E768C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F841572-B73F-84EA-0230-DEDC07ED3587}"/>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53336341-3265-62F2-3645-16E2E7DA3B30}"/>
              </a:ext>
            </a:extLst>
          </p:cNvPr>
          <p:cNvSpPr txBox="1"/>
          <p:nvPr/>
        </p:nvSpPr>
        <p:spPr>
          <a:xfrm>
            <a:off x="251520" y="1419622"/>
            <a:ext cx="3647963" cy="3600986"/>
          </a:xfrm>
          <a:prstGeom prst="rect">
            <a:avLst/>
          </a:prstGeom>
          <a:noFill/>
        </p:spPr>
        <p:txBody>
          <a:bodyPr wrap="square">
            <a:spAutoFit/>
          </a:bodyPr>
          <a:lstStyle/>
          <a:p>
            <a:r>
              <a:rPr lang="en-US" sz="1200" dirty="0"/>
              <a:t>-- Mala practica</a:t>
            </a:r>
          </a:p>
          <a:p>
            <a:r>
              <a:rPr lang="en-US" sz="1200" dirty="0"/>
              <a:t>SELECT * FROM </a:t>
            </a:r>
            <a:r>
              <a:rPr lang="en-US" sz="1200" dirty="0" err="1"/>
              <a:t>empleados</a:t>
            </a:r>
            <a:r>
              <a:rPr lang="en-US" sz="1200" dirty="0"/>
              <a:t> </a:t>
            </a:r>
          </a:p>
          <a:p>
            <a:r>
              <a:rPr lang="en-US" sz="1200" dirty="0"/>
              <a:t>WHERE NLSSORT(</a:t>
            </a:r>
            <a:r>
              <a:rPr lang="en-US" sz="1200" dirty="0" err="1"/>
              <a:t>nombre</a:t>
            </a:r>
            <a:r>
              <a:rPr lang="en-US" sz="1200" dirty="0"/>
              <a:t>, 'NLS_SORT=BINARY_CI') = NLSSORT('MARIA', 'NLS_SORT=BINARY_CI’);</a:t>
            </a:r>
          </a:p>
          <a:p>
            <a:endParaRPr lang="en-US" sz="1200" dirty="0"/>
          </a:p>
          <a:p>
            <a:r>
              <a:rPr lang="en-US" sz="1200" dirty="0"/>
              <a:t>-- </a:t>
            </a:r>
            <a:r>
              <a:rPr lang="en-US" sz="1200" dirty="0" err="1"/>
              <a:t>Configurar</a:t>
            </a:r>
            <a:r>
              <a:rPr lang="en-US" sz="1200" dirty="0"/>
              <a:t> a </a:t>
            </a:r>
            <a:r>
              <a:rPr lang="en-US" sz="1200" dirty="0" err="1"/>
              <a:t>nivel</a:t>
            </a:r>
            <a:r>
              <a:rPr lang="en-US" sz="1200" dirty="0"/>
              <a:t> de </a:t>
            </a:r>
            <a:r>
              <a:rPr lang="en-US" sz="1200" dirty="0" err="1"/>
              <a:t>sesión</a:t>
            </a:r>
            <a:endParaRPr lang="en-US" sz="1200" dirty="0"/>
          </a:p>
          <a:p>
            <a:r>
              <a:rPr lang="en-US" sz="1200" dirty="0"/>
              <a:t>ALTER SESSION SET NLS_COMP = 'LINGUISTIC';</a:t>
            </a:r>
          </a:p>
          <a:p>
            <a:r>
              <a:rPr lang="en-US" sz="1200" dirty="0"/>
              <a:t>ALTER SESSION SET NLS_SORT = 'BINARY_CI';</a:t>
            </a:r>
          </a:p>
          <a:p>
            <a:r>
              <a:rPr lang="en-US" sz="1200" dirty="0"/>
              <a:t>SELECT * FROM </a:t>
            </a:r>
            <a:r>
              <a:rPr lang="en-US" sz="1200" dirty="0" err="1"/>
              <a:t>empleados</a:t>
            </a:r>
            <a:r>
              <a:rPr lang="en-US" sz="1200" dirty="0"/>
              <a:t> WHERE </a:t>
            </a:r>
            <a:r>
              <a:rPr lang="en-US" sz="1200" dirty="0" err="1"/>
              <a:t>nombre</a:t>
            </a:r>
            <a:r>
              <a:rPr lang="en-US" sz="1200" dirty="0"/>
              <a:t> = 'MARIA’;</a:t>
            </a:r>
          </a:p>
          <a:p>
            <a:endParaRPr lang="en-US" sz="1200" dirty="0"/>
          </a:p>
          <a:p>
            <a:r>
              <a:rPr lang="en-US" sz="1200" dirty="0"/>
              <a:t> -- Crear </a:t>
            </a:r>
            <a:r>
              <a:rPr lang="en-US" sz="1200" dirty="0" err="1"/>
              <a:t>índice</a:t>
            </a:r>
            <a:r>
              <a:rPr lang="en-US" sz="1200" dirty="0"/>
              <a:t> </a:t>
            </a:r>
            <a:r>
              <a:rPr lang="en-US" sz="1200" dirty="0" err="1"/>
              <a:t>basado</a:t>
            </a:r>
            <a:r>
              <a:rPr lang="en-US" sz="1200" dirty="0"/>
              <a:t> </a:t>
            </a:r>
            <a:r>
              <a:rPr lang="en-US" sz="1200" dirty="0" err="1"/>
              <a:t>en</a:t>
            </a:r>
            <a:r>
              <a:rPr lang="en-US" sz="1200" dirty="0"/>
              <a:t> </a:t>
            </a:r>
            <a:r>
              <a:rPr lang="en-US" sz="1200" dirty="0" err="1"/>
              <a:t>función</a:t>
            </a:r>
            <a:r>
              <a:rPr lang="en-US" sz="1200" dirty="0"/>
              <a:t> para NLSSORT</a:t>
            </a:r>
          </a:p>
          <a:p>
            <a:r>
              <a:rPr lang="en-US" sz="1200" dirty="0"/>
              <a:t>CREATE INDEX </a:t>
            </a:r>
            <a:r>
              <a:rPr lang="en-US" sz="1200" dirty="0" err="1"/>
              <a:t>idx_clientes_nombre_ci</a:t>
            </a:r>
            <a:r>
              <a:rPr lang="en-US" sz="1200" dirty="0"/>
              <a:t> ON </a:t>
            </a:r>
            <a:r>
              <a:rPr lang="en-US" sz="1200" dirty="0" err="1"/>
              <a:t>clientes</a:t>
            </a:r>
            <a:r>
              <a:rPr lang="en-US" sz="1200" dirty="0"/>
              <a:t>(NLSSORT(</a:t>
            </a:r>
            <a:r>
              <a:rPr lang="en-US" sz="1200" dirty="0" err="1"/>
              <a:t>nombre</a:t>
            </a:r>
            <a:r>
              <a:rPr lang="en-US" sz="1200" dirty="0"/>
              <a:t>, 'NLS_SORT=BINARY_CI'));</a:t>
            </a:r>
          </a:p>
          <a:p>
            <a:endParaRPr lang="en-US" sz="1200" dirty="0"/>
          </a:p>
          <a:p>
            <a:r>
              <a:rPr lang="en-US" sz="1200" dirty="0"/>
              <a:t>-- </a:t>
            </a:r>
            <a:r>
              <a:rPr lang="en-US" sz="1200" dirty="0" err="1"/>
              <a:t>Ahora</a:t>
            </a:r>
            <a:r>
              <a:rPr lang="en-US" sz="1200" dirty="0"/>
              <a:t> </a:t>
            </a:r>
            <a:r>
              <a:rPr lang="en-US" sz="1200" dirty="0" err="1"/>
              <a:t>esta</a:t>
            </a:r>
            <a:r>
              <a:rPr lang="en-US" sz="1200" dirty="0"/>
              <a:t> consulta </a:t>
            </a:r>
            <a:r>
              <a:rPr lang="en-US" sz="1200" dirty="0" err="1"/>
              <a:t>puede</a:t>
            </a:r>
            <a:r>
              <a:rPr lang="en-US" sz="1200" dirty="0"/>
              <a:t> usar </a:t>
            </a:r>
            <a:r>
              <a:rPr lang="en-US" sz="1200" dirty="0" err="1"/>
              <a:t>el</a:t>
            </a:r>
            <a:r>
              <a:rPr lang="en-US" sz="1200" dirty="0"/>
              <a:t> </a:t>
            </a:r>
            <a:r>
              <a:rPr lang="en-US" sz="1200" dirty="0" err="1"/>
              <a:t>índice</a:t>
            </a:r>
            <a:endParaRPr lang="en-US" sz="1200" dirty="0"/>
          </a:p>
          <a:p>
            <a:r>
              <a:rPr lang="en-US" sz="1200" dirty="0"/>
              <a:t>SELECT id, </a:t>
            </a:r>
            <a:r>
              <a:rPr lang="en-US" sz="1200" dirty="0" err="1"/>
              <a:t>nombre</a:t>
            </a:r>
            <a:r>
              <a:rPr lang="en-US" sz="1200" dirty="0"/>
              <a:t>, email</a:t>
            </a:r>
          </a:p>
          <a:p>
            <a:r>
              <a:rPr lang="en-US" sz="1200" dirty="0"/>
              <a:t>FROM </a:t>
            </a:r>
            <a:r>
              <a:rPr lang="en-US" sz="1200" dirty="0" err="1"/>
              <a:t>clientes</a:t>
            </a:r>
            <a:endParaRPr lang="en-US" sz="1200" dirty="0"/>
          </a:p>
          <a:p>
            <a:r>
              <a:rPr lang="en-US" sz="1200" dirty="0"/>
              <a:t>WHERE NLSSORT(</a:t>
            </a:r>
            <a:r>
              <a:rPr lang="en-US" sz="1200" dirty="0" err="1"/>
              <a:t>nombre</a:t>
            </a:r>
            <a:r>
              <a:rPr lang="en-US" sz="1200" dirty="0"/>
              <a:t>, 'NLS_SORT=BINARY_CI') = NLSSORT('maria </a:t>
            </a:r>
            <a:r>
              <a:rPr lang="en-US" sz="1200" dirty="0" err="1"/>
              <a:t>garcia</a:t>
            </a:r>
            <a:r>
              <a:rPr lang="en-US" sz="1200" dirty="0"/>
              <a:t>', 'NLS_SORT=BINARY_CI');</a:t>
            </a:r>
          </a:p>
        </p:txBody>
      </p:sp>
      <p:sp>
        <p:nvSpPr>
          <p:cNvPr id="9" name="4 Marcador de contenido">
            <a:extLst>
              <a:ext uri="{FF2B5EF4-FFF2-40B4-BE49-F238E27FC236}">
                <a16:creationId xmlns:a16="http://schemas.microsoft.com/office/drawing/2014/main" id="{6CC01AB3-0FAE-E4AF-091E-19000246F03B}"/>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133F5493-B48F-6544-4AC0-F93E0872755F}"/>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b="1" dirty="0"/>
              <a:t>Vistas</a:t>
            </a:r>
            <a:r>
              <a:rPr lang="es-ES" sz="1600" dirty="0"/>
              <a:t> (</a:t>
            </a:r>
            <a:r>
              <a:rPr lang="es-ES" dirty="0"/>
              <a:t>CREATE VIEW</a:t>
            </a:r>
            <a:r>
              <a:rPr lang="es-ES" sz="1600" dirty="0"/>
              <a:t>) no deben contener </a:t>
            </a:r>
            <a:r>
              <a:rPr lang="es-ES" dirty="0"/>
              <a:t>ORDER BY</a:t>
            </a:r>
            <a:r>
              <a:rPr lang="es-ES" sz="1600" dirty="0"/>
              <a:t> para garantizar </a:t>
            </a:r>
            <a:r>
              <a:rPr lang="es-ES" sz="1600" dirty="0" err="1"/>
              <a:t>composability</a:t>
            </a:r>
            <a:r>
              <a:rPr lang="es-ES" sz="1600" dirty="0"/>
              <a:t> — Oracle ignora </a:t>
            </a:r>
            <a:r>
              <a:rPr lang="es-ES" dirty="0"/>
              <a:t>ORDER BY</a:t>
            </a:r>
            <a:r>
              <a:rPr lang="es-ES" sz="1600" dirty="0"/>
              <a:t> en vistas salvo que se use </a:t>
            </a:r>
            <a:r>
              <a:rPr lang="es-ES" dirty="0"/>
              <a:t>FETCH</a:t>
            </a:r>
            <a:r>
              <a:rPr lang="es-ES" sz="1600" dirty="0"/>
              <a:t> u otra construcción.</a:t>
            </a:r>
          </a:p>
          <a:p>
            <a:pPr marL="342900" lvl="1" indent="-342900">
              <a:buFont typeface="Arial" panose="020B0604020202020204" pitchFamily="34" charset="0"/>
              <a:buChar char="•"/>
            </a:pPr>
            <a:r>
              <a:rPr lang="es-ES" sz="1600" b="1" dirty="0" err="1"/>
              <a:t>Materialized</a:t>
            </a:r>
            <a:r>
              <a:rPr lang="es-ES" sz="1600" b="1" dirty="0"/>
              <a:t> </a:t>
            </a:r>
            <a:r>
              <a:rPr lang="es-ES" sz="1600" b="1" dirty="0" err="1"/>
              <a:t>views</a:t>
            </a:r>
            <a:r>
              <a:rPr lang="es-ES" sz="1600" dirty="0"/>
              <a:t> pueden </a:t>
            </a:r>
            <a:r>
              <a:rPr lang="es-ES" sz="1600" dirty="0" err="1"/>
              <a:t>pre-sortear</a:t>
            </a:r>
            <a:r>
              <a:rPr lang="es-ES" sz="1600" dirty="0"/>
              <a:t> datos si se definen apropiadamente y con </a:t>
            </a:r>
            <a:r>
              <a:rPr lang="es-ES" dirty="0"/>
              <a:t>BUILD IMMEDIATE</a:t>
            </a:r>
            <a:r>
              <a:rPr lang="es-ES" sz="1600" dirty="0"/>
              <a:t> / </a:t>
            </a:r>
            <a:r>
              <a:rPr lang="es-ES" dirty="0"/>
              <a:t>PARALLEL</a:t>
            </a:r>
            <a:r>
              <a:rPr lang="es-ES" sz="1600" dirty="0"/>
              <a:t>, lo que acelera consultas </a:t>
            </a:r>
            <a:r>
              <a:rPr lang="es-ES" dirty="0"/>
              <a:t>ORDER BY</a:t>
            </a:r>
            <a:r>
              <a:rPr lang="es-ES" sz="1600" dirty="0"/>
              <a:t> que coincidan con la estructura del MV.</a:t>
            </a:r>
          </a:p>
        </p:txBody>
      </p:sp>
    </p:spTree>
    <p:extLst>
      <p:ext uri="{BB962C8B-B14F-4D97-AF65-F5344CB8AC3E}">
        <p14:creationId xmlns:p14="http://schemas.microsoft.com/office/powerpoint/2010/main" val="3817888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C3A64-CC2D-D773-5ADC-CA8620FAEE45}"/>
            </a:ext>
          </a:extLst>
        </p:cNvPr>
        <p:cNvGrpSpPr/>
        <p:nvPr/>
      </p:nvGrpSpPr>
      <p:grpSpPr>
        <a:xfrm>
          <a:off x="0" y="0"/>
          <a:ext cx="0" cy="0"/>
          <a:chOff x="0" y="0"/>
          <a:chExt cx="0" cy="0"/>
        </a:xfrm>
      </p:grpSpPr>
      <p:sp>
        <p:nvSpPr>
          <p:cNvPr id="5" name="4 Título">
            <a:extLst>
              <a:ext uri="{FF2B5EF4-FFF2-40B4-BE49-F238E27FC236}">
                <a16:creationId xmlns:a16="http://schemas.microsoft.com/office/drawing/2014/main" id="{B9EC80E2-3D5E-5F9F-2C89-8D5058EAD15E}"/>
              </a:ext>
            </a:extLst>
          </p:cNvPr>
          <p:cNvSpPr>
            <a:spLocks noGrp="1"/>
          </p:cNvSpPr>
          <p:nvPr>
            <p:ph type="title"/>
          </p:nvPr>
        </p:nvSpPr>
        <p:spPr/>
        <p:txBody>
          <a:bodyPr/>
          <a:lstStyle/>
          <a:p>
            <a:r>
              <a:rPr lang="en-US" dirty="0" err="1"/>
              <a:t>Consultas</a:t>
            </a:r>
            <a:r>
              <a:rPr lang="en-US" dirty="0"/>
              <a:t> con JOIN (INNER, LEFT, RIGHT)</a:t>
            </a:r>
            <a:endParaRPr lang="es-ES" dirty="0"/>
          </a:p>
        </p:txBody>
      </p:sp>
      <p:sp>
        <p:nvSpPr>
          <p:cNvPr id="6" name="5 Marcador de texto">
            <a:extLst>
              <a:ext uri="{FF2B5EF4-FFF2-40B4-BE49-F238E27FC236}">
                <a16:creationId xmlns:a16="http://schemas.microsoft.com/office/drawing/2014/main" id="{5CEB3B99-5E82-D3D9-DBF3-295275562E63}"/>
              </a:ext>
            </a:extLst>
          </p:cNvPr>
          <p:cNvSpPr>
            <a:spLocks noGrp="1"/>
          </p:cNvSpPr>
          <p:nvPr>
            <p:ph type="body" sz="quarter" idx="10"/>
          </p:nvPr>
        </p:nvSpPr>
        <p:spPr/>
        <p:txBody>
          <a:bodyPr/>
          <a:lstStyle/>
          <a:p>
            <a:r>
              <a:rPr lang="es-ES" dirty="0"/>
              <a:t>3.</a:t>
            </a:r>
          </a:p>
        </p:txBody>
      </p:sp>
    </p:spTree>
    <p:extLst>
      <p:ext uri="{BB962C8B-B14F-4D97-AF65-F5344CB8AC3E}">
        <p14:creationId xmlns:p14="http://schemas.microsoft.com/office/powerpoint/2010/main" val="1530377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CC627-EDD8-B8F2-3E47-B7C0E63413F3}"/>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ABDF0F7C-BB04-9AE7-5073-8EF00E8481B4}"/>
              </a:ext>
            </a:extLst>
          </p:cNvPr>
          <p:cNvSpPr>
            <a:spLocks noGrp="1"/>
          </p:cNvSpPr>
          <p:nvPr>
            <p:ph idx="1"/>
          </p:nvPr>
        </p:nvSpPr>
        <p:spPr>
          <a:xfrm>
            <a:off x="457200" y="915566"/>
            <a:ext cx="8579296" cy="446310"/>
          </a:xfrm>
        </p:spPr>
        <p:txBody>
          <a:bodyPr>
            <a:normAutofit lnSpcReduction="10000"/>
          </a:bodyPr>
          <a:lstStyle/>
          <a:p>
            <a:r>
              <a:rPr lang="es-ES_tradnl" dirty="0"/>
              <a:t>Objetivos</a:t>
            </a:r>
            <a:endParaRPr lang="es-ES" dirty="0"/>
          </a:p>
        </p:txBody>
      </p:sp>
      <p:sp>
        <p:nvSpPr>
          <p:cNvPr id="4" name="3 Título">
            <a:extLst>
              <a:ext uri="{FF2B5EF4-FFF2-40B4-BE49-F238E27FC236}">
                <a16:creationId xmlns:a16="http://schemas.microsoft.com/office/drawing/2014/main" id="{C0B8FD62-5BFB-DBB9-4E53-457A6E257675}"/>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61C217D-D4A5-A518-7FEF-A16C41DAED64}"/>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A5238F05-96D0-B9C1-8B89-2EF3BE850CAC}"/>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0F802C4E-C4BE-15C2-9356-936A8688E818}"/>
              </a:ext>
            </a:extLst>
          </p:cNvPr>
          <p:cNvSpPr txBox="1">
            <a:spLocks/>
          </p:cNvSpPr>
          <p:nvPr/>
        </p:nvSpPr>
        <p:spPr>
          <a:xfrm>
            <a:off x="468313" y="1326394"/>
            <a:ext cx="8568183"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Comprender a fondo los tipos de JOIN y su comportamiento interno.</a:t>
            </a:r>
          </a:p>
          <a:p>
            <a:pPr marL="342900" lvl="1" indent="-342900">
              <a:buFont typeface="Arial" panose="020B0604020202020204" pitchFamily="34" charset="0"/>
              <a:buChar char="•"/>
            </a:pPr>
            <a:r>
              <a:rPr lang="es-ES" sz="1600" dirty="0"/>
              <a:t>Usar JOIN explícitos y sus equivalentes ANSI y Oracle </a:t>
            </a:r>
            <a:r>
              <a:rPr lang="es-ES" sz="1600" dirty="0" err="1"/>
              <a:t>legacy</a:t>
            </a:r>
            <a:r>
              <a:rPr lang="es-ES" sz="1600" dirty="0"/>
              <a:t>.</a:t>
            </a:r>
          </a:p>
          <a:p>
            <a:pPr marL="342900" lvl="1" indent="-342900">
              <a:buFont typeface="Arial" panose="020B0604020202020204" pitchFamily="34" charset="0"/>
              <a:buChar char="•"/>
            </a:pPr>
            <a:r>
              <a:rPr lang="es-ES" sz="1600" dirty="0"/>
              <a:t>Analizar rendimiento y el papel del optimizador.</a:t>
            </a:r>
          </a:p>
          <a:p>
            <a:pPr marL="342900" lvl="1" indent="-342900">
              <a:buFont typeface="Arial" panose="020B0604020202020204" pitchFamily="34" charset="0"/>
              <a:buChar char="•"/>
            </a:pPr>
            <a:r>
              <a:rPr lang="es-ES" sz="1600" dirty="0"/>
              <a:t>Usar JOIN dentro de </a:t>
            </a:r>
            <a:r>
              <a:rPr lang="es-ES" sz="1600" dirty="0" err="1"/>
              <a:t>CTEs</a:t>
            </a:r>
            <a:r>
              <a:rPr lang="es-ES" sz="1600" dirty="0"/>
              <a:t> (WITH) y subconsultas complejas.</a:t>
            </a:r>
          </a:p>
          <a:p>
            <a:pPr marL="342900" lvl="1" indent="-342900">
              <a:buFont typeface="Arial" panose="020B0604020202020204" pitchFamily="34" charset="0"/>
              <a:buChar char="•"/>
            </a:pPr>
            <a:r>
              <a:rPr lang="es-ES" sz="1600" dirty="0"/>
              <a:t>Entender hash </a:t>
            </a:r>
            <a:r>
              <a:rPr lang="es-ES" sz="1600" dirty="0" err="1"/>
              <a:t>join</a:t>
            </a:r>
            <a:r>
              <a:rPr lang="es-ES" sz="1600" dirty="0"/>
              <a:t>, </a:t>
            </a:r>
            <a:r>
              <a:rPr lang="es-ES" sz="1600" dirty="0" err="1"/>
              <a:t>nested</a:t>
            </a:r>
            <a:r>
              <a:rPr lang="es-ES" sz="1600" dirty="0"/>
              <a:t> </a:t>
            </a:r>
            <a:r>
              <a:rPr lang="es-ES" sz="1600" dirty="0" err="1"/>
              <a:t>loop</a:t>
            </a:r>
            <a:r>
              <a:rPr lang="es-ES" sz="1600" dirty="0"/>
              <a:t>, </a:t>
            </a:r>
            <a:r>
              <a:rPr lang="es-ES" sz="1600" dirty="0" err="1"/>
              <a:t>merge</a:t>
            </a:r>
            <a:r>
              <a:rPr lang="es-ES" sz="1600" dirty="0"/>
              <a:t> </a:t>
            </a:r>
            <a:r>
              <a:rPr lang="es-ES" sz="1600" dirty="0" err="1"/>
              <a:t>join</a:t>
            </a:r>
            <a:r>
              <a:rPr lang="es-ES" sz="1600" dirty="0"/>
              <a:t> y cómo Oracle los elige.</a:t>
            </a:r>
          </a:p>
          <a:p>
            <a:pPr marL="342900" lvl="1" indent="-342900">
              <a:buFont typeface="Arial" panose="020B0604020202020204" pitchFamily="34" charset="0"/>
              <a:buChar char="•"/>
            </a:pPr>
            <a:r>
              <a:rPr lang="es-ES" sz="1600" dirty="0"/>
              <a:t>Aplicar técnicas avanzadas: </a:t>
            </a:r>
            <a:r>
              <a:rPr lang="es-ES" sz="1600" dirty="0" err="1"/>
              <a:t>self</a:t>
            </a:r>
            <a:r>
              <a:rPr lang="es-ES" sz="1600" dirty="0"/>
              <a:t> </a:t>
            </a:r>
            <a:r>
              <a:rPr lang="es-ES" sz="1600" dirty="0" err="1"/>
              <a:t>joins</a:t>
            </a:r>
            <a:r>
              <a:rPr lang="es-ES" sz="1600" dirty="0"/>
              <a:t>, anti </a:t>
            </a:r>
            <a:r>
              <a:rPr lang="es-ES" sz="1600" dirty="0" err="1"/>
              <a:t>joins</a:t>
            </a:r>
            <a:r>
              <a:rPr lang="es-ES" sz="1600" dirty="0"/>
              <a:t>, semi </a:t>
            </a:r>
            <a:r>
              <a:rPr lang="es-ES" sz="1600" dirty="0" err="1"/>
              <a:t>joins</a:t>
            </a:r>
            <a:r>
              <a:rPr lang="es-ES" sz="1600" dirty="0"/>
              <a:t> y </a:t>
            </a:r>
            <a:r>
              <a:rPr lang="es-ES" sz="1600" dirty="0" err="1"/>
              <a:t>partitioned</a:t>
            </a:r>
            <a:r>
              <a:rPr lang="es-ES" sz="1600" dirty="0"/>
              <a:t> </a:t>
            </a:r>
            <a:r>
              <a:rPr lang="es-ES" sz="1600" dirty="0" err="1"/>
              <a:t>joins</a:t>
            </a:r>
            <a:r>
              <a:rPr lang="es-ES" sz="1600" dirty="0"/>
              <a:t>.</a:t>
            </a:r>
          </a:p>
        </p:txBody>
      </p:sp>
    </p:spTree>
    <p:extLst>
      <p:ext uri="{BB962C8B-B14F-4D97-AF65-F5344CB8AC3E}">
        <p14:creationId xmlns:p14="http://schemas.microsoft.com/office/powerpoint/2010/main" val="42262667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F6B0F-3EF9-DB4D-3B4C-9921DBD8D62C}"/>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9F20296A-2D7C-658F-658B-E79273FF1D0F}"/>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88FABD43-FF60-2178-99E9-47915E732C31}"/>
              </a:ext>
            </a:extLst>
          </p:cNvPr>
          <p:cNvSpPr>
            <a:spLocks noGrp="1"/>
          </p:cNvSpPr>
          <p:nvPr>
            <p:ph idx="1"/>
          </p:nvPr>
        </p:nvSpPr>
        <p:spPr>
          <a:xfrm>
            <a:off x="457200" y="915566"/>
            <a:ext cx="8579296" cy="446310"/>
          </a:xfrm>
        </p:spPr>
        <p:txBody>
          <a:bodyPr>
            <a:normAutofit lnSpcReduction="10000"/>
          </a:bodyPr>
          <a:lstStyle/>
          <a:p>
            <a:r>
              <a:rPr lang="es-ES_tradnl" dirty="0"/>
              <a:t>Tipos JOINS</a:t>
            </a:r>
            <a:endParaRPr lang="es-ES" dirty="0"/>
          </a:p>
        </p:txBody>
      </p:sp>
      <p:sp>
        <p:nvSpPr>
          <p:cNvPr id="4" name="3 Título">
            <a:extLst>
              <a:ext uri="{FF2B5EF4-FFF2-40B4-BE49-F238E27FC236}">
                <a16:creationId xmlns:a16="http://schemas.microsoft.com/office/drawing/2014/main" id="{73B094CC-47A9-FFBA-A750-C627A1CD132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59EC66E2-8245-2412-3AF1-A7D4C6CC53EE}"/>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52705C50-E024-DB28-1EC7-BA5AAB3CEDC9}"/>
              </a:ext>
            </a:extLst>
          </p:cNvPr>
          <p:cNvSpPr txBox="1"/>
          <p:nvPr/>
        </p:nvSpPr>
        <p:spPr>
          <a:xfrm>
            <a:off x="251520" y="1419622"/>
            <a:ext cx="3647963" cy="2123658"/>
          </a:xfrm>
          <a:prstGeom prst="rect">
            <a:avLst/>
          </a:prstGeom>
          <a:noFill/>
        </p:spPr>
        <p:txBody>
          <a:bodyPr wrap="square">
            <a:spAutoFit/>
          </a:bodyPr>
          <a:lstStyle/>
          <a:p>
            <a:r>
              <a:rPr lang="pt-BR" sz="1200" dirty="0"/>
              <a:t>--ANSY SQL</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a:t>
            </a:r>
          </a:p>
          <a:p>
            <a:r>
              <a:rPr lang="pt-BR" sz="1200" dirty="0"/>
              <a:t>JOIN departamentos d</a:t>
            </a:r>
          </a:p>
          <a:p>
            <a:r>
              <a:rPr lang="pt-BR" sz="1200" dirty="0"/>
              <a:t>  ON </a:t>
            </a:r>
            <a:r>
              <a:rPr lang="pt-BR" sz="1200" dirty="0" err="1"/>
              <a:t>e.departamento_id</a:t>
            </a:r>
            <a:r>
              <a:rPr lang="pt-BR" sz="1200" dirty="0"/>
              <a:t> = d.id;</a:t>
            </a:r>
          </a:p>
          <a:p>
            <a:endParaRPr lang="en-US" sz="1200" dirty="0"/>
          </a:p>
          <a:p>
            <a:endParaRPr lang="en-US" sz="1200" dirty="0"/>
          </a:p>
          <a:p>
            <a:r>
              <a:rPr lang="en-US" sz="1200" dirty="0"/>
              <a:t> -- Antigua</a:t>
            </a:r>
          </a:p>
          <a:p>
            <a:r>
              <a:rPr lang="en-US" sz="1200" dirty="0"/>
              <a:t>SELECT </a:t>
            </a:r>
            <a:r>
              <a:rPr lang="en-US" sz="1200" dirty="0" err="1"/>
              <a:t>e.nombre</a:t>
            </a:r>
            <a:r>
              <a:rPr lang="en-US" sz="1200" dirty="0"/>
              <a:t>, </a:t>
            </a:r>
            <a:r>
              <a:rPr lang="en-US" sz="1200" dirty="0" err="1"/>
              <a:t>d.nombre</a:t>
            </a:r>
            <a:endParaRPr lang="en-US" sz="1200" dirty="0"/>
          </a:p>
          <a:p>
            <a:r>
              <a:rPr lang="en-US" sz="1200" dirty="0"/>
              <a:t>FROM </a:t>
            </a:r>
            <a:r>
              <a:rPr lang="en-US" sz="1200" dirty="0" err="1"/>
              <a:t>empleados</a:t>
            </a:r>
            <a:r>
              <a:rPr lang="en-US" sz="1200" dirty="0"/>
              <a:t> e, </a:t>
            </a:r>
            <a:r>
              <a:rPr lang="en-US" sz="1200" dirty="0" err="1"/>
              <a:t>departamentos</a:t>
            </a:r>
            <a:r>
              <a:rPr lang="en-US" sz="1200" dirty="0"/>
              <a:t> d</a:t>
            </a:r>
          </a:p>
          <a:p>
            <a:r>
              <a:rPr lang="en-US" sz="1200" dirty="0"/>
              <a:t>WHERE </a:t>
            </a:r>
            <a:r>
              <a:rPr lang="en-US" sz="1200" dirty="0" err="1"/>
              <a:t>e.departamento_id</a:t>
            </a:r>
            <a:r>
              <a:rPr lang="en-US" sz="1200" dirty="0"/>
              <a:t> = d.id;</a:t>
            </a:r>
          </a:p>
        </p:txBody>
      </p:sp>
      <p:sp>
        <p:nvSpPr>
          <p:cNvPr id="9" name="4 Marcador de contenido">
            <a:extLst>
              <a:ext uri="{FF2B5EF4-FFF2-40B4-BE49-F238E27FC236}">
                <a16:creationId xmlns:a16="http://schemas.microsoft.com/office/drawing/2014/main" id="{DCFDB889-2B23-B6C7-99B3-67C7D39ACFA3}"/>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A6F4873C-421C-9BF3-FEE8-69C488D3751F}"/>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b="1" dirty="0"/>
              <a:t>Sintaxis moderna (ANSI SQL) </a:t>
            </a:r>
            <a:r>
              <a:rPr lang="es-ES" sz="1600" dirty="0"/>
              <a:t>Legible, estándar, recomendado por Oracle desde 9i.</a:t>
            </a:r>
          </a:p>
          <a:p>
            <a:pPr marL="342900" lvl="1" indent="-342900">
              <a:buFont typeface="Arial" panose="020B0604020202020204" pitchFamily="34" charset="0"/>
              <a:buChar char="•"/>
            </a:pPr>
            <a:endParaRPr lang="es-ES" sz="1600" b="1" dirty="0"/>
          </a:p>
          <a:p>
            <a:pPr marL="342900" lvl="1" indent="-342900">
              <a:buFont typeface="Arial" panose="020B0604020202020204" pitchFamily="34" charset="0"/>
              <a:buChar char="•"/>
            </a:pPr>
            <a:endParaRPr lang="es-ES" sz="1600" b="1" dirty="0"/>
          </a:p>
          <a:p>
            <a:pPr marL="342900" lvl="1" indent="-342900">
              <a:buFont typeface="Arial" panose="020B0604020202020204" pitchFamily="34" charset="0"/>
              <a:buChar char="•"/>
            </a:pPr>
            <a:endParaRPr lang="es-ES" sz="1600" b="1" dirty="0"/>
          </a:p>
          <a:p>
            <a:pPr marL="342900" lvl="1" indent="-342900">
              <a:buFont typeface="Arial" panose="020B0604020202020204" pitchFamily="34" charset="0"/>
              <a:buChar char="•"/>
            </a:pPr>
            <a:r>
              <a:rPr lang="es-ES" sz="1600" b="1" dirty="0"/>
              <a:t>Sintaxis antigua (Oracle </a:t>
            </a:r>
            <a:r>
              <a:rPr lang="es-ES" sz="1600" b="1" dirty="0" err="1"/>
              <a:t>legacy</a:t>
            </a:r>
            <a:r>
              <a:rPr lang="es-ES" sz="1600" b="1" dirty="0"/>
              <a:t>) </a:t>
            </a:r>
            <a:r>
              <a:rPr lang="es-ES" sz="1600" dirty="0"/>
              <a:t>Aún funcional, pero menos clara y más propensa a errores (especialmente con OUTER JOIN).</a:t>
            </a:r>
          </a:p>
        </p:txBody>
      </p:sp>
    </p:spTree>
    <p:extLst>
      <p:ext uri="{BB962C8B-B14F-4D97-AF65-F5344CB8AC3E}">
        <p14:creationId xmlns:p14="http://schemas.microsoft.com/office/powerpoint/2010/main" val="116152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CFD42-22AE-C794-9DBD-E9CD99B755D1}"/>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5A3A0F6D-145D-6CB5-5BE0-C5693ABACB10}"/>
              </a:ext>
            </a:extLst>
          </p:cNvPr>
          <p:cNvSpPr>
            <a:spLocks noGrp="1"/>
          </p:cNvSpPr>
          <p:nvPr>
            <p:ph idx="1"/>
          </p:nvPr>
        </p:nvSpPr>
        <p:spPr>
          <a:xfrm>
            <a:off x="457200" y="915566"/>
            <a:ext cx="8579296" cy="446310"/>
          </a:xfrm>
        </p:spPr>
        <p:txBody>
          <a:bodyPr>
            <a:normAutofit lnSpcReduction="10000"/>
          </a:bodyPr>
          <a:lstStyle/>
          <a:p>
            <a:r>
              <a:rPr lang="es-ES_tradnl" dirty="0"/>
              <a:t>Tipos JOINS</a:t>
            </a:r>
            <a:endParaRPr lang="es-ES" dirty="0"/>
          </a:p>
        </p:txBody>
      </p:sp>
      <p:sp>
        <p:nvSpPr>
          <p:cNvPr id="4" name="3 Título">
            <a:extLst>
              <a:ext uri="{FF2B5EF4-FFF2-40B4-BE49-F238E27FC236}">
                <a16:creationId xmlns:a16="http://schemas.microsoft.com/office/drawing/2014/main" id="{97E4A20D-C1BE-479D-4222-29B3DD50BA95}"/>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F8DA5E93-5737-CF09-B7D6-4EECB4993539}"/>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2F76B762-1BEC-81EE-97DD-CDD69AD6BDBB}"/>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graphicFrame>
        <p:nvGraphicFramePr>
          <p:cNvPr id="2" name="Tabla 1">
            <a:extLst>
              <a:ext uri="{FF2B5EF4-FFF2-40B4-BE49-F238E27FC236}">
                <a16:creationId xmlns:a16="http://schemas.microsoft.com/office/drawing/2014/main" id="{13BBF963-9F00-014B-4DE9-2A85517BC557}"/>
              </a:ext>
            </a:extLst>
          </p:cNvPr>
          <p:cNvGraphicFramePr>
            <a:graphicFrameLocks noGrp="1"/>
          </p:cNvGraphicFramePr>
          <p:nvPr>
            <p:extLst>
              <p:ext uri="{D42A27DB-BD31-4B8C-83A1-F6EECF244321}">
                <p14:modId xmlns:p14="http://schemas.microsoft.com/office/powerpoint/2010/main" val="668804004"/>
              </p:ext>
            </p:extLst>
          </p:nvPr>
        </p:nvGraphicFramePr>
        <p:xfrm>
          <a:off x="180375" y="1577900"/>
          <a:ext cx="4064000" cy="2009775"/>
        </p:xfrm>
        <a:graphic>
          <a:graphicData uri="http://schemas.openxmlformats.org/drawingml/2006/table">
            <a:tbl>
              <a:tblPr>
                <a:tableStyleId>{5C22544A-7EE6-4342-B048-85BDC9FD1C3A}</a:tableStyleId>
              </a:tblPr>
              <a:tblGrid>
                <a:gridCol w="1612900">
                  <a:extLst>
                    <a:ext uri="{9D8B030D-6E8A-4147-A177-3AD203B41FA5}">
                      <a16:colId xmlns:a16="http://schemas.microsoft.com/office/drawing/2014/main" val="1973605255"/>
                    </a:ext>
                  </a:extLst>
                </a:gridCol>
                <a:gridCol w="2451100">
                  <a:extLst>
                    <a:ext uri="{9D8B030D-6E8A-4147-A177-3AD203B41FA5}">
                      <a16:colId xmlns:a16="http://schemas.microsoft.com/office/drawing/2014/main" val="1425990632"/>
                    </a:ext>
                  </a:extLst>
                </a:gridCol>
              </a:tblGrid>
              <a:tr h="190500">
                <a:tc>
                  <a:txBody>
                    <a:bodyPr/>
                    <a:lstStyle/>
                    <a:p>
                      <a:pPr algn="ctr" fontAlgn="ctr">
                        <a:buNone/>
                      </a:pPr>
                      <a:r>
                        <a:rPr lang="es-ES" sz="1100" u="none" strike="noStrike">
                          <a:effectLst/>
                        </a:rPr>
                        <a:t>Tipo</a:t>
                      </a:r>
                      <a:endParaRPr lang="es-ES" sz="11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ES" sz="1100" u="none" strike="noStrike">
                          <a:effectLst/>
                        </a:rPr>
                        <a:t>Descripción</a:t>
                      </a:r>
                      <a:endParaRPr lang="es-ES" sz="1100" b="1"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923274476"/>
                  </a:ext>
                </a:extLst>
              </a:tr>
              <a:tr h="381000">
                <a:tc>
                  <a:txBody>
                    <a:bodyPr/>
                    <a:lstStyle/>
                    <a:p>
                      <a:pPr algn="l" fontAlgn="ctr">
                        <a:buNone/>
                      </a:pPr>
                      <a:r>
                        <a:rPr lang="es-ES" sz="1000" u="none" strike="noStrike">
                          <a:effectLst/>
                        </a:rPr>
                        <a:t>INNER JOIN</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dirty="0">
                          <a:effectLst/>
                        </a:rPr>
                        <a:t>Devuelve solo coincidencias</a:t>
                      </a:r>
                      <a:endParaRPr lang="es-ES"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957825916"/>
                  </a:ext>
                </a:extLst>
              </a:tr>
              <a:tr h="381000">
                <a:tc>
                  <a:txBody>
                    <a:bodyPr/>
                    <a:lstStyle/>
                    <a:p>
                      <a:pPr algn="l" fontAlgn="ctr">
                        <a:buNone/>
                      </a:pPr>
                      <a:r>
                        <a:rPr lang="es-ES" sz="1000" u="none" strike="noStrike">
                          <a:effectLst/>
                        </a:rPr>
                        <a:t>LEFT OUTER JOIN</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Todos los del lado izquierdo, y los del derecho si coinciden</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989118262"/>
                  </a:ext>
                </a:extLst>
              </a:tr>
              <a:tr h="485775">
                <a:tc>
                  <a:txBody>
                    <a:bodyPr/>
                    <a:lstStyle/>
                    <a:p>
                      <a:pPr algn="l" fontAlgn="ctr">
                        <a:buNone/>
                      </a:pPr>
                      <a:r>
                        <a:rPr lang="es-ES" sz="1000" u="none" strike="noStrike">
                          <a:effectLst/>
                        </a:rPr>
                        <a:t>RIGHT OUTER JOIN</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Todos los del lado derecho, y los del izquierdo si coinciden</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889531457"/>
                  </a:ext>
                </a:extLst>
              </a:tr>
              <a:tr h="190500">
                <a:tc>
                  <a:txBody>
                    <a:bodyPr/>
                    <a:lstStyle/>
                    <a:p>
                      <a:pPr algn="l" fontAlgn="ctr">
                        <a:buNone/>
                      </a:pPr>
                      <a:r>
                        <a:rPr lang="es-ES" sz="1000" u="none" strike="noStrike">
                          <a:effectLst/>
                        </a:rPr>
                        <a:t>FULL OUTER JOIN</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Todos, coincidan o no</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87785641"/>
                  </a:ext>
                </a:extLst>
              </a:tr>
              <a:tr h="190500">
                <a:tc>
                  <a:txBody>
                    <a:bodyPr/>
                    <a:lstStyle/>
                    <a:p>
                      <a:pPr algn="l" fontAlgn="ctr">
                        <a:buNone/>
                      </a:pPr>
                      <a:r>
                        <a:rPr lang="es-ES" sz="1000" u="none" strike="noStrike">
                          <a:effectLst/>
                        </a:rPr>
                        <a:t>CROSS JOIN</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Producto cartesiano</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160747938"/>
                  </a:ext>
                </a:extLst>
              </a:tr>
              <a:tr h="190500">
                <a:tc>
                  <a:txBody>
                    <a:bodyPr/>
                    <a:lstStyle/>
                    <a:p>
                      <a:pPr algn="l" fontAlgn="ctr">
                        <a:buNone/>
                      </a:pPr>
                      <a:r>
                        <a:rPr lang="es-ES" sz="1000" u="none" strike="noStrike">
                          <a:effectLst/>
                        </a:rPr>
                        <a:t>SELF JOIN</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dirty="0">
                          <a:effectLst/>
                        </a:rPr>
                        <a:t>Une una tabla consigo misma</a:t>
                      </a:r>
                      <a:endParaRPr lang="es-ES"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228496231"/>
                  </a:ext>
                </a:extLst>
              </a:tr>
            </a:tbl>
          </a:graphicData>
        </a:graphic>
      </p:graphicFrame>
      <p:pic>
        <p:nvPicPr>
          <p:cNvPr id="3" name="Picture 2" descr="undefined">
            <a:extLst>
              <a:ext uri="{FF2B5EF4-FFF2-40B4-BE49-F238E27FC236}">
                <a16:creationId xmlns:a16="http://schemas.microsoft.com/office/drawing/2014/main" id="{8F1ED4E6-43F7-C461-1795-A60852D352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987573"/>
            <a:ext cx="4679657" cy="3843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7136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707D-5DC0-04CC-C292-381734575951}"/>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CFECE6BB-E792-F697-8A0F-C1E83BF0C98D}"/>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D28E2501-5120-6CF0-B7C0-47F1B2AA2722}"/>
              </a:ext>
            </a:extLst>
          </p:cNvPr>
          <p:cNvSpPr>
            <a:spLocks noGrp="1"/>
          </p:cNvSpPr>
          <p:nvPr>
            <p:ph idx="1"/>
          </p:nvPr>
        </p:nvSpPr>
        <p:spPr>
          <a:xfrm>
            <a:off x="457200" y="915566"/>
            <a:ext cx="8579296" cy="446310"/>
          </a:xfrm>
        </p:spPr>
        <p:txBody>
          <a:bodyPr>
            <a:normAutofit lnSpcReduction="10000"/>
          </a:bodyPr>
          <a:lstStyle/>
          <a:p>
            <a:r>
              <a:rPr lang="es-ES_tradnl" dirty="0"/>
              <a:t>INNER JOIN</a:t>
            </a:r>
            <a:endParaRPr lang="es-ES" dirty="0"/>
          </a:p>
        </p:txBody>
      </p:sp>
      <p:sp>
        <p:nvSpPr>
          <p:cNvPr id="4" name="3 Título">
            <a:extLst>
              <a:ext uri="{FF2B5EF4-FFF2-40B4-BE49-F238E27FC236}">
                <a16:creationId xmlns:a16="http://schemas.microsoft.com/office/drawing/2014/main" id="{AE593F37-8535-DFF3-47E8-E1D9BEDDAFB4}"/>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DDC754BF-8857-D485-901C-9B30C2D08AC3}"/>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2DE8DE33-54B4-16AC-8227-B87C056943A7}"/>
              </a:ext>
            </a:extLst>
          </p:cNvPr>
          <p:cNvSpPr txBox="1"/>
          <p:nvPr/>
        </p:nvSpPr>
        <p:spPr>
          <a:xfrm>
            <a:off x="251520" y="1419622"/>
            <a:ext cx="3647963" cy="1938992"/>
          </a:xfrm>
          <a:prstGeom prst="rect">
            <a:avLst/>
          </a:prstGeom>
          <a:noFill/>
        </p:spPr>
        <p:txBody>
          <a:bodyPr wrap="square">
            <a:spAutoFit/>
          </a:bodyPr>
          <a:lstStyle/>
          <a:p>
            <a:r>
              <a:rPr lang="pt-BR" sz="1200" dirty="0"/>
              <a:t>--ANSY SQL</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a:t>
            </a:r>
          </a:p>
          <a:p>
            <a:r>
              <a:rPr lang="pt-BR" sz="1200" dirty="0"/>
              <a:t>INNER JOIN departamentos d</a:t>
            </a:r>
          </a:p>
          <a:p>
            <a:r>
              <a:rPr lang="pt-BR" sz="1200" dirty="0"/>
              <a:t>  ON </a:t>
            </a:r>
            <a:r>
              <a:rPr lang="pt-BR" sz="1200" dirty="0" err="1"/>
              <a:t>e.departamento_id</a:t>
            </a:r>
            <a:r>
              <a:rPr lang="pt-BR" sz="1200" dirty="0"/>
              <a:t> = d.id;</a:t>
            </a:r>
            <a:endParaRPr lang="en-US" sz="1200" dirty="0"/>
          </a:p>
          <a:p>
            <a:endParaRPr lang="en-US" sz="1200" dirty="0"/>
          </a:p>
          <a:p>
            <a:r>
              <a:rPr lang="en-US" sz="1200" dirty="0"/>
              <a:t> -- Antigua</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 departamentos d</a:t>
            </a:r>
          </a:p>
          <a:p>
            <a:r>
              <a:rPr lang="pt-BR" sz="1200" dirty="0"/>
              <a:t>WHERE </a:t>
            </a:r>
            <a:r>
              <a:rPr lang="pt-BR" sz="1200" dirty="0" err="1"/>
              <a:t>e.departamento_id</a:t>
            </a:r>
            <a:r>
              <a:rPr lang="pt-BR" sz="1200" dirty="0"/>
              <a:t> = d.id;</a:t>
            </a:r>
            <a:endParaRPr lang="en-US" sz="1200" dirty="0"/>
          </a:p>
        </p:txBody>
      </p:sp>
      <p:sp>
        <p:nvSpPr>
          <p:cNvPr id="9" name="4 Marcador de contenido">
            <a:extLst>
              <a:ext uri="{FF2B5EF4-FFF2-40B4-BE49-F238E27FC236}">
                <a16:creationId xmlns:a16="http://schemas.microsoft.com/office/drawing/2014/main" id="{10D7E65B-27A4-55EC-1013-8F8D447645DB}"/>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92661364-8D32-BF5D-46E6-941B3F4E5CBD}"/>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Devuelve solo empleados con departamento válido</a:t>
            </a:r>
          </a:p>
        </p:txBody>
      </p:sp>
      <p:pic>
        <p:nvPicPr>
          <p:cNvPr id="6150" name="Picture 6">
            <a:extLst>
              <a:ext uri="{FF2B5EF4-FFF2-40B4-BE49-F238E27FC236}">
                <a16:creationId xmlns:a16="http://schemas.microsoft.com/office/drawing/2014/main" id="{4AF0A277-30E1-5E85-A300-94E89695BA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1993826"/>
            <a:ext cx="2833865" cy="1915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5982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6EE2B-8500-3CF0-A449-787CB0BC0722}"/>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F794B873-6E05-D0DC-C8BC-82552EDB49A5}"/>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746A4127-2458-B384-90E9-987BE29DAC0A}"/>
              </a:ext>
            </a:extLst>
          </p:cNvPr>
          <p:cNvSpPr>
            <a:spLocks noGrp="1"/>
          </p:cNvSpPr>
          <p:nvPr>
            <p:ph idx="1"/>
          </p:nvPr>
        </p:nvSpPr>
        <p:spPr>
          <a:xfrm>
            <a:off x="457200" y="915566"/>
            <a:ext cx="8579296" cy="446310"/>
          </a:xfrm>
        </p:spPr>
        <p:txBody>
          <a:bodyPr>
            <a:normAutofit lnSpcReduction="10000"/>
          </a:bodyPr>
          <a:lstStyle/>
          <a:p>
            <a:r>
              <a:rPr lang="es-ES" dirty="0"/>
              <a:t>LEFT OUTER JOIN</a:t>
            </a:r>
          </a:p>
        </p:txBody>
      </p:sp>
      <p:sp>
        <p:nvSpPr>
          <p:cNvPr id="4" name="3 Título">
            <a:extLst>
              <a:ext uri="{FF2B5EF4-FFF2-40B4-BE49-F238E27FC236}">
                <a16:creationId xmlns:a16="http://schemas.microsoft.com/office/drawing/2014/main" id="{1C112F41-FDE2-1F5D-4046-CC7BBCD8FD7F}"/>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BFDCD36A-6B28-7F6E-2960-616F6370609F}"/>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F6697509-0407-BADF-9A1C-F4F79AEAB374}"/>
              </a:ext>
            </a:extLst>
          </p:cNvPr>
          <p:cNvSpPr txBox="1"/>
          <p:nvPr/>
        </p:nvSpPr>
        <p:spPr>
          <a:xfrm>
            <a:off x="251520" y="1419622"/>
            <a:ext cx="3647963" cy="1938992"/>
          </a:xfrm>
          <a:prstGeom prst="rect">
            <a:avLst/>
          </a:prstGeom>
          <a:noFill/>
        </p:spPr>
        <p:txBody>
          <a:bodyPr wrap="square">
            <a:spAutoFit/>
          </a:bodyPr>
          <a:lstStyle/>
          <a:p>
            <a:r>
              <a:rPr lang="pt-BR" sz="1200" dirty="0"/>
              <a:t>--ANSY SQL</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a:t>
            </a:r>
          </a:p>
          <a:p>
            <a:r>
              <a:rPr lang="pt-BR" sz="1200" dirty="0"/>
              <a:t>LEFT JOIN departamentos d</a:t>
            </a:r>
          </a:p>
          <a:p>
            <a:r>
              <a:rPr lang="pt-BR" sz="1200" dirty="0"/>
              <a:t>  ON </a:t>
            </a:r>
            <a:r>
              <a:rPr lang="pt-BR" sz="1200" dirty="0" err="1"/>
              <a:t>e.departamento_id</a:t>
            </a:r>
            <a:r>
              <a:rPr lang="pt-BR" sz="1200" dirty="0"/>
              <a:t> = d.id;</a:t>
            </a:r>
          </a:p>
          <a:p>
            <a:endParaRPr lang="en-US" sz="1200" dirty="0"/>
          </a:p>
          <a:p>
            <a:r>
              <a:rPr lang="en-US" sz="1200" dirty="0"/>
              <a:t> -- Antigua</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 departamentos d</a:t>
            </a:r>
          </a:p>
          <a:p>
            <a:r>
              <a:rPr lang="pt-BR" sz="1200" dirty="0"/>
              <a:t>WHERE </a:t>
            </a:r>
            <a:r>
              <a:rPr lang="pt-BR" sz="1200" dirty="0" err="1"/>
              <a:t>e.departamento_id</a:t>
            </a:r>
            <a:r>
              <a:rPr lang="pt-BR" sz="1200" dirty="0"/>
              <a:t> = d.id(+);</a:t>
            </a:r>
            <a:endParaRPr lang="en-US" sz="1200" dirty="0"/>
          </a:p>
        </p:txBody>
      </p:sp>
      <p:sp>
        <p:nvSpPr>
          <p:cNvPr id="9" name="4 Marcador de contenido">
            <a:extLst>
              <a:ext uri="{FF2B5EF4-FFF2-40B4-BE49-F238E27FC236}">
                <a16:creationId xmlns:a16="http://schemas.microsoft.com/office/drawing/2014/main" id="{0BF29A48-876F-9495-8496-7880D0C53A65}"/>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E29BD275-C5CE-A186-ACC9-0AD367E597FA}"/>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_tradnl" sz="1600" dirty="0"/>
              <a:t>L</a:t>
            </a:r>
            <a:r>
              <a:rPr lang="es-ES" sz="1600" dirty="0"/>
              <a:t>os registros de A, estén relacionados con B, o no.</a:t>
            </a:r>
          </a:p>
        </p:txBody>
      </p:sp>
      <p:pic>
        <p:nvPicPr>
          <p:cNvPr id="3074" name="Picture 2" descr="A Venn diagram showing the left circle and overlapping portion filled.">
            <a:extLst>
              <a:ext uri="{FF2B5EF4-FFF2-40B4-BE49-F238E27FC236}">
                <a16:creationId xmlns:a16="http://schemas.microsoft.com/office/drawing/2014/main" id="{0870F866-7A34-D5BB-1FAF-7112687FA4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5109" y="2330667"/>
            <a:ext cx="2650336" cy="178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4677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3412-6BE1-1AB8-FCE3-73BC253A3BC3}"/>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EE7B358F-0B5E-EF6A-AB82-AB613C520711}"/>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55720D60-05CA-51C0-B83A-AF0E3E2E27C5}"/>
              </a:ext>
            </a:extLst>
          </p:cNvPr>
          <p:cNvSpPr>
            <a:spLocks noGrp="1"/>
          </p:cNvSpPr>
          <p:nvPr>
            <p:ph idx="1"/>
          </p:nvPr>
        </p:nvSpPr>
        <p:spPr>
          <a:xfrm>
            <a:off x="457200" y="915566"/>
            <a:ext cx="8579296" cy="446310"/>
          </a:xfrm>
        </p:spPr>
        <p:txBody>
          <a:bodyPr>
            <a:normAutofit lnSpcReduction="10000"/>
          </a:bodyPr>
          <a:lstStyle/>
          <a:p>
            <a:r>
              <a:rPr lang="es-ES" dirty="0"/>
              <a:t>RIGHT OUTER JOIN</a:t>
            </a:r>
          </a:p>
        </p:txBody>
      </p:sp>
      <p:sp>
        <p:nvSpPr>
          <p:cNvPr id="4" name="3 Título">
            <a:extLst>
              <a:ext uri="{FF2B5EF4-FFF2-40B4-BE49-F238E27FC236}">
                <a16:creationId xmlns:a16="http://schemas.microsoft.com/office/drawing/2014/main" id="{BF6F85EA-AC29-92E6-2E85-EC95288EE405}"/>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F76B2112-1750-F3C1-20EE-F5D0DD264D59}"/>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1DB0F057-68EB-B2E3-B3FC-AB92D6E546CE}"/>
              </a:ext>
            </a:extLst>
          </p:cNvPr>
          <p:cNvSpPr txBox="1"/>
          <p:nvPr/>
        </p:nvSpPr>
        <p:spPr>
          <a:xfrm>
            <a:off x="251520" y="1419622"/>
            <a:ext cx="3647963" cy="1938992"/>
          </a:xfrm>
          <a:prstGeom prst="rect">
            <a:avLst/>
          </a:prstGeom>
          <a:noFill/>
        </p:spPr>
        <p:txBody>
          <a:bodyPr wrap="square">
            <a:spAutoFit/>
          </a:bodyPr>
          <a:lstStyle/>
          <a:p>
            <a:r>
              <a:rPr lang="pt-BR" sz="1200" dirty="0"/>
              <a:t>-- </a:t>
            </a:r>
            <a:r>
              <a:rPr lang="pt-BR" sz="1200" dirty="0" err="1"/>
              <a:t>Sintaxis</a:t>
            </a:r>
            <a:r>
              <a:rPr lang="pt-BR" sz="1200" dirty="0"/>
              <a:t> ANSI</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a:t>
            </a:r>
          </a:p>
          <a:p>
            <a:r>
              <a:rPr lang="pt-BR" sz="1200" dirty="0"/>
              <a:t>RIGHT JOIN departamentos d ON </a:t>
            </a:r>
            <a:r>
              <a:rPr lang="pt-BR" sz="1200" dirty="0" err="1"/>
              <a:t>e.departamento_id</a:t>
            </a:r>
            <a:r>
              <a:rPr lang="pt-BR" sz="1200" dirty="0"/>
              <a:t> = d.id;</a:t>
            </a:r>
          </a:p>
          <a:p>
            <a:endParaRPr lang="pt-BR" sz="1200" dirty="0"/>
          </a:p>
          <a:p>
            <a:r>
              <a:rPr lang="pt-BR" sz="1200" dirty="0"/>
              <a:t>-- </a:t>
            </a:r>
            <a:r>
              <a:rPr lang="pt-BR" sz="1200" dirty="0" err="1"/>
              <a:t>Sintaxis</a:t>
            </a:r>
            <a:r>
              <a:rPr lang="pt-BR" sz="1200" dirty="0"/>
              <a:t> </a:t>
            </a:r>
            <a:r>
              <a:rPr lang="pt-BR" sz="1200" dirty="0" err="1"/>
              <a:t>antigua</a:t>
            </a:r>
            <a:r>
              <a:rPr lang="pt-BR" sz="1200" dirty="0"/>
              <a:t> (+)</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 departamentos d</a:t>
            </a:r>
          </a:p>
          <a:p>
            <a:r>
              <a:rPr lang="pt-BR" sz="1200" dirty="0"/>
              <a:t>WHERE </a:t>
            </a:r>
            <a:r>
              <a:rPr lang="pt-BR" sz="1200" dirty="0" err="1"/>
              <a:t>e.departamento_id</a:t>
            </a:r>
            <a:r>
              <a:rPr lang="pt-BR" sz="1200" dirty="0"/>
              <a:t>(+) = d.id;</a:t>
            </a:r>
          </a:p>
        </p:txBody>
      </p:sp>
      <p:sp>
        <p:nvSpPr>
          <p:cNvPr id="9" name="4 Marcador de contenido">
            <a:extLst>
              <a:ext uri="{FF2B5EF4-FFF2-40B4-BE49-F238E27FC236}">
                <a16:creationId xmlns:a16="http://schemas.microsoft.com/office/drawing/2014/main" id="{996695EC-F2D2-674D-869D-0B61C0F1CD94}"/>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11B53576-FE9B-C5D5-426A-27D0B0666FC0}"/>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_tradnl" sz="1600" dirty="0"/>
              <a:t>L</a:t>
            </a:r>
            <a:r>
              <a:rPr lang="es-ES" sz="1600" dirty="0"/>
              <a:t>os registros de B, estén relacionados con A, o no.</a:t>
            </a:r>
          </a:p>
        </p:txBody>
      </p:sp>
      <p:pic>
        <p:nvPicPr>
          <p:cNvPr id="4098" name="Picture 2" descr="A Venn diagram show the right circle and overlapping portions filled.">
            <a:extLst>
              <a:ext uri="{FF2B5EF4-FFF2-40B4-BE49-F238E27FC236}">
                <a16:creationId xmlns:a16="http://schemas.microsoft.com/office/drawing/2014/main" id="{94FB1962-35C8-8D38-62E6-5DFE50B0A75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7517" y="2044056"/>
            <a:ext cx="3558899" cy="2396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1886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621CE-390E-6CC1-7783-4B7D66EEB98C}"/>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2A605F7B-3D31-6807-7A7D-2D4D23877589}"/>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1B9E15A7-B232-DDFC-C361-2F8083204835}"/>
              </a:ext>
            </a:extLst>
          </p:cNvPr>
          <p:cNvSpPr>
            <a:spLocks noGrp="1"/>
          </p:cNvSpPr>
          <p:nvPr>
            <p:ph idx="1"/>
          </p:nvPr>
        </p:nvSpPr>
        <p:spPr>
          <a:xfrm>
            <a:off x="457200" y="915566"/>
            <a:ext cx="8579296" cy="446310"/>
          </a:xfrm>
        </p:spPr>
        <p:txBody>
          <a:bodyPr>
            <a:normAutofit lnSpcReduction="10000"/>
          </a:bodyPr>
          <a:lstStyle/>
          <a:p>
            <a:r>
              <a:rPr lang="es-ES" dirty="0"/>
              <a:t>FULL OUTER JOIN</a:t>
            </a:r>
          </a:p>
        </p:txBody>
      </p:sp>
      <p:sp>
        <p:nvSpPr>
          <p:cNvPr id="4" name="3 Título">
            <a:extLst>
              <a:ext uri="{FF2B5EF4-FFF2-40B4-BE49-F238E27FC236}">
                <a16:creationId xmlns:a16="http://schemas.microsoft.com/office/drawing/2014/main" id="{1E7BF86D-3F24-96DE-E00B-F4C00FCA5CB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956CEBC-F704-878E-7D92-4B8680960E59}"/>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3CBF391B-A386-D074-474A-1046F283E098}"/>
              </a:ext>
            </a:extLst>
          </p:cNvPr>
          <p:cNvSpPr txBox="1"/>
          <p:nvPr/>
        </p:nvSpPr>
        <p:spPr>
          <a:xfrm>
            <a:off x="251520" y="1419622"/>
            <a:ext cx="3647963" cy="2677656"/>
          </a:xfrm>
          <a:prstGeom prst="rect">
            <a:avLst/>
          </a:prstGeom>
          <a:noFill/>
        </p:spPr>
        <p:txBody>
          <a:bodyPr wrap="square">
            <a:spAutoFit/>
          </a:bodyPr>
          <a:lstStyle/>
          <a:p>
            <a:r>
              <a:rPr lang="pt-BR" sz="1200" dirty="0"/>
              <a:t>-- </a:t>
            </a:r>
            <a:r>
              <a:rPr lang="pt-BR" sz="1200" dirty="0" err="1"/>
              <a:t>Sintaxis</a:t>
            </a:r>
            <a:endParaRPr lang="pt-BR" sz="1200" dirty="0"/>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a:t>
            </a:r>
          </a:p>
          <a:p>
            <a:r>
              <a:rPr lang="pt-BR" sz="1200" dirty="0"/>
              <a:t>FULL OUTER JOIN departamentos d ON </a:t>
            </a:r>
            <a:r>
              <a:rPr lang="pt-BR" sz="1200" dirty="0" err="1"/>
              <a:t>e.departamento_id</a:t>
            </a:r>
            <a:r>
              <a:rPr lang="pt-BR" sz="1200" dirty="0"/>
              <a:t> = d.id;</a:t>
            </a:r>
          </a:p>
          <a:p>
            <a:endParaRPr lang="pt-BR" sz="1200" dirty="0"/>
          </a:p>
          <a:p>
            <a:r>
              <a:rPr lang="pt-BR" sz="1200" dirty="0"/>
              <a:t>-- </a:t>
            </a:r>
            <a:r>
              <a:rPr lang="pt-BR" sz="1200" dirty="0" err="1"/>
              <a:t>Sintaxis</a:t>
            </a:r>
            <a:r>
              <a:rPr lang="pt-BR" sz="1200" dirty="0"/>
              <a:t> </a:t>
            </a:r>
            <a:r>
              <a:rPr lang="pt-BR" sz="1200" dirty="0" err="1"/>
              <a:t>antigua</a:t>
            </a:r>
            <a:r>
              <a:rPr lang="pt-BR" sz="1200" dirty="0"/>
              <a:t> (NO EXISTE, </a:t>
            </a:r>
            <a:r>
              <a:rPr lang="pt-BR" sz="1200" dirty="0" err="1"/>
              <a:t>hay</a:t>
            </a:r>
            <a:r>
              <a:rPr lang="pt-BR" sz="1200" dirty="0"/>
              <a:t> que usar UNION)</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 departamentos d</a:t>
            </a:r>
          </a:p>
          <a:p>
            <a:r>
              <a:rPr lang="pt-BR" sz="1200" dirty="0"/>
              <a:t>WHERE </a:t>
            </a:r>
            <a:r>
              <a:rPr lang="pt-BR" sz="1200" dirty="0" err="1"/>
              <a:t>e.departamento_id</a:t>
            </a:r>
            <a:r>
              <a:rPr lang="pt-BR" sz="1200" dirty="0"/>
              <a:t> = d.id(+)</a:t>
            </a:r>
          </a:p>
          <a:p>
            <a:r>
              <a:rPr lang="pt-BR" sz="1200" dirty="0"/>
              <a:t>UNION</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 departamentos d</a:t>
            </a:r>
          </a:p>
          <a:p>
            <a:r>
              <a:rPr lang="pt-BR" sz="1200" dirty="0"/>
              <a:t>WHERE </a:t>
            </a:r>
            <a:r>
              <a:rPr lang="pt-BR" sz="1200" dirty="0" err="1"/>
              <a:t>e.departamento_id</a:t>
            </a:r>
            <a:r>
              <a:rPr lang="pt-BR" sz="1200" dirty="0"/>
              <a:t>(+) = d.id;</a:t>
            </a:r>
          </a:p>
        </p:txBody>
      </p:sp>
      <p:sp>
        <p:nvSpPr>
          <p:cNvPr id="9" name="4 Marcador de contenido">
            <a:extLst>
              <a:ext uri="{FF2B5EF4-FFF2-40B4-BE49-F238E27FC236}">
                <a16:creationId xmlns:a16="http://schemas.microsoft.com/office/drawing/2014/main" id="{E0A8D882-1683-638A-994D-0A5A754CC396}"/>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5125E4FD-3178-6F2B-05F2-6625DEA87AAB}"/>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Todos los registros de A relacionados con B, Los objetos de A no relacionados, y los de B no relacionados.</a:t>
            </a:r>
          </a:p>
        </p:txBody>
      </p:sp>
      <p:pic>
        <p:nvPicPr>
          <p:cNvPr id="5122" name="Picture 2" descr="A Venn diagram showing the right circle, left circle, and overlapping portion filled.">
            <a:extLst>
              <a:ext uri="{FF2B5EF4-FFF2-40B4-BE49-F238E27FC236}">
                <a16:creationId xmlns:a16="http://schemas.microsoft.com/office/drawing/2014/main" id="{6889EC42-7A36-EC74-167B-C02A7F6FCA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17902" y="2160240"/>
            <a:ext cx="3391040" cy="2283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852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48F52-2DFA-6200-7406-6A8B6C61F9A9}"/>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EBB21D21-73C4-9765-4C4B-5C84961E2728}"/>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56ABF640-09E9-7107-0C7F-1276CD16FCC4}"/>
              </a:ext>
            </a:extLst>
          </p:cNvPr>
          <p:cNvSpPr>
            <a:spLocks noGrp="1"/>
          </p:cNvSpPr>
          <p:nvPr>
            <p:ph idx="1"/>
          </p:nvPr>
        </p:nvSpPr>
        <p:spPr>
          <a:xfrm>
            <a:off x="457200" y="915566"/>
            <a:ext cx="8579296" cy="446310"/>
          </a:xfrm>
        </p:spPr>
        <p:txBody>
          <a:bodyPr>
            <a:normAutofit lnSpcReduction="10000"/>
          </a:bodyPr>
          <a:lstStyle/>
          <a:p>
            <a:r>
              <a:rPr lang="es-ES" dirty="0"/>
              <a:t>CROSS JOIN</a:t>
            </a:r>
          </a:p>
        </p:txBody>
      </p:sp>
      <p:sp>
        <p:nvSpPr>
          <p:cNvPr id="4" name="3 Título">
            <a:extLst>
              <a:ext uri="{FF2B5EF4-FFF2-40B4-BE49-F238E27FC236}">
                <a16:creationId xmlns:a16="http://schemas.microsoft.com/office/drawing/2014/main" id="{00E7B357-971D-D95D-F5FA-15E240155A46}"/>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F6EAD746-65A6-51F0-0CB2-8D145E83F8FD}"/>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845EB130-9D9A-22F9-0AB0-246DD8397077}"/>
              </a:ext>
            </a:extLst>
          </p:cNvPr>
          <p:cNvSpPr txBox="1"/>
          <p:nvPr/>
        </p:nvSpPr>
        <p:spPr>
          <a:xfrm>
            <a:off x="251520" y="1419622"/>
            <a:ext cx="3647963" cy="1569660"/>
          </a:xfrm>
          <a:prstGeom prst="rect">
            <a:avLst/>
          </a:prstGeom>
          <a:noFill/>
        </p:spPr>
        <p:txBody>
          <a:bodyPr wrap="square">
            <a:spAutoFit/>
          </a:bodyPr>
          <a:lstStyle/>
          <a:p>
            <a:r>
              <a:rPr lang="pt-BR" sz="1200" dirty="0"/>
              <a:t>-- </a:t>
            </a:r>
            <a:r>
              <a:rPr lang="pt-BR" sz="1200" dirty="0" err="1"/>
              <a:t>Sintaxis</a:t>
            </a:r>
            <a:r>
              <a:rPr lang="pt-BR" sz="1200" dirty="0"/>
              <a:t> ANSI</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a:t>
            </a:r>
          </a:p>
          <a:p>
            <a:r>
              <a:rPr lang="pt-BR" sz="1200" dirty="0"/>
              <a:t>CROSS JOIN departamentos d;</a:t>
            </a:r>
          </a:p>
          <a:p>
            <a:endParaRPr lang="pt-BR" sz="1200" dirty="0"/>
          </a:p>
          <a:p>
            <a:r>
              <a:rPr lang="pt-BR" sz="1200" dirty="0"/>
              <a:t>-- </a:t>
            </a:r>
            <a:r>
              <a:rPr lang="pt-BR" sz="1200" dirty="0" err="1"/>
              <a:t>Sintaxis</a:t>
            </a:r>
            <a:r>
              <a:rPr lang="pt-BR" sz="1200" dirty="0"/>
              <a:t> </a:t>
            </a:r>
            <a:r>
              <a:rPr lang="pt-BR" sz="1200" dirty="0" err="1"/>
              <a:t>antigua</a:t>
            </a:r>
            <a:r>
              <a:rPr lang="pt-BR" sz="1200" dirty="0"/>
              <a:t> (</a:t>
            </a:r>
            <a:r>
              <a:rPr lang="pt-BR" sz="1200" dirty="0" err="1"/>
              <a:t>sin</a:t>
            </a:r>
            <a:r>
              <a:rPr lang="pt-BR" sz="1200" dirty="0"/>
              <a:t> WHERE)</a:t>
            </a:r>
          </a:p>
          <a:p>
            <a:r>
              <a:rPr lang="pt-BR" sz="1200" dirty="0"/>
              <a:t>SELECT </a:t>
            </a:r>
            <a:r>
              <a:rPr lang="pt-BR" sz="1200" dirty="0" err="1"/>
              <a:t>e.nombre</a:t>
            </a:r>
            <a:r>
              <a:rPr lang="pt-BR" sz="1200" dirty="0"/>
              <a:t>, </a:t>
            </a:r>
            <a:r>
              <a:rPr lang="pt-BR" sz="1200" dirty="0" err="1"/>
              <a:t>d.nombre</a:t>
            </a:r>
            <a:r>
              <a:rPr lang="pt-BR" sz="1200" dirty="0"/>
              <a:t> as departamento</a:t>
            </a:r>
          </a:p>
          <a:p>
            <a:r>
              <a:rPr lang="pt-BR" sz="1200" dirty="0"/>
              <a:t>FROM </a:t>
            </a:r>
            <a:r>
              <a:rPr lang="pt-BR" sz="1200" dirty="0" err="1"/>
              <a:t>empleados</a:t>
            </a:r>
            <a:r>
              <a:rPr lang="pt-BR" sz="1200" dirty="0"/>
              <a:t> e, departamentos d;</a:t>
            </a:r>
          </a:p>
        </p:txBody>
      </p:sp>
      <p:sp>
        <p:nvSpPr>
          <p:cNvPr id="9" name="4 Marcador de contenido">
            <a:extLst>
              <a:ext uri="{FF2B5EF4-FFF2-40B4-BE49-F238E27FC236}">
                <a16:creationId xmlns:a16="http://schemas.microsoft.com/office/drawing/2014/main" id="{0FED85F2-8F39-FC49-27E4-127B0C911D20}"/>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050884A5-FBAA-06AA-22DE-44DD7D21F20F}"/>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Relaciona todos los registros de A con B</a:t>
            </a:r>
          </a:p>
        </p:txBody>
      </p:sp>
      <p:pic>
        <p:nvPicPr>
          <p:cNvPr id="7170" name="Picture 2">
            <a:extLst>
              <a:ext uri="{FF2B5EF4-FFF2-40B4-BE49-F238E27FC236}">
                <a16:creationId xmlns:a16="http://schemas.microsoft.com/office/drawing/2014/main" id="{7E643032-0E51-BBF7-40CE-03BCFBDC28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672" y="1772704"/>
            <a:ext cx="2857500"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2766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CA2A2-8187-4EF2-55D6-D246DEC41317}"/>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D5C32EC8-A1F5-EF85-8BDC-C8D67B583D2D}"/>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7E420A3E-B2C3-1C54-3F6E-8FF037982D50}"/>
              </a:ext>
            </a:extLst>
          </p:cNvPr>
          <p:cNvSpPr>
            <a:spLocks noGrp="1"/>
          </p:cNvSpPr>
          <p:nvPr>
            <p:ph idx="1"/>
          </p:nvPr>
        </p:nvSpPr>
        <p:spPr>
          <a:xfrm>
            <a:off x="457200" y="915566"/>
            <a:ext cx="8579296" cy="446310"/>
          </a:xfrm>
        </p:spPr>
        <p:txBody>
          <a:bodyPr>
            <a:normAutofit lnSpcReduction="10000"/>
          </a:bodyPr>
          <a:lstStyle/>
          <a:p>
            <a:r>
              <a:rPr lang="es-ES" dirty="0"/>
              <a:t>SELF JOIN</a:t>
            </a:r>
          </a:p>
        </p:txBody>
      </p:sp>
      <p:sp>
        <p:nvSpPr>
          <p:cNvPr id="4" name="3 Título">
            <a:extLst>
              <a:ext uri="{FF2B5EF4-FFF2-40B4-BE49-F238E27FC236}">
                <a16:creationId xmlns:a16="http://schemas.microsoft.com/office/drawing/2014/main" id="{374E8730-AB19-6DDF-A55A-A412B4A22E0E}"/>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D64D5842-9DEF-9328-39F1-1C72A7CFB62A}"/>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2524C9DC-5883-D753-0BF9-DA86815C0291}"/>
              </a:ext>
            </a:extLst>
          </p:cNvPr>
          <p:cNvSpPr txBox="1"/>
          <p:nvPr/>
        </p:nvSpPr>
        <p:spPr>
          <a:xfrm>
            <a:off x="251520" y="1419622"/>
            <a:ext cx="3647963" cy="1754326"/>
          </a:xfrm>
          <a:prstGeom prst="rect">
            <a:avLst/>
          </a:prstGeom>
          <a:noFill/>
        </p:spPr>
        <p:txBody>
          <a:bodyPr wrap="square">
            <a:spAutoFit/>
          </a:bodyPr>
          <a:lstStyle/>
          <a:p>
            <a:r>
              <a:rPr lang="pt-BR" sz="1200" dirty="0"/>
              <a:t>-- </a:t>
            </a:r>
            <a:r>
              <a:rPr lang="pt-BR" sz="1200" dirty="0" err="1"/>
              <a:t>Sintaxis</a:t>
            </a:r>
            <a:r>
              <a:rPr lang="pt-BR" sz="1200" dirty="0"/>
              <a:t> ANSI</a:t>
            </a:r>
          </a:p>
          <a:p>
            <a:r>
              <a:rPr lang="pt-BR" sz="1200" dirty="0"/>
              <a:t>SELECT </a:t>
            </a:r>
            <a:r>
              <a:rPr lang="pt-BR" sz="1200" dirty="0" err="1"/>
              <a:t>e.nombre</a:t>
            </a:r>
            <a:r>
              <a:rPr lang="pt-BR" sz="1200" dirty="0"/>
              <a:t> as </a:t>
            </a:r>
            <a:r>
              <a:rPr lang="pt-BR" sz="1200" dirty="0" err="1"/>
              <a:t>empleado</a:t>
            </a:r>
            <a:r>
              <a:rPr lang="pt-BR" sz="1200" dirty="0"/>
              <a:t>, </a:t>
            </a:r>
            <a:r>
              <a:rPr lang="pt-BR" sz="1200" dirty="0" err="1"/>
              <a:t>m.nombre</a:t>
            </a:r>
            <a:r>
              <a:rPr lang="pt-BR" sz="1200" dirty="0"/>
              <a:t> as manager</a:t>
            </a:r>
          </a:p>
          <a:p>
            <a:r>
              <a:rPr lang="pt-BR" sz="1200" dirty="0"/>
              <a:t>FROM </a:t>
            </a:r>
            <a:r>
              <a:rPr lang="pt-BR" sz="1200" dirty="0" err="1"/>
              <a:t>empleados</a:t>
            </a:r>
            <a:r>
              <a:rPr lang="pt-BR" sz="1200" dirty="0"/>
              <a:t> e</a:t>
            </a:r>
          </a:p>
          <a:p>
            <a:r>
              <a:rPr lang="pt-BR" sz="1200" dirty="0"/>
              <a:t>LEFT JOIN </a:t>
            </a:r>
            <a:r>
              <a:rPr lang="pt-BR" sz="1200" dirty="0" err="1"/>
              <a:t>empleados</a:t>
            </a:r>
            <a:r>
              <a:rPr lang="pt-BR" sz="1200" dirty="0"/>
              <a:t> m ON </a:t>
            </a:r>
            <a:r>
              <a:rPr lang="pt-BR" sz="1200" dirty="0" err="1"/>
              <a:t>e.manager_id</a:t>
            </a:r>
            <a:r>
              <a:rPr lang="pt-BR" sz="1200" dirty="0"/>
              <a:t> = m.id;</a:t>
            </a:r>
          </a:p>
          <a:p>
            <a:endParaRPr lang="pt-BR" sz="1200" dirty="0"/>
          </a:p>
          <a:p>
            <a:r>
              <a:rPr lang="pt-BR" sz="1200" dirty="0"/>
              <a:t>-- </a:t>
            </a:r>
            <a:r>
              <a:rPr lang="pt-BR" sz="1200" dirty="0" err="1"/>
              <a:t>Sintaxis</a:t>
            </a:r>
            <a:r>
              <a:rPr lang="pt-BR" sz="1200" dirty="0"/>
              <a:t> </a:t>
            </a:r>
            <a:r>
              <a:rPr lang="pt-BR" sz="1200" dirty="0" err="1"/>
              <a:t>antigua</a:t>
            </a:r>
            <a:endParaRPr lang="pt-BR" sz="1200" dirty="0"/>
          </a:p>
          <a:p>
            <a:r>
              <a:rPr lang="pt-BR" sz="1200" dirty="0"/>
              <a:t>SELECT </a:t>
            </a:r>
            <a:r>
              <a:rPr lang="pt-BR" sz="1200" dirty="0" err="1"/>
              <a:t>e.nombre</a:t>
            </a:r>
            <a:r>
              <a:rPr lang="pt-BR" sz="1200" dirty="0"/>
              <a:t> as </a:t>
            </a:r>
            <a:r>
              <a:rPr lang="pt-BR" sz="1200" dirty="0" err="1"/>
              <a:t>empleado</a:t>
            </a:r>
            <a:r>
              <a:rPr lang="pt-BR" sz="1200" dirty="0"/>
              <a:t>, </a:t>
            </a:r>
            <a:r>
              <a:rPr lang="pt-BR" sz="1200" dirty="0" err="1"/>
              <a:t>m.nombre</a:t>
            </a:r>
            <a:r>
              <a:rPr lang="pt-BR" sz="1200" dirty="0"/>
              <a:t> as manager</a:t>
            </a:r>
          </a:p>
          <a:p>
            <a:r>
              <a:rPr lang="pt-BR" sz="1200" dirty="0"/>
              <a:t>FROM </a:t>
            </a:r>
            <a:r>
              <a:rPr lang="pt-BR" sz="1200" dirty="0" err="1"/>
              <a:t>empleados</a:t>
            </a:r>
            <a:r>
              <a:rPr lang="pt-BR" sz="1200" dirty="0"/>
              <a:t> e, </a:t>
            </a:r>
            <a:r>
              <a:rPr lang="pt-BR" sz="1200" dirty="0" err="1"/>
              <a:t>empleados</a:t>
            </a:r>
            <a:r>
              <a:rPr lang="pt-BR" sz="1200" dirty="0"/>
              <a:t> m</a:t>
            </a:r>
          </a:p>
          <a:p>
            <a:r>
              <a:rPr lang="pt-BR" sz="1200" dirty="0"/>
              <a:t>WHERE </a:t>
            </a:r>
            <a:r>
              <a:rPr lang="pt-BR" sz="1200" dirty="0" err="1"/>
              <a:t>e.manager_id</a:t>
            </a:r>
            <a:r>
              <a:rPr lang="pt-BR" sz="1200" dirty="0"/>
              <a:t> = m.id(+);</a:t>
            </a:r>
          </a:p>
        </p:txBody>
      </p:sp>
      <p:sp>
        <p:nvSpPr>
          <p:cNvPr id="9" name="4 Marcador de contenido">
            <a:extLst>
              <a:ext uri="{FF2B5EF4-FFF2-40B4-BE49-F238E27FC236}">
                <a16:creationId xmlns:a16="http://schemas.microsoft.com/office/drawing/2014/main" id="{BFA48231-8259-7755-9465-6F8DBA26DA26}"/>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CC7DB74F-FFDA-D5FE-BCF0-D807E600A547}"/>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La tabla se referencia a si misma</a:t>
            </a:r>
          </a:p>
        </p:txBody>
      </p:sp>
      <p:sp>
        <p:nvSpPr>
          <p:cNvPr id="2" name="AutoShape 2" descr="Lightbox">
            <a:extLst>
              <a:ext uri="{FF2B5EF4-FFF2-40B4-BE49-F238E27FC236}">
                <a16:creationId xmlns:a16="http://schemas.microsoft.com/office/drawing/2014/main" id="{3986FA4E-76F3-844B-19BE-EEB41D7DCEC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10" name="Gráfico 9">
            <a:extLst>
              <a:ext uri="{FF2B5EF4-FFF2-40B4-BE49-F238E27FC236}">
                <a16:creationId xmlns:a16="http://schemas.microsoft.com/office/drawing/2014/main" id="{B51D7278-00FC-73A6-EA5B-C82EADE6C5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05087" y="1888802"/>
            <a:ext cx="2038350" cy="1533525"/>
          </a:xfrm>
          <a:prstGeom prst="rect">
            <a:avLst/>
          </a:prstGeom>
        </p:spPr>
      </p:pic>
      <p:sp>
        <p:nvSpPr>
          <p:cNvPr id="3" name="CuadroTexto 2">
            <a:extLst>
              <a:ext uri="{FF2B5EF4-FFF2-40B4-BE49-F238E27FC236}">
                <a16:creationId xmlns:a16="http://schemas.microsoft.com/office/drawing/2014/main" id="{E74781A3-376A-EE94-C007-53005E7D50A0}"/>
              </a:ext>
            </a:extLst>
          </p:cNvPr>
          <p:cNvSpPr txBox="1"/>
          <p:nvPr/>
        </p:nvSpPr>
        <p:spPr>
          <a:xfrm>
            <a:off x="7343135" y="4731990"/>
            <a:ext cx="1774078" cy="246221"/>
          </a:xfrm>
          <a:prstGeom prst="rect">
            <a:avLst/>
          </a:prstGeom>
          <a:noFill/>
        </p:spPr>
        <p:txBody>
          <a:bodyPr wrap="square">
            <a:spAutoFit/>
          </a:bodyPr>
          <a:lstStyle/>
          <a:p>
            <a:pPr algn="l"/>
            <a:r>
              <a:rPr lang="es-ES" sz="1000" b="0" i="0" dirty="0">
                <a:solidFill>
                  <a:srgbClr val="FF6A00"/>
                </a:solidFill>
                <a:effectLst/>
                <a:latin typeface="-apple-system"/>
              </a:rPr>
              <a:t>sesion2-joins.sql</a:t>
            </a:r>
          </a:p>
        </p:txBody>
      </p:sp>
    </p:spTree>
    <p:extLst>
      <p:ext uri="{BB962C8B-B14F-4D97-AF65-F5344CB8AC3E}">
        <p14:creationId xmlns:p14="http://schemas.microsoft.com/office/powerpoint/2010/main" val="23989491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54503-2C58-CE93-51B6-8E9919419810}"/>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426795C1-AD22-77EA-45FA-F101201FC921}"/>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7EE6FC23-4EB5-15E0-5195-547001DDBB94}"/>
              </a:ext>
            </a:extLst>
          </p:cNvPr>
          <p:cNvSpPr>
            <a:spLocks noGrp="1"/>
          </p:cNvSpPr>
          <p:nvPr>
            <p:ph idx="1"/>
          </p:nvPr>
        </p:nvSpPr>
        <p:spPr>
          <a:xfrm>
            <a:off x="457200" y="915566"/>
            <a:ext cx="8579296" cy="446310"/>
          </a:xfrm>
        </p:spPr>
        <p:txBody>
          <a:bodyPr>
            <a:normAutofit lnSpcReduction="10000"/>
          </a:bodyPr>
          <a:lstStyle/>
          <a:p>
            <a:r>
              <a:rPr lang="es-ES" dirty="0"/>
              <a:t>Cómo Oracle ejecuta un JOIN (internamente)</a:t>
            </a:r>
          </a:p>
        </p:txBody>
      </p:sp>
      <p:sp>
        <p:nvSpPr>
          <p:cNvPr id="4" name="3 Título">
            <a:extLst>
              <a:ext uri="{FF2B5EF4-FFF2-40B4-BE49-F238E27FC236}">
                <a16:creationId xmlns:a16="http://schemas.microsoft.com/office/drawing/2014/main" id="{474DFF72-7E66-5BBC-A393-2E41B1FB9E62}"/>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C05F21E8-E77A-6A42-7558-47F215F4A8EE}"/>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643FEC44-A436-A03C-12AD-34A9ECEBF47D}"/>
              </a:ext>
            </a:extLst>
          </p:cNvPr>
          <p:cNvSpPr txBox="1"/>
          <p:nvPr/>
        </p:nvSpPr>
        <p:spPr>
          <a:xfrm>
            <a:off x="251520" y="1419622"/>
            <a:ext cx="3647963" cy="2677656"/>
          </a:xfrm>
          <a:prstGeom prst="rect">
            <a:avLst/>
          </a:prstGeom>
          <a:noFill/>
        </p:spPr>
        <p:txBody>
          <a:bodyPr wrap="square">
            <a:spAutoFit/>
          </a:bodyPr>
          <a:lstStyle/>
          <a:p>
            <a:r>
              <a:rPr lang="en-US" sz="1200" dirty="0"/>
              <a:t>EXPLAIN PLAN FOR</a:t>
            </a:r>
          </a:p>
          <a:p>
            <a:r>
              <a:rPr lang="en-US" sz="1200" dirty="0"/>
              <a:t>SELECT /*+ USE_NL(e d) */ ...</a:t>
            </a:r>
          </a:p>
          <a:p>
            <a:endParaRPr lang="en-US" sz="1200" dirty="0"/>
          </a:p>
          <a:p>
            <a:endParaRPr lang="en-US" sz="1200" dirty="0"/>
          </a:p>
          <a:p>
            <a:endParaRPr lang="pt-BR" sz="1200" dirty="0"/>
          </a:p>
          <a:p>
            <a:endParaRPr lang="en-US" sz="1200" dirty="0"/>
          </a:p>
          <a:p>
            <a:r>
              <a:rPr lang="en-US" sz="1200" dirty="0"/>
              <a:t>EXPLAIN PLAN FOR</a:t>
            </a:r>
          </a:p>
          <a:p>
            <a:r>
              <a:rPr lang="en-US" sz="1200" dirty="0"/>
              <a:t>SELECT /*+ USE_HASH(e d) */ ...</a:t>
            </a:r>
          </a:p>
          <a:p>
            <a:endParaRPr lang="en-US" sz="1200" dirty="0"/>
          </a:p>
          <a:p>
            <a:endParaRPr lang="en-US" sz="1200" dirty="0"/>
          </a:p>
          <a:p>
            <a:endParaRPr lang="en-US" sz="1200" dirty="0"/>
          </a:p>
          <a:p>
            <a:endParaRPr lang="en-US" sz="1200" dirty="0"/>
          </a:p>
          <a:p>
            <a:r>
              <a:rPr lang="en-US" sz="1200" dirty="0"/>
              <a:t>EXPLAIN PLAN FOR</a:t>
            </a:r>
          </a:p>
          <a:p>
            <a:r>
              <a:rPr lang="en-US" sz="1200" dirty="0"/>
              <a:t>SELECT /*+ USE_MERGE(e d) */ ...</a:t>
            </a:r>
            <a:endParaRPr lang="pt-BR" sz="1200" dirty="0"/>
          </a:p>
        </p:txBody>
      </p:sp>
      <p:sp>
        <p:nvSpPr>
          <p:cNvPr id="9" name="4 Marcador de contenido">
            <a:extLst>
              <a:ext uri="{FF2B5EF4-FFF2-40B4-BE49-F238E27FC236}">
                <a16:creationId xmlns:a16="http://schemas.microsoft.com/office/drawing/2014/main" id="{76066EC9-8E85-4A7C-CBA9-3BE74BF461B2}"/>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CBF54C35-33F2-2F5D-9B66-229A50EDC899}"/>
              </a:ext>
            </a:extLst>
          </p:cNvPr>
          <p:cNvSpPr txBox="1">
            <a:spLocks/>
          </p:cNvSpPr>
          <p:nvPr/>
        </p:nvSpPr>
        <p:spPr>
          <a:xfrm>
            <a:off x="4005518" y="1326394"/>
            <a:ext cx="5030978" cy="3693628"/>
          </a:xfrm>
          <a:prstGeom prst="rect">
            <a:avLst/>
          </a:prstGeom>
        </p:spPr>
        <p:txBody>
          <a:bodyPr vert="horz" lIns="91440" tIns="45720" rIns="91440" bIns="45720" rtlCol="0">
            <a:normAutofit lnSpcReduction="10000"/>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Oracle puede elegir distintos métodos físicos para realizar un </a:t>
            </a:r>
            <a:r>
              <a:rPr lang="es-ES" dirty="0"/>
              <a:t>JOIN</a:t>
            </a:r>
            <a:r>
              <a:rPr lang="es-ES" sz="1600" dirty="0"/>
              <a:t>.</a:t>
            </a:r>
            <a:br>
              <a:rPr lang="es-ES" sz="1600" dirty="0"/>
            </a:br>
            <a:r>
              <a:rPr lang="es-ES" sz="1600" dirty="0"/>
              <a:t>La elección depende del volumen de datos, índices y estadísticas.</a:t>
            </a:r>
          </a:p>
          <a:p>
            <a:pPr marL="342900" lvl="1" indent="-342900">
              <a:buFont typeface="Arial" panose="020B0604020202020204" pitchFamily="34" charset="0"/>
              <a:buChar char="•"/>
            </a:pPr>
            <a:r>
              <a:rPr lang="es-ES" sz="1600" b="1" dirty="0" err="1"/>
              <a:t>Nested</a:t>
            </a:r>
            <a:r>
              <a:rPr lang="es-ES" sz="1600" b="1" dirty="0"/>
              <a:t> </a:t>
            </a:r>
            <a:r>
              <a:rPr lang="es-ES" sz="1600" b="1" dirty="0" err="1"/>
              <a:t>Loop</a:t>
            </a:r>
            <a:r>
              <a:rPr lang="es-ES" sz="1600" b="1" dirty="0"/>
              <a:t> </a:t>
            </a:r>
            <a:r>
              <a:rPr lang="es-ES" sz="1600" b="1" dirty="0" err="1"/>
              <a:t>Join</a:t>
            </a:r>
            <a:r>
              <a:rPr lang="es-ES" sz="1600" b="1" dirty="0"/>
              <a:t> </a:t>
            </a:r>
            <a:r>
              <a:rPr lang="es-ES" sz="1600" dirty="0"/>
              <a:t>Ideal cuando una tabla es pequeña y la otra tiene índice en la clave de </a:t>
            </a:r>
            <a:r>
              <a:rPr lang="es-ES" sz="1600" dirty="0" err="1"/>
              <a:t>join.Se</a:t>
            </a:r>
            <a:r>
              <a:rPr lang="es-ES" sz="1600" dirty="0"/>
              <a:t> ejecuta fila por fila (iterativo). Rápido en </a:t>
            </a:r>
            <a:r>
              <a:rPr lang="es-ES" sz="1600" dirty="0" err="1"/>
              <a:t>joins</a:t>
            </a:r>
            <a:r>
              <a:rPr lang="es-ES" sz="1600" dirty="0"/>
              <a:t> selectivos, lento en tablas grandes.</a:t>
            </a:r>
          </a:p>
          <a:p>
            <a:pPr marL="342900" lvl="1" indent="-342900">
              <a:buFont typeface="Arial" panose="020B0604020202020204" pitchFamily="34" charset="0"/>
              <a:buChar char="•"/>
            </a:pPr>
            <a:r>
              <a:rPr lang="es-ES" sz="1600" b="1" dirty="0"/>
              <a:t>Hash </a:t>
            </a:r>
            <a:r>
              <a:rPr lang="es-ES" sz="1600" b="1" dirty="0" err="1"/>
              <a:t>Join</a:t>
            </a:r>
            <a:r>
              <a:rPr lang="es-ES" sz="1600" b="1" dirty="0"/>
              <a:t> </a:t>
            </a:r>
            <a:r>
              <a:rPr lang="es-ES" sz="1600" dirty="0"/>
              <a:t>Oracle crea un hash table de una de las tablas y busca </a:t>
            </a:r>
            <a:r>
              <a:rPr lang="es-ES" sz="1600" dirty="0" err="1"/>
              <a:t>coincidencias.Ideal</a:t>
            </a:r>
            <a:r>
              <a:rPr lang="es-ES" sz="1600" dirty="0"/>
              <a:t> para tablas grandes sin índices.</a:t>
            </a:r>
          </a:p>
          <a:p>
            <a:pPr marL="342900" lvl="1" indent="-342900">
              <a:buFont typeface="Arial" panose="020B0604020202020204" pitchFamily="34" charset="0"/>
              <a:buChar char="•"/>
            </a:pPr>
            <a:r>
              <a:rPr lang="es-ES" sz="1600" b="1" dirty="0" err="1"/>
              <a:t>Sort</a:t>
            </a:r>
            <a:r>
              <a:rPr lang="es-ES" sz="1600" b="1" dirty="0"/>
              <a:t> </a:t>
            </a:r>
            <a:r>
              <a:rPr lang="es-ES" sz="1600" b="1" dirty="0" err="1"/>
              <a:t>Merge</a:t>
            </a:r>
            <a:r>
              <a:rPr lang="es-ES" sz="1600" b="1" dirty="0"/>
              <a:t> </a:t>
            </a:r>
            <a:r>
              <a:rPr lang="es-ES" sz="1600" b="1" dirty="0" err="1"/>
              <a:t>Join</a:t>
            </a:r>
            <a:r>
              <a:rPr lang="es-ES" sz="1600" b="1" dirty="0"/>
              <a:t> </a:t>
            </a:r>
            <a:r>
              <a:rPr lang="es-ES" sz="1600" dirty="0"/>
              <a:t>Oracle ordena ambas tablas según la clave de </a:t>
            </a:r>
            <a:r>
              <a:rPr lang="es-ES" sz="1600" dirty="0" err="1"/>
              <a:t>join</a:t>
            </a:r>
            <a:r>
              <a:rPr lang="es-ES" sz="1600" dirty="0"/>
              <a:t> y luego las “</a:t>
            </a:r>
            <a:r>
              <a:rPr lang="es-ES" sz="1600" dirty="0" err="1"/>
              <a:t>mergea</a:t>
            </a:r>
            <a:r>
              <a:rPr lang="es-ES" sz="1600" dirty="0"/>
              <a:t>”.Ideal si ya están ordenadas (por índice o pipeline previo).</a:t>
            </a:r>
          </a:p>
        </p:txBody>
      </p:sp>
      <p:sp>
        <p:nvSpPr>
          <p:cNvPr id="2" name="AutoShape 2" descr="Lightbox">
            <a:extLst>
              <a:ext uri="{FF2B5EF4-FFF2-40B4-BE49-F238E27FC236}">
                <a16:creationId xmlns:a16="http://schemas.microsoft.com/office/drawing/2014/main" id="{69456F4F-4A21-20C6-8F1D-56A664E2424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1904046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829F8-E309-23E5-5462-0532B777F72B}"/>
            </a:ext>
          </a:extLst>
        </p:cNvPr>
        <p:cNvGrpSpPr/>
        <p:nvPr/>
      </p:nvGrpSpPr>
      <p:grpSpPr>
        <a:xfrm>
          <a:off x="0" y="0"/>
          <a:ext cx="0" cy="0"/>
          <a:chOff x="0" y="0"/>
          <a:chExt cx="0" cy="0"/>
        </a:xfrm>
      </p:grpSpPr>
      <p:sp>
        <p:nvSpPr>
          <p:cNvPr id="5" name="4 Título">
            <a:extLst>
              <a:ext uri="{FF2B5EF4-FFF2-40B4-BE49-F238E27FC236}">
                <a16:creationId xmlns:a16="http://schemas.microsoft.com/office/drawing/2014/main" id="{7FDEA7D6-669C-C8E8-7F66-59685AF279F4}"/>
              </a:ext>
            </a:extLst>
          </p:cNvPr>
          <p:cNvSpPr>
            <a:spLocks noGrp="1"/>
          </p:cNvSpPr>
          <p:nvPr>
            <p:ph type="title"/>
          </p:nvPr>
        </p:nvSpPr>
        <p:spPr/>
        <p:txBody>
          <a:bodyPr/>
          <a:lstStyle/>
          <a:p>
            <a:r>
              <a:rPr lang="es-ES" dirty="0"/>
              <a:t>Recuperación avanzada y recorrido de datos en Oracle SQL</a:t>
            </a:r>
          </a:p>
        </p:txBody>
      </p:sp>
      <p:sp>
        <p:nvSpPr>
          <p:cNvPr id="6" name="5 Marcador de texto">
            <a:extLst>
              <a:ext uri="{FF2B5EF4-FFF2-40B4-BE49-F238E27FC236}">
                <a16:creationId xmlns:a16="http://schemas.microsoft.com/office/drawing/2014/main" id="{CF963C2F-D715-EB04-EA02-7378706D4E96}"/>
              </a:ext>
            </a:extLst>
          </p:cNvPr>
          <p:cNvSpPr>
            <a:spLocks noGrp="1"/>
          </p:cNvSpPr>
          <p:nvPr>
            <p:ph type="body" sz="quarter" idx="10"/>
          </p:nvPr>
        </p:nvSpPr>
        <p:spPr/>
        <p:txBody>
          <a:bodyPr/>
          <a:lstStyle/>
          <a:p>
            <a:r>
              <a:rPr lang="es-ES" dirty="0"/>
              <a:t>4.</a:t>
            </a:r>
          </a:p>
        </p:txBody>
      </p:sp>
    </p:spTree>
    <p:extLst>
      <p:ext uri="{BB962C8B-B14F-4D97-AF65-F5344CB8AC3E}">
        <p14:creationId xmlns:p14="http://schemas.microsoft.com/office/powerpoint/2010/main" val="40418792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078B9-A36E-5DDF-4C1C-6DED03A7D5BB}"/>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DD4B75EF-AC87-AC4F-8615-818AD45D80D7}"/>
              </a:ext>
            </a:extLst>
          </p:cNvPr>
          <p:cNvSpPr>
            <a:spLocks noGrp="1"/>
          </p:cNvSpPr>
          <p:nvPr>
            <p:ph idx="1"/>
          </p:nvPr>
        </p:nvSpPr>
        <p:spPr>
          <a:xfrm>
            <a:off x="457200" y="915566"/>
            <a:ext cx="8579296" cy="446310"/>
          </a:xfrm>
        </p:spPr>
        <p:txBody>
          <a:bodyPr>
            <a:normAutofit lnSpcReduction="10000"/>
          </a:bodyPr>
          <a:lstStyle/>
          <a:p>
            <a:r>
              <a:rPr lang="es-ES" dirty="0"/>
              <a:t>Recuperación avanzada y recorrido de datos en Oracle SQL</a:t>
            </a:r>
          </a:p>
        </p:txBody>
      </p:sp>
      <p:sp>
        <p:nvSpPr>
          <p:cNvPr id="4" name="3 Título">
            <a:extLst>
              <a:ext uri="{FF2B5EF4-FFF2-40B4-BE49-F238E27FC236}">
                <a16:creationId xmlns:a16="http://schemas.microsoft.com/office/drawing/2014/main" id="{77CB4CC8-F13B-D03A-1C5D-7505E6AF7BF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E2C2B914-FE6F-6D26-12FA-0E1FBAF12AF1}"/>
              </a:ext>
            </a:extLst>
          </p:cNvPr>
          <p:cNvSpPr>
            <a:spLocks noGrp="1"/>
          </p:cNvSpPr>
          <p:nvPr>
            <p:ph type="body" sz="quarter" idx="14"/>
          </p:nvPr>
        </p:nvSpPr>
        <p:spPr/>
        <p:txBody>
          <a:bodyPr>
            <a:normAutofit fontScale="62500" lnSpcReduction="20000"/>
          </a:bodyPr>
          <a:lstStyle/>
          <a:p>
            <a:r>
              <a:rPr lang="es-ES" dirty="0"/>
              <a:t>Consultas</a:t>
            </a:r>
          </a:p>
        </p:txBody>
      </p:sp>
      <p:sp>
        <p:nvSpPr>
          <p:cNvPr id="9" name="4 Marcador de contenido">
            <a:extLst>
              <a:ext uri="{FF2B5EF4-FFF2-40B4-BE49-F238E27FC236}">
                <a16:creationId xmlns:a16="http://schemas.microsoft.com/office/drawing/2014/main" id="{732D176D-50D0-339A-01B8-BFB79DCDD3CB}"/>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2" name="AutoShape 2" descr="Lightbox">
            <a:extLst>
              <a:ext uri="{FF2B5EF4-FFF2-40B4-BE49-F238E27FC236}">
                <a16:creationId xmlns:a16="http://schemas.microsoft.com/office/drawing/2014/main" id="{AA608D10-ABA2-D7D2-B541-080055DC07B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graphicFrame>
        <p:nvGraphicFramePr>
          <p:cNvPr id="3" name="Tabla 2">
            <a:extLst>
              <a:ext uri="{FF2B5EF4-FFF2-40B4-BE49-F238E27FC236}">
                <a16:creationId xmlns:a16="http://schemas.microsoft.com/office/drawing/2014/main" id="{C03555B2-9206-DB5D-03F6-E823E3074558}"/>
              </a:ext>
            </a:extLst>
          </p:cNvPr>
          <p:cNvGraphicFramePr>
            <a:graphicFrameLocks noGrp="1"/>
          </p:cNvGraphicFramePr>
          <p:nvPr>
            <p:extLst>
              <p:ext uri="{D42A27DB-BD31-4B8C-83A1-F6EECF244321}">
                <p14:modId xmlns:p14="http://schemas.microsoft.com/office/powerpoint/2010/main" val="2345826697"/>
              </p:ext>
            </p:extLst>
          </p:nvPr>
        </p:nvGraphicFramePr>
        <p:xfrm>
          <a:off x="1835696" y="2859782"/>
          <a:ext cx="5041900" cy="1657350"/>
        </p:xfrm>
        <a:graphic>
          <a:graphicData uri="http://schemas.openxmlformats.org/drawingml/2006/table">
            <a:tbl>
              <a:tblPr>
                <a:tableStyleId>{5C22544A-7EE6-4342-B048-85BDC9FD1C3A}</a:tableStyleId>
              </a:tblPr>
              <a:tblGrid>
                <a:gridCol w="2057400">
                  <a:extLst>
                    <a:ext uri="{9D8B030D-6E8A-4147-A177-3AD203B41FA5}">
                      <a16:colId xmlns:a16="http://schemas.microsoft.com/office/drawing/2014/main" val="4129279266"/>
                    </a:ext>
                  </a:extLst>
                </a:gridCol>
                <a:gridCol w="2984500">
                  <a:extLst>
                    <a:ext uri="{9D8B030D-6E8A-4147-A177-3AD203B41FA5}">
                      <a16:colId xmlns:a16="http://schemas.microsoft.com/office/drawing/2014/main" val="85861431"/>
                    </a:ext>
                  </a:extLst>
                </a:gridCol>
              </a:tblGrid>
              <a:tr h="190500">
                <a:tc>
                  <a:txBody>
                    <a:bodyPr/>
                    <a:lstStyle/>
                    <a:p>
                      <a:pPr algn="ctr" fontAlgn="ctr">
                        <a:buNone/>
                      </a:pPr>
                      <a:r>
                        <a:rPr lang="es-ES" sz="1100" u="none" strike="noStrike">
                          <a:effectLst/>
                        </a:rPr>
                        <a:t>Técnica</a:t>
                      </a:r>
                      <a:endParaRPr lang="es-ES" sz="1100" b="1"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s-ES" sz="1100" u="none" strike="noStrike">
                          <a:effectLst/>
                        </a:rPr>
                        <a:t>Qué hace</a:t>
                      </a:r>
                      <a:endParaRPr lang="es-ES" sz="1100" b="1"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326531948"/>
                  </a:ext>
                </a:extLst>
              </a:tr>
              <a:tr h="190500">
                <a:tc>
                  <a:txBody>
                    <a:bodyPr/>
                    <a:lstStyle/>
                    <a:p>
                      <a:pPr algn="l" fontAlgn="ctr">
                        <a:buNone/>
                      </a:pPr>
                      <a:r>
                        <a:rPr lang="es-ES" sz="1000" u="none" strike="noStrike">
                          <a:effectLst/>
                        </a:rPr>
                        <a:t>LAG / LEAD</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Accede a valores anteriores o siguientes</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90288261"/>
                  </a:ext>
                </a:extLst>
              </a:tr>
              <a:tr h="323850">
                <a:tc>
                  <a:txBody>
                    <a:bodyPr/>
                    <a:lstStyle/>
                    <a:p>
                      <a:pPr algn="l" fontAlgn="ctr">
                        <a:buNone/>
                      </a:pPr>
                      <a:r>
                        <a:rPr lang="en-US" sz="1000" u="none" strike="noStrike">
                          <a:effectLst/>
                        </a:rPr>
                        <a:t>FIRST_VALUE / LAST_VALUE / NTH_VALUE</a:t>
                      </a:r>
                      <a:endParaRPr lang="en-U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Obtiene el primer/último/n-ésimo valor</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064276222"/>
                  </a:ext>
                </a:extLst>
              </a:tr>
              <a:tr h="190500">
                <a:tc>
                  <a:txBody>
                    <a:bodyPr/>
                    <a:lstStyle/>
                    <a:p>
                      <a:pPr algn="l" fontAlgn="ctr">
                        <a:buNone/>
                      </a:pPr>
                      <a:r>
                        <a:rPr lang="es-ES" sz="1000" u="none" strike="noStrike">
                          <a:effectLst/>
                        </a:rPr>
                        <a:t>PIVOT / UNPIVOT</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Transpone filas↔columnas</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854707947"/>
                  </a:ext>
                </a:extLst>
              </a:tr>
              <a:tr h="190500">
                <a:tc>
                  <a:txBody>
                    <a:bodyPr/>
                    <a:lstStyle/>
                    <a:p>
                      <a:pPr algn="l" fontAlgn="ctr">
                        <a:buNone/>
                      </a:pPr>
                      <a:r>
                        <a:rPr lang="es-ES" sz="1000" u="none" strike="noStrike">
                          <a:effectLst/>
                        </a:rPr>
                        <a:t>LATERAL</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Subconsultas dependientes por fila</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958841249"/>
                  </a:ext>
                </a:extLst>
              </a:tr>
              <a:tr h="381000">
                <a:tc>
                  <a:txBody>
                    <a:bodyPr/>
                    <a:lstStyle/>
                    <a:p>
                      <a:pPr algn="l" fontAlgn="ctr">
                        <a:buNone/>
                      </a:pPr>
                      <a:r>
                        <a:rPr lang="es-ES" sz="1000" u="none" strike="noStrike">
                          <a:effectLst/>
                        </a:rPr>
                        <a:t>MODEL</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a:effectLst/>
                        </a:rPr>
                        <a:t>Calcula reglas sobre un conjunto de datos (tipo Excel)</a:t>
                      </a:r>
                      <a:endParaRPr lang="es-ES" sz="11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305209567"/>
                  </a:ext>
                </a:extLst>
              </a:tr>
              <a:tr h="190500">
                <a:tc>
                  <a:txBody>
                    <a:bodyPr/>
                    <a:lstStyle/>
                    <a:p>
                      <a:pPr algn="l" fontAlgn="ctr">
                        <a:buNone/>
                      </a:pPr>
                      <a:r>
                        <a:rPr lang="es-ES" sz="1000" u="none" strike="noStrike">
                          <a:effectLst/>
                        </a:rPr>
                        <a:t>MATCH_RECOGNIZE</a:t>
                      </a:r>
                      <a:endParaRPr lang="es-ES" sz="1000" b="0" i="0" u="none" strike="noStrike">
                        <a:solidFill>
                          <a:srgbClr val="000000"/>
                        </a:solidFill>
                        <a:effectLst/>
                        <a:latin typeface="Arial Unicode MS"/>
                      </a:endParaRPr>
                    </a:p>
                  </a:txBody>
                  <a:tcPr marL="9525" marR="9525" marT="9525" marB="0" anchor="ctr"/>
                </a:tc>
                <a:tc>
                  <a:txBody>
                    <a:bodyPr/>
                    <a:lstStyle/>
                    <a:p>
                      <a:pPr algn="l" fontAlgn="ctr">
                        <a:buNone/>
                      </a:pPr>
                      <a:r>
                        <a:rPr lang="es-ES" sz="1100" u="none" strike="noStrike" dirty="0">
                          <a:effectLst/>
                        </a:rPr>
                        <a:t>Detecta patrones secuenciales</a:t>
                      </a:r>
                      <a:endParaRPr lang="es-ES" sz="11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483229175"/>
                  </a:ext>
                </a:extLst>
              </a:tr>
            </a:tbl>
          </a:graphicData>
        </a:graphic>
      </p:graphicFrame>
      <p:sp>
        <p:nvSpPr>
          <p:cNvPr id="6" name="4 Marcador de contenido">
            <a:extLst>
              <a:ext uri="{FF2B5EF4-FFF2-40B4-BE49-F238E27FC236}">
                <a16:creationId xmlns:a16="http://schemas.microsoft.com/office/drawing/2014/main" id="{3A87C809-EDF9-21BF-FA29-324D26908F3A}"/>
              </a:ext>
            </a:extLst>
          </p:cNvPr>
          <p:cNvSpPr txBox="1">
            <a:spLocks/>
          </p:cNvSpPr>
          <p:nvPr/>
        </p:nvSpPr>
        <p:spPr>
          <a:xfrm>
            <a:off x="323528" y="1326394"/>
            <a:ext cx="871296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Aprender cómo navegar, pivotar, transponer, comparar y acceder a registros anteriores/posteriores dentro de una consulta, sin necesidad de PL/SQL.</a:t>
            </a:r>
          </a:p>
        </p:txBody>
      </p:sp>
    </p:spTree>
    <p:extLst>
      <p:ext uri="{BB962C8B-B14F-4D97-AF65-F5344CB8AC3E}">
        <p14:creationId xmlns:p14="http://schemas.microsoft.com/office/powerpoint/2010/main" val="4151253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F681A-2FFD-512E-1544-51B1D9861861}"/>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B4CE625F-62FC-1706-6391-71751DC60A09}"/>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13815D3F-618D-CEC1-8AD1-EE324CBB2EAF}"/>
              </a:ext>
            </a:extLst>
          </p:cNvPr>
          <p:cNvSpPr>
            <a:spLocks noGrp="1"/>
          </p:cNvSpPr>
          <p:nvPr>
            <p:ph idx="1"/>
          </p:nvPr>
        </p:nvSpPr>
        <p:spPr>
          <a:xfrm>
            <a:off x="457200" y="915566"/>
            <a:ext cx="8579296" cy="446310"/>
          </a:xfrm>
        </p:spPr>
        <p:txBody>
          <a:bodyPr>
            <a:normAutofit lnSpcReduction="10000"/>
          </a:bodyPr>
          <a:lstStyle/>
          <a:p>
            <a:r>
              <a:rPr lang="es-ES" dirty="0"/>
              <a:t>LAG y LEAD</a:t>
            </a:r>
          </a:p>
        </p:txBody>
      </p:sp>
      <p:sp>
        <p:nvSpPr>
          <p:cNvPr id="4" name="3 Título">
            <a:extLst>
              <a:ext uri="{FF2B5EF4-FFF2-40B4-BE49-F238E27FC236}">
                <a16:creationId xmlns:a16="http://schemas.microsoft.com/office/drawing/2014/main" id="{17132E0D-9A6D-93A7-F702-2EC293DEF1F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63330689-086F-0062-B468-062379D49A07}"/>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78B40A73-1454-08FC-CBD3-1BE094A63AC7}"/>
              </a:ext>
            </a:extLst>
          </p:cNvPr>
          <p:cNvSpPr txBox="1"/>
          <p:nvPr/>
        </p:nvSpPr>
        <p:spPr>
          <a:xfrm>
            <a:off x="251520" y="1419622"/>
            <a:ext cx="3647963" cy="2123658"/>
          </a:xfrm>
          <a:prstGeom prst="rect">
            <a:avLst/>
          </a:prstGeom>
          <a:noFill/>
        </p:spPr>
        <p:txBody>
          <a:bodyPr wrap="square">
            <a:spAutoFit/>
          </a:bodyPr>
          <a:lstStyle/>
          <a:p>
            <a:r>
              <a:rPr lang="en-US" sz="1200" dirty="0"/>
              <a:t>SELECT </a:t>
            </a:r>
            <a:r>
              <a:rPr lang="en-US" sz="1200" dirty="0" err="1"/>
              <a:t>empleado_id</a:t>
            </a:r>
            <a:r>
              <a:rPr lang="en-US" sz="1200" dirty="0"/>
              <a:t>,</a:t>
            </a:r>
          </a:p>
          <a:p>
            <a:r>
              <a:rPr lang="en-US" sz="1200" dirty="0"/>
              <a:t>       </a:t>
            </a:r>
            <a:r>
              <a:rPr lang="en-US" sz="1200" dirty="0" err="1"/>
              <a:t>mes</a:t>
            </a:r>
            <a:r>
              <a:rPr lang="en-US" sz="1200" dirty="0"/>
              <a:t>,</a:t>
            </a:r>
          </a:p>
          <a:p>
            <a:r>
              <a:rPr lang="en-US" sz="1200" dirty="0"/>
              <a:t>       </a:t>
            </a:r>
            <a:r>
              <a:rPr lang="en-US" sz="1200" dirty="0" err="1"/>
              <a:t>monto</a:t>
            </a:r>
            <a:r>
              <a:rPr lang="en-US" sz="1200" dirty="0"/>
              <a:t>,</a:t>
            </a:r>
          </a:p>
          <a:p>
            <a:r>
              <a:rPr lang="en-US" sz="1200" dirty="0"/>
              <a:t>       LAG(</a:t>
            </a:r>
            <a:r>
              <a:rPr lang="en-US" sz="1200" dirty="0" err="1"/>
              <a:t>monto</a:t>
            </a:r>
            <a:r>
              <a:rPr lang="en-US" sz="1200" dirty="0"/>
              <a:t>) OVER (PARTITION BY </a:t>
            </a:r>
            <a:r>
              <a:rPr lang="en-US" sz="1200" dirty="0" err="1"/>
              <a:t>empleado_id</a:t>
            </a:r>
            <a:r>
              <a:rPr lang="en-US" sz="1200" dirty="0"/>
              <a:t> ORDER BY </a:t>
            </a:r>
            <a:r>
              <a:rPr lang="en-US" sz="1200" dirty="0" err="1"/>
              <a:t>mes</a:t>
            </a:r>
            <a:r>
              <a:rPr lang="en-US" sz="1200" dirty="0"/>
              <a:t>) AS anterior,</a:t>
            </a:r>
          </a:p>
          <a:p>
            <a:r>
              <a:rPr lang="en-US" sz="1200" dirty="0"/>
              <a:t>       LEAD(</a:t>
            </a:r>
            <a:r>
              <a:rPr lang="en-US" sz="1200" dirty="0" err="1"/>
              <a:t>monto</a:t>
            </a:r>
            <a:r>
              <a:rPr lang="en-US" sz="1200" dirty="0"/>
              <a:t>) OVER (PARTITION BY </a:t>
            </a:r>
            <a:r>
              <a:rPr lang="en-US" sz="1200" dirty="0" err="1"/>
              <a:t>empleado_id</a:t>
            </a:r>
            <a:r>
              <a:rPr lang="en-US" sz="1200" dirty="0"/>
              <a:t> ORDER BY </a:t>
            </a:r>
            <a:r>
              <a:rPr lang="en-US" sz="1200" dirty="0" err="1"/>
              <a:t>mes</a:t>
            </a:r>
            <a:r>
              <a:rPr lang="en-US" sz="1200" dirty="0"/>
              <a:t>) AS </a:t>
            </a:r>
            <a:r>
              <a:rPr lang="en-US" sz="1200" dirty="0" err="1"/>
              <a:t>siguiente</a:t>
            </a:r>
            <a:r>
              <a:rPr lang="en-US" sz="1200" dirty="0"/>
              <a:t>,</a:t>
            </a:r>
          </a:p>
          <a:p>
            <a:r>
              <a:rPr lang="en-US" sz="1200" dirty="0"/>
              <a:t>       </a:t>
            </a:r>
            <a:r>
              <a:rPr lang="en-US" sz="1200" dirty="0" err="1"/>
              <a:t>monto</a:t>
            </a:r>
            <a:r>
              <a:rPr lang="en-US" sz="1200" dirty="0"/>
              <a:t> - LAG(</a:t>
            </a:r>
            <a:r>
              <a:rPr lang="en-US" sz="1200" dirty="0" err="1"/>
              <a:t>monto</a:t>
            </a:r>
            <a:r>
              <a:rPr lang="en-US" sz="1200" dirty="0"/>
              <a:t>) OVER (PARTITION BY </a:t>
            </a:r>
            <a:r>
              <a:rPr lang="en-US" sz="1200" dirty="0" err="1"/>
              <a:t>empleado_id</a:t>
            </a:r>
            <a:r>
              <a:rPr lang="en-US" sz="1200" dirty="0"/>
              <a:t> ORDER BY </a:t>
            </a:r>
            <a:r>
              <a:rPr lang="en-US" sz="1200" dirty="0" err="1"/>
              <a:t>mes</a:t>
            </a:r>
            <a:r>
              <a:rPr lang="en-US" sz="1200" dirty="0"/>
              <a:t>) AS </a:t>
            </a:r>
            <a:r>
              <a:rPr lang="en-US" sz="1200" dirty="0" err="1"/>
              <a:t>variacion</a:t>
            </a:r>
            <a:endParaRPr lang="en-US" sz="1200" dirty="0"/>
          </a:p>
          <a:p>
            <a:r>
              <a:rPr lang="en-US" sz="1200" dirty="0"/>
              <a:t>FROM </a:t>
            </a:r>
            <a:r>
              <a:rPr lang="en-US" sz="1200" dirty="0" err="1"/>
              <a:t>ventas</a:t>
            </a:r>
            <a:endParaRPr lang="en-US" sz="1200" dirty="0"/>
          </a:p>
          <a:p>
            <a:r>
              <a:rPr lang="en-US" sz="1200" dirty="0"/>
              <a:t>ORDER BY </a:t>
            </a:r>
            <a:r>
              <a:rPr lang="en-US" sz="1200" dirty="0" err="1"/>
              <a:t>empleado_id</a:t>
            </a:r>
            <a:r>
              <a:rPr lang="en-US" sz="1200" dirty="0"/>
              <a:t>, </a:t>
            </a:r>
            <a:r>
              <a:rPr lang="en-US" sz="1200" dirty="0" err="1"/>
              <a:t>mes</a:t>
            </a:r>
            <a:r>
              <a:rPr lang="en-US" sz="1200" dirty="0"/>
              <a:t>;</a:t>
            </a:r>
            <a:endParaRPr lang="pt-BR" sz="1200" dirty="0"/>
          </a:p>
        </p:txBody>
      </p:sp>
      <p:sp>
        <p:nvSpPr>
          <p:cNvPr id="9" name="4 Marcador de contenido">
            <a:extLst>
              <a:ext uri="{FF2B5EF4-FFF2-40B4-BE49-F238E27FC236}">
                <a16:creationId xmlns:a16="http://schemas.microsoft.com/office/drawing/2014/main" id="{6955CD60-B2E3-0634-BF23-EB543AC705DB}"/>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62A6B6F5-B433-FB49-BBFD-4199BC4FC621}"/>
              </a:ext>
            </a:extLst>
          </p:cNvPr>
          <p:cNvSpPr txBox="1">
            <a:spLocks/>
          </p:cNvSpPr>
          <p:nvPr/>
        </p:nvSpPr>
        <p:spPr>
          <a:xfrm>
            <a:off x="4005518" y="1326394"/>
            <a:ext cx="5030978"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Oracle  LAG() → valor anterior; LEAD() → valor siguiente.</a:t>
            </a:r>
          </a:p>
          <a:p>
            <a:pPr marL="342900" lvl="1" indent="-342900">
              <a:buFont typeface="Arial" panose="020B0604020202020204" pitchFamily="34" charset="0"/>
              <a:buChar char="•"/>
            </a:pPr>
            <a:r>
              <a:rPr lang="es-ES" sz="1600" dirty="0"/>
              <a:t>PARTITION BY define el grupo lógico (por empleado).</a:t>
            </a:r>
          </a:p>
          <a:p>
            <a:pPr marL="342900" lvl="1" indent="-342900">
              <a:buFont typeface="Arial" panose="020B0604020202020204" pitchFamily="34" charset="0"/>
              <a:buChar char="•"/>
            </a:pPr>
            <a:r>
              <a:rPr lang="es-ES" sz="1600" dirty="0"/>
              <a:t>ORDER BY define la secuencia dentro del grupo.</a:t>
            </a:r>
          </a:p>
          <a:p>
            <a:pPr marL="342900" lvl="1" indent="-342900">
              <a:buFont typeface="Arial" panose="020B0604020202020204" pitchFamily="34" charset="0"/>
              <a:buChar char="•"/>
            </a:pPr>
            <a:r>
              <a:rPr lang="es-ES" sz="1600" dirty="0"/>
              <a:t>Permite calcular diferencias intermensuales sin auto </a:t>
            </a:r>
            <a:r>
              <a:rPr lang="es-ES" sz="1600" dirty="0" err="1"/>
              <a:t>joins</a:t>
            </a:r>
            <a:r>
              <a:rPr lang="es-ES" sz="1600" dirty="0"/>
              <a:t>.</a:t>
            </a:r>
          </a:p>
        </p:txBody>
      </p:sp>
      <p:sp>
        <p:nvSpPr>
          <p:cNvPr id="2" name="AutoShape 2" descr="Lightbox">
            <a:extLst>
              <a:ext uri="{FF2B5EF4-FFF2-40B4-BE49-F238E27FC236}">
                <a16:creationId xmlns:a16="http://schemas.microsoft.com/office/drawing/2014/main" id="{EFA40724-BFDE-17EF-E295-AE0F29978B9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4160577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BF433-F0D8-300C-2489-FCBE6E31E758}"/>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CF812C84-7558-4001-22AD-288FFE90EF53}"/>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07E18DF7-B2BB-F9FB-C875-F8EFCB4C3039}"/>
              </a:ext>
            </a:extLst>
          </p:cNvPr>
          <p:cNvSpPr>
            <a:spLocks noGrp="1"/>
          </p:cNvSpPr>
          <p:nvPr>
            <p:ph idx="1"/>
          </p:nvPr>
        </p:nvSpPr>
        <p:spPr>
          <a:xfrm>
            <a:off x="457200" y="915566"/>
            <a:ext cx="8579296" cy="446310"/>
          </a:xfrm>
        </p:spPr>
        <p:txBody>
          <a:bodyPr>
            <a:normAutofit lnSpcReduction="10000"/>
          </a:bodyPr>
          <a:lstStyle/>
          <a:p>
            <a:r>
              <a:rPr lang="es-ES" dirty="0"/>
              <a:t>FIRST_VALUE y LAST_VALUE </a:t>
            </a:r>
          </a:p>
        </p:txBody>
      </p:sp>
      <p:sp>
        <p:nvSpPr>
          <p:cNvPr id="4" name="3 Título">
            <a:extLst>
              <a:ext uri="{FF2B5EF4-FFF2-40B4-BE49-F238E27FC236}">
                <a16:creationId xmlns:a16="http://schemas.microsoft.com/office/drawing/2014/main" id="{545AEE58-1F14-913F-238E-969B7E4D9826}"/>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6753112D-CFB9-173E-9181-ED955E5D42CF}"/>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0B1DB774-B058-7B32-072D-5A996224EDFD}"/>
              </a:ext>
            </a:extLst>
          </p:cNvPr>
          <p:cNvSpPr txBox="1"/>
          <p:nvPr/>
        </p:nvSpPr>
        <p:spPr>
          <a:xfrm>
            <a:off x="251520" y="1419622"/>
            <a:ext cx="3647963" cy="2862322"/>
          </a:xfrm>
          <a:prstGeom prst="rect">
            <a:avLst/>
          </a:prstGeom>
          <a:noFill/>
        </p:spPr>
        <p:txBody>
          <a:bodyPr wrap="square">
            <a:spAutoFit/>
          </a:bodyPr>
          <a:lstStyle/>
          <a:p>
            <a:r>
              <a:rPr lang="en-US" sz="1200" dirty="0"/>
              <a:t>SELECT </a:t>
            </a:r>
            <a:r>
              <a:rPr lang="en-US" sz="1200" dirty="0" err="1"/>
              <a:t>empleado_id</a:t>
            </a:r>
            <a:r>
              <a:rPr lang="en-US" sz="1200" dirty="0"/>
              <a:t>,</a:t>
            </a:r>
          </a:p>
          <a:p>
            <a:r>
              <a:rPr lang="en-US" sz="1200" dirty="0"/>
              <a:t>       </a:t>
            </a:r>
            <a:r>
              <a:rPr lang="en-US" sz="1200" dirty="0" err="1"/>
              <a:t>mes</a:t>
            </a:r>
            <a:r>
              <a:rPr lang="en-US" sz="1200" dirty="0"/>
              <a:t>,</a:t>
            </a:r>
          </a:p>
          <a:p>
            <a:r>
              <a:rPr lang="en-US" sz="1200" dirty="0"/>
              <a:t>       </a:t>
            </a:r>
            <a:r>
              <a:rPr lang="en-US" sz="1200" dirty="0" err="1"/>
              <a:t>monto</a:t>
            </a:r>
            <a:r>
              <a:rPr lang="en-US" sz="1200" dirty="0"/>
              <a:t>,</a:t>
            </a:r>
          </a:p>
          <a:p>
            <a:r>
              <a:rPr lang="en-US" sz="1200" dirty="0"/>
              <a:t>       FIRST_VALUE(</a:t>
            </a:r>
            <a:r>
              <a:rPr lang="en-US" sz="1200" dirty="0" err="1"/>
              <a:t>monto</a:t>
            </a:r>
            <a:r>
              <a:rPr lang="en-US" sz="1200" dirty="0"/>
              <a:t>) OVER (PARTITION BY </a:t>
            </a:r>
            <a:r>
              <a:rPr lang="en-US" sz="1200" dirty="0" err="1"/>
              <a:t>empleado_id</a:t>
            </a:r>
            <a:r>
              <a:rPr lang="en-US" sz="1200" dirty="0"/>
              <a:t> ORDER BY </a:t>
            </a:r>
            <a:r>
              <a:rPr lang="en-US" sz="1200" dirty="0" err="1"/>
              <a:t>mes</a:t>
            </a:r>
            <a:endParaRPr lang="en-US" sz="1200" dirty="0"/>
          </a:p>
          <a:p>
            <a:r>
              <a:rPr lang="en-US" sz="1200" dirty="0"/>
              <a:t>                                ROWS BETWEEN UNBOUNDED PRECEDING AND UNBOUNDED FOLLOWING) AS </a:t>
            </a:r>
            <a:r>
              <a:rPr lang="en-US" sz="1200" dirty="0" err="1"/>
              <a:t>primer_mes</a:t>
            </a:r>
            <a:r>
              <a:rPr lang="en-US" sz="1200" dirty="0"/>
              <a:t>,</a:t>
            </a:r>
          </a:p>
          <a:p>
            <a:r>
              <a:rPr lang="en-US" sz="1200" dirty="0"/>
              <a:t>       LAST_VALUE(</a:t>
            </a:r>
            <a:r>
              <a:rPr lang="en-US" sz="1200" dirty="0" err="1"/>
              <a:t>monto</a:t>
            </a:r>
            <a:r>
              <a:rPr lang="en-US" sz="1200" dirty="0"/>
              <a:t>) OVER (PARTITION BY </a:t>
            </a:r>
            <a:r>
              <a:rPr lang="en-US" sz="1200" dirty="0" err="1"/>
              <a:t>empleado_id</a:t>
            </a:r>
            <a:r>
              <a:rPr lang="en-US" sz="1200" dirty="0"/>
              <a:t> ORDER BY </a:t>
            </a:r>
            <a:r>
              <a:rPr lang="en-US" sz="1200" dirty="0" err="1"/>
              <a:t>mes</a:t>
            </a:r>
            <a:endParaRPr lang="en-US" sz="1200" dirty="0"/>
          </a:p>
          <a:p>
            <a:r>
              <a:rPr lang="en-US" sz="1200" dirty="0"/>
              <a:t>                               ROWS BETWEEN UNBOUNDED PRECEDING AND UNBOUNDED FOLLOWING) AS </a:t>
            </a:r>
            <a:r>
              <a:rPr lang="en-US" sz="1200" dirty="0" err="1"/>
              <a:t>ultimo_mes</a:t>
            </a:r>
            <a:endParaRPr lang="en-US" sz="1200" dirty="0"/>
          </a:p>
          <a:p>
            <a:r>
              <a:rPr lang="en-US" sz="1200" dirty="0"/>
              <a:t>FROM </a:t>
            </a:r>
            <a:r>
              <a:rPr lang="en-US" sz="1200" dirty="0" err="1"/>
              <a:t>ventas</a:t>
            </a:r>
            <a:endParaRPr lang="en-US" sz="1200" dirty="0"/>
          </a:p>
          <a:p>
            <a:r>
              <a:rPr lang="en-US" sz="1200" dirty="0"/>
              <a:t>ORDER BY </a:t>
            </a:r>
            <a:r>
              <a:rPr lang="en-US" sz="1200" dirty="0" err="1"/>
              <a:t>empleado_id</a:t>
            </a:r>
            <a:r>
              <a:rPr lang="en-US" sz="1200" dirty="0"/>
              <a:t>, </a:t>
            </a:r>
            <a:r>
              <a:rPr lang="en-US" sz="1200" dirty="0" err="1"/>
              <a:t>mes</a:t>
            </a:r>
            <a:r>
              <a:rPr lang="en-US" sz="1200" dirty="0"/>
              <a:t>;</a:t>
            </a:r>
          </a:p>
        </p:txBody>
      </p:sp>
      <p:sp>
        <p:nvSpPr>
          <p:cNvPr id="9" name="4 Marcador de contenido">
            <a:extLst>
              <a:ext uri="{FF2B5EF4-FFF2-40B4-BE49-F238E27FC236}">
                <a16:creationId xmlns:a16="http://schemas.microsoft.com/office/drawing/2014/main" id="{59ADC389-4044-BCD1-A040-0F96A0019F9B}"/>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C54573EE-0156-7294-6C3B-F8DA86B8B1E5}"/>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FIRST_VALUE / LAST_VALUE: primeros y últimos valores del grupo</a:t>
            </a:r>
          </a:p>
          <a:p>
            <a:pPr marL="342900" lvl="1" indent="-342900">
              <a:buFont typeface="Arial" panose="020B0604020202020204" pitchFamily="34" charset="0"/>
              <a:buChar char="•"/>
            </a:pPr>
            <a:r>
              <a:rPr lang="es-ES" sz="1600" dirty="0"/>
              <a:t>Recuperan el valor inicial y final de la ventana.</a:t>
            </a:r>
          </a:p>
          <a:p>
            <a:pPr marL="342900" lvl="1" indent="-342900">
              <a:buFont typeface="Arial" panose="020B0604020202020204" pitchFamily="34" charset="0"/>
              <a:buChar char="•"/>
            </a:pPr>
            <a:r>
              <a:rPr lang="es-ES" sz="1600" dirty="0"/>
              <a:t>IMPORTANTE: el </a:t>
            </a:r>
            <a:r>
              <a:rPr lang="es-ES" sz="1600" dirty="0" err="1"/>
              <a:t>frame</a:t>
            </a:r>
            <a:r>
              <a:rPr lang="es-ES" sz="1600" dirty="0"/>
              <a:t> (ROWS BETWEEN...) es clave para que funcione correctamente.</a:t>
            </a:r>
          </a:p>
          <a:p>
            <a:pPr marL="342900" lvl="1" indent="-342900">
              <a:buFont typeface="Arial" panose="020B0604020202020204" pitchFamily="34" charset="0"/>
              <a:buChar char="•"/>
            </a:pPr>
            <a:r>
              <a:rPr lang="es-ES" sz="1600" dirty="0"/>
              <a:t>Oracle no asume por defecto "todo el grupo" para LAST_VALUE.</a:t>
            </a:r>
          </a:p>
        </p:txBody>
      </p:sp>
      <p:sp>
        <p:nvSpPr>
          <p:cNvPr id="2" name="AutoShape 2" descr="Lightbox">
            <a:extLst>
              <a:ext uri="{FF2B5EF4-FFF2-40B4-BE49-F238E27FC236}">
                <a16:creationId xmlns:a16="http://schemas.microsoft.com/office/drawing/2014/main" id="{DDDC20E0-E1A9-2B30-B8F2-E45EF8B0F86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9192013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A1E19-2552-A5C1-1ACE-64B8599AB356}"/>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ABF6C993-97C5-98B2-FEA0-1A6D6E8E3F17}"/>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C3526511-72DC-BA9C-BE64-1EEC23DC0F7D}"/>
              </a:ext>
            </a:extLst>
          </p:cNvPr>
          <p:cNvSpPr>
            <a:spLocks noGrp="1"/>
          </p:cNvSpPr>
          <p:nvPr>
            <p:ph idx="1"/>
          </p:nvPr>
        </p:nvSpPr>
        <p:spPr>
          <a:xfrm>
            <a:off x="457200" y="915566"/>
            <a:ext cx="8579296" cy="446310"/>
          </a:xfrm>
        </p:spPr>
        <p:txBody>
          <a:bodyPr>
            <a:normAutofit lnSpcReduction="10000"/>
          </a:bodyPr>
          <a:lstStyle/>
          <a:p>
            <a:r>
              <a:rPr lang="es-ES" dirty="0"/>
              <a:t>NTH_VALUE</a:t>
            </a:r>
          </a:p>
        </p:txBody>
      </p:sp>
      <p:sp>
        <p:nvSpPr>
          <p:cNvPr id="4" name="3 Título">
            <a:extLst>
              <a:ext uri="{FF2B5EF4-FFF2-40B4-BE49-F238E27FC236}">
                <a16:creationId xmlns:a16="http://schemas.microsoft.com/office/drawing/2014/main" id="{90E3A00B-19EA-9E13-37C4-62C91B7F5EB9}"/>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A5EA9572-25B6-D63B-5673-B88A72330487}"/>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1366ED82-49BD-38A1-4289-793A4ED58F60}"/>
              </a:ext>
            </a:extLst>
          </p:cNvPr>
          <p:cNvSpPr txBox="1"/>
          <p:nvPr/>
        </p:nvSpPr>
        <p:spPr>
          <a:xfrm>
            <a:off x="251520" y="1419622"/>
            <a:ext cx="3647963" cy="1938992"/>
          </a:xfrm>
          <a:prstGeom prst="rect">
            <a:avLst/>
          </a:prstGeom>
          <a:noFill/>
        </p:spPr>
        <p:txBody>
          <a:bodyPr wrap="square">
            <a:spAutoFit/>
          </a:bodyPr>
          <a:lstStyle/>
          <a:p>
            <a:r>
              <a:rPr lang="en-US" sz="1200" dirty="0"/>
              <a:t>SELECT </a:t>
            </a:r>
            <a:r>
              <a:rPr lang="en-US" sz="1200" dirty="0" err="1"/>
              <a:t>empleado_id</a:t>
            </a:r>
            <a:r>
              <a:rPr lang="en-US" sz="1200" dirty="0"/>
              <a:t>,</a:t>
            </a:r>
          </a:p>
          <a:p>
            <a:r>
              <a:rPr lang="en-US" sz="1200" dirty="0"/>
              <a:t>       </a:t>
            </a:r>
            <a:r>
              <a:rPr lang="en-US" sz="1200" dirty="0" err="1"/>
              <a:t>mes</a:t>
            </a:r>
            <a:r>
              <a:rPr lang="en-US" sz="1200" dirty="0"/>
              <a:t>,</a:t>
            </a:r>
          </a:p>
          <a:p>
            <a:r>
              <a:rPr lang="en-US" sz="1200" dirty="0"/>
              <a:t>       </a:t>
            </a:r>
            <a:r>
              <a:rPr lang="en-US" sz="1200" dirty="0" err="1"/>
              <a:t>monto</a:t>
            </a:r>
            <a:r>
              <a:rPr lang="en-US" sz="1200" dirty="0"/>
              <a:t>,</a:t>
            </a:r>
          </a:p>
          <a:p>
            <a:r>
              <a:rPr lang="en-US" sz="1200" dirty="0"/>
              <a:t>       NTH_VALUE(</a:t>
            </a:r>
            <a:r>
              <a:rPr lang="en-US" sz="1200" dirty="0" err="1"/>
              <a:t>monto</a:t>
            </a:r>
            <a:r>
              <a:rPr lang="en-US" sz="1200" dirty="0"/>
              <a:t>, 2) OVER (PARTITION BY </a:t>
            </a:r>
            <a:r>
              <a:rPr lang="en-US" sz="1200" dirty="0" err="1"/>
              <a:t>empleado_id</a:t>
            </a:r>
            <a:r>
              <a:rPr lang="en-US" sz="1200" dirty="0"/>
              <a:t> ORDER BY </a:t>
            </a:r>
            <a:r>
              <a:rPr lang="en-US" sz="1200" dirty="0" err="1"/>
              <a:t>mes</a:t>
            </a:r>
            <a:endParaRPr lang="en-US" sz="1200" dirty="0"/>
          </a:p>
          <a:p>
            <a:r>
              <a:rPr lang="en-US" sz="1200" dirty="0"/>
              <a:t>                                 ROWS BETWEEN UNBOUNDED PRECEDING AND UNBOUNDED FOLLOWING) AS </a:t>
            </a:r>
            <a:r>
              <a:rPr lang="en-US" sz="1200" dirty="0" err="1"/>
              <a:t>segundo_mes</a:t>
            </a:r>
            <a:endParaRPr lang="en-US" sz="1200" dirty="0"/>
          </a:p>
          <a:p>
            <a:r>
              <a:rPr lang="en-US" sz="1200" dirty="0"/>
              <a:t>FROM </a:t>
            </a:r>
            <a:r>
              <a:rPr lang="en-US" sz="1200" dirty="0" err="1"/>
              <a:t>ventas</a:t>
            </a:r>
            <a:endParaRPr lang="en-US" sz="1200" dirty="0"/>
          </a:p>
          <a:p>
            <a:r>
              <a:rPr lang="en-US" sz="1200" dirty="0"/>
              <a:t>ORDER BY </a:t>
            </a:r>
            <a:r>
              <a:rPr lang="en-US" sz="1200" dirty="0" err="1"/>
              <a:t>empleado_id</a:t>
            </a:r>
            <a:r>
              <a:rPr lang="en-US" sz="1200" dirty="0"/>
              <a:t>, </a:t>
            </a:r>
            <a:r>
              <a:rPr lang="en-US" sz="1200" dirty="0" err="1"/>
              <a:t>mes</a:t>
            </a:r>
            <a:r>
              <a:rPr lang="en-US" sz="1200" dirty="0"/>
              <a:t>;</a:t>
            </a:r>
          </a:p>
        </p:txBody>
      </p:sp>
      <p:sp>
        <p:nvSpPr>
          <p:cNvPr id="9" name="4 Marcador de contenido">
            <a:extLst>
              <a:ext uri="{FF2B5EF4-FFF2-40B4-BE49-F238E27FC236}">
                <a16:creationId xmlns:a16="http://schemas.microsoft.com/office/drawing/2014/main" id="{E87E8CC2-BF07-21EE-353B-C21F6B227D99}"/>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BD271E7C-CD87-FE8A-EDD9-12874900EEF5}"/>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NTH_VALUE: acceder al enésimo registro de una partición</a:t>
            </a:r>
          </a:p>
          <a:p>
            <a:pPr marL="342900" lvl="1" indent="-342900">
              <a:buFont typeface="Arial" panose="020B0604020202020204" pitchFamily="34" charset="0"/>
              <a:buChar char="•"/>
            </a:pPr>
            <a:r>
              <a:rPr lang="es-ES" sz="1600" dirty="0"/>
              <a:t>Permite traer, por ejemplo, la venta del 2º mes sin </a:t>
            </a:r>
            <a:r>
              <a:rPr lang="es-ES" sz="1600" dirty="0" err="1"/>
              <a:t>joins</a:t>
            </a:r>
            <a:r>
              <a:rPr lang="es-ES" sz="1600" dirty="0"/>
              <a:t> ni subconsultas.</a:t>
            </a:r>
          </a:p>
          <a:p>
            <a:pPr marL="342900" lvl="1" indent="-342900">
              <a:buFont typeface="Arial" panose="020B0604020202020204" pitchFamily="34" charset="0"/>
              <a:buChar char="•"/>
            </a:pPr>
            <a:r>
              <a:rPr lang="es-ES" sz="1600" dirty="0"/>
              <a:t>Útil en análisis de progresión o validación de secuencias temporales.</a:t>
            </a:r>
          </a:p>
        </p:txBody>
      </p:sp>
      <p:sp>
        <p:nvSpPr>
          <p:cNvPr id="2" name="AutoShape 2" descr="Lightbox">
            <a:extLst>
              <a:ext uri="{FF2B5EF4-FFF2-40B4-BE49-F238E27FC236}">
                <a16:creationId xmlns:a16="http://schemas.microsoft.com/office/drawing/2014/main" id="{7A0B5966-0FD2-75CB-2A47-0901E618C83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13804038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94D00-48F5-C074-CF09-BCF6F8C2B445}"/>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2C34F6B2-4AB1-F99A-9589-BBC85A17CBEE}"/>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EAA1D0DA-90D8-4A01-7788-7E94D180E029}"/>
              </a:ext>
            </a:extLst>
          </p:cNvPr>
          <p:cNvSpPr>
            <a:spLocks noGrp="1"/>
          </p:cNvSpPr>
          <p:nvPr>
            <p:ph idx="1"/>
          </p:nvPr>
        </p:nvSpPr>
        <p:spPr>
          <a:xfrm>
            <a:off x="457200" y="915566"/>
            <a:ext cx="8579296" cy="446310"/>
          </a:xfrm>
        </p:spPr>
        <p:txBody>
          <a:bodyPr>
            <a:normAutofit lnSpcReduction="10000"/>
          </a:bodyPr>
          <a:lstStyle/>
          <a:p>
            <a:r>
              <a:rPr lang="es-ES" dirty="0"/>
              <a:t>SUM() OVER</a:t>
            </a:r>
          </a:p>
        </p:txBody>
      </p:sp>
      <p:sp>
        <p:nvSpPr>
          <p:cNvPr id="4" name="3 Título">
            <a:extLst>
              <a:ext uri="{FF2B5EF4-FFF2-40B4-BE49-F238E27FC236}">
                <a16:creationId xmlns:a16="http://schemas.microsoft.com/office/drawing/2014/main" id="{E0FB9A58-DF00-C069-64BD-FD24E99F578F}"/>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8486A391-D504-B7B3-1C83-7A239CEA303E}"/>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FBDD2F6A-A483-1DA8-5FAC-87F5DEF53600}"/>
              </a:ext>
            </a:extLst>
          </p:cNvPr>
          <p:cNvSpPr txBox="1"/>
          <p:nvPr/>
        </p:nvSpPr>
        <p:spPr>
          <a:xfrm>
            <a:off x="251520" y="1419622"/>
            <a:ext cx="3647963" cy="1754326"/>
          </a:xfrm>
          <a:prstGeom prst="rect">
            <a:avLst/>
          </a:prstGeom>
          <a:noFill/>
        </p:spPr>
        <p:txBody>
          <a:bodyPr wrap="square">
            <a:spAutoFit/>
          </a:bodyPr>
          <a:lstStyle/>
          <a:p>
            <a:r>
              <a:rPr lang="en-US" sz="1200" dirty="0"/>
              <a:t>SELECT </a:t>
            </a:r>
            <a:r>
              <a:rPr lang="en-US" sz="1200" dirty="0" err="1"/>
              <a:t>empleado_id</a:t>
            </a:r>
            <a:r>
              <a:rPr lang="en-US" sz="1200" dirty="0"/>
              <a:t>,</a:t>
            </a:r>
          </a:p>
          <a:p>
            <a:r>
              <a:rPr lang="en-US" sz="1200" dirty="0"/>
              <a:t>       </a:t>
            </a:r>
            <a:r>
              <a:rPr lang="en-US" sz="1200" dirty="0" err="1"/>
              <a:t>mes</a:t>
            </a:r>
            <a:r>
              <a:rPr lang="en-US" sz="1200" dirty="0"/>
              <a:t>,</a:t>
            </a:r>
          </a:p>
          <a:p>
            <a:r>
              <a:rPr lang="en-US" sz="1200" dirty="0"/>
              <a:t>       </a:t>
            </a:r>
            <a:r>
              <a:rPr lang="en-US" sz="1200" dirty="0" err="1"/>
              <a:t>monto</a:t>
            </a:r>
            <a:r>
              <a:rPr lang="en-US" sz="1200" dirty="0"/>
              <a:t>,</a:t>
            </a:r>
          </a:p>
          <a:p>
            <a:r>
              <a:rPr lang="en-US" sz="1200" dirty="0"/>
              <a:t>       SUM(</a:t>
            </a:r>
            <a:r>
              <a:rPr lang="en-US" sz="1200" dirty="0" err="1"/>
              <a:t>monto</a:t>
            </a:r>
            <a:r>
              <a:rPr lang="en-US" sz="1200" dirty="0"/>
              <a:t>) OVER (PARTITION BY </a:t>
            </a:r>
            <a:r>
              <a:rPr lang="en-US" sz="1200" dirty="0" err="1"/>
              <a:t>empleado_id</a:t>
            </a:r>
            <a:r>
              <a:rPr lang="en-US" sz="1200" dirty="0"/>
              <a:t> ORDER BY </a:t>
            </a:r>
            <a:r>
              <a:rPr lang="en-US" sz="1200" dirty="0" err="1"/>
              <a:t>mes</a:t>
            </a:r>
            <a:endParaRPr lang="en-US" sz="1200" dirty="0"/>
          </a:p>
          <a:p>
            <a:r>
              <a:rPr lang="en-US" sz="1200" dirty="0"/>
              <a:t>                        ROWS BETWEEN UNBOUNDED PRECEDING AND CURRENT ROW) AS </a:t>
            </a:r>
            <a:r>
              <a:rPr lang="en-US" sz="1200" dirty="0" err="1"/>
              <a:t>acumulado</a:t>
            </a:r>
            <a:endParaRPr lang="en-US" sz="1200" dirty="0"/>
          </a:p>
          <a:p>
            <a:r>
              <a:rPr lang="en-US" sz="1200" dirty="0"/>
              <a:t>FROM </a:t>
            </a:r>
            <a:r>
              <a:rPr lang="en-US" sz="1200" dirty="0" err="1"/>
              <a:t>ventas</a:t>
            </a:r>
            <a:endParaRPr lang="en-US" sz="1200" dirty="0"/>
          </a:p>
          <a:p>
            <a:r>
              <a:rPr lang="en-US" sz="1200" dirty="0"/>
              <a:t>ORDER BY </a:t>
            </a:r>
            <a:r>
              <a:rPr lang="en-US" sz="1200" dirty="0" err="1"/>
              <a:t>empleado_id</a:t>
            </a:r>
            <a:r>
              <a:rPr lang="en-US" sz="1200" dirty="0"/>
              <a:t>, </a:t>
            </a:r>
            <a:r>
              <a:rPr lang="en-US" sz="1200" dirty="0" err="1"/>
              <a:t>mes</a:t>
            </a:r>
            <a:r>
              <a:rPr lang="en-US" sz="1200" dirty="0"/>
              <a:t>;</a:t>
            </a:r>
          </a:p>
        </p:txBody>
      </p:sp>
      <p:sp>
        <p:nvSpPr>
          <p:cNvPr id="9" name="4 Marcador de contenido">
            <a:extLst>
              <a:ext uri="{FF2B5EF4-FFF2-40B4-BE49-F238E27FC236}">
                <a16:creationId xmlns:a16="http://schemas.microsoft.com/office/drawing/2014/main" id="{53BE3B49-F19B-94F5-0B1E-B26F849497CF}"/>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659A5D93-3493-F39E-5394-2080A0529ACC}"/>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Recorrido con desplazamiento acumulado: SUM() OVER</a:t>
            </a:r>
          </a:p>
          <a:p>
            <a:pPr marL="342900" lvl="1" indent="-342900">
              <a:buFont typeface="Arial" panose="020B0604020202020204" pitchFamily="34" charset="0"/>
              <a:buChar char="•"/>
            </a:pPr>
            <a:r>
              <a:rPr lang="es-ES" sz="1600" dirty="0"/>
              <a:t>Calcula el acumulado progresivo por empleado.</a:t>
            </a:r>
          </a:p>
          <a:p>
            <a:pPr marL="342900" lvl="1" indent="-342900">
              <a:buFont typeface="Arial" panose="020B0604020202020204" pitchFamily="34" charset="0"/>
              <a:buChar char="•"/>
            </a:pPr>
            <a:r>
              <a:rPr lang="es-ES" sz="1600" dirty="0"/>
              <a:t>No requiere GROUP BY, pero sigue el orden definido</a:t>
            </a:r>
          </a:p>
        </p:txBody>
      </p:sp>
      <p:sp>
        <p:nvSpPr>
          <p:cNvPr id="2" name="AutoShape 2" descr="Lightbox">
            <a:extLst>
              <a:ext uri="{FF2B5EF4-FFF2-40B4-BE49-F238E27FC236}">
                <a16:creationId xmlns:a16="http://schemas.microsoft.com/office/drawing/2014/main" id="{07A0F5DB-A338-6EA7-B797-034C9F287A5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41996720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2284-9E57-490A-88A6-12221A14C4E8}"/>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CCB39235-CA11-FB16-2E22-7FAE43D4F206}"/>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039AEF93-9469-429C-3D31-2CD6EC341CA5}"/>
              </a:ext>
            </a:extLst>
          </p:cNvPr>
          <p:cNvSpPr>
            <a:spLocks noGrp="1"/>
          </p:cNvSpPr>
          <p:nvPr>
            <p:ph idx="1"/>
          </p:nvPr>
        </p:nvSpPr>
        <p:spPr>
          <a:xfrm>
            <a:off x="457200" y="915566"/>
            <a:ext cx="8579296" cy="446310"/>
          </a:xfrm>
        </p:spPr>
        <p:txBody>
          <a:bodyPr>
            <a:normAutofit lnSpcReduction="10000"/>
          </a:bodyPr>
          <a:lstStyle/>
          <a:p>
            <a:r>
              <a:rPr lang="es-ES" dirty="0"/>
              <a:t>PIVOT</a:t>
            </a:r>
          </a:p>
        </p:txBody>
      </p:sp>
      <p:sp>
        <p:nvSpPr>
          <p:cNvPr id="4" name="3 Título">
            <a:extLst>
              <a:ext uri="{FF2B5EF4-FFF2-40B4-BE49-F238E27FC236}">
                <a16:creationId xmlns:a16="http://schemas.microsoft.com/office/drawing/2014/main" id="{B3857855-7CA2-F007-21D5-3C3012180F42}"/>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FEA55C11-089C-2BA2-CF8B-C2709A1E31F5}"/>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9DC4BB48-207A-838D-58B8-B49EE9471CE9}"/>
              </a:ext>
            </a:extLst>
          </p:cNvPr>
          <p:cNvSpPr txBox="1"/>
          <p:nvPr/>
        </p:nvSpPr>
        <p:spPr>
          <a:xfrm>
            <a:off x="251520" y="1419622"/>
            <a:ext cx="3647963" cy="2492990"/>
          </a:xfrm>
          <a:prstGeom prst="rect">
            <a:avLst/>
          </a:prstGeom>
          <a:noFill/>
        </p:spPr>
        <p:txBody>
          <a:bodyPr wrap="square">
            <a:spAutoFit/>
          </a:bodyPr>
          <a:lstStyle/>
          <a:p>
            <a:r>
              <a:rPr lang="en-US" sz="1200" dirty="0"/>
              <a:t>-- </a:t>
            </a:r>
            <a:r>
              <a:rPr lang="en-US" sz="1200" dirty="0" err="1"/>
              <a:t>Queremos</a:t>
            </a:r>
            <a:r>
              <a:rPr lang="en-US" sz="1200" dirty="0"/>
              <a:t> </a:t>
            </a:r>
            <a:r>
              <a:rPr lang="en-US" sz="1200" dirty="0" err="1"/>
              <a:t>ver</a:t>
            </a:r>
            <a:r>
              <a:rPr lang="en-US" sz="1200" dirty="0"/>
              <a:t> </a:t>
            </a:r>
            <a:r>
              <a:rPr lang="en-US" sz="1200" dirty="0" err="1"/>
              <a:t>ventas</a:t>
            </a:r>
            <a:r>
              <a:rPr lang="en-US" sz="1200" dirty="0"/>
              <a:t> </a:t>
            </a:r>
            <a:r>
              <a:rPr lang="en-US" sz="1200" dirty="0" err="1"/>
              <a:t>mensuales</a:t>
            </a:r>
            <a:r>
              <a:rPr lang="en-US" sz="1200" dirty="0"/>
              <a:t> </a:t>
            </a:r>
            <a:r>
              <a:rPr lang="en-US" sz="1200" dirty="0" err="1"/>
              <a:t>como</a:t>
            </a:r>
            <a:r>
              <a:rPr lang="en-US" sz="1200" dirty="0"/>
              <a:t> columnas </a:t>
            </a:r>
            <a:r>
              <a:rPr lang="en-US" sz="1200" dirty="0" err="1"/>
              <a:t>por</a:t>
            </a:r>
            <a:r>
              <a:rPr lang="en-US" sz="1200" dirty="0"/>
              <a:t> </a:t>
            </a:r>
            <a:r>
              <a:rPr lang="en-US" sz="1200" dirty="0" err="1"/>
              <a:t>empleado</a:t>
            </a:r>
            <a:endParaRPr lang="en-US" sz="1200" dirty="0"/>
          </a:p>
          <a:p>
            <a:endParaRPr lang="en-US" sz="1200" dirty="0"/>
          </a:p>
          <a:p>
            <a:r>
              <a:rPr lang="en-US" sz="1200" dirty="0"/>
              <a:t>SELECT *</a:t>
            </a:r>
          </a:p>
          <a:p>
            <a:r>
              <a:rPr lang="en-US" sz="1200" dirty="0"/>
              <a:t>FROM (</a:t>
            </a:r>
          </a:p>
          <a:p>
            <a:r>
              <a:rPr lang="en-US" sz="1200" dirty="0"/>
              <a:t>    SELECT </a:t>
            </a:r>
            <a:r>
              <a:rPr lang="en-US" sz="1200" dirty="0" err="1"/>
              <a:t>empleado_id</a:t>
            </a:r>
            <a:r>
              <a:rPr lang="en-US" sz="1200" dirty="0"/>
              <a:t>, </a:t>
            </a:r>
            <a:r>
              <a:rPr lang="en-US" sz="1200" dirty="0" err="1"/>
              <a:t>mes</a:t>
            </a:r>
            <a:r>
              <a:rPr lang="en-US" sz="1200" dirty="0"/>
              <a:t>, </a:t>
            </a:r>
            <a:r>
              <a:rPr lang="en-US" sz="1200" dirty="0" err="1"/>
              <a:t>monto</a:t>
            </a:r>
            <a:endParaRPr lang="en-US" sz="1200" dirty="0"/>
          </a:p>
          <a:p>
            <a:r>
              <a:rPr lang="en-US" sz="1200" dirty="0"/>
              <a:t>    FROM </a:t>
            </a:r>
            <a:r>
              <a:rPr lang="en-US" sz="1200" dirty="0" err="1"/>
              <a:t>ventas</a:t>
            </a:r>
            <a:endParaRPr lang="en-US" sz="1200" dirty="0"/>
          </a:p>
          <a:p>
            <a:r>
              <a:rPr lang="en-US" sz="1200" dirty="0"/>
              <a:t>)</a:t>
            </a:r>
          </a:p>
          <a:p>
            <a:r>
              <a:rPr lang="en-US" sz="1200" dirty="0"/>
              <a:t>PIVOT (</a:t>
            </a:r>
          </a:p>
          <a:p>
            <a:r>
              <a:rPr lang="en-US" sz="1200" dirty="0"/>
              <a:t>    SUM(</a:t>
            </a:r>
            <a:r>
              <a:rPr lang="en-US" sz="1200" dirty="0" err="1"/>
              <a:t>monto</a:t>
            </a:r>
            <a:r>
              <a:rPr lang="en-US" sz="1200" dirty="0"/>
              <a:t>) FOR </a:t>
            </a:r>
            <a:r>
              <a:rPr lang="en-US" sz="1200" dirty="0" err="1"/>
              <a:t>mes</a:t>
            </a:r>
            <a:r>
              <a:rPr lang="en-US" sz="1200" dirty="0"/>
              <a:t> IN ('Ene' AS </a:t>
            </a:r>
            <a:r>
              <a:rPr lang="en-US" sz="1200" dirty="0" err="1"/>
              <a:t>Enero</a:t>
            </a:r>
            <a:r>
              <a:rPr lang="en-US" sz="1200" dirty="0"/>
              <a:t>, 'Feb' AS </a:t>
            </a:r>
            <a:r>
              <a:rPr lang="en-US" sz="1200" dirty="0" err="1"/>
              <a:t>Febrero</a:t>
            </a:r>
            <a:r>
              <a:rPr lang="en-US" sz="1200" dirty="0"/>
              <a:t>, 'Mar' AS Marzo)</a:t>
            </a:r>
          </a:p>
          <a:p>
            <a:r>
              <a:rPr lang="en-US" sz="1200" dirty="0"/>
              <a:t>)</a:t>
            </a:r>
          </a:p>
          <a:p>
            <a:r>
              <a:rPr lang="en-US" sz="1200" dirty="0"/>
              <a:t>ORDER BY </a:t>
            </a:r>
            <a:r>
              <a:rPr lang="en-US" sz="1200" dirty="0" err="1"/>
              <a:t>empleado_id</a:t>
            </a:r>
            <a:r>
              <a:rPr lang="en-US" sz="1200" dirty="0"/>
              <a:t>;</a:t>
            </a:r>
          </a:p>
        </p:txBody>
      </p:sp>
      <p:sp>
        <p:nvSpPr>
          <p:cNvPr id="9" name="4 Marcador de contenido">
            <a:extLst>
              <a:ext uri="{FF2B5EF4-FFF2-40B4-BE49-F238E27FC236}">
                <a16:creationId xmlns:a16="http://schemas.microsoft.com/office/drawing/2014/main" id="{E30ECE35-CE19-55BD-E3C8-42D0143B9B74}"/>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1301CC4A-DC20-57C1-3C6C-F61942ACBB4B}"/>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PIVOT: transponer filas a columnas (resumen horizontal)Calcula el acumulado progresivo por empleado.</a:t>
            </a:r>
          </a:p>
          <a:p>
            <a:pPr marL="342900" lvl="1" indent="-342900">
              <a:buFont typeface="Arial" panose="020B0604020202020204" pitchFamily="34" charset="0"/>
              <a:buChar char="•"/>
            </a:pPr>
            <a:r>
              <a:rPr lang="es-ES" sz="1600" dirty="0"/>
              <a:t>Convierte filas en columnas dinámicas (pivotado horizontal).</a:t>
            </a:r>
          </a:p>
          <a:p>
            <a:pPr marL="342900" lvl="1" indent="-342900">
              <a:buFont typeface="Arial" panose="020B0604020202020204" pitchFamily="34" charset="0"/>
              <a:buChar char="•"/>
            </a:pPr>
            <a:r>
              <a:rPr lang="es-ES" sz="1600" dirty="0"/>
              <a:t>SUM(monto) es la agregación sobre la variable </a:t>
            </a:r>
            <a:r>
              <a:rPr lang="es-ES" sz="1600" dirty="0" err="1"/>
              <a:t>pivot</a:t>
            </a:r>
            <a:r>
              <a:rPr lang="es-ES" sz="1600" dirty="0"/>
              <a:t>.</a:t>
            </a:r>
          </a:p>
          <a:p>
            <a:pPr marL="342900" lvl="1" indent="-342900">
              <a:buFont typeface="Arial" panose="020B0604020202020204" pitchFamily="34" charset="0"/>
              <a:buChar char="•"/>
            </a:pPr>
            <a:r>
              <a:rPr lang="es-ES" sz="1600" dirty="0"/>
              <a:t>Los alias (Enero, Febrero...) permiten etiquetas legibles.</a:t>
            </a:r>
          </a:p>
        </p:txBody>
      </p:sp>
      <p:sp>
        <p:nvSpPr>
          <p:cNvPr id="2" name="AutoShape 2" descr="Lightbox">
            <a:extLst>
              <a:ext uri="{FF2B5EF4-FFF2-40B4-BE49-F238E27FC236}">
                <a16:creationId xmlns:a16="http://schemas.microsoft.com/office/drawing/2014/main" id="{AFA6AD7D-B41A-DCFD-D677-4F999907185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33111207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F9BCA-6084-F5C1-3966-E91A89C357A7}"/>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AD3750E4-6A83-B1C7-A95B-36C5ABF5F702}"/>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4327A084-9F4F-819D-88BC-0EAC33001F14}"/>
              </a:ext>
            </a:extLst>
          </p:cNvPr>
          <p:cNvSpPr>
            <a:spLocks noGrp="1"/>
          </p:cNvSpPr>
          <p:nvPr>
            <p:ph idx="1"/>
          </p:nvPr>
        </p:nvSpPr>
        <p:spPr>
          <a:xfrm>
            <a:off x="457200" y="915566"/>
            <a:ext cx="8579296" cy="446310"/>
          </a:xfrm>
        </p:spPr>
        <p:txBody>
          <a:bodyPr>
            <a:normAutofit lnSpcReduction="10000"/>
          </a:bodyPr>
          <a:lstStyle/>
          <a:p>
            <a:r>
              <a:rPr lang="es-ES" dirty="0"/>
              <a:t>UNPIVOT</a:t>
            </a:r>
          </a:p>
        </p:txBody>
      </p:sp>
      <p:sp>
        <p:nvSpPr>
          <p:cNvPr id="4" name="3 Título">
            <a:extLst>
              <a:ext uri="{FF2B5EF4-FFF2-40B4-BE49-F238E27FC236}">
                <a16:creationId xmlns:a16="http://schemas.microsoft.com/office/drawing/2014/main" id="{D18ADD91-0FEC-F3BB-1182-4D2B09B62EF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40335064-540F-18B3-9F4E-C2CE6A4E06E6}"/>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04C13949-2EAC-D491-065B-B3CA2E8D3412}"/>
              </a:ext>
            </a:extLst>
          </p:cNvPr>
          <p:cNvSpPr txBox="1"/>
          <p:nvPr/>
        </p:nvSpPr>
        <p:spPr>
          <a:xfrm>
            <a:off x="251520" y="1419622"/>
            <a:ext cx="3647963" cy="3231654"/>
          </a:xfrm>
          <a:prstGeom prst="rect">
            <a:avLst/>
          </a:prstGeom>
          <a:noFill/>
        </p:spPr>
        <p:txBody>
          <a:bodyPr wrap="square">
            <a:spAutoFit/>
          </a:bodyPr>
          <a:lstStyle/>
          <a:p>
            <a:r>
              <a:rPr lang="en-US" sz="1200" dirty="0"/>
              <a:t>-- </a:t>
            </a:r>
            <a:r>
              <a:rPr lang="en-US" sz="1200" dirty="0" err="1"/>
              <a:t>Revertimos</a:t>
            </a:r>
            <a:r>
              <a:rPr lang="en-US" sz="1200" dirty="0"/>
              <a:t> la </a:t>
            </a:r>
            <a:r>
              <a:rPr lang="en-US" sz="1200" dirty="0" err="1"/>
              <a:t>tabla</a:t>
            </a:r>
            <a:r>
              <a:rPr lang="en-US" sz="1200" dirty="0"/>
              <a:t> anterior a </a:t>
            </a:r>
            <a:r>
              <a:rPr lang="en-US" sz="1200" dirty="0" err="1"/>
              <a:t>formato</a:t>
            </a:r>
            <a:r>
              <a:rPr lang="en-US" sz="1200" dirty="0"/>
              <a:t> vertical</a:t>
            </a:r>
          </a:p>
          <a:p>
            <a:r>
              <a:rPr lang="en-US" sz="1200" dirty="0"/>
              <a:t>SELECT </a:t>
            </a:r>
            <a:r>
              <a:rPr lang="en-US" sz="1200" dirty="0" err="1"/>
              <a:t>empleado_id</a:t>
            </a:r>
            <a:r>
              <a:rPr lang="en-US" sz="1200" dirty="0"/>
              <a:t>, </a:t>
            </a:r>
            <a:r>
              <a:rPr lang="en-US" sz="1200" dirty="0" err="1"/>
              <a:t>mes</a:t>
            </a:r>
            <a:r>
              <a:rPr lang="en-US" sz="1200" dirty="0"/>
              <a:t>, </a:t>
            </a:r>
            <a:r>
              <a:rPr lang="en-US" sz="1200" dirty="0" err="1"/>
              <a:t>monto</a:t>
            </a:r>
            <a:endParaRPr lang="en-US" sz="1200" dirty="0"/>
          </a:p>
          <a:p>
            <a:r>
              <a:rPr lang="en-US" sz="1200" dirty="0"/>
              <a:t>FROM (</a:t>
            </a:r>
          </a:p>
          <a:p>
            <a:r>
              <a:rPr lang="en-US" sz="1200" dirty="0"/>
              <a:t>    SELECT *</a:t>
            </a:r>
          </a:p>
          <a:p>
            <a:r>
              <a:rPr lang="en-US" sz="1200" dirty="0"/>
              <a:t>    FROM (</a:t>
            </a:r>
          </a:p>
          <a:p>
            <a:r>
              <a:rPr lang="en-US" sz="1200" dirty="0"/>
              <a:t>        SELECT </a:t>
            </a:r>
            <a:r>
              <a:rPr lang="en-US" sz="1200" dirty="0" err="1"/>
              <a:t>empleado_id</a:t>
            </a:r>
            <a:r>
              <a:rPr lang="en-US" sz="1200" dirty="0"/>
              <a:t>, </a:t>
            </a:r>
            <a:r>
              <a:rPr lang="en-US" sz="1200" dirty="0" err="1"/>
              <a:t>mes</a:t>
            </a:r>
            <a:r>
              <a:rPr lang="en-US" sz="1200" dirty="0"/>
              <a:t>, </a:t>
            </a:r>
            <a:r>
              <a:rPr lang="en-US" sz="1200" dirty="0" err="1"/>
              <a:t>monto</a:t>
            </a:r>
            <a:r>
              <a:rPr lang="en-US" sz="1200" dirty="0"/>
              <a:t> FROM </a:t>
            </a:r>
            <a:r>
              <a:rPr lang="en-US" sz="1200" dirty="0" err="1"/>
              <a:t>ventas</a:t>
            </a:r>
            <a:endParaRPr lang="en-US" sz="1200" dirty="0"/>
          </a:p>
          <a:p>
            <a:r>
              <a:rPr lang="en-US" sz="1200" dirty="0"/>
              <a:t>    )</a:t>
            </a:r>
          </a:p>
          <a:p>
            <a:r>
              <a:rPr lang="en-US" sz="1200" dirty="0"/>
              <a:t>    PIVOT (</a:t>
            </a:r>
          </a:p>
          <a:p>
            <a:r>
              <a:rPr lang="en-US" sz="1200" dirty="0"/>
              <a:t>        SUM(</a:t>
            </a:r>
            <a:r>
              <a:rPr lang="en-US" sz="1200" dirty="0" err="1"/>
              <a:t>monto</a:t>
            </a:r>
            <a:r>
              <a:rPr lang="en-US" sz="1200" dirty="0"/>
              <a:t>) FOR </a:t>
            </a:r>
            <a:r>
              <a:rPr lang="en-US" sz="1200" dirty="0" err="1"/>
              <a:t>mes</a:t>
            </a:r>
            <a:r>
              <a:rPr lang="en-US" sz="1200" dirty="0"/>
              <a:t> IN ('Ene' AS </a:t>
            </a:r>
            <a:r>
              <a:rPr lang="en-US" sz="1200" dirty="0" err="1"/>
              <a:t>Enero</a:t>
            </a:r>
            <a:r>
              <a:rPr lang="en-US" sz="1200" dirty="0"/>
              <a:t>, 'Feb' AS </a:t>
            </a:r>
            <a:r>
              <a:rPr lang="en-US" sz="1200" dirty="0" err="1"/>
              <a:t>Febrero</a:t>
            </a:r>
            <a:r>
              <a:rPr lang="en-US" sz="1200" dirty="0"/>
              <a:t>, 'Mar' AS Marzo)</a:t>
            </a:r>
          </a:p>
          <a:p>
            <a:r>
              <a:rPr lang="en-US" sz="1200" dirty="0"/>
              <a:t>    )</a:t>
            </a:r>
          </a:p>
          <a:p>
            <a:r>
              <a:rPr lang="en-US" sz="1200" dirty="0"/>
              <a:t>)</a:t>
            </a:r>
          </a:p>
          <a:p>
            <a:r>
              <a:rPr lang="en-US" sz="1200" dirty="0"/>
              <a:t>UNPIVOT (</a:t>
            </a:r>
          </a:p>
          <a:p>
            <a:r>
              <a:rPr lang="en-US" sz="1200" dirty="0"/>
              <a:t>    </a:t>
            </a:r>
            <a:r>
              <a:rPr lang="en-US" sz="1200" dirty="0" err="1"/>
              <a:t>monto</a:t>
            </a:r>
            <a:r>
              <a:rPr lang="en-US" sz="1200" dirty="0"/>
              <a:t> FOR </a:t>
            </a:r>
            <a:r>
              <a:rPr lang="en-US" sz="1200" dirty="0" err="1"/>
              <a:t>mes</a:t>
            </a:r>
            <a:r>
              <a:rPr lang="en-US" sz="1200" dirty="0"/>
              <a:t> IN (</a:t>
            </a:r>
            <a:r>
              <a:rPr lang="en-US" sz="1200" dirty="0" err="1"/>
              <a:t>Enero</a:t>
            </a:r>
            <a:r>
              <a:rPr lang="en-US" sz="1200" dirty="0"/>
              <a:t> AS 'Ene', </a:t>
            </a:r>
            <a:r>
              <a:rPr lang="en-US" sz="1200" dirty="0" err="1"/>
              <a:t>Febrero</a:t>
            </a:r>
            <a:r>
              <a:rPr lang="en-US" sz="1200" dirty="0"/>
              <a:t> AS 'Feb', Marzo AS 'Mar')</a:t>
            </a:r>
          </a:p>
          <a:p>
            <a:r>
              <a:rPr lang="en-US" sz="1200" dirty="0"/>
              <a:t>)</a:t>
            </a:r>
          </a:p>
          <a:p>
            <a:r>
              <a:rPr lang="en-US" sz="1200" dirty="0"/>
              <a:t>ORDER BY </a:t>
            </a:r>
            <a:r>
              <a:rPr lang="en-US" sz="1200" dirty="0" err="1"/>
              <a:t>empleado_id</a:t>
            </a:r>
            <a:r>
              <a:rPr lang="en-US" sz="1200" dirty="0"/>
              <a:t>, </a:t>
            </a:r>
            <a:r>
              <a:rPr lang="en-US" sz="1200" dirty="0" err="1"/>
              <a:t>mes</a:t>
            </a:r>
            <a:r>
              <a:rPr lang="en-US" sz="1200" dirty="0"/>
              <a:t>;</a:t>
            </a:r>
          </a:p>
        </p:txBody>
      </p:sp>
      <p:sp>
        <p:nvSpPr>
          <p:cNvPr id="9" name="4 Marcador de contenido">
            <a:extLst>
              <a:ext uri="{FF2B5EF4-FFF2-40B4-BE49-F238E27FC236}">
                <a16:creationId xmlns:a16="http://schemas.microsoft.com/office/drawing/2014/main" id="{100E6826-C719-70ED-6F29-654502986554}"/>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EBFE8EA2-661B-D16A-2894-4920E84D2C4B}"/>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UNPIVOT: transponer columnas a filas </a:t>
            </a:r>
          </a:p>
          <a:p>
            <a:pPr marL="342900" lvl="1" indent="-342900">
              <a:buFont typeface="Arial" panose="020B0604020202020204" pitchFamily="34" charset="0"/>
              <a:buChar char="•"/>
            </a:pPr>
            <a:r>
              <a:rPr lang="es-ES" sz="1600" dirty="0"/>
              <a:t>Hace el proceso inverso → transforma columnas en filas.</a:t>
            </a:r>
          </a:p>
          <a:p>
            <a:pPr marL="342900" lvl="1" indent="-342900">
              <a:buFont typeface="Arial" panose="020B0604020202020204" pitchFamily="34" charset="0"/>
              <a:buChar char="•"/>
            </a:pPr>
            <a:r>
              <a:rPr lang="es-ES" sz="1600" dirty="0"/>
              <a:t>Muy útil para normalizar datos exportados de hojas Excel o informes planos.</a:t>
            </a:r>
          </a:p>
        </p:txBody>
      </p:sp>
      <p:sp>
        <p:nvSpPr>
          <p:cNvPr id="2" name="AutoShape 2" descr="Lightbox">
            <a:extLst>
              <a:ext uri="{FF2B5EF4-FFF2-40B4-BE49-F238E27FC236}">
                <a16:creationId xmlns:a16="http://schemas.microsoft.com/office/drawing/2014/main" id="{E1156704-88C6-BF6B-C242-87B03D96996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32926894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B74E5-8278-26B3-6D58-BB91DD76FDD4}"/>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BDD6D578-8C83-614C-2D61-77A9C375EA90}"/>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453A4BBA-2AFB-560C-77EC-691BA0FD7634}"/>
              </a:ext>
            </a:extLst>
          </p:cNvPr>
          <p:cNvSpPr>
            <a:spLocks noGrp="1"/>
          </p:cNvSpPr>
          <p:nvPr>
            <p:ph idx="1"/>
          </p:nvPr>
        </p:nvSpPr>
        <p:spPr>
          <a:xfrm>
            <a:off x="457200" y="915566"/>
            <a:ext cx="8579296" cy="446310"/>
          </a:xfrm>
        </p:spPr>
        <p:txBody>
          <a:bodyPr>
            <a:normAutofit lnSpcReduction="10000"/>
          </a:bodyPr>
          <a:lstStyle/>
          <a:p>
            <a:r>
              <a:rPr lang="es-ES" dirty="0"/>
              <a:t>LATERAL</a:t>
            </a:r>
          </a:p>
        </p:txBody>
      </p:sp>
      <p:sp>
        <p:nvSpPr>
          <p:cNvPr id="4" name="3 Título">
            <a:extLst>
              <a:ext uri="{FF2B5EF4-FFF2-40B4-BE49-F238E27FC236}">
                <a16:creationId xmlns:a16="http://schemas.microsoft.com/office/drawing/2014/main" id="{2B53133F-4503-B2F0-BBA5-2B2DB3557A11}"/>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05AE3031-0C75-FD87-2F47-C679B3F85CCC}"/>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8A2EEB89-9F6E-F5B9-C9C5-A59F5D649861}"/>
              </a:ext>
            </a:extLst>
          </p:cNvPr>
          <p:cNvSpPr txBox="1"/>
          <p:nvPr/>
        </p:nvSpPr>
        <p:spPr>
          <a:xfrm>
            <a:off x="251520" y="1419622"/>
            <a:ext cx="3647963" cy="3046988"/>
          </a:xfrm>
          <a:prstGeom prst="rect">
            <a:avLst/>
          </a:prstGeom>
          <a:noFill/>
        </p:spPr>
        <p:txBody>
          <a:bodyPr wrap="square">
            <a:spAutoFit/>
          </a:bodyPr>
          <a:lstStyle/>
          <a:p>
            <a:r>
              <a:rPr lang="en-US" sz="1200" dirty="0"/>
              <a:t>SELECT *</a:t>
            </a:r>
          </a:p>
          <a:p>
            <a:r>
              <a:rPr lang="en-US" sz="1200" dirty="0"/>
              <a:t>FROM </a:t>
            </a:r>
            <a:r>
              <a:rPr lang="en-US" sz="1200" dirty="0" err="1"/>
              <a:t>tabla_principal</a:t>
            </a:r>
            <a:r>
              <a:rPr lang="en-US" sz="1200" dirty="0"/>
              <a:t> t,</a:t>
            </a:r>
          </a:p>
          <a:p>
            <a:r>
              <a:rPr lang="en-US" sz="1200" dirty="0"/>
              <a:t>     LATERAL (</a:t>
            </a:r>
            <a:r>
              <a:rPr lang="en-US" sz="1200" dirty="0" err="1"/>
              <a:t>subconsulta</a:t>
            </a:r>
            <a:r>
              <a:rPr lang="en-US" sz="1200" dirty="0"/>
              <a:t> </a:t>
            </a:r>
            <a:r>
              <a:rPr lang="en-US" sz="1200" dirty="0" err="1"/>
              <a:t>que</a:t>
            </a:r>
            <a:r>
              <a:rPr lang="en-US" sz="1200" dirty="0"/>
              <a:t> </a:t>
            </a:r>
            <a:r>
              <a:rPr lang="en-US" sz="1200" dirty="0" err="1"/>
              <a:t>usa</a:t>
            </a:r>
            <a:r>
              <a:rPr lang="en-US" sz="1200" dirty="0"/>
              <a:t> </a:t>
            </a:r>
            <a:r>
              <a:rPr lang="en-US" sz="1200" dirty="0" err="1"/>
              <a:t>t.columna</a:t>
            </a:r>
            <a:r>
              <a:rPr lang="en-US" sz="1200" dirty="0"/>
              <a:t>) s;</a:t>
            </a:r>
          </a:p>
          <a:p>
            <a:endParaRPr lang="en-US" sz="1200" dirty="0"/>
          </a:p>
          <a:p>
            <a:r>
              <a:rPr lang="en-US" sz="1200" dirty="0"/>
              <a:t>-- Con LATERAL - </a:t>
            </a:r>
            <a:r>
              <a:rPr lang="en-US" sz="1200" dirty="0" err="1"/>
              <a:t>más</a:t>
            </a:r>
            <a:r>
              <a:rPr lang="en-US" sz="1200" dirty="0"/>
              <a:t> </a:t>
            </a:r>
            <a:r>
              <a:rPr lang="en-US" sz="1200" dirty="0" err="1"/>
              <a:t>directo</a:t>
            </a:r>
            <a:endParaRPr lang="en-US" sz="1200" dirty="0"/>
          </a:p>
          <a:p>
            <a:r>
              <a:rPr lang="en-US" sz="1200" dirty="0"/>
              <a:t>SELECT </a:t>
            </a:r>
            <a:r>
              <a:rPr lang="en-US" sz="1200" dirty="0" err="1"/>
              <a:t>d.nombre</a:t>
            </a:r>
            <a:r>
              <a:rPr lang="en-US" sz="1200" dirty="0"/>
              <a:t> as </a:t>
            </a:r>
            <a:r>
              <a:rPr lang="en-US" sz="1200" dirty="0" err="1"/>
              <a:t>departamento</a:t>
            </a:r>
            <a:r>
              <a:rPr lang="en-US" sz="1200" dirty="0"/>
              <a:t>, </a:t>
            </a:r>
            <a:r>
              <a:rPr lang="en-US" sz="1200" dirty="0" err="1"/>
              <a:t>e.nombre</a:t>
            </a:r>
            <a:r>
              <a:rPr lang="en-US" sz="1200" dirty="0"/>
              <a:t> as </a:t>
            </a:r>
            <a:r>
              <a:rPr lang="en-US" sz="1200" dirty="0" err="1"/>
              <a:t>empleado</a:t>
            </a:r>
            <a:r>
              <a:rPr lang="en-US" sz="1200" dirty="0"/>
              <a:t>, </a:t>
            </a:r>
            <a:r>
              <a:rPr lang="en-US" sz="1200" dirty="0" err="1"/>
              <a:t>e.salario</a:t>
            </a:r>
            <a:endParaRPr lang="en-US" sz="1200" dirty="0"/>
          </a:p>
          <a:p>
            <a:r>
              <a:rPr lang="en-US" sz="1200" dirty="0"/>
              <a:t>FROM </a:t>
            </a:r>
            <a:r>
              <a:rPr lang="en-US" sz="1200" dirty="0" err="1"/>
              <a:t>departamentos</a:t>
            </a:r>
            <a:r>
              <a:rPr lang="en-US" sz="1200" dirty="0"/>
              <a:t> d,</a:t>
            </a:r>
          </a:p>
          <a:p>
            <a:r>
              <a:rPr lang="en-US" sz="1200" dirty="0"/>
              <a:t>     LATERAL (</a:t>
            </a:r>
          </a:p>
          <a:p>
            <a:r>
              <a:rPr lang="en-US" sz="1200" dirty="0"/>
              <a:t>         SELECT </a:t>
            </a:r>
            <a:r>
              <a:rPr lang="en-US" sz="1200" dirty="0" err="1"/>
              <a:t>nombre</a:t>
            </a:r>
            <a:r>
              <a:rPr lang="en-US" sz="1200" dirty="0"/>
              <a:t>, </a:t>
            </a:r>
            <a:r>
              <a:rPr lang="en-US" sz="1200" dirty="0" err="1"/>
              <a:t>salario</a:t>
            </a:r>
            <a:endParaRPr lang="en-US" sz="1200" dirty="0"/>
          </a:p>
          <a:p>
            <a:r>
              <a:rPr lang="en-US" sz="1200" dirty="0"/>
              <a:t>         FROM </a:t>
            </a:r>
            <a:r>
              <a:rPr lang="en-US" sz="1200" dirty="0" err="1"/>
              <a:t>empleados</a:t>
            </a:r>
            <a:r>
              <a:rPr lang="en-US" sz="1200" dirty="0"/>
              <a:t> </a:t>
            </a:r>
          </a:p>
          <a:p>
            <a:r>
              <a:rPr lang="en-US" sz="1200" dirty="0"/>
              <a:t>         WHERE </a:t>
            </a:r>
            <a:r>
              <a:rPr lang="en-US" sz="1200" dirty="0" err="1"/>
              <a:t>dept_id</a:t>
            </a:r>
            <a:r>
              <a:rPr lang="en-US" sz="1200" dirty="0"/>
              <a:t> = </a:t>
            </a:r>
            <a:r>
              <a:rPr lang="en-US" sz="1200" dirty="0" err="1"/>
              <a:t>d.dept_id</a:t>
            </a:r>
            <a:endParaRPr lang="en-US" sz="1200" dirty="0"/>
          </a:p>
          <a:p>
            <a:r>
              <a:rPr lang="en-US" sz="1200" dirty="0"/>
              <a:t>         ORDER BY </a:t>
            </a:r>
            <a:r>
              <a:rPr lang="en-US" sz="1200" dirty="0" err="1"/>
              <a:t>salario</a:t>
            </a:r>
            <a:r>
              <a:rPr lang="en-US" sz="1200" dirty="0"/>
              <a:t> DESC</a:t>
            </a:r>
          </a:p>
          <a:p>
            <a:r>
              <a:rPr lang="en-US" sz="1200" dirty="0"/>
              <a:t>         FETCH FIRST 2 ROWS ONLY</a:t>
            </a:r>
          </a:p>
          <a:p>
            <a:r>
              <a:rPr lang="en-US" sz="1200" dirty="0"/>
              <a:t>     ) e</a:t>
            </a:r>
          </a:p>
          <a:p>
            <a:r>
              <a:rPr lang="en-US" sz="1200" dirty="0"/>
              <a:t>ORDER BY </a:t>
            </a:r>
            <a:r>
              <a:rPr lang="en-US" sz="1200" dirty="0" err="1"/>
              <a:t>d.nombre</a:t>
            </a:r>
            <a:r>
              <a:rPr lang="en-US" sz="1200" dirty="0"/>
              <a:t>, </a:t>
            </a:r>
            <a:r>
              <a:rPr lang="en-US" sz="1200" dirty="0" err="1"/>
              <a:t>e.salario</a:t>
            </a:r>
            <a:r>
              <a:rPr lang="en-US" sz="1200" dirty="0"/>
              <a:t> DESC;</a:t>
            </a:r>
          </a:p>
        </p:txBody>
      </p:sp>
      <p:sp>
        <p:nvSpPr>
          <p:cNvPr id="9" name="4 Marcador de contenido">
            <a:extLst>
              <a:ext uri="{FF2B5EF4-FFF2-40B4-BE49-F238E27FC236}">
                <a16:creationId xmlns:a16="http://schemas.microsoft.com/office/drawing/2014/main" id="{9AE61170-C118-0C7D-A1E0-8471C4A61B39}"/>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AFCD46D1-C105-8119-6923-B59CF9947057}"/>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b="1" dirty="0"/>
              <a:t>LATERAL </a:t>
            </a:r>
            <a:r>
              <a:rPr lang="es-ES" b="1" dirty="0" err="1"/>
              <a:t>queries</a:t>
            </a:r>
            <a:r>
              <a:rPr lang="es-ES" dirty="0"/>
              <a:t> permiten que una subconsulta en el FROM haga referencia a columnas de tablas anteriores en la misma cláusula FROM.</a:t>
            </a:r>
            <a:endParaRPr lang="es-ES" sz="1600" dirty="0"/>
          </a:p>
        </p:txBody>
      </p:sp>
      <p:sp>
        <p:nvSpPr>
          <p:cNvPr id="2" name="AutoShape 2" descr="Lightbox">
            <a:extLst>
              <a:ext uri="{FF2B5EF4-FFF2-40B4-BE49-F238E27FC236}">
                <a16:creationId xmlns:a16="http://schemas.microsoft.com/office/drawing/2014/main" id="{DACC6E69-2BFA-C72B-EB64-FD82AACE7DD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20928999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CDCA5-6C39-54B0-A546-1B3432EF8481}"/>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34A42FB1-7591-2F42-5F27-AC88E6B02C53}"/>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0983E6AA-EF4B-8AB2-E7A6-79312A1FD9A4}"/>
              </a:ext>
            </a:extLst>
          </p:cNvPr>
          <p:cNvSpPr>
            <a:spLocks noGrp="1"/>
          </p:cNvSpPr>
          <p:nvPr>
            <p:ph idx="1"/>
          </p:nvPr>
        </p:nvSpPr>
        <p:spPr>
          <a:xfrm>
            <a:off x="457200" y="915566"/>
            <a:ext cx="8579296" cy="446310"/>
          </a:xfrm>
        </p:spPr>
        <p:txBody>
          <a:bodyPr>
            <a:normAutofit lnSpcReduction="10000"/>
          </a:bodyPr>
          <a:lstStyle/>
          <a:p>
            <a:r>
              <a:rPr lang="es-ES" dirty="0"/>
              <a:t>MODEL: recorrer y calcular filas como si fuera un array</a:t>
            </a:r>
          </a:p>
        </p:txBody>
      </p:sp>
      <p:sp>
        <p:nvSpPr>
          <p:cNvPr id="4" name="3 Título">
            <a:extLst>
              <a:ext uri="{FF2B5EF4-FFF2-40B4-BE49-F238E27FC236}">
                <a16:creationId xmlns:a16="http://schemas.microsoft.com/office/drawing/2014/main" id="{73B26AEB-2CC3-11DB-8866-41ECE38826AE}"/>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AF44A14-BAF0-5449-1E9B-469250F0D7EC}"/>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B2D09F52-CC78-12DB-62E6-9E7377D2877D}"/>
              </a:ext>
            </a:extLst>
          </p:cNvPr>
          <p:cNvSpPr txBox="1"/>
          <p:nvPr/>
        </p:nvSpPr>
        <p:spPr>
          <a:xfrm>
            <a:off x="251520" y="1419622"/>
            <a:ext cx="3647963" cy="2862322"/>
          </a:xfrm>
          <a:prstGeom prst="rect">
            <a:avLst/>
          </a:prstGeom>
          <a:noFill/>
        </p:spPr>
        <p:txBody>
          <a:bodyPr wrap="square">
            <a:spAutoFit/>
          </a:bodyPr>
          <a:lstStyle/>
          <a:p>
            <a:r>
              <a:rPr lang="en-US" sz="1200" dirty="0"/>
              <a:t>SELECT </a:t>
            </a:r>
            <a:r>
              <a:rPr lang="en-US" sz="1200" dirty="0" err="1"/>
              <a:t>empleado_id</a:t>
            </a:r>
            <a:r>
              <a:rPr lang="en-US" sz="1200" dirty="0"/>
              <a:t>,</a:t>
            </a:r>
          </a:p>
          <a:p>
            <a:r>
              <a:rPr lang="en-US" sz="1200" dirty="0"/>
              <a:t>       </a:t>
            </a:r>
            <a:r>
              <a:rPr lang="en-US" sz="1200" dirty="0" err="1"/>
              <a:t>mes</a:t>
            </a:r>
            <a:r>
              <a:rPr lang="en-US" sz="1200" dirty="0"/>
              <a:t>,</a:t>
            </a:r>
          </a:p>
          <a:p>
            <a:r>
              <a:rPr lang="en-US" sz="1200" dirty="0"/>
              <a:t>       </a:t>
            </a:r>
            <a:r>
              <a:rPr lang="en-US" sz="1200" dirty="0" err="1"/>
              <a:t>monto</a:t>
            </a:r>
            <a:r>
              <a:rPr lang="en-US" sz="1200" dirty="0"/>
              <a:t>,</a:t>
            </a:r>
          </a:p>
          <a:p>
            <a:r>
              <a:rPr lang="en-US" sz="1200" dirty="0"/>
              <a:t>       ROUND(prevision,2) AS </a:t>
            </a:r>
            <a:r>
              <a:rPr lang="en-US" sz="1200" dirty="0" err="1"/>
              <a:t>proyeccion</a:t>
            </a:r>
            <a:endParaRPr lang="en-US" sz="1200" dirty="0"/>
          </a:p>
          <a:p>
            <a:r>
              <a:rPr lang="en-US" sz="1200" dirty="0"/>
              <a:t>FROM </a:t>
            </a:r>
            <a:r>
              <a:rPr lang="en-US" sz="1200" dirty="0" err="1"/>
              <a:t>ventas</a:t>
            </a:r>
            <a:endParaRPr lang="en-US" sz="1200" dirty="0"/>
          </a:p>
          <a:p>
            <a:r>
              <a:rPr lang="en-US" sz="1200" dirty="0"/>
              <a:t>MODEL</a:t>
            </a:r>
          </a:p>
          <a:p>
            <a:r>
              <a:rPr lang="en-US" sz="1200" dirty="0"/>
              <a:t>  PARTITION BY (</a:t>
            </a:r>
            <a:r>
              <a:rPr lang="en-US" sz="1200" dirty="0" err="1"/>
              <a:t>empleado_id</a:t>
            </a:r>
            <a:r>
              <a:rPr lang="en-US" sz="1200" dirty="0"/>
              <a:t>)</a:t>
            </a:r>
          </a:p>
          <a:p>
            <a:r>
              <a:rPr lang="en-US" sz="1200" dirty="0"/>
              <a:t>  DIMENSION BY (</a:t>
            </a:r>
            <a:r>
              <a:rPr lang="en-US" sz="1200" dirty="0" err="1"/>
              <a:t>mes</a:t>
            </a:r>
            <a:r>
              <a:rPr lang="en-US" sz="1200" dirty="0"/>
              <a:t>)</a:t>
            </a:r>
          </a:p>
          <a:p>
            <a:r>
              <a:rPr lang="en-US" sz="1200" dirty="0"/>
              <a:t>  MEASURES (</a:t>
            </a:r>
            <a:r>
              <a:rPr lang="en-US" sz="1200" dirty="0" err="1"/>
              <a:t>monto</a:t>
            </a:r>
            <a:r>
              <a:rPr lang="en-US" sz="1200" dirty="0"/>
              <a:t>, 0 AS prevision)</a:t>
            </a:r>
          </a:p>
          <a:p>
            <a:r>
              <a:rPr lang="en-US" sz="1200" dirty="0"/>
              <a:t>  RULES (</a:t>
            </a:r>
          </a:p>
          <a:p>
            <a:r>
              <a:rPr lang="en-US" sz="1200" dirty="0"/>
              <a:t>    prevision['Ene'] = </a:t>
            </a:r>
            <a:r>
              <a:rPr lang="en-US" sz="1200" dirty="0" err="1"/>
              <a:t>monto</a:t>
            </a:r>
            <a:r>
              <a:rPr lang="en-US" sz="1200" dirty="0"/>
              <a:t>['Ene'],</a:t>
            </a:r>
          </a:p>
          <a:p>
            <a:r>
              <a:rPr lang="en-US" sz="1200" dirty="0"/>
              <a:t>    prevision['Feb'] = </a:t>
            </a:r>
            <a:r>
              <a:rPr lang="en-US" sz="1200" dirty="0" err="1"/>
              <a:t>monto</a:t>
            </a:r>
            <a:r>
              <a:rPr lang="en-US" sz="1200" dirty="0"/>
              <a:t>['Ene'] * 1.10,</a:t>
            </a:r>
          </a:p>
          <a:p>
            <a:r>
              <a:rPr lang="en-US" sz="1200" dirty="0"/>
              <a:t>    prevision['Mar'] = prevision['Feb'] * 1.10</a:t>
            </a:r>
          </a:p>
          <a:p>
            <a:r>
              <a:rPr lang="en-US" sz="1200" dirty="0"/>
              <a:t>  )</a:t>
            </a:r>
          </a:p>
          <a:p>
            <a:r>
              <a:rPr lang="en-US" sz="1200" dirty="0"/>
              <a:t>ORDER BY </a:t>
            </a:r>
            <a:r>
              <a:rPr lang="en-US" sz="1200" dirty="0" err="1"/>
              <a:t>empleado_id</a:t>
            </a:r>
            <a:r>
              <a:rPr lang="en-US" sz="1200" dirty="0"/>
              <a:t>, </a:t>
            </a:r>
            <a:r>
              <a:rPr lang="en-US" sz="1200" dirty="0" err="1"/>
              <a:t>mes</a:t>
            </a:r>
            <a:r>
              <a:rPr lang="en-US" sz="1200" dirty="0"/>
              <a:t>;</a:t>
            </a:r>
          </a:p>
        </p:txBody>
      </p:sp>
      <p:sp>
        <p:nvSpPr>
          <p:cNvPr id="9" name="4 Marcador de contenido">
            <a:extLst>
              <a:ext uri="{FF2B5EF4-FFF2-40B4-BE49-F238E27FC236}">
                <a16:creationId xmlns:a16="http://schemas.microsoft.com/office/drawing/2014/main" id="{814CFAE9-0813-965A-2719-0A6A8F7D6E3F}"/>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49F206BC-50F4-7BC3-CA95-1FEA30F26B9C}"/>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MODEL convierte el conjunto de resultados en una “matriz multidimensional”.</a:t>
            </a:r>
          </a:p>
          <a:p>
            <a:pPr marL="342900" lvl="1" indent="-342900">
              <a:buFont typeface="Arial" panose="020B0604020202020204" pitchFamily="34" charset="0"/>
              <a:buChar char="•"/>
            </a:pPr>
            <a:r>
              <a:rPr lang="es-ES" dirty="0"/>
              <a:t>Permite definir reglas de cálculo tipo hoja de cálculo Excel.</a:t>
            </a:r>
          </a:p>
          <a:p>
            <a:pPr marL="342900" lvl="1" indent="-342900">
              <a:buFont typeface="Arial" panose="020B0604020202020204" pitchFamily="34" charset="0"/>
              <a:buChar char="•"/>
            </a:pPr>
            <a:r>
              <a:rPr lang="es-ES" dirty="0"/>
              <a:t>Las reglas pueden referirse a otras celdas (por ejemplo, ‘Feb’ depende de ‘Ene’).</a:t>
            </a:r>
          </a:p>
          <a:p>
            <a:pPr marL="342900" lvl="1" indent="-342900">
              <a:buFont typeface="Arial" panose="020B0604020202020204" pitchFamily="34" charset="0"/>
              <a:buChar char="•"/>
            </a:pPr>
            <a:r>
              <a:rPr lang="es-ES" dirty="0"/>
              <a:t>Útil para simulaciones financieras, predicciones o proyecciones.</a:t>
            </a:r>
            <a:endParaRPr lang="es-ES" sz="1600" dirty="0"/>
          </a:p>
        </p:txBody>
      </p:sp>
      <p:sp>
        <p:nvSpPr>
          <p:cNvPr id="2" name="AutoShape 2" descr="Lightbox">
            <a:extLst>
              <a:ext uri="{FF2B5EF4-FFF2-40B4-BE49-F238E27FC236}">
                <a16:creationId xmlns:a16="http://schemas.microsoft.com/office/drawing/2014/main" id="{C31832F2-B175-1F85-088A-1434C7D34CF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39438113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653F1-DB3F-8AA7-4B96-1BE99E73A4F8}"/>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C0012A22-60C8-4CF2-533F-287ED2185CBA}"/>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85ACB6EB-0804-DCE4-E154-CEDD53B26C5B}"/>
              </a:ext>
            </a:extLst>
          </p:cNvPr>
          <p:cNvSpPr>
            <a:spLocks noGrp="1"/>
          </p:cNvSpPr>
          <p:nvPr>
            <p:ph idx="1"/>
          </p:nvPr>
        </p:nvSpPr>
        <p:spPr>
          <a:xfrm>
            <a:off x="457200" y="915566"/>
            <a:ext cx="8579296" cy="446310"/>
          </a:xfrm>
        </p:spPr>
        <p:txBody>
          <a:bodyPr>
            <a:normAutofit lnSpcReduction="10000"/>
          </a:bodyPr>
          <a:lstStyle/>
          <a:p>
            <a:r>
              <a:rPr lang="es-ES" dirty="0"/>
              <a:t>MATCH_RECOGNIZE: detección de patrones secuenciales</a:t>
            </a:r>
          </a:p>
        </p:txBody>
      </p:sp>
      <p:sp>
        <p:nvSpPr>
          <p:cNvPr id="4" name="3 Título">
            <a:extLst>
              <a:ext uri="{FF2B5EF4-FFF2-40B4-BE49-F238E27FC236}">
                <a16:creationId xmlns:a16="http://schemas.microsoft.com/office/drawing/2014/main" id="{8F33A7AC-34B3-53B5-2EAD-751FE7F7C787}"/>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AD6E45C-A7ED-4F11-FACE-0C4ABAA6C2F1}"/>
              </a:ext>
            </a:extLst>
          </p:cNvPr>
          <p:cNvSpPr>
            <a:spLocks noGrp="1"/>
          </p:cNvSpPr>
          <p:nvPr>
            <p:ph type="body" sz="quarter" idx="14"/>
          </p:nvPr>
        </p:nvSpPr>
        <p:spPr/>
        <p:txBody>
          <a:bodyPr>
            <a:normAutofit fontScale="62500" lnSpcReduction="20000"/>
          </a:bodyPr>
          <a:lstStyle/>
          <a:p>
            <a:r>
              <a:rPr lang="es-ES" dirty="0"/>
              <a:t>Consultas</a:t>
            </a:r>
          </a:p>
        </p:txBody>
      </p:sp>
      <p:sp>
        <p:nvSpPr>
          <p:cNvPr id="12" name="CuadroTexto 11">
            <a:extLst>
              <a:ext uri="{FF2B5EF4-FFF2-40B4-BE49-F238E27FC236}">
                <a16:creationId xmlns:a16="http://schemas.microsoft.com/office/drawing/2014/main" id="{2E3B017C-942F-908C-7910-35A82969188C}"/>
              </a:ext>
            </a:extLst>
          </p:cNvPr>
          <p:cNvSpPr txBox="1"/>
          <p:nvPr/>
        </p:nvSpPr>
        <p:spPr>
          <a:xfrm>
            <a:off x="251520" y="1419622"/>
            <a:ext cx="3647963" cy="3046988"/>
          </a:xfrm>
          <a:prstGeom prst="rect">
            <a:avLst/>
          </a:prstGeom>
          <a:noFill/>
        </p:spPr>
        <p:txBody>
          <a:bodyPr wrap="square">
            <a:spAutoFit/>
          </a:bodyPr>
          <a:lstStyle/>
          <a:p>
            <a:r>
              <a:rPr lang="en-US" sz="1200" dirty="0"/>
              <a:t>SELECT *</a:t>
            </a:r>
          </a:p>
          <a:p>
            <a:r>
              <a:rPr lang="en-US" sz="1200" dirty="0"/>
              <a:t>FROM </a:t>
            </a:r>
            <a:r>
              <a:rPr lang="en-US" sz="1200" dirty="0" err="1"/>
              <a:t>ventas</a:t>
            </a:r>
            <a:endParaRPr lang="en-US" sz="1200" dirty="0"/>
          </a:p>
          <a:p>
            <a:r>
              <a:rPr lang="en-US" sz="1200" dirty="0"/>
              <a:t>MATCH_RECOGNIZE (</a:t>
            </a:r>
          </a:p>
          <a:p>
            <a:r>
              <a:rPr lang="en-US" sz="1200" dirty="0"/>
              <a:t>  PARTITION BY </a:t>
            </a:r>
            <a:r>
              <a:rPr lang="en-US" sz="1200" dirty="0" err="1"/>
              <a:t>empleado_id</a:t>
            </a:r>
            <a:endParaRPr lang="en-US" sz="1200" dirty="0"/>
          </a:p>
          <a:p>
            <a:r>
              <a:rPr lang="en-US" sz="1200" dirty="0"/>
              <a:t>  ORDER BY </a:t>
            </a:r>
            <a:r>
              <a:rPr lang="en-US" sz="1200" dirty="0" err="1"/>
              <a:t>mes</a:t>
            </a:r>
            <a:endParaRPr lang="en-US" sz="1200" dirty="0"/>
          </a:p>
          <a:p>
            <a:r>
              <a:rPr lang="en-US" sz="1200" dirty="0"/>
              <a:t>  MEASURES</a:t>
            </a:r>
          </a:p>
          <a:p>
            <a:r>
              <a:rPr lang="en-US" sz="1200" dirty="0"/>
              <a:t>    MATCH_NUMBER() AS </a:t>
            </a:r>
            <a:r>
              <a:rPr lang="en-US" sz="1200" dirty="0" err="1"/>
              <a:t>num_patron</a:t>
            </a:r>
            <a:r>
              <a:rPr lang="en-US" sz="1200" dirty="0"/>
              <a:t>,</a:t>
            </a:r>
          </a:p>
          <a:p>
            <a:r>
              <a:rPr lang="en-US" sz="1200" dirty="0"/>
              <a:t>    CLASSIFIER() AS patron,</a:t>
            </a:r>
          </a:p>
          <a:p>
            <a:r>
              <a:rPr lang="en-US" sz="1200" dirty="0"/>
              <a:t>    FIRST(</a:t>
            </a:r>
            <a:r>
              <a:rPr lang="en-US" sz="1200" dirty="0" err="1"/>
              <a:t>monto</a:t>
            </a:r>
            <a:r>
              <a:rPr lang="en-US" sz="1200" dirty="0"/>
              <a:t>) AS </a:t>
            </a:r>
            <a:r>
              <a:rPr lang="en-US" sz="1200" dirty="0" err="1"/>
              <a:t>monto_inicial</a:t>
            </a:r>
            <a:r>
              <a:rPr lang="en-US" sz="1200" dirty="0"/>
              <a:t>,</a:t>
            </a:r>
          </a:p>
          <a:p>
            <a:r>
              <a:rPr lang="en-US" sz="1200" dirty="0"/>
              <a:t>    LAST(</a:t>
            </a:r>
            <a:r>
              <a:rPr lang="en-US" sz="1200" dirty="0" err="1"/>
              <a:t>monto</a:t>
            </a:r>
            <a:r>
              <a:rPr lang="en-US" sz="1200" dirty="0"/>
              <a:t>) AS </a:t>
            </a:r>
            <a:r>
              <a:rPr lang="en-US" sz="1200" dirty="0" err="1"/>
              <a:t>monto_final</a:t>
            </a:r>
            <a:endParaRPr lang="en-US" sz="1200" dirty="0"/>
          </a:p>
          <a:p>
            <a:r>
              <a:rPr lang="en-US" sz="1200" dirty="0"/>
              <a:t>  ALL ROWS PER MATCH</a:t>
            </a:r>
          </a:p>
          <a:p>
            <a:r>
              <a:rPr lang="en-US" sz="1200" dirty="0"/>
              <a:t>  PATTERN (a b+)</a:t>
            </a:r>
          </a:p>
          <a:p>
            <a:r>
              <a:rPr lang="en-US" sz="1200" dirty="0"/>
              <a:t>  DEFINE</a:t>
            </a:r>
          </a:p>
          <a:p>
            <a:r>
              <a:rPr lang="en-US" sz="1200" dirty="0"/>
              <a:t>    a AS </a:t>
            </a:r>
            <a:r>
              <a:rPr lang="en-US" sz="1200" dirty="0" err="1"/>
              <a:t>a.monto</a:t>
            </a:r>
            <a:r>
              <a:rPr lang="en-US" sz="1200" dirty="0"/>
              <a:t> &lt; 2500,</a:t>
            </a:r>
          </a:p>
          <a:p>
            <a:r>
              <a:rPr lang="en-US" sz="1200" dirty="0"/>
              <a:t>    b AS </a:t>
            </a:r>
            <a:r>
              <a:rPr lang="en-US" sz="1200" dirty="0" err="1"/>
              <a:t>b.monto</a:t>
            </a:r>
            <a:r>
              <a:rPr lang="en-US" sz="1200" dirty="0"/>
              <a:t> &gt; PREV(</a:t>
            </a:r>
            <a:r>
              <a:rPr lang="en-US" sz="1200" dirty="0" err="1"/>
              <a:t>b.monto</a:t>
            </a:r>
            <a:r>
              <a:rPr lang="en-US" sz="1200" dirty="0"/>
              <a:t>)</a:t>
            </a:r>
          </a:p>
          <a:p>
            <a:r>
              <a:rPr lang="en-US" sz="1200" dirty="0"/>
              <a:t>);</a:t>
            </a:r>
          </a:p>
        </p:txBody>
      </p:sp>
      <p:sp>
        <p:nvSpPr>
          <p:cNvPr id="9" name="4 Marcador de contenido">
            <a:extLst>
              <a:ext uri="{FF2B5EF4-FFF2-40B4-BE49-F238E27FC236}">
                <a16:creationId xmlns:a16="http://schemas.microsoft.com/office/drawing/2014/main" id="{30549D33-DA8A-CD10-AA10-AB702371E443}"/>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2549A34E-5E1E-A699-3E09-81360FD2C264}"/>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MATCH_RECOGNIZE identifica secuencias (como "picos" o "crecimientos").</a:t>
            </a:r>
          </a:p>
          <a:p>
            <a:pPr marL="342900" lvl="1" indent="-342900">
              <a:buFont typeface="Arial" panose="020B0604020202020204" pitchFamily="34" charset="0"/>
              <a:buChar char="•"/>
            </a:pPr>
            <a:r>
              <a:rPr lang="es-ES" dirty="0"/>
              <a:t>`DEFINE` especifica condiciones entre filas.</a:t>
            </a:r>
          </a:p>
          <a:p>
            <a:pPr marL="342900" lvl="1" indent="-342900">
              <a:buFont typeface="Arial" panose="020B0604020202020204" pitchFamily="34" charset="0"/>
              <a:buChar char="•"/>
            </a:pPr>
            <a:r>
              <a:rPr lang="es-ES" dirty="0"/>
              <a:t>Oracle lo ejecuta como un motor interno de detección de patrones temporales.</a:t>
            </a:r>
            <a:endParaRPr lang="es-ES" sz="1600" dirty="0"/>
          </a:p>
        </p:txBody>
      </p:sp>
      <p:sp>
        <p:nvSpPr>
          <p:cNvPr id="2" name="AutoShape 2" descr="Lightbox">
            <a:extLst>
              <a:ext uri="{FF2B5EF4-FFF2-40B4-BE49-F238E27FC236}">
                <a16:creationId xmlns:a16="http://schemas.microsoft.com/office/drawing/2014/main" id="{6622687B-6823-2A37-1406-39F8DA73C2E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CuadroTexto 2">
            <a:extLst>
              <a:ext uri="{FF2B5EF4-FFF2-40B4-BE49-F238E27FC236}">
                <a16:creationId xmlns:a16="http://schemas.microsoft.com/office/drawing/2014/main" id="{96B79C7F-08FB-B78E-D004-AFE2553CE98C}"/>
              </a:ext>
            </a:extLst>
          </p:cNvPr>
          <p:cNvSpPr txBox="1"/>
          <p:nvPr/>
        </p:nvSpPr>
        <p:spPr>
          <a:xfrm>
            <a:off x="6660232" y="4731990"/>
            <a:ext cx="2456981" cy="246221"/>
          </a:xfrm>
          <a:prstGeom prst="rect">
            <a:avLst/>
          </a:prstGeom>
          <a:noFill/>
        </p:spPr>
        <p:txBody>
          <a:bodyPr wrap="square">
            <a:spAutoFit/>
          </a:bodyPr>
          <a:lstStyle/>
          <a:p>
            <a:pPr algn="l"/>
            <a:r>
              <a:rPr lang="es-ES" sz="1000" b="0" i="0" dirty="0">
                <a:solidFill>
                  <a:srgbClr val="FF6A00"/>
                </a:solidFill>
                <a:effectLst/>
                <a:latin typeface="-apple-system"/>
              </a:rPr>
              <a:t>sesion2-recuperacion-avanzada.sql</a:t>
            </a:r>
          </a:p>
        </p:txBody>
      </p:sp>
    </p:spTree>
    <p:extLst>
      <p:ext uri="{BB962C8B-B14F-4D97-AF65-F5344CB8AC3E}">
        <p14:creationId xmlns:p14="http://schemas.microsoft.com/office/powerpoint/2010/main" val="22461862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7AC4C-AC60-385F-6AB1-999535C41D9E}"/>
            </a:ext>
          </a:extLst>
        </p:cNvPr>
        <p:cNvGrpSpPr/>
        <p:nvPr/>
      </p:nvGrpSpPr>
      <p:grpSpPr>
        <a:xfrm>
          <a:off x="0" y="0"/>
          <a:ext cx="0" cy="0"/>
          <a:chOff x="0" y="0"/>
          <a:chExt cx="0" cy="0"/>
        </a:xfrm>
      </p:grpSpPr>
      <p:sp>
        <p:nvSpPr>
          <p:cNvPr id="5" name="4 Título">
            <a:extLst>
              <a:ext uri="{FF2B5EF4-FFF2-40B4-BE49-F238E27FC236}">
                <a16:creationId xmlns:a16="http://schemas.microsoft.com/office/drawing/2014/main" id="{72B2C791-3216-1C0F-4FCF-DAD65FE2CFD4}"/>
              </a:ext>
            </a:extLst>
          </p:cNvPr>
          <p:cNvSpPr>
            <a:spLocks noGrp="1"/>
          </p:cNvSpPr>
          <p:nvPr>
            <p:ph type="title"/>
          </p:nvPr>
        </p:nvSpPr>
        <p:spPr/>
        <p:txBody>
          <a:bodyPr/>
          <a:lstStyle/>
          <a:p>
            <a:r>
              <a:rPr lang="es-ES" dirty="0"/>
              <a:t>Agregaciones Avanzadas</a:t>
            </a:r>
          </a:p>
        </p:txBody>
      </p:sp>
      <p:sp>
        <p:nvSpPr>
          <p:cNvPr id="6" name="5 Marcador de texto">
            <a:extLst>
              <a:ext uri="{FF2B5EF4-FFF2-40B4-BE49-F238E27FC236}">
                <a16:creationId xmlns:a16="http://schemas.microsoft.com/office/drawing/2014/main" id="{0B89D746-D9C3-F8EB-5B4E-B57E10403253}"/>
              </a:ext>
            </a:extLst>
          </p:cNvPr>
          <p:cNvSpPr>
            <a:spLocks noGrp="1"/>
          </p:cNvSpPr>
          <p:nvPr>
            <p:ph type="body" sz="quarter" idx="10"/>
          </p:nvPr>
        </p:nvSpPr>
        <p:spPr/>
        <p:txBody>
          <a:bodyPr/>
          <a:lstStyle/>
          <a:p>
            <a:r>
              <a:rPr lang="es-ES" dirty="0"/>
              <a:t>5.</a:t>
            </a:r>
          </a:p>
        </p:txBody>
      </p:sp>
    </p:spTree>
    <p:extLst>
      <p:ext uri="{BB962C8B-B14F-4D97-AF65-F5344CB8AC3E}">
        <p14:creationId xmlns:p14="http://schemas.microsoft.com/office/powerpoint/2010/main" val="39012950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17EDC-6F49-1211-63C3-1C5DB225119B}"/>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DFA494CA-84D7-3DB8-3919-9BE900329BC0}"/>
              </a:ext>
            </a:extLst>
          </p:cNvPr>
          <p:cNvSpPr>
            <a:spLocks noGrp="1"/>
          </p:cNvSpPr>
          <p:nvPr>
            <p:ph idx="1"/>
          </p:nvPr>
        </p:nvSpPr>
        <p:spPr>
          <a:xfrm>
            <a:off x="457200" y="915566"/>
            <a:ext cx="8579296" cy="446310"/>
          </a:xfrm>
        </p:spPr>
        <p:txBody>
          <a:bodyPr>
            <a:normAutofit lnSpcReduction="10000"/>
          </a:bodyPr>
          <a:lstStyle/>
          <a:p>
            <a:r>
              <a:rPr lang="es-ES" dirty="0"/>
              <a:t>Agregaciones Avanzadas</a:t>
            </a:r>
          </a:p>
        </p:txBody>
      </p:sp>
      <p:sp>
        <p:nvSpPr>
          <p:cNvPr id="4" name="3 Título">
            <a:extLst>
              <a:ext uri="{FF2B5EF4-FFF2-40B4-BE49-F238E27FC236}">
                <a16:creationId xmlns:a16="http://schemas.microsoft.com/office/drawing/2014/main" id="{4BF3840E-E095-514A-DBE4-CEFEF4420573}"/>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C55B69C3-609B-ED7F-54C7-4824E4D1A94D}"/>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9" name="4 Marcador de contenido">
            <a:extLst>
              <a:ext uri="{FF2B5EF4-FFF2-40B4-BE49-F238E27FC236}">
                <a16:creationId xmlns:a16="http://schemas.microsoft.com/office/drawing/2014/main" id="{D552C902-21AC-414D-1E6B-DA5B66791A45}"/>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2" name="AutoShape 2" descr="Lightbox">
            <a:extLst>
              <a:ext uri="{FF2B5EF4-FFF2-40B4-BE49-F238E27FC236}">
                <a16:creationId xmlns:a16="http://schemas.microsoft.com/office/drawing/2014/main" id="{2E41B5A0-C9DF-E33A-479C-78906932B1C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graphicFrame>
        <p:nvGraphicFramePr>
          <p:cNvPr id="3" name="Tabla 2">
            <a:extLst>
              <a:ext uri="{FF2B5EF4-FFF2-40B4-BE49-F238E27FC236}">
                <a16:creationId xmlns:a16="http://schemas.microsoft.com/office/drawing/2014/main" id="{5AD36153-6761-26DC-386F-BD960460EA62}"/>
              </a:ext>
            </a:extLst>
          </p:cNvPr>
          <p:cNvGraphicFramePr>
            <a:graphicFrameLocks noGrp="1"/>
          </p:cNvGraphicFramePr>
          <p:nvPr>
            <p:extLst>
              <p:ext uri="{D42A27DB-BD31-4B8C-83A1-F6EECF244321}">
                <p14:modId xmlns:p14="http://schemas.microsoft.com/office/powerpoint/2010/main" val="3458751554"/>
              </p:ext>
            </p:extLst>
          </p:nvPr>
        </p:nvGraphicFramePr>
        <p:xfrm>
          <a:off x="1493514" y="1491630"/>
          <a:ext cx="6156971" cy="3394076"/>
        </p:xfrm>
        <a:graphic>
          <a:graphicData uri="http://schemas.openxmlformats.org/drawingml/2006/table">
            <a:tbl>
              <a:tblPr>
                <a:tableStyleId>{5C22544A-7EE6-4342-B048-85BDC9FD1C3A}</a:tableStyleId>
              </a:tblPr>
              <a:tblGrid>
                <a:gridCol w="1929264">
                  <a:extLst>
                    <a:ext uri="{9D8B030D-6E8A-4147-A177-3AD203B41FA5}">
                      <a16:colId xmlns:a16="http://schemas.microsoft.com/office/drawing/2014/main" val="3927683832"/>
                    </a:ext>
                  </a:extLst>
                </a:gridCol>
                <a:gridCol w="2798623">
                  <a:extLst>
                    <a:ext uri="{9D8B030D-6E8A-4147-A177-3AD203B41FA5}">
                      <a16:colId xmlns:a16="http://schemas.microsoft.com/office/drawing/2014/main" val="34641613"/>
                    </a:ext>
                  </a:extLst>
                </a:gridCol>
                <a:gridCol w="714542">
                  <a:extLst>
                    <a:ext uri="{9D8B030D-6E8A-4147-A177-3AD203B41FA5}">
                      <a16:colId xmlns:a16="http://schemas.microsoft.com/office/drawing/2014/main" val="2481822493"/>
                    </a:ext>
                  </a:extLst>
                </a:gridCol>
                <a:gridCol w="714542">
                  <a:extLst>
                    <a:ext uri="{9D8B030D-6E8A-4147-A177-3AD203B41FA5}">
                      <a16:colId xmlns:a16="http://schemas.microsoft.com/office/drawing/2014/main" val="657790659"/>
                    </a:ext>
                  </a:extLst>
                </a:gridCol>
              </a:tblGrid>
              <a:tr h="178636">
                <a:tc>
                  <a:txBody>
                    <a:bodyPr/>
                    <a:lstStyle/>
                    <a:p>
                      <a:pPr algn="ctr" fontAlgn="ctr">
                        <a:buNone/>
                      </a:pPr>
                      <a:r>
                        <a:rPr lang="es-ES" sz="1000" u="none" strike="noStrike">
                          <a:effectLst/>
                        </a:rPr>
                        <a:t>Concepto</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ctr" fontAlgn="ctr">
                        <a:buNone/>
                      </a:pPr>
                      <a:r>
                        <a:rPr lang="es-ES" sz="1000" u="none" strike="noStrike">
                          <a:effectLst/>
                        </a:rPr>
                        <a:t>Qué hace</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ctr" fontAlgn="ctr">
                        <a:buNone/>
                      </a:pPr>
                      <a:r>
                        <a:rPr lang="es-ES" sz="1000" u="none" strike="noStrike">
                          <a:effectLst/>
                        </a:rPr>
                        <a:t>Nivel</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ctr" fontAlgn="ctr">
                        <a:buNone/>
                      </a:pPr>
                      <a:r>
                        <a:rPr lang="es-ES" sz="1000" u="none" strike="noStrike">
                          <a:effectLst/>
                        </a:rPr>
                        <a:t>Uso típico</a:t>
                      </a:r>
                      <a:endParaRPr lang="es-ES" sz="1000" b="1" i="0" u="none" strike="noStrike">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2473838264"/>
                  </a:ext>
                </a:extLst>
              </a:tr>
              <a:tr h="357271">
                <a:tc>
                  <a:txBody>
                    <a:bodyPr/>
                    <a:lstStyle/>
                    <a:p>
                      <a:pPr algn="l" fontAlgn="ctr">
                        <a:buNone/>
                      </a:pPr>
                      <a:r>
                        <a:rPr lang="es-ES" sz="1000" u="none" strike="noStrike">
                          <a:effectLst/>
                        </a:rPr>
                        <a:t>GROUP BY</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Agrupa filas en conjuntos para aplicar funciones agregadas</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Básico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Totales por categoría</a:t>
                      </a:r>
                      <a:endParaRPr lang="es-ES" sz="1000" b="0" i="0" u="none" strike="noStrike">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1201931306"/>
                  </a:ext>
                </a:extLst>
              </a:tr>
              <a:tr h="357271">
                <a:tc>
                  <a:txBody>
                    <a:bodyPr/>
                    <a:lstStyle/>
                    <a:p>
                      <a:pPr algn="l" fontAlgn="ctr">
                        <a:buNone/>
                      </a:pPr>
                      <a:r>
                        <a:rPr lang="es-ES" sz="1000" u="none" strike="noStrike">
                          <a:effectLst/>
                        </a:rPr>
                        <a:t>HAVING</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Filtra resultados después del agrupamiento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Medio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Excluir grupos</a:t>
                      </a:r>
                      <a:endParaRPr lang="es-ES" sz="1000" b="0" i="0" u="none" strike="noStrike">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4134936898"/>
                  </a:ext>
                </a:extLst>
              </a:tr>
              <a:tr h="357271">
                <a:tc>
                  <a:txBody>
                    <a:bodyPr/>
                    <a:lstStyle/>
                    <a:p>
                      <a:pPr algn="l" fontAlgn="ctr">
                        <a:buNone/>
                      </a:pPr>
                      <a:r>
                        <a:rPr lang="es-ES" sz="1000" u="none" strike="noStrike">
                          <a:effectLst/>
                        </a:rPr>
                        <a:t>ROLLUP</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Subtotales jerárquicos ascendentes</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Avanzado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Reportes multinivel</a:t>
                      </a:r>
                      <a:endParaRPr lang="es-ES" sz="1000" b="0" i="0" u="none" strike="noStrike">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3266449130"/>
                  </a:ext>
                </a:extLst>
              </a:tr>
              <a:tr h="535907">
                <a:tc>
                  <a:txBody>
                    <a:bodyPr/>
                    <a:lstStyle/>
                    <a:p>
                      <a:pPr algn="l" fontAlgn="ctr">
                        <a:buNone/>
                      </a:pPr>
                      <a:r>
                        <a:rPr lang="es-ES" sz="1000" u="none" strike="noStrike">
                          <a:effectLst/>
                        </a:rPr>
                        <a:t>CUBE</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Todas las combinaciones posibles</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Avanzado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Cruces comparativos</a:t>
                      </a:r>
                      <a:endParaRPr lang="es-ES" sz="1000" b="0" i="0" u="none" strike="noStrike">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2184984044"/>
                  </a:ext>
                </a:extLst>
              </a:tr>
              <a:tr h="357271">
                <a:tc>
                  <a:txBody>
                    <a:bodyPr/>
                    <a:lstStyle/>
                    <a:p>
                      <a:pPr algn="l" fontAlgn="ctr">
                        <a:buNone/>
                      </a:pPr>
                      <a:r>
                        <a:rPr lang="es-ES" sz="1000" u="none" strike="noStrike">
                          <a:effectLst/>
                        </a:rPr>
                        <a:t>GROUPING SETS</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Agrupaciones personalizadas</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Avanzado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Totales selectivos</a:t>
                      </a:r>
                      <a:endParaRPr lang="es-ES" sz="1000" b="0" i="0" u="none" strike="noStrike">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2176595322"/>
                  </a:ext>
                </a:extLst>
              </a:tr>
              <a:tr h="357271">
                <a:tc>
                  <a:txBody>
                    <a:bodyPr/>
                    <a:lstStyle/>
                    <a:p>
                      <a:pPr algn="l" fontAlgn="ctr">
                        <a:buNone/>
                      </a:pPr>
                      <a:r>
                        <a:rPr lang="es-ES" sz="1000" u="none" strike="noStrike">
                          <a:effectLst/>
                        </a:rPr>
                        <a:t>GROUPING / GROUPING_ID</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Identificar subtotales automáticos</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Avanzado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Limpieza de resultados</a:t>
                      </a:r>
                      <a:endParaRPr lang="es-ES" sz="1000" b="0" i="0" u="none" strike="noStrike">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3401812950"/>
                  </a:ext>
                </a:extLst>
              </a:tr>
              <a:tr h="535907">
                <a:tc>
                  <a:txBody>
                    <a:bodyPr/>
                    <a:lstStyle/>
                    <a:p>
                      <a:pPr algn="l" fontAlgn="ctr">
                        <a:buNone/>
                      </a:pPr>
                      <a:r>
                        <a:rPr lang="es-ES" sz="1000" u="none" strike="noStrike">
                          <a:effectLst/>
                        </a:rPr>
                        <a:t>Función analítica</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Calcula sobre una ventana sin colapsar filas</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Avanzado+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Comparativas dinámicas</a:t>
                      </a:r>
                      <a:endParaRPr lang="es-ES" sz="1000" b="0" i="0" u="none" strike="noStrike">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4136011347"/>
                  </a:ext>
                </a:extLst>
              </a:tr>
              <a:tr h="357271">
                <a:tc>
                  <a:txBody>
                    <a:bodyPr/>
                    <a:lstStyle/>
                    <a:p>
                      <a:pPr algn="l" fontAlgn="ctr">
                        <a:buNone/>
                      </a:pPr>
                      <a:r>
                        <a:rPr lang="es-ES" sz="1000" u="none" strike="noStrike">
                          <a:effectLst/>
                        </a:rPr>
                        <a:t>RATIO_TO_REPORT, SUM() OVER, AVG() OVER</a:t>
                      </a:r>
                      <a:endParaRPr lang="es-ES" sz="1000" b="1"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Métricas comparativas acumulativas</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a:effectLst/>
                        </a:rPr>
                        <a:t>Experto</a:t>
                      </a:r>
                      <a:endParaRPr lang="es-ES" sz="1000" b="0" i="0" u="none" strike="noStrike">
                        <a:solidFill>
                          <a:srgbClr val="000000"/>
                        </a:solidFill>
                        <a:effectLst/>
                        <a:latin typeface="Aptos Narrow" panose="020B0004020202020204" pitchFamily="34" charset="0"/>
                      </a:endParaRPr>
                    </a:p>
                  </a:txBody>
                  <a:tcPr marL="8932" marR="8932" marT="8932" marB="0" anchor="ctr"/>
                </a:tc>
                <a:tc>
                  <a:txBody>
                    <a:bodyPr/>
                    <a:lstStyle/>
                    <a:p>
                      <a:pPr algn="l" fontAlgn="ctr">
                        <a:buNone/>
                      </a:pPr>
                      <a:r>
                        <a:rPr lang="es-ES" sz="1000" u="none" strike="noStrike" dirty="0">
                          <a:effectLst/>
                        </a:rPr>
                        <a:t>Análisis OLAP / BI</a:t>
                      </a:r>
                      <a:endParaRPr lang="es-ES" sz="1000" b="0" i="0" u="none" strike="noStrike" dirty="0">
                        <a:solidFill>
                          <a:srgbClr val="000000"/>
                        </a:solidFill>
                        <a:effectLst/>
                        <a:latin typeface="Aptos Narrow" panose="020B0004020202020204" pitchFamily="34" charset="0"/>
                      </a:endParaRPr>
                    </a:p>
                  </a:txBody>
                  <a:tcPr marL="8932" marR="8932" marT="8932" marB="0" anchor="ctr"/>
                </a:tc>
                <a:extLst>
                  <a:ext uri="{0D108BD9-81ED-4DB2-BD59-A6C34878D82A}">
                    <a16:rowId xmlns:a16="http://schemas.microsoft.com/office/drawing/2014/main" val="4068516446"/>
                  </a:ext>
                </a:extLst>
              </a:tr>
            </a:tbl>
          </a:graphicData>
        </a:graphic>
      </p:graphicFrame>
    </p:spTree>
    <p:extLst>
      <p:ext uri="{BB962C8B-B14F-4D97-AF65-F5344CB8AC3E}">
        <p14:creationId xmlns:p14="http://schemas.microsoft.com/office/powerpoint/2010/main" val="31584846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FEC30-5B27-8D74-0C7E-38CD736F9077}"/>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2E49EA5E-E8D6-F39A-124D-9447133C998A}"/>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A4F55D6F-11F0-BA91-CEEB-AEB06A863DEC}"/>
              </a:ext>
            </a:extLst>
          </p:cNvPr>
          <p:cNvSpPr>
            <a:spLocks noGrp="1"/>
          </p:cNvSpPr>
          <p:nvPr>
            <p:ph idx="1"/>
          </p:nvPr>
        </p:nvSpPr>
        <p:spPr>
          <a:xfrm>
            <a:off x="457200" y="915566"/>
            <a:ext cx="8579296" cy="446310"/>
          </a:xfrm>
        </p:spPr>
        <p:txBody>
          <a:bodyPr>
            <a:normAutofit lnSpcReduction="10000"/>
          </a:bodyPr>
          <a:lstStyle/>
          <a:p>
            <a:r>
              <a:rPr lang="es-ES" dirty="0"/>
              <a:t>Agregaciones Avanzadas GROUP BY básico</a:t>
            </a:r>
            <a:endParaRPr lang="es-ES" sz="2000" dirty="0"/>
          </a:p>
          <a:p>
            <a:endParaRPr lang="es-ES" dirty="0"/>
          </a:p>
        </p:txBody>
      </p:sp>
      <p:sp>
        <p:nvSpPr>
          <p:cNvPr id="4" name="3 Título">
            <a:extLst>
              <a:ext uri="{FF2B5EF4-FFF2-40B4-BE49-F238E27FC236}">
                <a16:creationId xmlns:a16="http://schemas.microsoft.com/office/drawing/2014/main" id="{1235B5CC-7CFF-1C87-027A-29590215BC38}"/>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2CC70B1A-09C3-491E-79FF-E0EAF944E816}"/>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12" name="CuadroTexto 11">
            <a:extLst>
              <a:ext uri="{FF2B5EF4-FFF2-40B4-BE49-F238E27FC236}">
                <a16:creationId xmlns:a16="http://schemas.microsoft.com/office/drawing/2014/main" id="{97C5CBDE-C361-400D-F60C-34EF4F6342AC}"/>
              </a:ext>
            </a:extLst>
          </p:cNvPr>
          <p:cNvSpPr txBox="1"/>
          <p:nvPr/>
        </p:nvSpPr>
        <p:spPr>
          <a:xfrm>
            <a:off x="251520" y="1419622"/>
            <a:ext cx="3647963" cy="830997"/>
          </a:xfrm>
          <a:prstGeom prst="rect">
            <a:avLst/>
          </a:prstGeom>
          <a:noFill/>
        </p:spPr>
        <p:txBody>
          <a:bodyPr wrap="square">
            <a:spAutoFit/>
          </a:bodyPr>
          <a:lstStyle/>
          <a:p>
            <a:r>
              <a:rPr lang="en-US" sz="1200" dirty="0"/>
              <a:t>SELECT region, </a:t>
            </a:r>
            <a:r>
              <a:rPr lang="en-US" sz="1200" dirty="0" err="1"/>
              <a:t>vendedor</a:t>
            </a:r>
            <a:r>
              <a:rPr lang="en-US" sz="1200" dirty="0"/>
              <a:t>, SUM(</a:t>
            </a:r>
            <a:r>
              <a:rPr lang="en-US" sz="1200" dirty="0" err="1"/>
              <a:t>monto</a:t>
            </a:r>
            <a:r>
              <a:rPr lang="en-US" sz="1200" dirty="0"/>
              <a:t>) AS </a:t>
            </a:r>
            <a:r>
              <a:rPr lang="en-US" sz="1200" dirty="0" err="1"/>
              <a:t>total_ventas</a:t>
            </a:r>
            <a:endParaRPr lang="en-US" sz="1200" dirty="0"/>
          </a:p>
          <a:p>
            <a:r>
              <a:rPr lang="en-US" sz="1200" dirty="0"/>
              <a:t>FROM </a:t>
            </a:r>
            <a:r>
              <a:rPr lang="en-US" sz="1200" dirty="0" err="1"/>
              <a:t>ventas_detalle</a:t>
            </a:r>
            <a:endParaRPr lang="en-US" sz="1200" dirty="0"/>
          </a:p>
          <a:p>
            <a:r>
              <a:rPr lang="en-US" sz="1200" dirty="0"/>
              <a:t>GROUP BY region, </a:t>
            </a:r>
            <a:r>
              <a:rPr lang="en-US" sz="1200" dirty="0" err="1"/>
              <a:t>vendedor</a:t>
            </a:r>
            <a:endParaRPr lang="en-US" sz="1200" dirty="0"/>
          </a:p>
          <a:p>
            <a:r>
              <a:rPr lang="en-US" sz="1200" dirty="0"/>
              <a:t>ORDER BY region, </a:t>
            </a:r>
            <a:r>
              <a:rPr lang="en-US" sz="1200" dirty="0" err="1"/>
              <a:t>vendedor</a:t>
            </a:r>
            <a:r>
              <a:rPr lang="en-US" sz="1200" dirty="0"/>
              <a:t>;</a:t>
            </a:r>
          </a:p>
        </p:txBody>
      </p:sp>
      <p:sp>
        <p:nvSpPr>
          <p:cNvPr id="9" name="4 Marcador de contenido">
            <a:extLst>
              <a:ext uri="{FF2B5EF4-FFF2-40B4-BE49-F238E27FC236}">
                <a16:creationId xmlns:a16="http://schemas.microsoft.com/office/drawing/2014/main" id="{8D773407-98B4-1D10-08EC-858D0F0AACDC}"/>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101F3BA2-23E8-8E5A-17DF-D9E5550580C8}"/>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GROUP BY básico</a:t>
            </a:r>
          </a:p>
          <a:p>
            <a:pPr marL="342900" lvl="1" indent="-342900">
              <a:buFont typeface="Arial" panose="020B0604020202020204" pitchFamily="34" charset="0"/>
              <a:buChar char="•"/>
            </a:pPr>
            <a:r>
              <a:rPr lang="es-ES" sz="1600" dirty="0"/>
              <a:t>Las funciones agregadas ignoran NULL por defecto</a:t>
            </a:r>
          </a:p>
        </p:txBody>
      </p:sp>
    </p:spTree>
    <p:extLst>
      <p:ext uri="{BB962C8B-B14F-4D97-AF65-F5344CB8AC3E}">
        <p14:creationId xmlns:p14="http://schemas.microsoft.com/office/powerpoint/2010/main" val="9424814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5DC1-71BA-1C93-FF72-9063E22EE958}"/>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CAB7ABCF-87A0-142C-206B-C47980FA40DD}"/>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45254B59-1845-BF5D-72E5-1FC5F31DFB9D}"/>
              </a:ext>
            </a:extLst>
          </p:cNvPr>
          <p:cNvSpPr>
            <a:spLocks noGrp="1"/>
          </p:cNvSpPr>
          <p:nvPr>
            <p:ph idx="1"/>
          </p:nvPr>
        </p:nvSpPr>
        <p:spPr>
          <a:xfrm>
            <a:off x="457200" y="915566"/>
            <a:ext cx="8579296" cy="446310"/>
          </a:xfrm>
        </p:spPr>
        <p:txBody>
          <a:bodyPr>
            <a:normAutofit fontScale="92500"/>
          </a:bodyPr>
          <a:lstStyle/>
          <a:p>
            <a:r>
              <a:rPr lang="es-ES" dirty="0"/>
              <a:t>Agregaciones Avanzadas </a:t>
            </a:r>
            <a:r>
              <a:rPr lang="pt-BR" dirty="0"/>
              <a:t>HAVING: filtrar grupos (no filas </a:t>
            </a:r>
            <a:r>
              <a:rPr lang="pt-BR" dirty="0" err="1"/>
              <a:t>individuales</a:t>
            </a:r>
            <a:r>
              <a:rPr lang="pt-BR" dirty="0"/>
              <a:t>)</a:t>
            </a:r>
            <a:endParaRPr lang="es-ES" dirty="0"/>
          </a:p>
        </p:txBody>
      </p:sp>
      <p:sp>
        <p:nvSpPr>
          <p:cNvPr id="4" name="3 Título">
            <a:extLst>
              <a:ext uri="{FF2B5EF4-FFF2-40B4-BE49-F238E27FC236}">
                <a16:creationId xmlns:a16="http://schemas.microsoft.com/office/drawing/2014/main" id="{6E1F0378-F9AD-DB07-B590-4853D1657AB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4C3D916-6395-F23E-0AD9-4B8F4EF18893}"/>
              </a:ext>
            </a:extLst>
          </p:cNvPr>
          <p:cNvSpPr>
            <a:spLocks noGrp="1"/>
          </p:cNvSpPr>
          <p:nvPr>
            <p:ph type="body" sz="quarter" idx="14"/>
          </p:nvPr>
        </p:nvSpPr>
        <p:spPr/>
        <p:txBody>
          <a:bodyPr>
            <a:normAutofit fontScale="62500" lnSpcReduction="20000"/>
          </a:bodyPr>
          <a:lstStyle/>
          <a:p>
            <a:r>
              <a:rPr lang="es-ES" dirty="0"/>
              <a:t>Agregaciones Avanzadas</a:t>
            </a:r>
          </a:p>
        </p:txBody>
      </p:sp>
      <p:sp>
        <p:nvSpPr>
          <p:cNvPr id="12" name="CuadroTexto 11">
            <a:extLst>
              <a:ext uri="{FF2B5EF4-FFF2-40B4-BE49-F238E27FC236}">
                <a16:creationId xmlns:a16="http://schemas.microsoft.com/office/drawing/2014/main" id="{D152261B-6662-5B8D-8273-5D6593C73D19}"/>
              </a:ext>
            </a:extLst>
          </p:cNvPr>
          <p:cNvSpPr txBox="1"/>
          <p:nvPr/>
        </p:nvSpPr>
        <p:spPr>
          <a:xfrm>
            <a:off x="251520" y="1419622"/>
            <a:ext cx="3647963" cy="1015663"/>
          </a:xfrm>
          <a:prstGeom prst="rect">
            <a:avLst/>
          </a:prstGeom>
          <a:noFill/>
        </p:spPr>
        <p:txBody>
          <a:bodyPr wrap="square">
            <a:spAutoFit/>
          </a:bodyPr>
          <a:lstStyle/>
          <a:p>
            <a:r>
              <a:rPr lang="en-US" sz="1200" dirty="0"/>
              <a:t>SELECT region, </a:t>
            </a:r>
            <a:r>
              <a:rPr lang="en-US" sz="1200" dirty="0" err="1"/>
              <a:t>vendedor</a:t>
            </a:r>
            <a:r>
              <a:rPr lang="en-US" sz="1200" dirty="0"/>
              <a:t>, SUM(</a:t>
            </a:r>
            <a:r>
              <a:rPr lang="en-US" sz="1200" dirty="0" err="1"/>
              <a:t>monto</a:t>
            </a:r>
            <a:r>
              <a:rPr lang="en-US" sz="1200" dirty="0"/>
              <a:t>) AS </a:t>
            </a:r>
            <a:r>
              <a:rPr lang="en-US" sz="1200" dirty="0" err="1"/>
              <a:t>total_ventas</a:t>
            </a:r>
            <a:endParaRPr lang="en-US" sz="1200" dirty="0"/>
          </a:p>
          <a:p>
            <a:r>
              <a:rPr lang="en-US" sz="1200" dirty="0"/>
              <a:t>FROM </a:t>
            </a:r>
            <a:r>
              <a:rPr lang="en-US" sz="1200" dirty="0" err="1"/>
              <a:t>ventas_detalle</a:t>
            </a:r>
            <a:endParaRPr lang="en-US" sz="1200" dirty="0"/>
          </a:p>
          <a:p>
            <a:r>
              <a:rPr lang="en-US" sz="1200" dirty="0"/>
              <a:t>GROUP BY region, </a:t>
            </a:r>
            <a:r>
              <a:rPr lang="en-US" sz="1200" dirty="0" err="1"/>
              <a:t>vendedor</a:t>
            </a:r>
            <a:endParaRPr lang="en-US" sz="1200" dirty="0"/>
          </a:p>
          <a:p>
            <a:r>
              <a:rPr lang="en-US" sz="1200" dirty="0"/>
              <a:t>HAVING SUM(</a:t>
            </a:r>
            <a:r>
              <a:rPr lang="en-US" sz="1200" dirty="0" err="1"/>
              <a:t>monto</a:t>
            </a:r>
            <a:r>
              <a:rPr lang="en-US" sz="1200" dirty="0"/>
              <a:t>) &gt; 2000</a:t>
            </a:r>
          </a:p>
          <a:p>
            <a:r>
              <a:rPr lang="en-US" sz="1200" dirty="0"/>
              <a:t>ORDER BY region, </a:t>
            </a:r>
            <a:r>
              <a:rPr lang="en-US" sz="1200" dirty="0" err="1"/>
              <a:t>vendedor</a:t>
            </a:r>
            <a:r>
              <a:rPr lang="en-US" sz="1200" dirty="0"/>
              <a:t>;</a:t>
            </a:r>
          </a:p>
        </p:txBody>
      </p:sp>
      <p:sp>
        <p:nvSpPr>
          <p:cNvPr id="9" name="4 Marcador de contenido">
            <a:extLst>
              <a:ext uri="{FF2B5EF4-FFF2-40B4-BE49-F238E27FC236}">
                <a16:creationId xmlns:a16="http://schemas.microsoft.com/office/drawing/2014/main" id="{194B3BAA-30D4-1C09-B821-245FC2F03278}"/>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1D87FC20-8A1F-B203-F8DE-AD109FBA06E6}"/>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HAVING se aplica DESPUÉS del GROUP BY.</a:t>
            </a:r>
          </a:p>
          <a:p>
            <a:pPr marL="342900" lvl="1" indent="-342900">
              <a:buFont typeface="Arial" panose="020B0604020202020204" pitchFamily="34" charset="0"/>
              <a:buChar char="•"/>
            </a:pPr>
            <a:r>
              <a:rPr lang="es-ES" dirty="0"/>
              <a:t>No puede usarse en lugar de WHERE (WHERE filtra filas antes de agrupar).</a:t>
            </a:r>
            <a:endParaRPr lang="es-ES" sz="1600" dirty="0"/>
          </a:p>
        </p:txBody>
      </p:sp>
    </p:spTree>
    <p:extLst>
      <p:ext uri="{BB962C8B-B14F-4D97-AF65-F5344CB8AC3E}">
        <p14:creationId xmlns:p14="http://schemas.microsoft.com/office/powerpoint/2010/main" val="5008439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580E-B8C1-C091-7731-D2C336A878C0}"/>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88905FBF-A352-FF68-B881-F1A5D5B21700}"/>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8081F5CC-F11F-6B31-76DB-185B5F300F9F}"/>
              </a:ext>
            </a:extLst>
          </p:cNvPr>
          <p:cNvSpPr>
            <a:spLocks noGrp="1"/>
          </p:cNvSpPr>
          <p:nvPr>
            <p:ph idx="1"/>
          </p:nvPr>
        </p:nvSpPr>
        <p:spPr>
          <a:xfrm>
            <a:off x="457200" y="915566"/>
            <a:ext cx="8579296" cy="446310"/>
          </a:xfrm>
        </p:spPr>
        <p:txBody>
          <a:bodyPr>
            <a:normAutofit fontScale="92500"/>
          </a:bodyPr>
          <a:lstStyle/>
          <a:p>
            <a:r>
              <a:rPr lang="es-ES" dirty="0"/>
              <a:t>Agregaciones Avanzadas  ROLLUP: subtotales automáticos jerárquicos</a:t>
            </a:r>
          </a:p>
        </p:txBody>
      </p:sp>
      <p:sp>
        <p:nvSpPr>
          <p:cNvPr id="4" name="3 Título">
            <a:extLst>
              <a:ext uri="{FF2B5EF4-FFF2-40B4-BE49-F238E27FC236}">
                <a16:creationId xmlns:a16="http://schemas.microsoft.com/office/drawing/2014/main" id="{10A9C025-84DE-7607-CEAA-2A85ACCDC2A0}"/>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BBBAD05F-FFC7-CB5C-7C29-FC3067739206}"/>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12" name="CuadroTexto 11">
            <a:extLst>
              <a:ext uri="{FF2B5EF4-FFF2-40B4-BE49-F238E27FC236}">
                <a16:creationId xmlns:a16="http://schemas.microsoft.com/office/drawing/2014/main" id="{5F4E222E-B422-F9E3-3991-94FC02537443}"/>
              </a:ext>
            </a:extLst>
          </p:cNvPr>
          <p:cNvSpPr txBox="1"/>
          <p:nvPr/>
        </p:nvSpPr>
        <p:spPr>
          <a:xfrm>
            <a:off x="251520" y="1419622"/>
            <a:ext cx="3647963" cy="830997"/>
          </a:xfrm>
          <a:prstGeom prst="rect">
            <a:avLst/>
          </a:prstGeom>
          <a:noFill/>
        </p:spPr>
        <p:txBody>
          <a:bodyPr wrap="square">
            <a:spAutoFit/>
          </a:bodyPr>
          <a:lstStyle/>
          <a:p>
            <a:r>
              <a:rPr lang="en-US" sz="1200" dirty="0"/>
              <a:t>SELECT region, </a:t>
            </a:r>
            <a:r>
              <a:rPr lang="en-US" sz="1200" dirty="0" err="1"/>
              <a:t>vendedor</a:t>
            </a:r>
            <a:r>
              <a:rPr lang="en-US" sz="1200" dirty="0"/>
              <a:t>, SUM(</a:t>
            </a:r>
            <a:r>
              <a:rPr lang="en-US" sz="1200" dirty="0" err="1"/>
              <a:t>monto</a:t>
            </a:r>
            <a:r>
              <a:rPr lang="en-US" sz="1200" dirty="0"/>
              <a:t>) AS </a:t>
            </a:r>
            <a:r>
              <a:rPr lang="en-US" sz="1200" dirty="0" err="1"/>
              <a:t>total_ventas</a:t>
            </a:r>
            <a:endParaRPr lang="en-US" sz="1200" dirty="0"/>
          </a:p>
          <a:p>
            <a:r>
              <a:rPr lang="en-US" sz="1200" dirty="0"/>
              <a:t>FROM </a:t>
            </a:r>
            <a:r>
              <a:rPr lang="en-US" sz="1200" dirty="0" err="1"/>
              <a:t>ventas_detalle</a:t>
            </a:r>
            <a:endParaRPr lang="en-US" sz="1200" dirty="0"/>
          </a:p>
          <a:p>
            <a:r>
              <a:rPr lang="en-US" sz="1200" dirty="0"/>
              <a:t>GROUP BY ROLLUP(region, </a:t>
            </a:r>
            <a:r>
              <a:rPr lang="en-US" sz="1200" dirty="0" err="1"/>
              <a:t>vendedor</a:t>
            </a:r>
            <a:r>
              <a:rPr lang="en-US" sz="1200" dirty="0"/>
              <a:t>)</a:t>
            </a:r>
          </a:p>
          <a:p>
            <a:r>
              <a:rPr lang="en-US" sz="1200" dirty="0"/>
              <a:t>ORDER BY region, </a:t>
            </a:r>
            <a:r>
              <a:rPr lang="en-US" sz="1200" dirty="0" err="1"/>
              <a:t>vendedor</a:t>
            </a:r>
            <a:r>
              <a:rPr lang="en-US" sz="1200" dirty="0"/>
              <a:t>;</a:t>
            </a:r>
          </a:p>
        </p:txBody>
      </p:sp>
      <p:sp>
        <p:nvSpPr>
          <p:cNvPr id="9" name="4 Marcador de contenido">
            <a:extLst>
              <a:ext uri="{FF2B5EF4-FFF2-40B4-BE49-F238E27FC236}">
                <a16:creationId xmlns:a16="http://schemas.microsoft.com/office/drawing/2014/main" id="{FB9D460D-7CDB-3516-B695-83BAA1D82BF3}"/>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69CD70E7-32A5-54E2-A42D-C28155090C94}"/>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err="1"/>
              <a:t>MATCH_Genera</a:t>
            </a:r>
            <a:r>
              <a:rPr lang="es-ES" dirty="0"/>
              <a:t> automáticamente:</a:t>
            </a:r>
          </a:p>
          <a:p>
            <a:pPr marL="877888" lvl="2" indent="-342900"/>
            <a:r>
              <a:rPr lang="es-ES" dirty="0"/>
              <a:t>Totales por vendedor</a:t>
            </a:r>
          </a:p>
          <a:p>
            <a:pPr marL="877888" lvl="2" indent="-342900"/>
            <a:r>
              <a:rPr lang="es-ES" dirty="0"/>
              <a:t>Totales por región</a:t>
            </a:r>
          </a:p>
          <a:p>
            <a:pPr marL="877888" lvl="2" indent="-342900"/>
            <a:r>
              <a:rPr lang="es-ES" dirty="0"/>
              <a:t>Total general (NULL,NULL)</a:t>
            </a:r>
          </a:p>
          <a:p>
            <a:pPr marL="342900" lvl="1" indent="-342900">
              <a:buFont typeface="Arial" panose="020B0604020202020204" pitchFamily="34" charset="0"/>
              <a:buChar char="•"/>
            </a:pPr>
            <a:r>
              <a:rPr lang="es-ES" dirty="0"/>
              <a:t>Orden de columnas define la jerarquía de subtotal.</a:t>
            </a:r>
          </a:p>
          <a:p>
            <a:pPr marL="342900" lvl="1" indent="-342900">
              <a:buFont typeface="Arial" panose="020B0604020202020204" pitchFamily="34" charset="0"/>
              <a:buChar char="•"/>
            </a:pPr>
            <a:r>
              <a:rPr lang="es-ES" dirty="0"/>
              <a:t>Ideal para reportes tipo “Excel” jerárquico.</a:t>
            </a:r>
            <a:endParaRPr lang="es-ES" sz="1600" dirty="0"/>
          </a:p>
        </p:txBody>
      </p:sp>
      <p:pic>
        <p:nvPicPr>
          <p:cNvPr id="3" name="Imagen 2">
            <a:extLst>
              <a:ext uri="{FF2B5EF4-FFF2-40B4-BE49-F238E27FC236}">
                <a16:creationId xmlns:a16="http://schemas.microsoft.com/office/drawing/2014/main" id="{08F64C6F-00C1-4B16-C458-8F1CCA750EEB}"/>
              </a:ext>
            </a:extLst>
          </p:cNvPr>
          <p:cNvPicPr>
            <a:picLocks noChangeAspect="1"/>
          </p:cNvPicPr>
          <p:nvPr/>
        </p:nvPicPr>
        <p:blipFill>
          <a:blip r:embed="rId3"/>
          <a:stretch>
            <a:fillRect/>
          </a:stretch>
        </p:blipFill>
        <p:spPr>
          <a:xfrm>
            <a:off x="613976" y="3193103"/>
            <a:ext cx="2314898" cy="1552792"/>
          </a:xfrm>
          <a:prstGeom prst="rect">
            <a:avLst/>
          </a:prstGeom>
        </p:spPr>
      </p:pic>
    </p:spTree>
    <p:extLst>
      <p:ext uri="{BB962C8B-B14F-4D97-AF65-F5344CB8AC3E}">
        <p14:creationId xmlns:p14="http://schemas.microsoft.com/office/powerpoint/2010/main" val="24274266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50656-8D7A-809E-B66B-D6D28C121CA6}"/>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CD4427B9-FED8-CBA0-6E24-73730F6E1C15}"/>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93BAC7AA-FAB5-7858-0661-F3E2CE193E03}"/>
              </a:ext>
            </a:extLst>
          </p:cNvPr>
          <p:cNvSpPr>
            <a:spLocks noGrp="1"/>
          </p:cNvSpPr>
          <p:nvPr>
            <p:ph idx="1"/>
          </p:nvPr>
        </p:nvSpPr>
        <p:spPr>
          <a:xfrm>
            <a:off x="457200" y="915566"/>
            <a:ext cx="8579296" cy="446310"/>
          </a:xfrm>
        </p:spPr>
        <p:txBody>
          <a:bodyPr>
            <a:normAutofit lnSpcReduction="10000"/>
          </a:bodyPr>
          <a:lstStyle/>
          <a:p>
            <a:r>
              <a:rPr lang="es-ES" dirty="0"/>
              <a:t>Agregaciones Avanzadas - CUBE</a:t>
            </a:r>
          </a:p>
        </p:txBody>
      </p:sp>
      <p:sp>
        <p:nvSpPr>
          <p:cNvPr id="4" name="3 Título">
            <a:extLst>
              <a:ext uri="{FF2B5EF4-FFF2-40B4-BE49-F238E27FC236}">
                <a16:creationId xmlns:a16="http://schemas.microsoft.com/office/drawing/2014/main" id="{9BDF84FD-FF61-0765-750B-2C699FB3E24F}"/>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A57350CB-684C-ED98-FF7C-ECC6E8652192}"/>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12" name="CuadroTexto 11">
            <a:extLst>
              <a:ext uri="{FF2B5EF4-FFF2-40B4-BE49-F238E27FC236}">
                <a16:creationId xmlns:a16="http://schemas.microsoft.com/office/drawing/2014/main" id="{27C46F13-95D7-8CC6-8502-88EA2527F2FF}"/>
              </a:ext>
            </a:extLst>
          </p:cNvPr>
          <p:cNvSpPr txBox="1"/>
          <p:nvPr/>
        </p:nvSpPr>
        <p:spPr>
          <a:xfrm>
            <a:off x="251520" y="1419622"/>
            <a:ext cx="3647963" cy="830997"/>
          </a:xfrm>
          <a:prstGeom prst="rect">
            <a:avLst/>
          </a:prstGeom>
          <a:noFill/>
        </p:spPr>
        <p:txBody>
          <a:bodyPr wrap="square">
            <a:spAutoFit/>
          </a:bodyPr>
          <a:lstStyle/>
          <a:p>
            <a:r>
              <a:rPr lang="en-US" sz="1200"/>
              <a:t>SELECT region, vendedor, SUM(monto) AS total_ventas</a:t>
            </a:r>
          </a:p>
          <a:p>
            <a:r>
              <a:rPr lang="en-US" sz="1200"/>
              <a:t>FROM ventas_detalle</a:t>
            </a:r>
          </a:p>
          <a:p>
            <a:r>
              <a:rPr lang="en-US" sz="1200"/>
              <a:t>GROUP BY CUBE(region, vendedor)</a:t>
            </a:r>
          </a:p>
          <a:p>
            <a:r>
              <a:rPr lang="en-US" sz="1200"/>
              <a:t>ORDER BY region, vendedor;</a:t>
            </a:r>
            <a:endParaRPr lang="en-US" sz="1200" dirty="0"/>
          </a:p>
        </p:txBody>
      </p:sp>
      <p:sp>
        <p:nvSpPr>
          <p:cNvPr id="9" name="4 Marcador de contenido">
            <a:extLst>
              <a:ext uri="{FF2B5EF4-FFF2-40B4-BE49-F238E27FC236}">
                <a16:creationId xmlns:a16="http://schemas.microsoft.com/office/drawing/2014/main" id="{7E256A3F-7BB1-728E-0205-11D880BE22BE}"/>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8B0F0933-150E-7760-5AC3-FF24B576C1CB}"/>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Subtotales automáticos jerárquicos</a:t>
            </a:r>
          </a:p>
          <a:p>
            <a:pPr marL="342900" lvl="1" indent="-342900">
              <a:buFont typeface="Arial" panose="020B0604020202020204" pitchFamily="34" charset="0"/>
              <a:buChar char="•"/>
            </a:pPr>
            <a:r>
              <a:rPr lang="es-ES" dirty="0"/>
              <a:t>Genera todas las combinaciones:</a:t>
            </a:r>
          </a:p>
          <a:p>
            <a:pPr lvl="2"/>
            <a:r>
              <a:rPr lang="es-ES" dirty="0"/>
              <a:t> (</a:t>
            </a:r>
            <a:r>
              <a:rPr lang="es-ES" dirty="0" err="1"/>
              <a:t>region,vendedor</a:t>
            </a:r>
            <a:r>
              <a:rPr lang="es-ES" dirty="0"/>
              <a:t>)</a:t>
            </a:r>
          </a:p>
          <a:p>
            <a:pPr lvl="2"/>
            <a:r>
              <a:rPr lang="es-ES" dirty="0"/>
              <a:t>(</a:t>
            </a:r>
            <a:r>
              <a:rPr lang="es-ES" dirty="0" err="1"/>
              <a:t>region,NULL</a:t>
            </a:r>
            <a:r>
              <a:rPr lang="es-ES" dirty="0"/>
              <a:t>)</a:t>
            </a:r>
          </a:p>
          <a:p>
            <a:pPr lvl="2"/>
            <a:r>
              <a:rPr lang="es-ES" dirty="0"/>
              <a:t>(</a:t>
            </a:r>
            <a:r>
              <a:rPr lang="es-ES" dirty="0" err="1"/>
              <a:t>NULL,vendedor</a:t>
            </a:r>
            <a:r>
              <a:rPr lang="es-ES" dirty="0"/>
              <a:t>)</a:t>
            </a:r>
          </a:p>
          <a:p>
            <a:pPr lvl="2"/>
            <a:r>
              <a:rPr lang="es-ES" dirty="0"/>
              <a:t> (NULL,NULL)</a:t>
            </a:r>
          </a:p>
          <a:p>
            <a:pPr marL="342900" lvl="1" indent="-342900">
              <a:buFont typeface="Arial" panose="020B0604020202020204" pitchFamily="34" charset="0"/>
              <a:buChar char="•"/>
            </a:pPr>
            <a:r>
              <a:rPr lang="es-ES" dirty="0"/>
              <a:t>Permite comparativas cruzadas.</a:t>
            </a:r>
          </a:p>
          <a:p>
            <a:pPr marL="342900" lvl="1" indent="-342900">
              <a:buFont typeface="Arial" panose="020B0604020202020204" pitchFamily="34" charset="0"/>
              <a:buChar char="•"/>
            </a:pPr>
            <a:r>
              <a:rPr lang="es-ES" dirty="0"/>
              <a:t>Mucho más pesado que ROLLUP → úsalo con cuidado.</a:t>
            </a:r>
            <a:endParaRPr lang="es-ES" sz="1600" dirty="0"/>
          </a:p>
        </p:txBody>
      </p:sp>
      <p:pic>
        <p:nvPicPr>
          <p:cNvPr id="3" name="Imagen 2">
            <a:extLst>
              <a:ext uri="{FF2B5EF4-FFF2-40B4-BE49-F238E27FC236}">
                <a16:creationId xmlns:a16="http://schemas.microsoft.com/office/drawing/2014/main" id="{5BCFCE44-7A32-F682-6158-964F3F8B7920}"/>
              </a:ext>
            </a:extLst>
          </p:cNvPr>
          <p:cNvPicPr>
            <a:picLocks noChangeAspect="1"/>
          </p:cNvPicPr>
          <p:nvPr/>
        </p:nvPicPr>
        <p:blipFill>
          <a:blip r:embed="rId3"/>
          <a:stretch>
            <a:fillRect/>
          </a:stretch>
        </p:blipFill>
        <p:spPr>
          <a:xfrm>
            <a:off x="875183" y="2638465"/>
            <a:ext cx="2400635" cy="2286319"/>
          </a:xfrm>
          <a:prstGeom prst="rect">
            <a:avLst/>
          </a:prstGeom>
        </p:spPr>
      </p:pic>
    </p:spTree>
    <p:extLst>
      <p:ext uri="{BB962C8B-B14F-4D97-AF65-F5344CB8AC3E}">
        <p14:creationId xmlns:p14="http://schemas.microsoft.com/office/powerpoint/2010/main" val="39354923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C3F5A-9EA8-66D9-8C98-1A8AB88C567B}"/>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0BC88A82-FAE7-91AA-6EFB-C4F3D48F54BC}"/>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787CCBA5-4A99-9F75-0B54-265FAEF4270C}"/>
              </a:ext>
            </a:extLst>
          </p:cNvPr>
          <p:cNvSpPr>
            <a:spLocks noGrp="1"/>
          </p:cNvSpPr>
          <p:nvPr>
            <p:ph idx="1"/>
          </p:nvPr>
        </p:nvSpPr>
        <p:spPr>
          <a:xfrm>
            <a:off x="457200" y="915566"/>
            <a:ext cx="8579296" cy="446310"/>
          </a:xfrm>
        </p:spPr>
        <p:txBody>
          <a:bodyPr>
            <a:normAutofit lnSpcReduction="10000"/>
          </a:bodyPr>
          <a:lstStyle/>
          <a:p>
            <a:r>
              <a:rPr lang="es-ES" dirty="0"/>
              <a:t>Agregaciones Avanzadas - GROUPING y GROUPING_ID</a:t>
            </a:r>
          </a:p>
        </p:txBody>
      </p:sp>
      <p:sp>
        <p:nvSpPr>
          <p:cNvPr id="4" name="3 Título">
            <a:extLst>
              <a:ext uri="{FF2B5EF4-FFF2-40B4-BE49-F238E27FC236}">
                <a16:creationId xmlns:a16="http://schemas.microsoft.com/office/drawing/2014/main" id="{B5D26928-0EE3-23ED-450A-FCC2DF92C9E1}"/>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0EFA3A88-3131-29B3-7B33-E9D309D5C777}"/>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12" name="CuadroTexto 11">
            <a:extLst>
              <a:ext uri="{FF2B5EF4-FFF2-40B4-BE49-F238E27FC236}">
                <a16:creationId xmlns:a16="http://schemas.microsoft.com/office/drawing/2014/main" id="{774D050F-7437-E9C3-4A60-C5780EAAF9FA}"/>
              </a:ext>
            </a:extLst>
          </p:cNvPr>
          <p:cNvSpPr txBox="1"/>
          <p:nvPr/>
        </p:nvSpPr>
        <p:spPr>
          <a:xfrm>
            <a:off x="275965" y="1419622"/>
            <a:ext cx="3647963" cy="1938992"/>
          </a:xfrm>
          <a:prstGeom prst="rect">
            <a:avLst/>
          </a:prstGeom>
          <a:noFill/>
        </p:spPr>
        <p:txBody>
          <a:bodyPr wrap="square">
            <a:spAutoFit/>
          </a:bodyPr>
          <a:lstStyle/>
          <a:p>
            <a:r>
              <a:rPr lang="en-US" sz="1200" dirty="0"/>
              <a:t>SELECT</a:t>
            </a:r>
          </a:p>
          <a:p>
            <a:r>
              <a:rPr lang="en-US" sz="1200" dirty="0"/>
              <a:t>  region,</a:t>
            </a:r>
          </a:p>
          <a:p>
            <a:r>
              <a:rPr lang="en-US" sz="1200" dirty="0"/>
              <a:t>  </a:t>
            </a:r>
            <a:r>
              <a:rPr lang="en-US" sz="1200" dirty="0" err="1"/>
              <a:t>vendedor</a:t>
            </a:r>
            <a:r>
              <a:rPr lang="en-US" sz="1200" dirty="0"/>
              <a:t>,</a:t>
            </a:r>
          </a:p>
          <a:p>
            <a:r>
              <a:rPr lang="en-US" sz="1200" dirty="0"/>
              <a:t>  SUM(</a:t>
            </a:r>
            <a:r>
              <a:rPr lang="en-US" sz="1200" dirty="0" err="1"/>
              <a:t>monto</a:t>
            </a:r>
            <a:r>
              <a:rPr lang="en-US" sz="1200" dirty="0"/>
              <a:t>) AS </a:t>
            </a:r>
            <a:r>
              <a:rPr lang="en-US" sz="1200" dirty="0" err="1"/>
              <a:t>total_ventas</a:t>
            </a:r>
            <a:r>
              <a:rPr lang="en-US" sz="1200" dirty="0"/>
              <a:t>,</a:t>
            </a:r>
          </a:p>
          <a:p>
            <a:r>
              <a:rPr lang="en-US" sz="1200" dirty="0"/>
              <a:t>  GROUPING(region) AS </a:t>
            </a:r>
            <a:r>
              <a:rPr lang="en-US" sz="1200" dirty="0" err="1"/>
              <a:t>g_region</a:t>
            </a:r>
            <a:r>
              <a:rPr lang="en-US" sz="1200" dirty="0"/>
              <a:t>,</a:t>
            </a:r>
          </a:p>
          <a:p>
            <a:r>
              <a:rPr lang="en-US" sz="1200" dirty="0"/>
              <a:t>  GROUPING(</a:t>
            </a:r>
            <a:r>
              <a:rPr lang="en-US" sz="1200" dirty="0" err="1"/>
              <a:t>vendedor</a:t>
            </a:r>
            <a:r>
              <a:rPr lang="en-US" sz="1200" dirty="0"/>
              <a:t>) AS </a:t>
            </a:r>
            <a:r>
              <a:rPr lang="en-US" sz="1200" dirty="0" err="1"/>
              <a:t>g_vendedor</a:t>
            </a:r>
            <a:r>
              <a:rPr lang="en-US" sz="1200" dirty="0"/>
              <a:t>,</a:t>
            </a:r>
          </a:p>
          <a:p>
            <a:r>
              <a:rPr lang="en-US" sz="1200" dirty="0"/>
              <a:t>  GROUPING_ID(region, </a:t>
            </a:r>
            <a:r>
              <a:rPr lang="en-US" sz="1200" dirty="0" err="1"/>
              <a:t>vendedor</a:t>
            </a:r>
            <a:r>
              <a:rPr lang="en-US" sz="1200" dirty="0"/>
              <a:t>) AS </a:t>
            </a:r>
            <a:r>
              <a:rPr lang="en-US" sz="1200" dirty="0" err="1"/>
              <a:t>grupo_id</a:t>
            </a:r>
            <a:endParaRPr lang="en-US" sz="1200" dirty="0"/>
          </a:p>
          <a:p>
            <a:r>
              <a:rPr lang="en-US" sz="1200" dirty="0"/>
              <a:t>FROM </a:t>
            </a:r>
            <a:r>
              <a:rPr lang="en-US" sz="1200" dirty="0" err="1"/>
              <a:t>ventas_detalle</a:t>
            </a:r>
            <a:endParaRPr lang="en-US" sz="1200" dirty="0"/>
          </a:p>
          <a:p>
            <a:r>
              <a:rPr lang="en-US" sz="1200" dirty="0"/>
              <a:t>GROUP BY ROLLUP(region, </a:t>
            </a:r>
            <a:r>
              <a:rPr lang="en-US" sz="1200" dirty="0" err="1"/>
              <a:t>vendedor</a:t>
            </a:r>
            <a:r>
              <a:rPr lang="en-US" sz="1200" dirty="0"/>
              <a:t>)</a:t>
            </a:r>
          </a:p>
          <a:p>
            <a:r>
              <a:rPr lang="en-US" sz="1200" dirty="0"/>
              <a:t>ORDER BY </a:t>
            </a:r>
            <a:r>
              <a:rPr lang="en-US" sz="1200" dirty="0" err="1"/>
              <a:t>grupo_id</a:t>
            </a:r>
            <a:r>
              <a:rPr lang="en-US" sz="1200" dirty="0"/>
              <a:t>;</a:t>
            </a:r>
          </a:p>
        </p:txBody>
      </p:sp>
      <p:sp>
        <p:nvSpPr>
          <p:cNvPr id="9" name="4 Marcador de contenido">
            <a:extLst>
              <a:ext uri="{FF2B5EF4-FFF2-40B4-BE49-F238E27FC236}">
                <a16:creationId xmlns:a16="http://schemas.microsoft.com/office/drawing/2014/main" id="{8702EEC4-72B3-3DB4-B6D7-4EF6FD61C9E2}"/>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215CBE2E-E149-467D-8B88-BE025AD9B5C9}"/>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sz="1600" dirty="0"/>
              <a:t>Distinguir totales de NULL reales.</a:t>
            </a:r>
          </a:p>
          <a:p>
            <a:pPr marL="342900" lvl="1" indent="-342900">
              <a:buFont typeface="Arial" panose="020B0604020202020204" pitchFamily="34" charset="0"/>
              <a:buChar char="•"/>
            </a:pPr>
            <a:r>
              <a:rPr lang="es-ES" sz="1600" dirty="0"/>
              <a:t>GROUPING(columna) devuelve 1 si la columna pertenece a una fila de subtotal.</a:t>
            </a:r>
          </a:p>
          <a:p>
            <a:pPr marL="342900" lvl="1" indent="-342900">
              <a:buFont typeface="Arial" panose="020B0604020202020204" pitchFamily="34" charset="0"/>
              <a:buChar char="•"/>
            </a:pPr>
            <a:r>
              <a:rPr lang="es-ES" sz="1600" dirty="0"/>
              <a:t>GROUPING_ID combina los bits → útil para </a:t>
            </a:r>
            <a:r>
              <a:rPr lang="es-ES" sz="1600" dirty="0" err="1"/>
              <a:t>post-procesar</a:t>
            </a:r>
            <a:r>
              <a:rPr lang="es-ES" sz="1600" dirty="0"/>
              <a:t> o exportar.</a:t>
            </a:r>
          </a:p>
          <a:p>
            <a:pPr marL="342900" lvl="1" indent="-342900">
              <a:buFont typeface="Arial" panose="020B0604020202020204" pitchFamily="34" charset="0"/>
              <a:buChar char="•"/>
            </a:pPr>
            <a:r>
              <a:rPr lang="es-ES" sz="1600" dirty="0"/>
              <a:t>Diferencia entre NULL real y NULL por subtotal.</a:t>
            </a:r>
          </a:p>
        </p:txBody>
      </p:sp>
      <p:pic>
        <p:nvPicPr>
          <p:cNvPr id="3" name="Imagen 2">
            <a:extLst>
              <a:ext uri="{FF2B5EF4-FFF2-40B4-BE49-F238E27FC236}">
                <a16:creationId xmlns:a16="http://schemas.microsoft.com/office/drawing/2014/main" id="{5DF9B46D-CB9C-F862-32B0-1C31D5339244}"/>
              </a:ext>
            </a:extLst>
          </p:cNvPr>
          <p:cNvPicPr>
            <a:picLocks noChangeAspect="1"/>
          </p:cNvPicPr>
          <p:nvPr/>
        </p:nvPicPr>
        <p:blipFill>
          <a:blip r:embed="rId3"/>
          <a:stretch>
            <a:fillRect/>
          </a:stretch>
        </p:blipFill>
        <p:spPr>
          <a:xfrm>
            <a:off x="4272534" y="3358614"/>
            <a:ext cx="4486901" cy="1543265"/>
          </a:xfrm>
          <a:prstGeom prst="rect">
            <a:avLst/>
          </a:prstGeom>
        </p:spPr>
      </p:pic>
    </p:spTree>
    <p:extLst>
      <p:ext uri="{BB962C8B-B14F-4D97-AF65-F5344CB8AC3E}">
        <p14:creationId xmlns:p14="http://schemas.microsoft.com/office/powerpoint/2010/main" val="9317433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5B5D1-F580-A6B7-7E86-FEF0C4ADBCDB}"/>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EBF0D30B-7AED-4AB3-96FC-AFF89EE095AA}"/>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7CAC0636-CC2D-461D-83F7-F13B76D1B420}"/>
              </a:ext>
            </a:extLst>
          </p:cNvPr>
          <p:cNvSpPr>
            <a:spLocks noGrp="1"/>
          </p:cNvSpPr>
          <p:nvPr>
            <p:ph idx="1"/>
          </p:nvPr>
        </p:nvSpPr>
        <p:spPr>
          <a:xfrm>
            <a:off x="457200" y="915566"/>
            <a:ext cx="8579296" cy="446310"/>
          </a:xfrm>
        </p:spPr>
        <p:txBody>
          <a:bodyPr>
            <a:normAutofit lnSpcReduction="10000"/>
          </a:bodyPr>
          <a:lstStyle/>
          <a:p>
            <a:r>
              <a:rPr lang="es-ES" dirty="0"/>
              <a:t>Agregaciones Avanzadas - GROUPING SETS</a:t>
            </a:r>
          </a:p>
        </p:txBody>
      </p:sp>
      <p:sp>
        <p:nvSpPr>
          <p:cNvPr id="4" name="3 Título">
            <a:extLst>
              <a:ext uri="{FF2B5EF4-FFF2-40B4-BE49-F238E27FC236}">
                <a16:creationId xmlns:a16="http://schemas.microsoft.com/office/drawing/2014/main" id="{93D872D6-3479-4BB7-22EF-314C98092169}"/>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746E05DD-0B5A-5F19-9471-D265E89A1FF4}"/>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12" name="CuadroTexto 11">
            <a:extLst>
              <a:ext uri="{FF2B5EF4-FFF2-40B4-BE49-F238E27FC236}">
                <a16:creationId xmlns:a16="http://schemas.microsoft.com/office/drawing/2014/main" id="{04C8526E-CD45-2034-298F-C8250BBFFE97}"/>
              </a:ext>
            </a:extLst>
          </p:cNvPr>
          <p:cNvSpPr txBox="1"/>
          <p:nvPr/>
        </p:nvSpPr>
        <p:spPr>
          <a:xfrm>
            <a:off x="251520" y="1419622"/>
            <a:ext cx="3647963" cy="1569660"/>
          </a:xfrm>
          <a:prstGeom prst="rect">
            <a:avLst/>
          </a:prstGeom>
          <a:noFill/>
        </p:spPr>
        <p:txBody>
          <a:bodyPr wrap="square">
            <a:spAutoFit/>
          </a:bodyPr>
          <a:lstStyle/>
          <a:p>
            <a:r>
              <a:rPr lang="en-US" sz="1200" dirty="0"/>
              <a:t>SELECT region, </a:t>
            </a:r>
            <a:r>
              <a:rPr lang="en-US" sz="1200" dirty="0" err="1"/>
              <a:t>vendedor</a:t>
            </a:r>
            <a:r>
              <a:rPr lang="en-US" sz="1200" dirty="0"/>
              <a:t>, SUM(</a:t>
            </a:r>
            <a:r>
              <a:rPr lang="en-US" sz="1200" dirty="0" err="1"/>
              <a:t>monto</a:t>
            </a:r>
            <a:r>
              <a:rPr lang="en-US" sz="1200" dirty="0"/>
              <a:t>) AS </a:t>
            </a:r>
            <a:r>
              <a:rPr lang="en-US" sz="1200" dirty="0" err="1"/>
              <a:t>total_ventas</a:t>
            </a:r>
            <a:endParaRPr lang="en-US" sz="1200" dirty="0"/>
          </a:p>
          <a:p>
            <a:r>
              <a:rPr lang="en-US" sz="1200" dirty="0"/>
              <a:t>FROM </a:t>
            </a:r>
            <a:r>
              <a:rPr lang="en-US" sz="1200" dirty="0" err="1"/>
              <a:t>ventas_detalle</a:t>
            </a:r>
            <a:endParaRPr lang="en-US" sz="1200" dirty="0"/>
          </a:p>
          <a:p>
            <a:r>
              <a:rPr lang="en-US" sz="1200" dirty="0"/>
              <a:t>GROUP BY GROUPING SETS (</a:t>
            </a:r>
          </a:p>
          <a:p>
            <a:r>
              <a:rPr lang="en-US" sz="1200" dirty="0"/>
              <a:t>    (region, </a:t>
            </a:r>
            <a:r>
              <a:rPr lang="en-US" sz="1200" dirty="0" err="1"/>
              <a:t>vendedor</a:t>
            </a:r>
            <a:r>
              <a:rPr lang="en-US" sz="1200" dirty="0"/>
              <a:t>),   -- </a:t>
            </a:r>
            <a:r>
              <a:rPr lang="en-US" sz="1200" dirty="0" err="1"/>
              <a:t>Detalle</a:t>
            </a:r>
            <a:endParaRPr lang="en-US" sz="1200" dirty="0"/>
          </a:p>
          <a:p>
            <a:r>
              <a:rPr lang="en-US" sz="1200" dirty="0"/>
              <a:t>    (region),             -- Total </a:t>
            </a:r>
            <a:r>
              <a:rPr lang="en-US" sz="1200" dirty="0" err="1"/>
              <a:t>por</a:t>
            </a:r>
            <a:r>
              <a:rPr lang="en-US" sz="1200" dirty="0"/>
              <a:t> </a:t>
            </a:r>
            <a:r>
              <a:rPr lang="en-US" sz="1200" dirty="0" err="1"/>
              <a:t>región</a:t>
            </a:r>
            <a:endParaRPr lang="en-US" sz="1200" dirty="0"/>
          </a:p>
          <a:p>
            <a:r>
              <a:rPr lang="en-US" sz="1200" dirty="0"/>
              <a:t>    ()                    -- Total general</a:t>
            </a:r>
          </a:p>
          <a:p>
            <a:r>
              <a:rPr lang="en-US" sz="1200" dirty="0"/>
              <a:t>)</a:t>
            </a:r>
          </a:p>
          <a:p>
            <a:r>
              <a:rPr lang="en-US" sz="1200" dirty="0"/>
              <a:t>ORDER BY region, </a:t>
            </a:r>
            <a:r>
              <a:rPr lang="en-US" sz="1200" dirty="0" err="1"/>
              <a:t>vendedor</a:t>
            </a:r>
            <a:r>
              <a:rPr lang="en-US" sz="1200" dirty="0"/>
              <a:t>;</a:t>
            </a:r>
          </a:p>
        </p:txBody>
      </p:sp>
      <p:sp>
        <p:nvSpPr>
          <p:cNvPr id="9" name="4 Marcador de contenido">
            <a:extLst>
              <a:ext uri="{FF2B5EF4-FFF2-40B4-BE49-F238E27FC236}">
                <a16:creationId xmlns:a16="http://schemas.microsoft.com/office/drawing/2014/main" id="{E5B42104-9870-C919-860E-B05CB1CD52A7}"/>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6D2022A8-82EB-99B9-6473-7A4F23F645E1}"/>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Subtotales específicos.</a:t>
            </a:r>
          </a:p>
          <a:p>
            <a:pPr marL="342900" lvl="1" indent="-342900">
              <a:buFont typeface="Arial" panose="020B0604020202020204" pitchFamily="34" charset="0"/>
              <a:buChar char="•"/>
            </a:pPr>
            <a:r>
              <a:rPr lang="es-ES" sz="1600" dirty="0"/>
              <a:t>Similar a ROLLUP, pero tú defines los niveles que te interesan.</a:t>
            </a:r>
          </a:p>
          <a:p>
            <a:pPr marL="342900" lvl="1" indent="-342900">
              <a:buFont typeface="Arial" panose="020B0604020202020204" pitchFamily="34" charset="0"/>
              <a:buChar char="•"/>
            </a:pPr>
            <a:r>
              <a:rPr lang="es-ES" sz="1600" dirty="0"/>
              <a:t>Evita cálculos innecesarios → más eficiente.</a:t>
            </a:r>
          </a:p>
          <a:p>
            <a:pPr marL="342900" lvl="1" indent="-342900">
              <a:buFont typeface="Arial" panose="020B0604020202020204" pitchFamily="34" charset="0"/>
              <a:buChar char="•"/>
            </a:pPr>
            <a:r>
              <a:rPr lang="es-ES" sz="1600" dirty="0"/>
              <a:t>Oracle ejecuta internamente múltiples GROUP BY y los une.</a:t>
            </a:r>
          </a:p>
        </p:txBody>
      </p:sp>
      <p:pic>
        <p:nvPicPr>
          <p:cNvPr id="3" name="Imagen 2">
            <a:extLst>
              <a:ext uri="{FF2B5EF4-FFF2-40B4-BE49-F238E27FC236}">
                <a16:creationId xmlns:a16="http://schemas.microsoft.com/office/drawing/2014/main" id="{1A49A2F6-A1D4-902C-7ADD-1396EC568E89}"/>
              </a:ext>
            </a:extLst>
          </p:cNvPr>
          <p:cNvPicPr>
            <a:picLocks noChangeAspect="1"/>
          </p:cNvPicPr>
          <p:nvPr/>
        </p:nvPicPr>
        <p:blipFill>
          <a:blip r:embed="rId3"/>
          <a:stretch>
            <a:fillRect/>
          </a:stretch>
        </p:blipFill>
        <p:spPr>
          <a:xfrm>
            <a:off x="903762" y="3331389"/>
            <a:ext cx="2343477" cy="1524213"/>
          </a:xfrm>
          <a:prstGeom prst="rect">
            <a:avLst/>
          </a:prstGeom>
        </p:spPr>
      </p:pic>
    </p:spTree>
    <p:extLst>
      <p:ext uri="{BB962C8B-B14F-4D97-AF65-F5344CB8AC3E}">
        <p14:creationId xmlns:p14="http://schemas.microsoft.com/office/powerpoint/2010/main" val="40389221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ACC8A-7EA8-2251-C762-1CE65EA7105C}"/>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06367455-47FB-9E61-8846-417755E81C6D}"/>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F117FD32-1B00-8138-E7AC-68074A5AC392}"/>
              </a:ext>
            </a:extLst>
          </p:cNvPr>
          <p:cNvSpPr>
            <a:spLocks noGrp="1"/>
          </p:cNvSpPr>
          <p:nvPr>
            <p:ph idx="1"/>
          </p:nvPr>
        </p:nvSpPr>
        <p:spPr>
          <a:xfrm>
            <a:off x="457200" y="915566"/>
            <a:ext cx="8579296" cy="446310"/>
          </a:xfrm>
        </p:spPr>
        <p:txBody>
          <a:bodyPr>
            <a:normAutofit lnSpcReduction="10000"/>
          </a:bodyPr>
          <a:lstStyle/>
          <a:p>
            <a:r>
              <a:rPr lang="es-ES" dirty="0"/>
              <a:t>Agregaciones Avanzadas FUNCIONES ANALÍTICAS (sin agrupar)</a:t>
            </a:r>
          </a:p>
        </p:txBody>
      </p:sp>
      <p:sp>
        <p:nvSpPr>
          <p:cNvPr id="4" name="3 Título">
            <a:extLst>
              <a:ext uri="{FF2B5EF4-FFF2-40B4-BE49-F238E27FC236}">
                <a16:creationId xmlns:a16="http://schemas.microsoft.com/office/drawing/2014/main" id="{DF4F4316-503F-06BB-B475-5C94E5081E18}"/>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AC8604FC-9730-5DC4-ECFF-7F20FA862A27}"/>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12" name="CuadroTexto 11">
            <a:extLst>
              <a:ext uri="{FF2B5EF4-FFF2-40B4-BE49-F238E27FC236}">
                <a16:creationId xmlns:a16="http://schemas.microsoft.com/office/drawing/2014/main" id="{5F17660E-B768-6173-5E3C-20E3F1819A35}"/>
              </a:ext>
            </a:extLst>
          </p:cNvPr>
          <p:cNvSpPr txBox="1"/>
          <p:nvPr/>
        </p:nvSpPr>
        <p:spPr>
          <a:xfrm>
            <a:off x="251520" y="1419622"/>
            <a:ext cx="3647963" cy="2123658"/>
          </a:xfrm>
          <a:prstGeom prst="rect">
            <a:avLst/>
          </a:prstGeom>
          <a:noFill/>
        </p:spPr>
        <p:txBody>
          <a:bodyPr wrap="square">
            <a:spAutoFit/>
          </a:bodyPr>
          <a:lstStyle/>
          <a:p>
            <a:r>
              <a:rPr lang="en-US" sz="1200" dirty="0"/>
              <a:t>SELECT</a:t>
            </a:r>
          </a:p>
          <a:p>
            <a:r>
              <a:rPr lang="en-US" sz="1200" dirty="0"/>
              <a:t>  region,</a:t>
            </a:r>
          </a:p>
          <a:p>
            <a:r>
              <a:rPr lang="en-US" sz="1200" dirty="0"/>
              <a:t>  </a:t>
            </a:r>
            <a:r>
              <a:rPr lang="en-US" sz="1200" dirty="0" err="1"/>
              <a:t>vendedor</a:t>
            </a:r>
            <a:r>
              <a:rPr lang="en-US" sz="1200" dirty="0"/>
              <a:t>,</a:t>
            </a:r>
          </a:p>
          <a:p>
            <a:r>
              <a:rPr lang="en-US" sz="1200" dirty="0"/>
              <a:t>  SUM(</a:t>
            </a:r>
            <a:r>
              <a:rPr lang="en-US" sz="1200" dirty="0" err="1"/>
              <a:t>monto</a:t>
            </a:r>
            <a:r>
              <a:rPr lang="en-US" sz="1200" dirty="0"/>
              <a:t>) AS </a:t>
            </a:r>
            <a:r>
              <a:rPr lang="en-US" sz="1200" dirty="0" err="1"/>
              <a:t>total_vendedor</a:t>
            </a:r>
            <a:r>
              <a:rPr lang="en-US" sz="1200" dirty="0"/>
              <a:t>,</a:t>
            </a:r>
          </a:p>
          <a:p>
            <a:r>
              <a:rPr lang="en-US" sz="1200" dirty="0"/>
              <a:t>  SUM(SUM(</a:t>
            </a:r>
            <a:r>
              <a:rPr lang="en-US" sz="1200" dirty="0" err="1"/>
              <a:t>monto</a:t>
            </a:r>
            <a:r>
              <a:rPr lang="en-US" sz="1200" dirty="0"/>
              <a:t>)) OVER (PARTITION BY region) AS </a:t>
            </a:r>
            <a:r>
              <a:rPr lang="en-US" sz="1200" dirty="0" err="1"/>
              <a:t>total_region</a:t>
            </a:r>
            <a:r>
              <a:rPr lang="en-US" sz="1200" dirty="0"/>
              <a:t>,</a:t>
            </a:r>
          </a:p>
          <a:p>
            <a:r>
              <a:rPr lang="en-US" sz="1200" dirty="0"/>
              <a:t>  ROUND(SUM(</a:t>
            </a:r>
            <a:r>
              <a:rPr lang="en-US" sz="1200" dirty="0" err="1"/>
              <a:t>monto</a:t>
            </a:r>
            <a:r>
              <a:rPr lang="en-US" sz="1200" dirty="0"/>
              <a:t>) / SUM(SUM(</a:t>
            </a:r>
            <a:r>
              <a:rPr lang="en-US" sz="1200" dirty="0" err="1"/>
              <a:t>monto</a:t>
            </a:r>
            <a:r>
              <a:rPr lang="en-US" sz="1200" dirty="0"/>
              <a:t>)) OVER (PARTITION BY region) * 100, 2) AS </a:t>
            </a:r>
            <a:r>
              <a:rPr lang="en-US" sz="1200" dirty="0" err="1"/>
              <a:t>pct_region</a:t>
            </a:r>
            <a:endParaRPr lang="en-US" sz="1200" dirty="0"/>
          </a:p>
          <a:p>
            <a:r>
              <a:rPr lang="en-US" sz="1200" dirty="0"/>
              <a:t>FROM </a:t>
            </a:r>
            <a:r>
              <a:rPr lang="en-US" sz="1200" dirty="0" err="1"/>
              <a:t>ventas_detalle</a:t>
            </a:r>
            <a:endParaRPr lang="en-US" sz="1200" dirty="0"/>
          </a:p>
          <a:p>
            <a:r>
              <a:rPr lang="en-US" sz="1200" dirty="0"/>
              <a:t>GROUP BY region, </a:t>
            </a:r>
            <a:r>
              <a:rPr lang="en-US" sz="1200" dirty="0" err="1"/>
              <a:t>vendedor</a:t>
            </a:r>
            <a:endParaRPr lang="en-US" sz="1200" dirty="0"/>
          </a:p>
          <a:p>
            <a:r>
              <a:rPr lang="en-US" sz="1200" dirty="0"/>
              <a:t>ORDER BY region, </a:t>
            </a:r>
            <a:r>
              <a:rPr lang="en-US" sz="1200" dirty="0" err="1"/>
              <a:t>vendedor</a:t>
            </a:r>
            <a:r>
              <a:rPr lang="en-US" sz="1200" dirty="0"/>
              <a:t>;</a:t>
            </a:r>
          </a:p>
        </p:txBody>
      </p:sp>
      <p:sp>
        <p:nvSpPr>
          <p:cNvPr id="9" name="4 Marcador de contenido">
            <a:extLst>
              <a:ext uri="{FF2B5EF4-FFF2-40B4-BE49-F238E27FC236}">
                <a16:creationId xmlns:a16="http://schemas.microsoft.com/office/drawing/2014/main" id="{E8F7B0DF-0867-919C-20A9-3BB384E73D9F}"/>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C6F17C2D-4D58-1D14-0572-89BC57E55B72}"/>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SUM(SUM(monto)) OVER (...) → doble agregación:</a:t>
            </a:r>
          </a:p>
          <a:p>
            <a:pPr marL="342900" lvl="1" indent="-342900">
              <a:buFont typeface="Arial" panose="020B0604020202020204" pitchFamily="34" charset="0"/>
              <a:buChar char="•"/>
            </a:pPr>
            <a:r>
              <a:rPr lang="es-ES" dirty="0"/>
              <a:t>La primera SUM() agrupa, la segunda OVER() calcula sobre esos grupos.</a:t>
            </a:r>
          </a:p>
          <a:p>
            <a:pPr marL="342900" lvl="1" indent="-342900">
              <a:buFont typeface="Arial" panose="020B0604020202020204" pitchFamily="34" charset="0"/>
              <a:buChar char="•"/>
            </a:pPr>
            <a:r>
              <a:rPr lang="es-ES" dirty="0"/>
              <a:t>Combina lo mejor de GROUP BY + analíticas.</a:t>
            </a:r>
            <a:endParaRPr lang="es-ES" sz="1600" dirty="0"/>
          </a:p>
        </p:txBody>
      </p:sp>
      <p:pic>
        <p:nvPicPr>
          <p:cNvPr id="3" name="Imagen 2">
            <a:extLst>
              <a:ext uri="{FF2B5EF4-FFF2-40B4-BE49-F238E27FC236}">
                <a16:creationId xmlns:a16="http://schemas.microsoft.com/office/drawing/2014/main" id="{69E4E450-BDD6-32C4-47C3-4716A278805F}"/>
              </a:ext>
            </a:extLst>
          </p:cNvPr>
          <p:cNvPicPr>
            <a:picLocks noChangeAspect="1"/>
          </p:cNvPicPr>
          <p:nvPr/>
        </p:nvPicPr>
        <p:blipFill>
          <a:blip r:embed="rId3"/>
          <a:stretch>
            <a:fillRect/>
          </a:stretch>
        </p:blipFill>
        <p:spPr>
          <a:xfrm>
            <a:off x="4396376" y="3737328"/>
            <a:ext cx="4239217" cy="981212"/>
          </a:xfrm>
          <a:prstGeom prst="rect">
            <a:avLst/>
          </a:prstGeom>
        </p:spPr>
      </p:pic>
    </p:spTree>
    <p:extLst>
      <p:ext uri="{BB962C8B-B14F-4D97-AF65-F5344CB8AC3E}">
        <p14:creationId xmlns:p14="http://schemas.microsoft.com/office/powerpoint/2010/main" val="21671822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B92B4-98CD-A11C-E797-45780A3B15BC}"/>
            </a:ext>
          </a:extLst>
        </p:cNvPr>
        <p:cNvGrpSpPr/>
        <p:nvPr/>
      </p:nvGrpSpPr>
      <p:grpSpPr>
        <a:xfrm>
          <a:off x="0" y="0"/>
          <a:ext cx="0" cy="0"/>
          <a:chOff x="0" y="0"/>
          <a:chExt cx="0" cy="0"/>
        </a:xfrm>
      </p:grpSpPr>
      <p:sp>
        <p:nvSpPr>
          <p:cNvPr id="13" name="Rectángulo 12">
            <a:extLst>
              <a:ext uri="{FF2B5EF4-FFF2-40B4-BE49-F238E27FC236}">
                <a16:creationId xmlns:a16="http://schemas.microsoft.com/office/drawing/2014/main" id="{E4A277A6-CA9D-7270-FF42-D18EF0453740}"/>
              </a:ext>
            </a:extLst>
          </p:cNvPr>
          <p:cNvSpPr/>
          <p:nvPr/>
        </p:nvSpPr>
        <p:spPr>
          <a:xfrm>
            <a:off x="227537" y="1326394"/>
            <a:ext cx="3743954" cy="36216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5" name="4 Marcador de contenido">
            <a:extLst>
              <a:ext uri="{FF2B5EF4-FFF2-40B4-BE49-F238E27FC236}">
                <a16:creationId xmlns:a16="http://schemas.microsoft.com/office/drawing/2014/main" id="{306C6A66-1166-21DA-FCD2-01C24BA9354C}"/>
              </a:ext>
            </a:extLst>
          </p:cNvPr>
          <p:cNvSpPr>
            <a:spLocks noGrp="1"/>
          </p:cNvSpPr>
          <p:nvPr>
            <p:ph idx="1"/>
          </p:nvPr>
        </p:nvSpPr>
        <p:spPr>
          <a:xfrm>
            <a:off x="457200" y="915566"/>
            <a:ext cx="8579296" cy="446310"/>
          </a:xfrm>
        </p:spPr>
        <p:txBody>
          <a:bodyPr>
            <a:normAutofit lnSpcReduction="10000"/>
          </a:bodyPr>
          <a:lstStyle/>
          <a:p>
            <a:r>
              <a:rPr lang="es-ES" dirty="0"/>
              <a:t>Agregaciones Avanzadas - RATIO_TO_REPORT</a:t>
            </a:r>
          </a:p>
        </p:txBody>
      </p:sp>
      <p:sp>
        <p:nvSpPr>
          <p:cNvPr id="4" name="3 Título">
            <a:extLst>
              <a:ext uri="{FF2B5EF4-FFF2-40B4-BE49-F238E27FC236}">
                <a16:creationId xmlns:a16="http://schemas.microsoft.com/office/drawing/2014/main" id="{F0D770B6-3553-3634-7C1C-3610913D98AC}"/>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97A62773-FA2E-F6E1-572B-C8491257C5DF}"/>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12" name="CuadroTexto 11">
            <a:extLst>
              <a:ext uri="{FF2B5EF4-FFF2-40B4-BE49-F238E27FC236}">
                <a16:creationId xmlns:a16="http://schemas.microsoft.com/office/drawing/2014/main" id="{46C9CC43-F498-696A-6A72-F0A798F10781}"/>
              </a:ext>
            </a:extLst>
          </p:cNvPr>
          <p:cNvSpPr txBox="1"/>
          <p:nvPr/>
        </p:nvSpPr>
        <p:spPr>
          <a:xfrm>
            <a:off x="251520" y="1419622"/>
            <a:ext cx="3647963" cy="1754326"/>
          </a:xfrm>
          <a:prstGeom prst="rect">
            <a:avLst/>
          </a:prstGeom>
          <a:noFill/>
        </p:spPr>
        <p:txBody>
          <a:bodyPr wrap="square">
            <a:spAutoFit/>
          </a:bodyPr>
          <a:lstStyle/>
          <a:p>
            <a:r>
              <a:rPr lang="en-US" sz="1200" dirty="0"/>
              <a:t>SELECT</a:t>
            </a:r>
          </a:p>
          <a:p>
            <a:r>
              <a:rPr lang="en-US" sz="1200" dirty="0"/>
              <a:t>  region,</a:t>
            </a:r>
          </a:p>
          <a:p>
            <a:r>
              <a:rPr lang="en-US" sz="1200" dirty="0"/>
              <a:t>  </a:t>
            </a:r>
            <a:r>
              <a:rPr lang="en-US" sz="1200" dirty="0" err="1"/>
              <a:t>vendedor</a:t>
            </a:r>
            <a:r>
              <a:rPr lang="en-US" sz="1200" dirty="0"/>
              <a:t>,</a:t>
            </a:r>
          </a:p>
          <a:p>
            <a:r>
              <a:rPr lang="en-US" sz="1200" dirty="0"/>
              <a:t>  SUM(</a:t>
            </a:r>
            <a:r>
              <a:rPr lang="en-US" sz="1200" dirty="0" err="1"/>
              <a:t>monto</a:t>
            </a:r>
            <a:r>
              <a:rPr lang="en-US" sz="1200" dirty="0"/>
              <a:t>) AS </a:t>
            </a:r>
            <a:r>
              <a:rPr lang="en-US" sz="1200" dirty="0" err="1"/>
              <a:t>total_ventas</a:t>
            </a:r>
            <a:r>
              <a:rPr lang="en-US" sz="1200" dirty="0"/>
              <a:t>,</a:t>
            </a:r>
          </a:p>
          <a:p>
            <a:r>
              <a:rPr lang="en-US" sz="1200" dirty="0"/>
              <a:t>  </a:t>
            </a:r>
            <a:r>
              <a:rPr lang="en-US" sz="1200" b="1" dirty="0"/>
              <a:t>RATIO_TO_REPORT</a:t>
            </a:r>
            <a:r>
              <a:rPr lang="en-US" sz="1200" dirty="0"/>
              <a:t>(SUM(</a:t>
            </a:r>
            <a:r>
              <a:rPr lang="en-US" sz="1200" dirty="0" err="1"/>
              <a:t>monto</a:t>
            </a:r>
            <a:r>
              <a:rPr lang="en-US" sz="1200" dirty="0"/>
              <a:t>)) OVER () AS </a:t>
            </a:r>
            <a:r>
              <a:rPr lang="en-US" sz="1200" dirty="0" err="1"/>
              <a:t>pct_total</a:t>
            </a:r>
            <a:endParaRPr lang="en-US" sz="1200" dirty="0"/>
          </a:p>
          <a:p>
            <a:r>
              <a:rPr lang="en-US" sz="1200" dirty="0"/>
              <a:t>FROM </a:t>
            </a:r>
            <a:r>
              <a:rPr lang="en-US" sz="1200" dirty="0" err="1"/>
              <a:t>ventas_detalle</a:t>
            </a:r>
            <a:endParaRPr lang="en-US" sz="1200" dirty="0"/>
          </a:p>
          <a:p>
            <a:r>
              <a:rPr lang="en-US" sz="1200" dirty="0"/>
              <a:t>GROUP BY ROLLUP(region, </a:t>
            </a:r>
            <a:r>
              <a:rPr lang="en-US" sz="1200" dirty="0" err="1"/>
              <a:t>vendedor</a:t>
            </a:r>
            <a:r>
              <a:rPr lang="en-US" sz="1200" dirty="0"/>
              <a:t>)</a:t>
            </a:r>
          </a:p>
          <a:p>
            <a:r>
              <a:rPr lang="en-US" sz="1200" dirty="0"/>
              <a:t>ORDER BY region, </a:t>
            </a:r>
            <a:r>
              <a:rPr lang="en-US" sz="1200" dirty="0" err="1"/>
              <a:t>vendedor</a:t>
            </a:r>
            <a:r>
              <a:rPr lang="en-US" sz="1200" dirty="0"/>
              <a:t>;</a:t>
            </a:r>
          </a:p>
        </p:txBody>
      </p:sp>
      <p:sp>
        <p:nvSpPr>
          <p:cNvPr id="9" name="4 Marcador de contenido">
            <a:extLst>
              <a:ext uri="{FF2B5EF4-FFF2-40B4-BE49-F238E27FC236}">
                <a16:creationId xmlns:a16="http://schemas.microsoft.com/office/drawing/2014/main" id="{41C53763-7296-2274-6D7A-90324BFA816A}"/>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194D0DF9-A535-115B-805A-FEA7DA7B49BD}"/>
              </a:ext>
            </a:extLst>
          </p:cNvPr>
          <p:cNvSpPr txBox="1">
            <a:spLocks/>
          </p:cNvSpPr>
          <p:nvPr/>
        </p:nvSpPr>
        <p:spPr>
          <a:xfrm>
            <a:off x="3995474" y="1326394"/>
            <a:ext cx="5041022"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a:t>RATIO_TO_REPORT() calcula el porcentaje sobre el total del conjunto.</a:t>
            </a:r>
          </a:p>
          <a:p>
            <a:pPr marL="342900" lvl="1" indent="-342900">
              <a:buFont typeface="Arial" panose="020B0604020202020204" pitchFamily="34" charset="0"/>
              <a:buChar char="•"/>
            </a:pPr>
            <a:r>
              <a:rPr lang="es-ES"/>
              <a:t>Permite enriquecer los subtotales de ROLLUP con métricas comparativas. </a:t>
            </a:r>
            <a:endParaRPr lang="es-ES" sz="1600" dirty="0"/>
          </a:p>
        </p:txBody>
      </p:sp>
      <p:pic>
        <p:nvPicPr>
          <p:cNvPr id="3" name="Imagen 2">
            <a:extLst>
              <a:ext uri="{FF2B5EF4-FFF2-40B4-BE49-F238E27FC236}">
                <a16:creationId xmlns:a16="http://schemas.microsoft.com/office/drawing/2014/main" id="{987ECD89-E143-BA4C-C5CC-AE70C684B1C1}"/>
              </a:ext>
            </a:extLst>
          </p:cNvPr>
          <p:cNvPicPr>
            <a:picLocks noChangeAspect="1"/>
          </p:cNvPicPr>
          <p:nvPr/>
        </p:nvPicPr>
        <p:blipFill>
          <a:blip r:embed="rId3"/>
          <a:stretch>
            <a:fillRect/>
          </a:stretch>
        </p:blipFill>
        <p:spPr>
          <a:xfrm>
            <a:off x="457200" y="3195788"/>
            <a:ext cx="3115110" cy="1571844"/>
          </a:xfrm>
          <a:prstGeom prst="rect">
            <a:avLst/>
          </a:prstGeom>
        </p:spPr>
      </p:pic>
      <p:sp>
        <p:nvSpPr>
          <p:cNvPr id="2" name="CuadroTexto 1">
            <a:extLst>
              <a:ext uri="{FF2B5EF4-FFF2-40B4-BE49-F238E27FC236}">
                <a16:creationId xmlns:a16="http://schemas.microsoft.com/office/drawing/2014/main" id="{E666D750-5769-D00B-9D69-BC5C604B6DC5}"/>
              </a:ext>
            </a:extLst>
          </p:cNvPr>
          <p:cNvSpPr txBox="1"/>
          <p:nvPr/>
        </p:nvSpPr>
        <p:spPr>
          <a:xfrm>
            <a:off x="6948264" y="4731990"/>
            <a:ext cx="2168949" cy="246221"/>
          </a:xfrm>
          <a:prstGeom prst="rect">
            <a:avLst/>
          </a:prstGeom>
          <a:noFill/>
        </p:spPr>
        <p:txBody>
          <a:bodyPr wrap="square">
            <a:spAutoFit/>
          </a:bodyPr>
          <a:lstStyle/>
          <a:p>
            <a:pPr algn="l"/>
            <a:r>
              <a:rPr lang="es-ES" sz="1000" b="0" i="0" dirty="0">
                <a:solidFill>
                  <a:srgbClr val="FF6A00"/>
                </a:solidFill>
                <a:effectLst/>
                <a:latin typeface="-apple-system"/>
              </a:rPr>
              <a:t>sesion2-agrupaciones-avanzadas.sql</a:t>
            </a:r>
          </a:p>
        </p:txBody>
      </p:sp>
    </p:spTree>
    <p:extLst>
      <p:ext uri="{BB962C8B-B14F-4D97-AF65-F5344CB8AC3E}">
        <p14:creationId xmlns:p14="http://schemas.microsoft.com/office/powerpoint/2010/main" val="33352858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AC3F2-46ED-2A2D-5634-AE32EF2FB237}"/>
            </a:ext>
          </a:extLst>
        </p:cNvPr>
        <p:cNvGrpSpPr/>
        <p:nvPr/>
      </p:nvGrpSpPr>
      <p:grpSpPr>
        <a:xfrm>
          <a:off x="0" y="0"/>
          <a:ext cx="0" cy="0"/>
          <a:chOff x="0" y="0"/>
          <a:chExt cx="0" cy="0"/>
        </a:xfrm>
      </p:grpSpPr>
      <p:sp>
        <p:nvSpPr>
          <p:cNvPr id="5" name="4 Marcador de contenido">
            <a:extLst>
              <a:ext uri="{FF2B5EF4-FFF2-40B4-BE49-F238E27FC236}">
                <a16:creationId xmlns:a16="http://schemas.microsoft.com/office/drawing/2014/main" id="{19622FE6-97F9-67CB-7B42-0B4F1F11DF71}"/>
              </a:ext>
            </a:extLst>
          </p:cNvPr>
          <p:cNvSpPr>
            <a:spLocks noGrp="1"/>
          </p:cNvSpPr>
          <p:nvPr>
            <p:ph idx="1"/>
          </p:nvPr>
        </p:nvSpPr>
        <p:spPr>
          <a:xfrm>
            <a:off x="457200" y="915566"/>
            <a:ext cx="8579296" cy="446310"/>
          </a:xfrm>
        </p:spPr>
        <p:txBody>
          <a:bodyPr>
            <a:normAutofit lnSpcReduction="10000"/>
          </a:bodyPr>
          <a:lstStyle/>
          <a:p>
            <a:r>
              <a:rPr lang="es-ES" dirty="0"/>
              <a:t>Agregaciones Avanzadas</a:t>
            </a:r>
          </a:p>
        </p:txBody>
      </p:sp>
      <p:sp>
        <p:nvSpPr>
          <p:cNvPr id="4" name="3 Título">
            <a:extLst>
              <a:ext uri="{FF2B5EF4-FFF2-40B4-BE49-F238E27FC236}">
                <a16:creationId xmlns:a16="http://schemas.microsoft.com/office/drawing/2014/main" id="{9DC98902-AAEB-6215-E966-36C69902669A}"/>
              </a:ext>
            </a:extLst>
          </p:cNvPr>
          <p:cNvSpPr>
            <a:spLocks noGrp="1"/>
          </p:cNvSpPr>
          <p:nvPr>
            <p:ph type="title"/>
          </p:nvPr>
        </p:nvSpPr>
        <p:spPr/>
        <p:txBody>
          <a:bodyPr/>
          <a:lstStyle/>
          <a:p>
            <a:r>
              <a:rPr lang="es-ES" b="1" dirty="0"/>
              <a:t>Análisis y optimización de consultas en Oracle SQL y PL/SQL</a:t>
            </a:r>
            <a:endParaRPr lang="es-ES" dirty="0"/>
          </a:p>
        </p:txBody>
      </p:sp>
      <p:sp>
        <p:nvSpPr>
          <p:cNvPr id="8" name="7 Marcador de texto">
            <a:extLst>
              <a:ext uri="{FF2B5EF4-FFF2-40B4-BE49-F238E27FC236}">
                <a16:creationId xmlns:a16="http://schemas.microsoft.com/office/drawing/2014/main" id="{127BFD14-092A-2110-7F2E-B587AAEE0AAA}"/>
              </a:ext>
            </a:extLst>
          </p:cNvPr>
          <p:cNvSpPr>
            <a:spLocks noGrp="1"/>
          </p:cNvSpPr>
          <p:nvPr>
            <p:ph type="body" sz="quarter" idx="14"/>
          </p:nvPr>
        </p:nvSpPr>
        <p:spPr/>
        <p:txBody>
          <a:bodyPr>
            <a:normAutofit fontScale="62500" lnSpcReduction="20000"/>
          </a:bodyPr>
          <a:lstStyle/>
          <a:p>
            <a:r>
              <a:rPr lang="es-ES" dirty="0"/>
              <a:t>Agregaciones Avanzadas</a:t>
            </a:r>
          </a:p>
          <a:p>
            <a:endParaRPr lang="es-ES" dirty="0"/>
          </a:p>
        </p:txBody>
      </p:sp>
      <p:sp>
        <p:nvSpPr>
          <p:cNvPr id="9" name="4 Marcador de contenido">
            <a:extLst>
              <a:ext uri="{FF2B5EF4-FFF2-40B4-BE49-F238E27FC236}">
                <a16:creationId xmlns:a16="http://schemas.microsoft.com/office/drawing/2014/main" id="{CB605A6E-689D-663A-B48E-BE0D72240385}"/>
              </a:ext>
            </a:extLst>
          </p:cNvPr>
          <p:cNvSpPr txBox="1">
            <a:spLocks/>
          </p:cNvSpPr>
          <p:nvPr/>
        </p:nvSpPr>
        <p:spPr>
          <a:xfrm>
            <a:off x="4201154" y="1233981"/>
            <a:ext cx="4824536" cy="3621621"/>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endParaRPr lang="es-ES" sz="1800" dirty="0"/>
          </a:p>
          <a:p>
            <a:pPr marL="342900" lvl="1" indent="-342900">
              <a:buFont typeface="Arial" panose="020B0604020202020204" pitchFamily="34" charset="0"/>
              <a:buChar char="•"/>
            </a:pPr>
            <a:endParaRPr lang="es-ES" sz="1800" dirty="0"/>
          </a:p>
        </p:txBody>
      </p:sp>
      <p:sp>
        <p:nvSpPr>
          <p:cNvPr id="14" name="4 Marcador de contenido">
            <a:extLst>
              <a:ext uri="{FF2B5EF4-FFF2-40B4-BE49-F238E27FC236}">
                <a16:creationId xmlns:a16="http://schemas.microsoft.com/office/drawing/2014/main" id="{871E94E9-2779-CA9D-0F35-4FB0E52C7ACF}"/>
              </a:ext>
            </a:extLst>
          </p:cNvPr>
          <p:cNvSpPr txBox="1">
            <a:spLocks/>
          </p:cNvSpPr>
          <p:nvPr/>
        </p:nvSpPr>
        <p:spPr>
          <a:xfrm>
            <a:off x="611560" y="1326394"/>
            <a:ext cx="8424936" cy="3693628"/>
          </a:xfrm>
          <a:prstGeom prst="rect">
            <a:avLst/>
          </a:prstGeom>
        </p:spPr>
        <p:txBody>
          <a:bodyPr vert="horz" lIns="91440" tIns="45720" rIns="91440" bIns="45720" rtlCol="0">
            <a:normAutofit/>
          </a:bodyPr>
          <a:lstStyle>
            <a:lvl1pPr marL="0" indent="0" algn="l" defTabSz="914400" rtl="0" eaLnBrk="1" latinLnBrk="0" hangingPunct="1">
              <a:spcBef>
                <a:spcPct val="20000"/>
              </a:spcBef>
              <a:buFont typeface="Arial" pitchFamily="34" charset="0"/>
              <a:buNone/>
              <a:defRPr sz="2400" kern="1200">
                <a:solidFill>
                  <a:srgbClr val="FF6B00"/>
                </a:solidFill>
                <a:latin typeface="+mn-lt"/>
                <a:ea typeface="+mn-ea"/>
                <a:cs typeface="+mn-cs"/>
              </a:defRPr>
            </a:lvl1pPr>
            <a:lvl2pPr marL="0" indent="0" algn="l" defTabSz="914400" rtl="0" eaLnBrk="1" latinLnBrk="0" hangingPunct="1">
              <a:spcBef>
                <a:spcPct val="20000"/>
              </a:spcBef>
              <a:buFont typeface="Arial" pitchFamily="34" charset="0"/>
              <a:buNone/>
              <a:defRPr sz="2000" kern="1200">
                <a:solidFill>
                  <a:schemeClr val="bg1">
                    <a:lumMod val="50000"/>
                  </a:schemeClr>
                </a:solidFill>
                <a:latin typeface="+mn-lt"/>
                <a:ea typeface="+mn-ea"/>
                <a:cs typeface="+mn-cs"/>
              </a:defRPr>
            </a:lvl2pPr>
            <a:lvl3pPr marL="534988" indent="-266700" algn="l" defTabSz="914400" rtl="0" eaLnBrk="1" latinLnBrk="0" hangingPunct="1">
              <a:spcBef>
                <a:spcPct val="20000"/>
              </a:spcBef>
              <a:buClr>
                <a:srgbClr val="FF6A00"/>
              </a:buClr>
              <a:buFont typeface="Arial" pitchFamily="34" charset="0"/>
              <a:buChar char="•"/>
              <a:defRPr sz="1800" kern="1200">
                <a:solidFill>
                  <a:schemeClr val="bg1">
                    <a:lumMod val="50000"/>
                  </a:schemeClr>
                </a:solidFill>
                <a:latin typeface="+mn-lt"/>
                <a:ea typeface="+mn-ea"/>
                <a:cs typeface="+mn-cs"/>
              </a:defRPr>
            </a:lvl3pPr>
            <a:lvl4pPr marL="808038" indent="-268288"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4pPr>
            <a:lvl5pPr marL="1341438" indent="-260350" algn="l" defTabSz="914400" rtl="0" eaLnBrk="1" latinLnBrk="0" hangingPunct="1">
              <a:spcBef>
                <a:spcPct val="20000"/>
              </a:spcBef>
              <a:buClr>
                <a:srgbClr val="FF6A00"/>
              </a:buClr>
              <a:buFont typeface="Arial" pitchFamily="34" charset="0"/>
              <a:buChar char="»"/>
              <a:defRPr sz="16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anose="020B0604020202020204" pitchFamily="34" charset="0"/>
              <a:buChar char="•"/>
            </a:pPr>
            <a:r>
              <a:rPr lang="es-ES" dirty="0"/>
              <a:t>Usa GROUPING SETS en lugar de múltiples UNION ALL para más eficiencia.</a:t>
            </a:r>
          </a:p>
          <a:p>
            <a:pPr marL="342900" lvl="1" indent="-342900">
              <a:buFont typeface="Arial" panose="020B0604020202020204" pitchFamily="34" charset="0"/>
              <a:buChar char="•"/>
            </a:pPr>
            <a:r>
              <a:rPr lang="es-ES" dirty="0"/>
              <a:t>Crea índices compuestos en columnas agrupadas si el </a:t>
            </a:r>
            <a:r>
              <a:rPr lang="es-ES" dirty="0" err="1"/>
              <a:t>dataset</a:t>
            </a:r>
            <a:r>
              <a:rPr lang="es-ES" dirty="0"/>
              <a:t> es muy grande.</a:t>
            </a:r>
          </a:p>
          <a:p>
            <a:pPr marL="342900" lvl="1" indent="-342900">
              <a:buFont typeface="Arial" panose="020B0604020202020204" pitchFamily="34" charset="0"/>
              <a:buChar char="•"/>
            </a:pPr>
            <a:r>
              <a:rPr lang="es-ES" dirty="0"/>
              <a:t>Oracle puede paralelizar ROLLUP y CUBE en entornos </a:t>
            </a:r>
            <a:r>
              <a:rPr lang="es-ES" dirty="0" err="1"/>
              <a:t>parallel</a:t>
            </a:r>
            <a:r>
              <a:rPr lang="es-ES" dirty="0"/>
              <a:t> DOP &gt; 1.</a:t>
            </a:r>
          </a:p>
          <a:p>
            <a:pPr marL="342900" lvl="1" indent="-342900">
              <a:buFont typeface="Arial" panose="020B0604020202020204" pitchFamily="34" charset="0"/>
              <a:buChar char="•"/>
            </a:pPr>
            <a:r>
              <a:rPr lang="es-ES" dirty="0"/>
              <a:t>Usa NO_MERGE o MATERIALIZE en </a:t>
            </a:r>
            <a:r>
              <a:rPr lang="es-ES" dirty="0" err="1"/>
              <a:t>CTEs</a:t>
            </a:r>
            <a:r>
              <a:rPr lang="es-ES" dirty="0"/>
              <a:t> si Oracle intenta reescribir agrupaciones costosas.</a:t>
            </a:r>
          </a:p>
          <a:p>
            <a:pPr marL="342900" lvl="1" indent="-342900">
              <a:buFont typeface="Arial" panose="020B0604020202020204" pitchFamily="34" charset="0"/>
              <a:buChar char="•"/>
            </a:pPr>
            <a:r>
              <a:rPr lang="es-ES" dirty="0"/>
              <a:t>Para </a:t>
            </a:r>
            <a:r>
              <a:rPr lang="es-ES" dirty="0" err="1"/>
              <a:t>reporting</a:t>
            </a:r>
            <a:r>
              <a:rPr lang="es-ES" dirty="0"/>
              <a:t>: combina MODEL + ROLLUP o usa vistas materializadas con REFRESH FAST.</a:t>
            </a:r>
            <a:endParaRPr lang="es-ES" sz="1600" dirty="0"/>
          </a:p>
        </p:txBody>
      </p:sp>
      <p:sp>
        <p:nvSpPr>
          <p:cNvPr id="2" name="AutoShape 2" descr="Lightbox">
            <a:extLst>
              <a:ext uri="{FF2B5EF4-FFF2-40B4-BE49-F238E27FC236}">
                <a16:creationId xmlns:a16="http://schemas.microsoft.com/office/drawing/2014/main" id="{AC4F1E8C-E5BD-8F1D-E0A7-72A1AC8B319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4743530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r>
              <a:rPr lang="es-ES" dirty="0"/>
              <a:t>¡Muchas Gracias!</a:t>
            </a:r>
          </a:p>
        </p:txBody>
      </p:sp>
    </p:spTree>
  </p:cSld>
  <p:clrMapOvr>
    <a:masterClrMapping/>
  </p:clrMapOvr>
</p:sld>
</file>

<file path=ppt/theme/theme1.xml><?xml version="1.0" encoding="utf-8"?>
<a:theme xmlns:a="http://schemas.openxmlformats.org/drawingml/2006/main" name="Plantilla TICARUM 2017 v1.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Plantilla TICARUM 2017 v1.1</Template>
  <TotalTime>6325</TotalTime>
  <Words>8711</Words>
  <Application>Microsoft Office PowerPoint</Application>
  <PresentationFormat>Presentación en pantalla (16:9)</PresentationFormat>
  <Paragraphs>1172</Paragraphs>
  <Slides>76</Slides>
  <Notes>32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76</vt:i4>
      </vt:variant>
    </vt:vector>
  </HeadingPairs>
  <TitlesOfParts>
    <vt:vector size="84" baseType="lpstr">
      <vt:lpstr>-apple-system</vt:lpstr>
      <vt:lpstr>Aptos Narrow</vt:lpstr>
      <vt:lpstr>Arial</vt:lpstr>
      <vt:lpstr>Arial Unicode MS</vt:lpstr>
      <vt:lpstr>Calibri</vt:lpstr>
      <vt:lpstr>Calibri Light</vt:lpstr>
      <vt:lpstr>Miriam Fixed</vt:lpstr>
      <vt:lpstr>Plantilla TICARUM 2017 v1.0</vt:lpstr>
      <vt:lpstr>Análisis y optimización de consultas en Oracle SQL y PL/SQL </vt:lpstr>
      <vt:lpstr>Análisis y optimización de consultas en Oracle SQL y PL/SQL</vt:lpstr>
      <vt:lpstr>Análisis y optimización de consultas en Oracle SQL y PL/SQL</vt:lpstr>
      <vt:lpstr>Inserción de datos con INSERT</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Consultas con SELECT y WHERE</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Consultas con JOIN (INNER, LEFT, RIGHT)</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Recuperación avanzada y recorrido de datos en Oracle 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Agregaciones Avanzadas</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Análisis y optimización de consultas en Oracle SQL y PL/SQL</vt:lpstr>
      <vt:lpstr>¡Muchas Gracias!</vt:lpstr>
    </vt:vector>
  </TitlesOfParts>
  <Company>Universidad de Murcia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MUNUERA RUIZ</dc:creator>
  <cp:lastModifiedBy>PEDRO MUNUERA RUIZ</cp:lastModifiedBy>
  <cp:revision>65</cp:revision>
  <dcterms:created xsi:type="dcterms:W3CDTF">2025-10-27T20:26:45Z</dcterms:created>
  <dcterms:modified xsi:type="dcterms:W3CDTF">2025-11-12T23:43:11Z</dcterms:modified>
</cp:coreProperties>
</file>