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58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259" r:id="rId16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B00"/>
    <a:srgbClr val="FF6A00"/>
    <a:srgbClr val="F26D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2" autoAdjust="0"/>
    <p:restoredTop sz="80478" autoAdjust="0"/>
  </p:normalViewPr>
  <p:slideViewPr>
    <p:cSldViewPr>
      <p:cViewPr varScale="1">
        <p:scale>
          <a:sx n="117" d="100"/>
          <a:sy n="117" d="100"/>
        </p:scale>
        <p:origin x="1434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13A81-F6F4-48F1-9240-6625495FC0FC}" type="datetimeFigureOut">
              <a:rPr lang="es-ES" smtClean="0"/>
              <a:pPr/>
              <a:t>19/11/2025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0AE22-138E-4CE0-8F43-3DD4BBCBCB7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rtada - 1 senc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1995686"/>
            <a:ext cx="9144000" cy="3147814"/>
          </a:xfrm>
          <a:prstGeom prst="rect">
            <a:avLst/>
          </a:prstGeom>
          <a:solidFill>
            <a:srgbClr val="FF6B0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1"/>
            <a:ext cx="7772400" cy="720080"/>
          </a:xfrm>
        </p:spPr>
        <p:txBody>
          <a:bodyPr>
            <a:noAutofit/>
          </a:bodyPr>
          <a:lstStyle>
            <a:lvl1pPr algn="l">
              <a:defRPr sz="4000">
                <a:solidFill>
                  <a:srgbClr val="FF6B00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1520" y="1131590"/>
            <a:ext cx="7776864" cy="576064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6" name="5 Imagen" descr="TICARUM_larga-abajo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732240" y="3939902"/>
            <a:ext cx="2123728" cy="9229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rtada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sultado de imagen de network background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8 Rectángulo"/>
          <p:cNvSpPr/>
          <p:nvPr userDrawn="1"/>
        </p:nvSpPr>
        <p:spPr>
          <a:xfrm>
            <a:off x="0" y="0"/>
            <a:ext cx="9144000" cy="1995686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Rectángulo"/>
          <p:cNvSpPr/>
          <p:nvPr userDrawn="1"/>
        </p:nvSpPr>
        <p:spPr>
          <a:xfrm>
            <a:off x="0" y="1995686"/>
            <a:ext cx="9144000" cy="3147814"/>
          </a:xfrm>
          <a:prstGeom prst="rect">
            <a:avLst/>
          </a:prstGeom>
          <a:solidFill>
            <a:srgbClr val="FF6B0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1"/>
            <a:ext cx="7772400" cy="720080"/>
          </a:xfrm>
        </p:spPr>
        <p:txBody>
          <a:bodyPr>
            <a:noAutofit/>
          </a:bodyPr>
          <a:lstStyle>
            <a:lvl1pPr algn="l">
              <a:defRPr sz="4000">
                <a:solidFill>
                  <a:srgbClr val="FF6B00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1520" y="1131590"/>
            <a:ext cx="7776864" cy="576064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6" name="5 Imagen" descr="TICARUM_larga-abajo_blanco-naranja_web_72dpi_transparente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732240" y="3939902"/>
            <a:ext cx="2123728" cy="9229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Marcador de posición de imagen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227934"/>
          </a:xfrm>
        </p:spPr>
        <p:txBody>
          <a:bodyPr anchor="ctr">
            <a:normAutofit/>
          </a:bodyPr>
          <a:lstStyle>
            <a:lvl1pPr algn="ctr">
              <a:buFontTx/>
              <a:buNone/>
              <a:defRPr sz="1600" i="1">
                <a:solidFill>
                  <a:srgbClr val="F26D28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0"/>
            <a:ext cx="5760640" cy="1440159"/>
          </a:xfrm>
          <a:solidFill>
            <a:srgbClr val="FF6B00"/>
          </a:solidFill>
        </p:spPr>
        <p:txBody>
          <a:bodyPr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 con imagen de fondo</a:t>
            </a:r>
          </a:p>
        </p:txBody>
      </p:sp>
      <p:pic>
        <p:nvPicPr>
          <p:cNvPr id="6" name="5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187624" y="1347614"/>
            <a:ext cx="6048672" cy="1872208"/>
          </a:xfrm>
        </p:spPr>
        <p:txBody>
          <a:bodyPr anchor="t">
            <a:noAutofit/>
          </a:bodyPr>
          <a:lstStyle>
            <a:lvl1pPr algn="l">
              <a:defRPr sz="3600" b="1" cap="none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Subtítulo de la Presentación</a:t>
            </a:r>
          </a:p>
        </p:txBody>
      </p:sp>
      <p:sp>
        <p:nvSpPr>
          <p:cNvPr id="13" name="12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1043608" y="195486"/>
            <a:ext cx="1296764" cy="1512515"/>
          </a:xfrm>
        </p:spPr>
        <p:txBody>
          <a:bodyPr>
            <a:noAutofit/>
          </a:bodyPr>
          <a:lstStyle>
            <a:lvl1pPr>
              <a:buNone/>
              <a:defRPr sz="80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s-ES" dirty="0"/>
              <a:t>1</a:t>
            </a:r>
          </a:p>
        </p:txBody>
      </p:sp>
      <p:pic>
        <p:nvPicPr>
          <p:cNvPr id="5" name="4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534988" indent="-2667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808038" indent="-268288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3414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12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15" name="14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16" name="1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2 Marcador de contenido"/>
          <p:cNvSpPr>
            <a:spLocks noGrp="1"/>
          </p:cNvSpPr>
          <p:nvPr>
            <p:ph idx="10"/>
          </p:nvPr>
        </p:nvSpPr>
        <p:spPr>
          <a:xfrm>
            <a:off x="457200" y="1196950"/>
            <a:ext cx="4042792" cy="3391024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tabLst>
                <a:tab pos="35560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16" name="2 Marcador de contenido"/>
          <p:cNvSpPr>
            <a:spLocks noGrp="1"/>
          </p:cNvSpPr>
          <p:nvPr>
            <p:ph idx="14"/>
          </p:nvPr>
        </p:nvSpPr>
        <p:spPr>
          <a:xfrm>
            <a:off x="4644008" y="1193000"/>
            <a:ext cx="4032448" cy="3394974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19" name="18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21" name="20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22" name="11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457200" y="115133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FF6B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Cabecera 1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115133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FF6B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Cabecera 2</a:t>
            </a:r>
          </a:p>
        </p:txBody>
      </p:sp>
      <p:sp>
        <p:nvSpPr>
          <p:cNvPr id="13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7" name="16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19" name="18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20" name="1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  <p:sp>
        <p:nvSpPr>
          <p:cNvPr id="21" name="2 Marcador de contenido"/>
          <p:cNvSpPr>
            <a:spLocks noGrp="1"/>
          </p:cNvSpPr>
          <p:nvPr>
            <p:ph idx="10"/>
          </p:nvPr>
        </p:nvSpPr>
        <p:spPr>
          <a:xfrm>
            <a:off x="457200" y="1635646"/>
            <a:ext cx="4042792" cy="2952328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tabLst>
                <a:tab pos="35560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2" name="2 Marcador de contenido"/>
          <p:cNvSpPr>
            <a:spLocks noGrp="1"/>
          </p:cNvSpPr>
          <p:nvPr>
            <p:ph idx="15"/>
          </p:nvPr>
        </p:nvSpPr>
        <p:spPr>
          <a:xfrm>
            <a:off x="4644008" y="1632206"/>
            <a:ext cx="4032448" cy="2955767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 userDrawn="1"/>
        </p:nvSpPr>
        <p:spPr>
          <a:xfrm>
            <a:off x="0" y="0"/>
            <a:ext cx="3059832" cy="51435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2386607" cy="8715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2386607" cy="351829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9" name="8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27584" y="4421182"/>
            <a:ext cx="1503909" cy="454824"/>
          </a:xfrm>
          <a:prstGeom prst="rect">
            <a:avLst/>
          </a:prstGeom>
        </p:spPr>
      </p:pic>
      <p:sp>
        <p:nvSpPr>
          <p:cNvPr id="10" name="2 Marcador de contenido"/>
          <p:cNvSpPr>
            <a:spLocks noGrp="1"/>
          </p:cNvSpPr>
          <p:nvPr>
            <p:ph idx="1"/>
          </p:nvPr>
        </p:nvSpPr>
        <p:spPr>
          <a:xfrm>
            <a:off x="3275856" y="195486"/>
            <a:ext cx="5410944" cy="4399137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534988" indent="-2667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808038" indent="-268288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3414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400" b="1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sección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 hasCustomPrompt="1"/>
          </p:nvPr>
        </p:nvSpPr>
        <p:spPr>
          <a:xfrm>
            <a:off x="1792288" y="459581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Subtítulo sección</a:t>
            </a:r>
          </a:p>
        </p:txBody>
      </p:sp>
      <p:pic>
        <p:nvPicPr>
          <p:cNvPr id="6" name="5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835696" y="627534"/>
            <a:ext cx="5486400" cy="1381746"/>
          </a:xfrm>
        </p:spPr>
        <p:txBody>
          <a:bodyPr anchor="b"/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Despedida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835696" y="1995686"/>
            <a:ext cx="5486400" cy="60364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Subtítulo despedida</a:t>
            </a:r>
          </a:p>
        </p:txBody>
      </p:sp>
      <p:sp>
        <p:nvSpPr>
          <p:cNvPr id="6" name="2 Marcador de posición de imagen"/>
          <p:cNvSpPr>
            <a:spLocks noGrp="1"/>
          </p:cNvSpPr>
          <p:nvPr>
            <p:ph type="pic" idx="1" hasCustomPrompt="1"/>
          </p:nvPr>
        </p:nvSpPr>
        <p:spPr>
          <a:xfrm>
            <a:off x="1835696" y="2859782"/>
            <a:ext cx="1152128" cy="1152128"/>
          </a:xfr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Autor</a:t>
            </a:r>
          </a:p>
        </p:txBody>
      </p:sp>
      <p:sp>
        <p:nvSpPr>
          <p:cNvPr id="10" name="9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2987675" y="2859088"/>
            <a:ext cx="4321175" cy="1152525"/>
          </a:xfr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rmAutofit/>
          </a:bodyPr>
          <a:lstStyle>
            <a:lvl1pPr>
              <a:buNone/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&lt;Nombre y apellidos&gt;</a:t>
            </a:r>
          </a:p>
          <a:p>
            <a:pPr lvl="0"/>
            <a:r>
              <a:rPr lang="es-ES" dirty="0"/>
              <a:t>&lt;Email&gt;</a:t>
            </a:r>
          </a:p>
          <a:p>
            <a:pPr lvl="0"/>
            <a:r>
              <a:rPr lang="es-ES" dirty="0"/>
              <a:t>&lt;Teléfono&gt;</a:t>
            </a:r>
          </a:p>
        </p:txBody>
      </p:sp>
      <p:pic>
        <p:nvPicPr>
          <p:cNvPr id="8" name="7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3015D-F054-4B71-BB12-316A6A9541BC}" type="datetimeFigureOut">
              <a:rPr lang="es-ES" smtClean="0"/>
              <a:pPr/>
              <a:t>19/11/2025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49D68-D688-459C-87BB-C604575B011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0" r:id="rId3"/>
    <p:sldLayoutId id="2147483651" r:id="rId4"/>
    <p:sldLayoutId id="2147483650" r:id="rId5"/>
    <p:sldLayoutId id="2147483652" r:id="rId6"/>
    <p:sldLayoutId id="2147483653" r:id="rId7"/>
    <p:sldLayoutId id="2147483656" r:id="rId8"/>
    <p:sldLayoutId id="2147483657" r:id="rId9"/>
    <p:sldLayoutId id="2147483661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51520" y="411510"/>
            <a:ext cx="7772400" cy="1152128"/>
          </a:xfrm>
        </p:spPr>
        <p:txBody>
          <a:bodyPr/>
          <a:lstStyle/>
          <a:p>
            <a:r>
              <a:rPr lang="es-ES" b="1" dirty="0"/>
              <a:t>Análisis y optimización de consultas en Oracle SQL y PL/SQL </a:t>
            </a:r>
            <a:endParaRPr lang="es-ES" dirty="0"/>
          </a:p>
        </p:txBody>
      </p:sp>
      <p:sp>
        <p:nvSpPr>
          <p:cNvPr id="4" name="4 Título">
            <a:extLst>
              <a:ext uri="{FF2B5EF4-FFF2-40B4-BE49-F238E27FC236}">
                <a16:creationId xmlns:a16="http://schemas.microsoft.com/office/drawing/2014/main" id="{CEA2CD2E-B90F-5078-3BEF-98753350D0D8}"/>
              </a:ext>
            </a:extLst>
          </p:cNvPr>
          <p:cNvSpPr txBox="1">
            <a:spLocks/>
          </p:cNvSpPr>
          <p:nvPr/>
        </p:nvSpPr>
        <p:spPr>
          <a:xfrm>
            <a:off x="252028" y="2067694"/>
            <a:ext cx="288032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FF6B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bg1"/>
                </a:solidFill>
              </a:rPr>
              <a:t>Sesión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90AA-A36D-0698-1CFD-B91FCF9F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CD4D17EB-BB9C-75A1-58BF-CB459A47A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Sesiones</a:t>
            </a:r>
          </a:p>
          <a:p>
            <a:pPr lvl="2"/>
            <a:r>
              <a:rPr lang="es-ES" dirty="0"/>
              <a:t>Sesión 1 – Conexión y diseño de tablas (2h)</a:t>
            </a:r>
          </a:p>
          <a:p>
            <a:pPr lvl="2"/>
            <a:r>
              <a:rPr lang="es-ES" dirty="0"/>
              <a:t>Sesión 2 – Insertar y consultar datos (2h)</a:t>
            </a:r>
          </a:p>
          <a:p>
            <a:pPr lvl="2"/>
            <a:r>
              <a:rPr lang="es-ES" dirty="0"/>
              <a:t>Sesión 3 – Fundamentos de PL/SQL (2h)</a:t>
            </a:r>
          </a:p>
          <a:p>
            <a:pPr lvl="2"/>
            <a:r>
              <a:rPr lang="es-ES" dirty="0"/>
              <a:t>Sesión 4 – Procedimientos, funciones y paquetes (2h)</a:t>
            </a:r>
          </a:p>
          <a:p>
            <a:pPr lvl="2"/>
            <a:r>
              <a:rPr lang="es-ES" dirty="0"/>
              <a:t>Sesión 5 – Cursores y operaciones en bloque (2h)</a:t>
            </a:r>
          </a:p>
          <a:p>
            <a:pPr lvl="2"/>
            <a:r>
              <a:rPr lang="es-ES" dirty="0"/>
              <a:t>Sesión 6 – Optimización de consultas (3h)</a:t>
            </a:r>
          </a:p>
          <a:p>
            <a:pPr lvl="2"/>
            <a:r>
              <a:rPr lang="es-ES" b="1" dirty="0"/>
              <a:t>Sesión 7 – </a:t>
            </a:r>
            <a:r>
              <a:rPr lang="es-ES" b="1" dirty="0" err="1"/>
              <a:t>Triggers</a:t>
            </a:r>
            <a:r>
              <a:rPr lang="es-ES" b="1" dirty="0"/>
              <a:t> (1h)</a:t>
            </a:r>
          </a:p>
          <a:p>
            <a:pPr lvl="2"/>
            <a:endParaRPr lang="es-ES" dirty="0"/>
          </a:p>
          <a:p>
            <a:pPr lvl="2"/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E1DB2940-3159-AA88-2A46-762F55B41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9EC34DE5-E61C-8A31-4D73-BAFA907511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Indice</a:t>
            </a:r>
            <a:r>
              <a:rPr lang="es-ES" dirty="0"/>
              <a:t> Curso</a:t>
            </a:r>
          </a:p>
        </p:txBody>
      </p:sp>
    </p:spTree>
    <p:extLst>
      <p:ext uri="{BB962C8B-B14F-4D97-AF65-F5344CB8AC3E}">
        <p14:creationId xmlns:p14="http://schemas.microsoft.com/office/powerpoint/2010/main" val="420673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Triggers</a:t>
            </a:r>
            <a:endParaRPr lang="es-E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C6369-A869-8C14-CE09-AF72CB39F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D9DF16D-AB8C-FD2F-2276-0DCFB055AFAF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62E0B999-5ED7-25CD-644E-0E9B731CF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¿Qué es un </a:t>
            </a:r>
            <a:r>
              <a:rPr lang="es-ES" sz="4200" dirty="0" err="1"/>
              <a:t>Trigger</a:t>
            </a:r>
            <a:r>
              <a:rPr lang="es-ES" sz="4200" dirty="0"/>
              <a:t>?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EF7F341-61EF-63D2-1F98-D2C4C67B2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73F5462A-B82F-7038-0F62-46058931CD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Trigger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95D7AB-DB55-2E7D-CBB1-93F675AF390F}"/>
              </a:ext>
            </a:extLst>
          </p:cNvPr>
          <p:cNvSpPr txBox="1"/>
          <p:nvPr/>
        </p:nvSpPr>
        <p:spPr>
          <a:xfrm>
            <a:off x="270855" y="1707654"/>
            <a:ext cx="354563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OR REPLACE TRIGGER </a:t>
            </a:r>
            <a:r>
              <a:rPr lang="en-US" sz="1300" dirty="0" err="1"/>
              <a:t>tr_auditoria_emp</a:t>
            </a:r>
            <a:endParaRPr lang="en-US" sz="1300" dirty="0"/>
          </a:p>
          <a:p>
            <a:r>
              <a:rPr lang="en-US" sz="1300" dirty="0"/>
              <a:t>BEFORE INSERT ON </a:t>
            </a:r>
            <a:r>
              <a:rPr lang="en-US" sz="1300" dirty="0" err="1"/>
              <a:t>empleados</a:t>
            </a:r>
            <a:endParaRPr lang="en-US" sz="1300" dirty="0"/>
          </a:p>
          <a:p>
            <a:r>
              <a:rPr lang="en-US" sz="1300" dirty="0"/>
              <a:t>FOR EACH ROW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:</a:t>
            </a:r>
            <a:r>
              <a:rPr lang="en-US" sz="1300" dirty="0" err="1"/>
              <a:t>NEW.fecha_creacion</a:t>
            </a:r>
            <a:r>
              <a:rPr lang="en-US" sz="1300" dirty="0"/>
              <a:t> := SYSDATE;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3B7E47E6-1705-5955-A41B-4574EB96617F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Un </a:t>
            </a:r>
            <a:r>
              <a:rPr lang="es-ES" sz="1800" dirty="0" err="1"/>
              <a:t>trigger</a:t>
            </a:r>
            <a:r>
              <a:rPr lang="es-ES" sz="1800" dirty="0"/>
              <a:t> es un bloque PL/SQL que se ejecuta automáticamente cuando ocurre un evento específico (INSERT, UPDATE, DELETE) en una tabla.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7059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B9113-0CF0-C53C-04E5-EE7EA995B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1FFA5200-4F9D-835A-B411-B9186E6E7729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DA92F70-4DF7-02CC-3FD7-7B7B266C4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 err="1"/>
              <a:t>Triggers</a:t>
            </a:r>
            <a:r>
              <a:rPr lang="es-ES" sz="4200" dirty="0"/>
              <a:t> BEFORE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5E705138-A2BD-0606-0054-09D187135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3DA2535C-0DE4-2868-0CB7-14B4DACCD3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Trigger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B3A4EEA-9942-27B3-38E4-9457F1C85270}"/>
              </a:ext>
            </a:extLst>
          </p:cNvPr>
          <p:cNvSpPr txBox="1"/>
          <p:nvPr/>
        </p:nvSpPr>
        <p:spPr>
          <a:xfrm>
            <a:off x="270855" y="1707654"/>
            <a:ext cx="3545633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OR REPLACE TRIGGER </a:t>
            </a:r>
            <a:r>
              <a:rPr lang="en-US" sz="1300" dirty="0" err="1"/>
              <a:t>tr_valida_salario</a:t>
            </a:r>
            <a:endParaRPr lang="en-US" sz="1300" dirty="0"/>
          </a:p>
          <a:p>
            <a:r>
              <a:rPr lang="en-US" sz="1300" dirty="0"/>
              <a:t>BEFORE INSERT OR UPDATE ON </a:t>
            </a:r>
            <a:r>
              <a:rPr lang="en-US" sz="1300" dirty="0" err="1"/>
              <a:t>empleados</a:t>
            </a:r>
            <a:endParaRPr lang="en-US" sz="1300" dirty="0"/>
          </a:p>
          <a:p>
            <a:r>
              <a:rPr lang="en-US" sz="1300" dirty="0"/>
              <a:t>FOR EACH ROW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IF :</a:t>
            </a:r>
            <a:r>
              <a:rPr lang="en-US" sz="1300" dirty="0" err="1"/>
              <a:t>NEW.salario</a:t>
            </a:r>
            <a:r>
              <a:rPr lang="en-US" sz="1300" dirty="0"/>
              <a:t> &lt; 1000 THEN</a:t>
            </a:r>
          </a:p>
          <a:p>
            <a:r>
              <a:rPr lang="en-US" sz="1300" dirty="0"/>
              <a:t>        RAISE_APPLICATION_ERROR(-20001, 'Salario </a:t>
            </a:r>
            <a:r>
              <a:rPr lang="en-US" sz="1300" dirty="0" err="1"/>
              <a:t>mínimo</a:t>
            </a:r>
            <a:r>
              <a:rPr lang="en-US" sz="1300" dirty="0"/>
              <a:t> no </a:t>
            </a:r>
            <a:r>
              <a:rPr lang="en-US" sz="1300" dirty="0" err="1"/>
              <a:t>permitido</a:t>
            </a:r>
            <a:r>
              <a:rPr lang="en-US" sz="1300" dirty="0"/>
              <a:t>');</a:t>
            </a:r>
          </a:p>
          <a:p>
            <a:r>
              <a:rPr lang="en-US" sz="1300" dirty="0"/>
              <a:t>    END IF;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AB385524-5798-7DBC-0DCD-45960F78C3C6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Se ejecutan ANTES de la operación DML. Ideales para validaciones, transformación de datos o establecer valores por defecto.</a:t>
            </a:r>
          </a:p>
        </p:txBody>
      </p:sp>
    </p:spTree>
    <p:extLst>
      <p:ext uri="{BB962C8B-B14F-4D97-AF65-F5344CB8AC3E}">
        <p14:creationId xmlns:p14="http://schemas.microsoft.com/office/powerpoint/2010/main" val="1371573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32CC6-924D-871B-C0BD-A1692D4B6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666FFD88-3E41-69D1-7CB9-E022E82B04E3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0D01E354-2F1D-6855-1C8C-140DAF73E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 err="1"/>
              <a:t>Triggers</a:t>
            </a:r>
            <a:r>
              <a:rPr lang="es-ES" sz="4200" dirty="0"/>
              <a:t> AFTER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7B1E0E7-19B4-77A4-8048-DBD269D23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5F339A9-FFB1-2525-4120-BC2473B126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Trigger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4903941-2351-96FB-BE89-88E7AF1B93AF}"/>
              </a:ext>
            </a:extLst>
          </p:cNvPr>
          <p:cNvSpPr txBox="1"/>
          <p:nvPr/>
        </p:nvSpPr>
        <p:spPr>
          <a:xfrm>
            <a:off x="270855" y="1707654"/>
            <a:ext cx="3545633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OR REPLACE TRIGGER </a:t>
            </a:r>
            <a:r>
              <a:rPr lang="en-US" sz="1300" dirty="0" err="1"/>
              <a:t>tr_auditoria_insert</a:t>
            </a:r>
            <a:endParaRPr lang="en-US" sz="1300" dirty="0"/>
          </a:p>
          <a:p>
            <a:r>
              <a:rPr lang="en-US" sz="1300" dirty="0"/>
              <a:t>AFTER INSERT ON </a:t>
            </a:r>
            <a:r>
              <a:rPr lang="en-US" sz="1300" dirty="0" err="1"/>
              <a:t>empleados</a:t>
            </a:r>
            <a:endParaRPr lang="en-US" sz="1300" dirty="0"/>
          </a:p>
          <a:p>
            <a:r>
              <a:rPr lang="en-US" sz="1300" dirty="0"/>
              <a:t>FOR EACH ROW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INSERT INTO </a:t>
            </a:r>
            <a:r>
              <a:rPr lang="en-US" sz="1300" dirty="0" err="1"/>
              <a:t>auditoria_emp</a:t>
            </a:r>
            <a:r>
              <a:rPr lang="en-US" sz="1300" dirty="0"/>
              <a:t> VALUES (:NEW.id, 'INSERT', SYSDATE, USER);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7575151A-9367-7A65-0613-7B4A9A4DEF3E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Se ejecutan DESPUÉS de la operación DML. Perfectos para auditoría, replicación de datos o acciones posteriores a cambios.</a:t>
            </a:r>
          </a:p>
        </p:txBody>
      </p:sp>
    </p:spTree>
    <p:extLst>
      <p:ext uri="{BB962C8B-B14F-4D97-AF65-F5344CB8AC3E}">
        <p14:creationId xmlns:p14="http://schemas.microsoft.com/office/powerpoint/2010/main" val="2077010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F38A-A287-0995-EC5A-469670A8A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6362DDD5-24E9-9F44-889C-50786F5275D2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582B8202-337D-BA82-7EBD-76D2EE75B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 err="1"/>
              <a:t>Triggers</a:t>
            </a:r>
            <a:r>
              <a:rPr lang="es-ES" sz="4200" dirty="0"/>
              <a:t> Específicos por Operación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D3F25E20-B15A-B95B-0774-F065C8E19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DE49E0B5-B67B-96D3-4BC1-0DCA9A00E3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Trigger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0AF6DAC-46B8-34E8-7F19-4A97572F8404}"/>
              </a:ext>
            </a:extLst>
          </p:cNvPr>
          <p:cNvSpPr txBox="1"/>
          <p:nvPr/>
        </p:nvSpPr>
        <p:spPr>
          <a:xfrm>
            <a:off x="270855" y="1707654"/>
            <a:ext cx="3545633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OR REPLACE TRIGGER </a:t>
            </a:r>
            <a:r>
              <a:rPr lang="en-US" sz="1300" dirty="0" err="1"/>
              <a:t>tr_empleados_completo</a:t>
            </a:r>
            <a:endParaRPr lang="en-US" sz="1300" dirty="0"/>
          </a:p>
          <a:p>
            <a:r>
              <a:rPr lang="en-US" sz="1300" dirty="0"/>
              <a:t>BEFORE INSERT OR UPDATE OR DELETE ON </a:t>
            </a:r>
            <a:r>
              <a:rPr lang="en-US" sz="1300" dirty="0" err="1"/>
              <a:t>empleados</a:t>
            </a:r>
            <a:endParaRPr lang="en-US" sz="1300" dirty="0"/>
          </a:p>
          <a:p>
            <a:r>
              <a:rPr lang="en-US" sz="1300" dirty="0"/>
              <a:t>FOR EACH ROW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IF INSERTING THEN</a:t>
            </a:r>
          </a:p>
          <a:p>
            <a:r>
              <a:rPr lang="en-US" sz="1300" dirty="0"/>
              <a:t>        :</a:t>
            </a:r>
            <a:r>
              <a:rPr lang="en-US" sz="1300" dirty="0" err="1"/>
              <a:t>NEW.activo</a:t>
            </a:r>
            <a:r>
              <a:rPr lang="en-US" sz="1300" dirty="0"/>
              <a:t> := 'S';</a:t>
            </a:r>
          </a:p>
          <a:p>
            <a:r>
              <a:rPr lang="en-US" sz="1300" dirty="0"/>
              <a:t>    ELSIF UPDATING THEN</a:t>
            </a:r>
          </a:p>
          <a:p>
            <a:r>
              <a:rPr lang="en-US" sz="1300" dirty="0"/>
              <a:t>        :</a:t>
            </a:r>
            <a:r>
              <a:rPr lang="en-US" sz="1300" dirty="0" err="1"/>
              <a:t>NEW.fecha_mod</a:t>
            </a:r>
            <a:r>
              <a:rPr lang="en-US" sz="1300" dirty="0"/>
              <a:t> := SYSDATE;</a:t>
            </a:r>
          </a:p>
          <a:p>
            <a:r>
              <a:rPr lang="en-US" sz="1300" dirty="0"/>
              <a:t>    ELSIF DELETING THEN</a:t>
            </a:r>
          </a:p>
          <a:p>
            <a:r>
              <a:rPr lang="en-US" sz="1300" dirty="0"/>
              <a:t>        INSERT INTO </a:t>
            </a:r>
            <a:r>
              <a:rPr lang="en-US" sz="1300" dirty="0" err="1"/>
              <a:t>bajas_emp</a:t>
            </a:r>
            <a:r>
              <a:rPr lang="en-US" sz="1300" dirty="0"/>
              <a:t> VALUES (:OLD.id, SYSDATE);</a:t>
            </a:r>
          </a:p>
          <a:p>
            <a:r>
              <a:rPr lang="en-US" sz="1300" dirty="0"/>
              <a:t>    END IF;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831D3C5C-BDCB-34F8-5F73-D34D4604CEE2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Podemos definir </a:t>
            </a:r>
            <a:r>
              <a:rPr lang="es-ES" sz="1800" dirty="0" err="1"/>
              <a:t>triggers</a:t>
            </a:r>
            <a:r>
              <a:rPr lang="es-ES" sz="1800" dirty="0"/>
              <a:t> para operaciones específicas usando INSERTING, UPDATING, DELETING. Permite lógica diferenciada por tipo de operación.</a:t>
            </a:r>
          </a:p>
        </p:txBody>
      </p:sp>
    </p:spTree>
    <p:extLst>
      <p:ext uri="{BB962C8B-B14F-4D97-AF65-F5344CB8AC3E}">
        <p14:creationId xmlns:p14="http://schemas.microsoft.com/office/powerpoint/2010/main" val="3729369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7EA1C-3C14-2511-F87E-CF127E119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1F292FF9-AA99-439D-DA12-BE679F44DFDD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BEA34BEA-EBDA-0FD8-0D43-8A72D6BA0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 err="1"/>
              <a:t>Triggers</a:t>
            </a:r>
            <a:r>
              <a:rPr lang="es-ES" sz="4200" dirty="0"/>
              <a:t> Específicos por Operación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8F9B67CE-E234-C3DA-EA26-BEA7238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37FD9180-8DDD-A82D-1BAC-25F77060BD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Trigger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372F975-6DC0-EA66-FC61-1118CF47F695}"/>
              </a:ext>
            </a:extLst>
          </p:cNvPr>
          <p:cNvSpPr txBox="1"/>
          <p:nvPr/>
        </p:nvSpPr>
        <p:spPr>
          <a:xfrm>
            <a:off x="270855" y="1707654"/>
            <a:ext cx="3545633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OR REPLACE TRIGGER </a:t>
            </a:r>
            <a:r>
              <a:rPr lang="en-US" sz="1300" dirty="0" err="1"/>
              <a:t>tr_empleados_completo</a:t>
            </a:r>
            <a:endParaRPr lang="en-US" sz="1300" dirty="0"/>
          </a:p>
          <a:p>
            <a:r>
              <a:rPr lang="en-US" sz="1300" dirty="0"/>
              <a:t>BEFORE INSERT OR UPDATE OR DELETE ON </a:t>
            </a:r>
            <a:r>
              <a:rPr lang="en-US" sz="1300" dirty="0" err="1"/>
              <a:t>empleados</a:t>
            </a:r>
            <a:endParaRPr lang="en-US" sz="1300" dirty="0"/>
          </a:p>
          <a:p>
            <a:r>
              <a:rPr lang="en-US" sz="1300" dirty="0"/>
              <a:t>FOR EACH ROW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IF INSERTING THEN</a:t>
            </a:r>
          </a:p>
          <a:p>
            <a:r>
              <a:rPr lang="en-US" sz="1300" dirty="0"/>
              <a:t>        :</a:t>
            </a:r>
            <a:r>
              <a:rPr lang="en-US" sz="1300" dirty="0" err="1"/>
              <a:t>NEW.activo</a:t>
            </a:r>
            <a:r>
              <a:rPr lang="en-US" sz="1300" dirty="0"/>
              <a:t> := 'S';</a:t>
            </a:r>
          </a:p>
          <a:p>
            <a:r>
              <a:rPr lang="en-US" sz="1300" dirty="0"/>
              <a:t>    ELSIF UPDATING THEN</a:t>
            </a:r>
          </a:p>
          <a:p>
            <a:r>
              <a:rPr lang="en-US" sz="1300" dirty="0"/>
              <a:t>        :</a:t>
            </a:r>
            <a:r>
              <a:rPr lang="en-US" sz="1300" dirty="0" err="1"/>
              <a:t>NEW.fecha_mod</a:t>
            </a:r>
            <a:r>
              <a:rPr lang="en-US" sz="1300" dirty="0"/>
              <a:t> := SYSDATE;</a:t>
            </a:r>
          </a:p>
          <a:p>
            <a:r>
              <a:rPr lang="en-US" sz="1300" dirty="0"/>
              <a:t>    ELSIF DELETING THEN</a:t>
            </a:r>
          </a:p>
          <a:p>
            <a:r>
              <a:rPr lang="en-US" sz="1300" dirty="0"/>
              <a:t>        INSERT INTO </a:t>
            </a:r>
            <a:r>
              <a:rPr lang="en-US" sz="1300" dirty="0" err="1"/>
              <a:t>bajas_emp</a:t>
            </a:r>
            <a:r>
              <a:rPr lang="en-US" sz="1300" dirty="0"/>
              <a:t> VALUES (:OLD.id, SYSDATE);</a:t>
            </a:r>
          </a:p>
          <a:p>
            <a:r>
              <a:rPr lang="en-US" sz="1300" dirty="0"/>
              <a:t>    END IF;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7AA956F8-890C-8705-E3C2-C985DEADAC5D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Podemos definir </a:t>
            </a:r>
            <a:r>
              <a:rPr lang="es-ES" sz="1800" dirty="0" err="1"/>
              <a:t>triggers</a:t>
            </a:r>
            <a:r>
              <a:rPr lang="es-ES" sz="1800" dirty="0"/>
              <a:t> para operaciones específicas usando INSERTING, UPDATING, DELETING. Permite lógica diferenciada por tipo de operación.</a:t>
            </a:r>
          </a:p>
        </p:txBody>
      </p:sp>
    </p:spTree>
    <p:extLst>
      <p:ext uri="{BB962C8B-B14F-4D97-AF65-F5344CB8AC3E}">
        <p14:creationId xmlns:p14="http://schemas.microsoft.com/office/powerpoint/2010/main" val="329567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6935D-AB42-5DFB-03DF-BC5EC9661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D16F3A02-D443-0C7F-13B5-A529114D8E17}"/>
              </a:ext>
            </a:extLst>
          </p:cNvPr>
          <p:cNvSpPr/>
          <p:nvPr/>
        </p:nvSpPr>
        <p:spPr>
          <a:xfrm>
            <a:off x="261636" y="1275606"/>
            <a:ext cx="4886428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DAA66C12-5F05-A362-5645-96540E791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Casos Típicos de Auditoría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0E76E1C-FC2D-3361-F91B-CE54CEDF5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DD8D8E5A-773A-DFAC-F228-2A24BFE702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Trigger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0819DEA-6840-3A17-9A0C-A8EBB2BC1C47}"/>
              </a:ext>
            </a:extLst>
          </p:cNvPr>
          <p:cNvSpPr txBox="1"/>
          <p:nvPr/>
        </p:nvSpPr>
        <p:spPr>
          <a:xfrm>
            <a:off x="270855" y="1419622"/>
            <a:ext cx="53092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OR REPLACE TRIGGER </a:t>
            </a:r>
            <a:r>
              <a:rPr lang="en-US" sz="1300" dirty="0" err="1"/>
              <a:t>tr_auditoria_completa</a:t>
            </a:r>
            <a:endParaRPr lang="en-US" sz="1300" dirty="0"/>
          </a:p>
          <a:p>
            <a:r>
              <a:rPr lang="en-US" sz="1300" dirty="0"/>
              <a:t>AFTER INSERT OR UPDATE OR DELETE ON </a:t>
            </a:r>
            <a:r>
              <a:rPr lang="en-US" sz="1300" dirty="0" err="1"/>
              <a:t>empleados</a:t>
            </a:r>
            <a:endParaRPr lang="en-US" sz="1300" dirty="0"/>
          </a:p>
          <a:p>
            <a:r>
              <a:rPr lang="en-US" sz="1300" dirty="0"/>
              <a:t>FOR EACH ROW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IF INSERTING THEN</a:t>
            </a:r>
          </a:p>
          <a:p>
            <a:r>
              <a:rPr lang="en-US" sz="1300" dirty="0"/>
              <a:t>        INSERT INTO auditoria VALUES (</a:t>
            </a:r>
            <a:r>
              <a:rPr lang="en-US" sz="1300" dirty="0" err="1"/>
              <a:t>auditoria_seq.NEXTVAL</a:t>
            </a:r>
            <a:r>
              <a:rPr lang="en-US" sz="1300" dirty="0"/>
              <a:t>, USER, SYSDATE, </a:t>
            </a:r>
          </a:p>
          <a:p>
            <a:r>
              <a:rPr lang="en-US" sz="1300" dirty="0"/>
              <a:t>                                    'INSERT', :NEW.id, NULL, NULL);</a:t>
            </a:r>
          </a:p>
          <a:p>
            <a:r>
              <a:rPr lang="en-US" sz="1300" dirty="0"/>
              <a:t>    ELSIF UPDATING THEN</a:t>
            </a:r>
          </a:p>
          <a:p>
            <a:r>
              <a:rPr lang="en-US" sz="1300" dirty="0"/>
              <a:t>        INSERT INTO auditoria VALUES (</a:t>
            </a:r>
            <a:r>
              <a:rPr lang="en-US" sz="1300" dirty="0" err="1"/>
              <a:t>auditoria_seq.NEXTVAL</a:t>
            </a:r>
            <a:r>
              <a:rPr lang="en-US" sz="1300" dirty="0"/>
              <a:t>, USER, SYSDATE,</a:t>
            </a:r>
          </a:p>
          <a:p>
            <a:r>
              <a:rPr lang="en-US" sz="1300" dirty="0"/>
              <a:t>                                    'UPDATE', :NEW.id, :</a:t>
            </a:r>
            <a:r>
              <a:rPr lang="en-US" sz="1300" dirty="0" err="1"/>
              <a:t>OLD.salario</a:t>
            </a:r>
            <a:r>
              <a:rPr lang="en-US" sz="1300" dirty="0"/>
              <a:t>, :</a:t>
            </a:r>
            <a:r>
              <a:rPr lang="en-US" sz="1300" dirty="0" err="1"/>
              <a:t>NEW.salario</a:t>
            </a:r>
            <a:r>
              <a:rPr lang="en-US" sz="1300" dirty="0"/>
              <a:t>);</a:t>
            </a:r>
          </a:p>
          <a:p>
            <a:r>
              <a:rPr lang="en-US" sz="1300" dirty="0"/>
              <a:t>    ELSIF DELETING THEN</a:t>
            </a:r>
          </a:p>
          <a:p>
            <a:r>
              <a:rPr lang="en-US" sz="1300" dirty="0"/>
              <a:t>        INSERT INTO auditoria VALUES (</a:t>
            </a:r>
            <a:r>
              <a:rPr lang="en-US" sz="1300" dirty="0" err="1"/>
              <a:t>auditoria_seq.NEXTVAL</a:t>
            </a:r>
            <a:r>
              <a:rPr lang="en-US" sz="1300" dirty="0"/>
              <a:t>, USER, SYSDATE,</a:t>
            </a:r>
          </a:p>
          <a:p>
            <a:r>
              <a:rPr lang="en-US" sz="1300" dirty="0"/>
              <a:t>                                    'DELETE', :OLD.id, NULL, NULL);</a:t>
            </a:r>
          </a:p>
          <a:p>
            <a:r>
              <a:rPr lang="en-US" sz="1300" dirty="0"/>
              <a:t>    END IF;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5C94AF96-9709-762B-F40B-C48B1BEB4C45}"/>
              </a:ext>
            </a:extLst>
          </p:cNvPr>
          <p:cNvSpPr txBox="1">
            <a:spLocks/>
          </p:cNvSpPr>
          <p:nvPr/>
        </p:nvSpPr>
        <p:spPr>
          <a:xfrm>
            <a:off x="5868144" y="1306682"/>
            <a:ext cx="3275856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Permiten rastrear cambios: quién, cuándo y qué se modificó. Esencial para cumplimiento y análisis histórico.</a:t>
            </a:r>
          </a:p>
        </p:txBody>
      </p:sp>
    </p:spTree>
    <p:extLst>
      <p:ext uri="{BB962C8B-B14F-4D97-AF65-F5344CB8AC3E}">
        <p14:creationId xmlns:p14="http://schemas.microsoft.com/office/powerpoint/2010/main" val="3832503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21CF3-AF43-DC4E-51E9-9A38F8F06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781D3D90-60F2-8D79-DB23-49175B506D95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7D7B2843-B356-EA5A-C993-0AC2DB9DB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 err="1"/>
              <a:t>Triggers</a:t>
            </a:r>
            <a:r>
              <a:rPr lang="es-ES" sz="4200" dirty="0"/>
              <a:t> a Nivel Sentencia vs Por Fila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D5B47E2D-02CF-DEC9-27C7-9BF7B08A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D87FE138-B0D9-FBE2-ED52-36EC0D4827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Trigger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BFEFC34-43D4-5545-4BA5-9577BBD698DC}"/>
              </a:ext>
            </a:extLst>
          </p:cNvPr>
          <p:cNvSpPr txBox="1"/>
          <p:nvPr/>
        </p:nvSpPr>
        <p:spPr>
          <a:xfrm>
            <a:off x="270855" y="1347614"/>
            <a:ext cx="35456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OR REPLACE TRIGGER </a:t>
            </a:r>
            <a:r>
              <a:rPr lang="en-US" sz="1300" dirty="0" err="1"/>
              <a:t>tr_resumen_auditoria</a:t>
            </a:r>
            <a:endParaRPr lang="en-US" sz="1300" dirty="0"/>
          </a:p>
          <a:p>
            <a:r>
              <a:rPr lang="en-US" sz="1300" dirty="0"/>
              <a:t>AFTER INSERT OR UPDATE OR DELETE ON </a:t>
            </a:r>
            <a:r>
              <a:rPr lang="en-US" sz="1300" dirty="0" err="1"/>
              <a:t>empleados</a:t>
            </a:r>
            <a:endParaRPr lang="en-US" sz="1300" dirty="0"/>
          </a:p>
          <a:p>
            <a:r>
              <a:rPr lang="en-US" sz="1300" dirty="0"/>
              <a:t>DECLARE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v_operacion</a:t>
            </a:r>
            <a:r>
              <a:rPr lang="en-US" sz="1300" dirty="0"/>
              <a:t> VARCHAR2(10);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IF INSERTING THEN </a:t>
            </a:r>
            <a:r>
              <a:rPr lang="en-US" sz="1300" dirty="0" err="1"/>
              <a:t>v_operacion</a:t>
            </a:r>
            <a:r>
              <a:rPr lang="en-US" sz="1300" dirty="0"/>
              <a:t> := 'INSERT';</a:t>
            </a:r>
          </a:p>
          <a:p>
            <a:r>
              <a:rPr lang="en-US" sz="1300" dirty="0"/>
              <a:t>    ELSIF UPDATING THEN </a:t>
            </a:r>
            <a:r>
              <a:rPr lang="en-US" sz="1300" dirty="0" err="1"/>
              <a:t>v_operacion</a:t>
            </a:r>
            <a:r>
              <a:rPr lang="en-US" sz="1300" dirty="0"/>
              <a:t> := 'UPDATE';</a:t>
            </a:r>
          </a:p>
          <a:p>
            <a:r>
              <a:rPr lang="en-US" sz="1300" dirty="0"/>
              <a:t>    ELSE </a:t>
            </a:r>
            <a:r>
              <a:rPr lang="en-US" sz="1300" dirty="0" err="1"/>
              <a:t>v_operacion</a:t>
            </a:r>
            <a:r>
              <a:rPr lang="en-US" sz="1300" dirty="0"/>
              <a:t> := 'DELETE';</a:t>
            </a:r>
          </a:p>
          <a:p>
            <a:r>
              <a:rPr lang="en-US" sz="1300" dirty="0"/>
              <a:t>    END IF;</a:t>
            </a:r>
          </a:p>
          <a:p>
            <a:r>
              <a:rPr lang="en-US" sz="1300" dirty="0"/>
              <a:t>    </a:t>
            </a:r>
          </a:p>
          <a:p>
            <a:r>
              <a:rPr lang="en-US" sz="1300" dirty="0"/>
              <a:t>    UPDATE </a:t>
            </a:r>
            <a:r>
              <a:rPr lang="en-US" sz="1300" dirty="0" err="1"/>
              <a:t>resumen_auditoria</a:t>
            </a:r>
            <a:r>
              <a:rPr lang="en-US" sz="1300" dirty="0"/>
              <a:t> </a:t>
            </a:r>
          </a:p>
          <a:p>
            <a:r>
              <a:rPr lang="en-US" sz="1300" dirty="0"/>
              <a:t>    SET </a:t>
            </a:r>
            <a:r>
              <a:rPr lang="en-US" sz="1300" dirty="0" err="1"/>
              <a:t>contador</a:t>
            </a:r>
            <a:r>
              <a:rPr lang="en-US" sz="1300" dirty="0"/>
              <a:t> = </a:t>
            </a:r>
            <a:r>
              <a:rPr lang="en-US" sz="1300" dirty="0" err="1"/>
              <a:t>contador</a:t>
            </a:r>
            <a:r>
              <a:rPr lang="en-US" sz="1300" dirty="0"/>
              <a:t> + 1 </a:t>
            </a:r>
          </a:p>
          <a:p>
            <a:r>
              <a:rPr lang="en-US" sz="1300" dirty="0"/>
              <a:t>    WHERE </a:t>
            </a:r>
            <a:r>
              <a:rPr lang="en-US" sz="1300" dirty="0" err="1"/>
              <a:t>tabla</a:t>
            </a:r>
            <a:r>
              <a:rPr lang="en-US" sz="1300" dirty="0"/>
              <a:t> = 'EMPLEADOS' AND </a:t>
            </a:r>
            <a:r>
              <a:rPr lang="en-US" sz="1300" dirty="0" err="1"/>
              <a:t>operacion</a:t>
            </a:r>
            <a:r>
              <a:rPr lang="en-US" sz="1300" dirty="0"/>
              <a:t> = </a:t>
            </a:r>
            <a:r>
              <a:rPr lang="en-US" sz="1300" dirty="0" err="1"/>
              <a:t>v_operacion</a:t>
            </a:r>
            <a:r>
              <a:rPr lang="en-US" sz="1300" dirty="0"/>
              <a:t>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53C2866C-7FBC-25BC-D6CA-6ACA01CB94E2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Nivel sentencia: Se ejecuta una vez por operación (sin FOR EACH ROW)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Nivel fila: Se ejecuta por cada fila afectada (con FOR EACH ROW)</a:t>
            </a:r>
          </a:p>
        </p:txBody>
      </p:sp>
    </p:spTree>
    <p:extLst>
      <p:ext uri="{BB962C8B-B14F-4D97-AF65-F5344CB8AC3E}">
        <p14:creationId xmlns:p14="http://schemas.microsoft.com/office/powerpoint/2010/main" val="1007527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63055-AA51-0ED3-C77D-6008FD8F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B6AADEAA-0C68-3FEB-5FDF-2A5B5D1718E8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F6DFE6D2-B715-658A-2E6A-D73F41DB4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Impacto en el Rendimiento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A1094DDB-94C7-5C13-9B07-6D54E9A09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F79723C5-217D-BFFC-F28B-076FB523BB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Trigger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CFD417B-03D6-E459-90E9-CD5B1A49C87B}"/>
              </a:ext>
            </a:extLst>
          </p:cNvPr>
          <p:cNvSpPr txBox="1"/>
          <p:nvPr/>
        </p:nvSpPr>
        <p:spPr>
          <a:xfrm>
            <a:off x="270855" y="1347614"/>
            <a:ext cx="354563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-- EVITAR: </a:t>
            </a:r>
            <a:r>
              <a:rPr lang="en-US" sz="1300" dirty="0" err="1"/>
              <a:t>Consultas</a:t>
            </a:r>
            <a:r>
              <a:rPr lang="en-US" sz="1300" dirty="0"/>
              <a:t> </a:t>
            </a:r>
            <a:r>
              <a:rPr lang="en-US" sz="1300" dirty="0" err="1"/>
              <a:t>costosas</a:t>
            </a:r>
            <a:r>
              <a:rPr lang="en-US" sz="1300" dirty="0"/>
              <a:t> </a:t>
            </a:r>
            <a:r>
              <a:rPr lang="en-US" sz="1300" dirty="0" err="1"/>
              <a:t>en</a:t>
            </a:r>
            <a:r>
              <a:rPr lang="en-US" sz="1300" dirty="0"/>
              <a:t> triggers </a:t>
            </a:r>
            <a:r>
              <a:rPr lang="en-US" sz="1300" dirty="0" err="1"/>
              <a:t>por</a:t>
            </a:r>
            <a:r>
              <a:rPr lang="en-US" sz="1300" dirty="0"/>
              <a:t> fila</a:t>
            </a:r>
          </a:p>
          <a:p>
            <a:r>
              <a:rPr lang="en-US" sz="1300" dirty="0"/>
              <a:t>SELECT COUNT(*) INTO </a:t>
            </a:r>
            <a:r>
              <a:rPr lang="en-US" sz="1300" dirty="0" err="1"/>
              <a:t>v_count</a:t>
            </a:r>
            <a:r>
              <a:rPr lang="en-US" sz="1300" dirty="0"/>
              <a:t> FROM </a:t>
            </a:r>
            <a:r>
              <a:rPr lang="en-US" sz="1300" dirty="0" err="1"/>
              <a:t>tabla_grande</a:t>
            </a:r>
            <a:r>
              <a:rPr lang="en-US" sz="1300" dirty="0"/>
              <a:t> WHERE...</a:t>
            </a:r>
          </a:p>
          <a:p>
            <a:endParaRPr lang="en-US" sz="1300" dirty="0"/>
          </a:p>
          <a:p>
            <a:r>
              <a:rPr lang="en-US" sz="1300" dirty="0"/>
              <a:t>-- PREFERIR: </a:t>
            </a:r>
            <a:r>
              <a:rPr lang="en-US" sz="1300" dirty="0" err="1"/>
              <a:t>Lógica</a:t>
            </a:r>
            <a:r>
              <a:rPr lang="en-US" sz="1300" dirty="0"/>
              <a:t> simple y </a:t>
            </a:r>
            <a:r>
              <a:rPr lang="en-US" sz="1300" dirty="0" err="1"/>
              <a:t>eficiente</a:t>
            </a:r>
            <a:endParaRPr lang="en-US" sz="1300" dirty="0"/>
          </a:p>
          <a:p>
            <a:r>
              <a:rPr lang="en-US" sz="1300" dirty="0"/>
              <a:t>:</a:t>
            </a:r>
            <a:r>
              <a:rPr lang="en-US" sz="1300" dirty="0" err="1"/>
              <a:t>NEW.total</a:t>
            </a:r>
            <a:r>
              <a:rPr lang="en-US" sz="1300" dirty="0"/>
              <a:t> := :</a:t>
            </a:r>
            <a:r>
              <a:rPr lang="en-US" sz="1300" dirty="0" err="1"/>
              <a:t>NEW.precio</a:t>
            </a:r>
            <a:r>
              <a:rPr lang="en-US" sz="1300" dirty="0"/>
              <a:t> * :</a:t>
            </a:r>
            <a:r>
              <a:rPr lang="en-US" sz="1300" dirty="0" err="1"/>
              <a:t>NEW.cantidad</a:t>
            </a:r>
            <a:r>
              <a:rPr lang="en-US" sz="1300" dirty="0"/>
              <a:t>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982BC16E-B657-B2C2-50D4-323CEB547CCA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Los </a:t>
            </a:r>
            <a:r>
              <a:rPr lang="es-ES" sz="1800" dirty="0" err="1"/>
              <a:t>triggers</a:t>
            </a:r>
            <a:r>
              <a:rPr lang="es-ES" sz="1800" dirty="0"/>
              <a:t> se ejecutan en cada operación DML y pueden degradar el rendimiento. Evitar:</a:t>
            </a:r>
          </a:p>
          <a:p>
            <a:pPr marL="877888" lvl="2" indent="-342900"/>
            <a:r>
              <a:rPr lang="es-ES" sz="1600" dirty="0"/>
              <a:t>Consultas complejas</a:t>
            </a:r>
          </a:p>
          <a:p>
            <a:pPr marL="877888" lvl="2" indent="-342900"/>
            <a:r>
              <a:rPr lang="es-ES" sz="1600" dirty="0"/>
              <a:t>Lógica </a:t>
            </a:r>
            <a:r>
              <a:rPr lang="es-ES" sz="1600" dirty="0" err="1"/>
              <a:t>business</a:t>
            </a:r>
            <a:r>
              <a:rPr lang="es-ES" sz="1600" dirty="0"/>
              <a:t> pesada</a:t>
            </a:r>
          </a:p>
          <a:p>
            <a:pPr marL="877888" lvl="2" indent="-342900"/>
            <a:r>
              <a:rPr lang="es-ES" sz="1600" dirty="0"/>
              <a:t>Múltiples </a:t>
            </a:r>
            <a:r>
              <a:rPr lang="es-ES" sz="1600" dirty="0" err="1"/>
              <a:t>triggers</a:t>
            </a:r>
            <a:r>
              <a:rPr lang="es-ES" sz="1600" dirty="0"/>
              <a:t> en misma tabla</a:t>
            </a:r>
          </a:p>
        </p:txBody>
      </p:sp>
    </p:spTree>
    <p:extLst>
      <p:ext uri="{BB962C8B-B14F-4D97-AF65-F5344CB8AC3E}">
        <p14:creationId xmlns:p14="http://schemas.microsoft.com/office/powerpoint/2010/main" val="963809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6319B-E258-2978-DA6B-794CC4709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EF32635-8FE1-CC94-E433-5FB5275B8927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7CF93E19-74A6-D882-C092-E0A9D4B03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Buenas Prácticas con </a:t>
            </a:r>
            <a:r>
              <a:rPr lang="es-ES" sz="4200" dirty="0" err="1"/>
              <a:t>Triggers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2411FC1D-4873-AB9D-C7DD-FC20E07C0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418E1EE0-D8C8-BF95-1741-7A445F99D6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Trigger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2C6653C-34B7-CED7-86E7-DD42ECCF0FF9}"/>
              </a:ext>
            </a:extLst>
          </p:cNvPr>
          <p:cNvSpPr txBox="1"/>
          <p:nvPr/>
        </p:nvSpPr>
        <p:spPr>
          <a:xfrm>
            <a:off x="270855" y="1347614"/>
            <a:ext cx="3545633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-- SI: </a:t>
            </a:r>
            <a:r>
              <a:rPr lang="en-US" sz="1300" dirty="0" err="1"/>
              <a:t>Mantener</a:t>
            </a:r>
            <a:r>
              <a:rPr lang="en-US" sz="1300" dirty="0"/>
              <a:t> </a:t>
            </a:r>
            <a:r>
              <a:rPr lang="en-US" sz="1300" dirty="0" err="1"/>
              <a:t>lógica</a:t>
            </a:r>
            <a:r>
              <a:rPr lang="en-US" sz="1300" dirty="0"/>
              <a:t> simple</a:t>
            </a:r>
          </a:p>
          <a:p>
            <a:r>
              <a:rPr lang="en-US" sz="1300" dirty="0"/>
              <a:t>-- NO: </a:t>
            </a:r>
            <a:r>
              <a:rPr lang="en-US" sz="1300" dirty="0" err="1"/>
              <a:t>Implementar</a:t>
            </a:r>
            <a:r>
              <a:rPr lang="en-US" sz="1300" dirty="0"/>
              <a:t> </a:t>
            </a:r>
            <a:r>
              <a:rPr lang="en-US" sz="1300" dirty="0" err="1"/>
              <a:t>procesos</a:t>
            </a:r>
            <a:r>
              <a:rPr lang="en-US" sz="1300" dirty="0"/>
              <a:t> </a:t>
            </a:r>
            <a:r>
              <a:rPr lang="en-US" sz="1300" dirty="0" err="1"/>
              <a:t>complejos</a:t>
            </a:r>
            <a:r>
              <a:rPr lang="en-US" sz="1300" dirty="0"/>
              <a:t> de </a:t>
            </a:r>
            <a:r>
              <a:rPr lang="en-US" sz="1300" dirty="0" err="1"/>
              <a:t>negocio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909B52B1-9732-4E36-90EE-9AED4AC01B58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Usar para auditoría, validaciones simples y datos derivados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Evitar lógica de negocio compleja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Documentar </a:t>
            </a:r>
            <a:r>
              <a:rPr lang="es-ES" sz="1800" dirty="0" err="1"/>
              <a:t>triggers</a:t>
            </a:r>
            <a:r>
              <a:rPr lang="es-ES" sz="1800" dirty="0"/>
              <a:t> existentes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Considerar el orden de ejecución con múltiples </a:t>
            </a:r>
            <a:r>
              <a:rPr lang="es-ES" sz="1800" dirty="0" err="1"/>
              <a:t>triggers</a:t>
            </a:r>
            <a:endParaRPr lang="es-ES" sz="18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Probar exhaustivamente con operaciones masivas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519763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76DB8-8E1A-DD08-9FA1-B2E83D80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7997DF0-226E-3A93-AA17-F718C73CD06A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BD532E72-88F2-626B-65D2-546DC3C98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Errores Frecuentes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B220BED7-B408-B244-3541-519F0940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2D5B1586-24C9-BCC4-BD23-8CBED1CB95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Trigger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3C72846-EF5B-BC95-F378-AD4591D9B6A7}"/>
              </a:ext>
            </a:extLst>
          </p:cNvPr>
          <p:cNvSpPr txBox="1"/>
          <p:nvPr/>
        </p:nvSpPr>
        <p:spPr>
          <a:xfrm>
            <a:off x="270855" y="1347614"/>
            <a:ext cx="354563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-- MUTATING TABLE ERROR</a:t>
            </a:r>
          </a:p>
          <a:p>
            <a:r>
              <a:rPr lang="en-US" sz="1300" dirty="0"/>
              <a:t>CREATE OR REPLACE TRIGGER </a:t>
            </a:r>
            <a:r>
              <a:rPr lang="en-US" sz="1300" dirty="0" err="1"/>
              <a:t>tr_problema</a:t>
            </a:r>
            <a:endParaRPr lang="en-US" sz="1300" dirty="0"/>
          </a:p>
          <a:p>
            <a:r>
              <a:rPr lang="en-US" sz="1300" dirty="0"/>
              <a:t>BEFORE UPDATE ON </a:t>
            </a:r>
            <a:r>
              <a:rPr lang="en-US" sz="1300" dirty="0" err="1"/>
              <a:t>empleados</a:t>
            </a:r>
            <a:endParaRPr lang="en-US" sz="1300" dirty="0"/>
          </a:p>
          <a:p>
            <a:r>
              <a:rPr lang="en-US" sz="1300" dirty="0"/>
              <a:t>FOR EACH ROW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SELECT COUNT(*) INTO </a:t>
            </a:r>
            <a:r>
              <a:rPr lang="en-US" sz="1300" dirty="0" err="1"/>
              <a:t>v_count</a:t>
            </a:r>
            <a:r>
              <a:rPr lang="en-US" sz="1300" dirty="0"/>
              <a:t> FROM </a:t>
            </a:r>
            <a:r>
              <a:rPr lang="en-US" sz="1300" dirty="0" err="1"/>
              <a:t>empleados</a:t>
            </a:r>
            <a:r>
              <a:rPr lang="en-US" sz="1300" dirty="0"/>
              <a:t>; -- ERROR!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B518F447-F3CE-BFD5-2E44-CB07686077A7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 err="1"/>
              <a:t>Mutating</a:t>
            </a:r>
            <a:r>
              <a:rPr lang="es-ES" sz="1800" dirty="0"/>
              <a:t> Table: Consultar/modificar la misma tabla que dispara el </a:t>
            </a:r>
            <a:r>
              <a:rPr lang="es-ES" sz="1800" dirty="0" err="1"/>
              <a:t>trigger</a:t>
            </a:r>
            <a:endParaRPr lang="es-ES" sz="18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 err="1"/>
              <a:t>Triggers</a:t>
            </a:r>
            <a:r>
              <a:rPr lang="es-ES" sz="1800" dirty="0"/>
              <a:t> recursivos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Validaciones redundantes con </a:t>
            </a:r>
            <a:r>
              <a:rPr lang="es-ES" sz="1800" dirty="0" err="1"/>
              <a:t>constraints</a:t>
            </a:r>
            <a:endParaRPr lang="es-ES" sz="18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Falta de manejo de excepciones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730230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A0E7-33BE-5C16-8C9E-A16A39CB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B624C0CD-376E-7317-7543-05E8E3669245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07041BED-5689-58FA-4902-F83CF971B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¿Siempre son la Mejor Solución?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2AD0818F-DD7A-CB47-B322-696F071FF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9AB6CD8B-000B-B161-DD0D-BE09232517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Trigger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A886922-E93F-FD61-C50C-E7A7A7AF946A}"/>
              </a:ext>
            </a:extLst>
          </p:cNvPr>
          <p:cNvSpPr txBox="1"/>
          <p:nvPr/>
        </p:nvSpPr>
        <p:spPr>
          <a:xfrm>
            <a:off x="270855" y="1347614"/>
            <a:ext cx="354563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-- En </a:t>
            </a:r>
            <a:r>
              <a:rPr lang="en-US" sz="1300" dirty="0" err="1"/>
              <a:t>lugar</a:t>
            </a:r>
            <a:r>
              <a:rPr lang="en-US" sz="1300" dirty="0"/>
              <a:t> de trigger, usar:</a:t>
            </a:r>
          </a:p>
          <a:p>
            <a:r>
              <a:rPr lang="en-US" sz="1300" dirty="0"/>
              <a:t>ALTER TABLE </a:t>
            </a:r>
            <a:r>
              <a:rPr lang="en-US" sz="1300" dirty="0" err="1"/>
              <a:t>empleados</a:t>
            </a:r>
            <a:r>
              <a:rPr lang="en-US" sz="1300" dirty="0"/>
              <a:t> ADD CONSTRAINT </a:t>
            </a:r>
            <a:r>
              <a:rPr lang="en-US" sz="1300" dirty="0" err="1"/>
              <a:t>chk_salario</a:t>
            </a:r>
            <a:r>
              <a:rPr lang="en-US" sz="1300" dirty="0"/>
              <a:t> </a:t>
            </a:r>
          </a:p>
          <a:p>
            <a:r>
              <a:rPr lang="en-US" sz="1300" dirty="0"/>
              <a:t>CHECK (</a:t>
            </a:r>
            <a:r>
              <a:rPr lang="en-US" sz="1300" dirty="0" err="1"/>
              <a:t>salario</a:t>
            </a:r>
            <a:r>
              <a:rPr lang="en-US" sz="1300" dirty="0"/>
              <a:t> &gt;= 1000);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347B4695-41AF-C511-9FAC-3DDC9B6F5B01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Considerar alternativas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 err="1"/>
              <a:t>Constraints</a:t>
            </a:r>
            <a:r>
              <a:rPr lang="es-ES" sz="1800" dirty="0"/>
              <a:t> para validaciones simples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Procedimientos almacenados para lógica compleja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Vistas materializadas para datos derivados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Jobs programados para procesos </a:t>
            </a:r>
            <a:r>
              <a:rPr lang="es-ES" sz="1800"/>
              <a:t>batch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114181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tilla TICARUM 2017 v1.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TICARUM 2017 v1.1</Template>
  <TotalTime>6327</TotalTime>
  <Words>1142</Words>
  <Application>Microsoft Office PowerPoint</Application>
  <PresentationFormat>Presentación en pantalla (16:9)</PresentationFormat>
  <Paragraphs>164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Plantilla TICARUM 2017 v1.0</vt:lpstr>
      <vt:lpstr>Análisis y optimización de consultas en Oracle SQL y PL/SQL </vt:lpstr>
      <vt:lpstr>Análisis y optimización de consultas en Oracle SQL y PL/SQL</vt:lpstr>
      <vt:lpstr>Triggers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¡Muchas Gracias!</vt:lpstr>
    </vt:vector>
  </TitlesOfParts>
  <Company>Universidad de Murcia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MUNUERA RUIZ</dc:creator>
  <cp:lastModifiedBy>PEDRO MUNUERA RUIZ</cp:lastModifiedBy>
  <cp:revision>68</cp:revision>
  <dcterms:created xsi:type="dcterms:W3CDTF">2025-10-27T20:26:45Z</dcterms:created>
  <dcterms:modified xsi:type="dcterms:W3CDTF">2025-11-19T14:34:23Z</dcterms:modified>
</cp:coreProperties>
</file>